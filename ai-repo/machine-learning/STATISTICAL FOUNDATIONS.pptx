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15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5" r:id="rId68"/>
    <p:sldId id="326" r:id="rId69"/>
    <p:sldId id="322" r:id="rId70"/>
    <p:sldId id="327" r:id="rId71"/>
    <p:sldId id="328" r:id="rId72"/>
    <p:sldId id="323" r:id="rId73"/>
    <p:sldId id="329" r:id="rId74"/>
    <p:sldId id="330" r:id="rId75"/>
    <p:sldId id="331" r:id="rId76"/>
    <p:sldId id="332" r:id="rId77"/>
    <p:sldId id="324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ableStyles" Target="tableStyle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0187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19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1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87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36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754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22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124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403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070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37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164EDF-1914-410F-BBE5-73095901D832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9DE75D-9B82-49EA-96FF-9C3108509A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94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STATISTICAL FOUNDATIONS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778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1: Population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Definition: A Population is the complete set of all items, people, or data points you are interested in studying. It represents the entire group.</a:t>
            </a:r>
          </a:p>
          <a:p>
            <a:r>
              <a:rPr lang="en-US" dirty="0" smtClean="0"/>
              <a:t>We define population because:</a:t>
            </a:r>
          </a:p>
          <a:p>
            <a:pPr marL="457200" lvl="1" indent="0">
              <a:buNone/>
            </a:pPr>
            <a:r>
              <a:rPr lang="en-US" dirty="0" smtClean="0"/>
              <a:t>• We often want to understand a whole group</a:t>
            </a:r>
          </a:p>
          <a:p>
            <a:pPr marL="457200" lvl="1" indent="0">
              <a:buNone/>
            </a:pPr>
            <a:r>
              <a:rPr lang="en-US" dirty="0" smtClean="0"/>
              <a:t>• But studying every member is usually difficult, expensive, or impossible</a:t>
            </a:r>
          </a:p>
          <a:p>
            <a:pPr marL="457200" lvl="1" indent="0">
              <a:buNone/>
            </a:pPr>
            <a:r>
              <a:rPr lang="en-US" dirty="0" smtClean="0"/>
              <a:t>• So population represents the full target group</a:t>
            </a:r>
          </a:p>
          <a:p>
            <a:r>
              <a:rPr lang="en-US" dirty="0" smtClean="0"/>
              <a:t>Machine learning models try to learn patterns that represent the population, even though they only see a sample.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163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/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you want to know: "Average height of all people in India“</a:t>
            </a:r>
          </a:p>
          <a:p>
            <a:pPr lvl="1"/>
            <a:r>
              <a:rPr lang="en-US" dirty="0" smtClean="0"/>
              <a:t>Population = every person in India</a:t>
            </a:r>
          </a:p>
          <a:p>
            <a:pPr lvl="1"/>
            <a:r>
              <a:rPr lang="en-US" dirty="0" smtClean="0"/>
              <a:t>But measuring everyone is impossible.</a:t>
            </a:r>
          </a:p>
          <a:p>
            <a:pPr lvl="1"/>
            <a:r>
              <a:rPr lang="en-US" dirty="0" smtClean="0"/>
              <a:t>So population = full group</a:t>
            </a:r>
          </a:p>
          <a:p>
            <a:pPr lvl="1"/>
            <a:r>
              <a:rPr lang="en-US" dirty="0" smtClean="0"/>
              <a:t>Sample = small subset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Population is usually represented by:𝑁</a:t>
            </a:r>
            <a:endParaRPr lang="en-US" dirty="0"/>
          </a:p>
          <a:p>
            <a:pPr lvl="1"/>
            <a:r>
              <a:rPr lang="en-US" dirty="0" err="1" smtClean="0"/>
              <a:t>Where:N</a:t>
            </a:r>
            <a:r>
              <a:rPr lang="en-US" dirty="0" smtClean="0"/>
              <a:t> = total number of elements in the population</a:t>
            </a:r>
          </a:p>
          <a:p>
            <a:pPr lvl="1"/>
            <a:r>
              <a:rPr lang="en-US" dirty="0" smtClean="0"/>
              <a:t>Population mean formula:𝜇=∑𝑋/𝑁​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612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/>
          <a:lstStyle/>
          <a:p>
            <a:r>
              <a:rPr lang="en-US" dirty="0" smtClean="0"/>
              <a:t>Explanation of each symbol 𝜇=∑𝑋/𝑁</a:t>
            </a:r>
          </a:p>
          <a:p>
            <a:pPr lvl="1"/>
            <a:r>
              <a:rPr lang="en-US" dirty="0" smtClean="0"/>
              <a:t>​Where:</a:t>
            </a:r>
          </a:p>
          <a:p>
            <a:pPr lvl="1"/>
            <a:r>
              <a:rPr lang="en-US" dirty="0" smtClean="0"/>
              <a:t>μ (mu) = population </a:t>
            </a:r>
          </a:p>
          <a:p>
            <a:pPr lvl="1"/>
            <a:r>
              <a:rPr lang="en-US" dirty="0" err="1" smtClean="0"/>
              <a:t>meanΣ</a:t>
            </a:r>
            <a:r>
              <a:rPr lang="en-US" dirty="0" smtClean="0"/>
              <a:t> = summation (add all values)</a:t>
            </a:r>
          </a:p>
          <a:p>
            <a:pPr lvl="1"/>
            <a:r>
              <a:rPr lang="en-US" dirty="0" smtClean="0"/>
              <a:t>X = each individual value</a:t>
            </a:r>
          </a:p>
          <a:p>
            <a:pPr lvl="1"/>
            <a:r>
              <a:rPr lang="en-US" dirty="0" smtClean="0"/>
              <a:t>N = total number of population elements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3074" name="Picture 2" descr="https://media.geeksforgeeks.org/wp-content/cdn-uploads/20220302154028/Group-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3293" y="3545670"/>
            <a:ext cx="5262586" cy="2631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6959908" y="3545670"/>
            <a:ext cx="4189863" cy="26312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800" dirty="0" smtClean="0"/>
              <a:t>Explanation: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Large circle = population</a:t>
            </a:r>
            <a:br>
              <a:rPr lang="en-IN" sz="2800" dirty="0" smtClean="0"/>
            </a:br>
            <a:r>
              <a:rPr lang="en-IN" sz="2800" dirty="0" smtClean="0"/>
              <a:t>Small circle = sample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 smtClean="0"/>
              <a:t>Population = everything</a:t>
            </a:r>
            <a:br>
              <a:rPr lang="en-IN" sz="2800" dirty="0" smtClean="0"/>
            </a:br>
            <a:r>
              <a:rPr lang="en-IN" sz="2800" dirty="0" smtClean="0"/>
              <a:t>Sample = subset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0023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Population: All houses in Ahmedabad</a:t>
            </a:r>
          </a:p>
          <a:p>
            <a:pPr lvl="1"/>
            <a:r>
              <a:rPr lang="en-US" dirty="0" smtClean="0"/>
              <a:t>Goal: Predict house price</a:t>
            </a:r>
          </a:p>
          <a:p>
            <a:pPr lvl="1"/>
            <a:r>
              <a:rPr lang="en-US" dirty="0" smtClean="0"/>
              <a:t>Population = all houses</a:t>
            </a:r>
          </a:p>
          <a:p>
            <a:pPr lvl="1"/>
            <a:r>
              <a:rPr lang="en-US" dirty="0" smtClean="0"/>
              <a:t>Sample = 10,000 houses dataset</a:t>
            </a:r>
          </a:p>
          <a:p>
            <a:pPr lvl="1"/>
            <a:r>
              <a:rPr lang="en-US" dirty="0" smtClean="0"/>
              <a:t>Machine learning learns from sample but tries to generalize to population</a:t>
            </a:r>
          </a:p>
          <a:p>
            <a:pPr marL="457200" lvl="1" indent="0">
              <a:buNone/>
            </a:pPr>
            <a:endParaRPr lang="en-US" dirty="0" smtClean="0"/>
          </a:p>
          <a:p>
            <a:r>
              <a:rPr lang="en-US" dirty="0" smtClean="0"/>
              <a:t>Types of population:</a:t>
            </a:r>
          </a:p>
          <a:p>
            <a:pPr lvl="1"/>
            <a:r>
              <a:rPr lang="en-US" dirty="0" smtClean="0"/>
              <a:t>Finite population</a:t>
            </a:r>
          </a:p>
          <a:p>
            <a:pPr marL="457200" lvl="1" indent="0">
              <a:buNone/>
            </a:pPr>
            <a:r>
              <a:rPr lang="en-US" dirty="0"/>
              <a:t>	</a:t>
            </a:r>
            <a:r>
              <a:rPr lang="en-US" dirty="0" smtClean="0"/>
              <a:t>Example: Students in one class (50 students)</a:t>
            </a:r>
          </a:p>
          <a:p>
            <a:pPr lvl="1"/>
            <a:r>
              <a:rPr lang="en-US" dirty="0" smtClean="0"/>
              <a:t>Infinite population</a:t>
            </a:r>
          </a:p>
          <a:p>
            <a:pPr marL="457200" lvl="1" indent="0">
              <a:buNone/>
            </a:pPr>
            <a:r>
              <a:rPr lang="en-US" dirty="0" smtClean="0"/>
              <a:t>	Example: All future stock prices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0110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Defines the true distribution</a:t>
            </a:r>
          </a:p>
          <a:p>
            <a:pPr lvl="1"/>
            <a:r>
              <a:rPr lang="en-US" dirty="0" smtClean="0"/>
              <a:t>Provides complete information</a:t>
            </a:r>
          </a:p>
          <a:p>
            <a:pPr lvl="1"/>
            <a:r>
              <a:rPr lang="en-US" dirty="0" smtClean="0"/>
              <a:t>Represents real-world scenario fully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Usually impossible to collect full population data</a:t>
            </a:r>
          </a:p>
          <a:p>
            <a:pPr lvl="1"/>
            <a:r>
              <a:rPr lang="en-US" dirty="0" smtClean="0"/>
              <a:t>Too expensive</a:t>
            </a:r>
          </a:p>
          <a:p>
            <a:pPr lvl="1"/>
            <a:r>
              <a:rPr lang="en-US" dirty="0" smtClean="0"/>
              <a:t>Too time consuming</a:t>
            </a:r>
          </a:p>
          <a:p>
            <a:r>
              <a:rPr lang="en-US" dirty="0" smtClean="0"/>
              <a:t>Population is used when:</a:t>
            </a:r>
          </a:p>
          <a:p>
            <a:pPr marL="457200" lvl="1" indent="0">
              <a:buNone/>
            </a:pPr>
            <a:r>
              <a:rPr lang="en-US" dirty="0" smtClean="0"/>
              <a:t>You define the target group</a:t>
            </a:r>
          </a:p>
          <a:p>
            <a:pPr marL="457200" lvl="1" indent="0">
              <a:buNone/>
            </a:pPr>
            <a:r>
              <a:rPr lang="en-US" dirty="0" smtClean="0"/>
              <a:t>Example:</a:t>
            </a:r>
          </a:p>
          <a:p>
            <a:pPr lvl="2"/>
            <a:r>
              <a:rPr lang="en-US" dirty="0" smtClean="0"/>
              <a:t>All customers</a:t>
            </a:r>
          </a:p>
          <a:p>
            <a:pPr lvl="2"/>
            <a:r>
              <a:rPr lang="en-US" dirty="0" smtClean="0"/>
              <a:t>All patients</a:t>
            </a:r>
          </a:p>
          <a:p>
            <a:pPr lvl="2"/>
            <a:r>
              <a:rPr lang="en-US" dirty="0" smtClean="0"/>
              <a:t>All houses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You never directly use full population in machine learning.</a:t>
            </a:r>
          </a:p>
          <a:p>
            <a:pPr lvl="1"/>
            <a:r>
              <a:rPr lang="en-US" dirty="0" smtClean="0"/>
              <a:t>Instead, you use sample.</a:t>
            </a:r>
          </a:p>
          <a:p>
            <a:pPr lvl="1"/>
            <a:r>
              <a:rPr lang="en-US" dirty="0" smtClean="0"/>
              <a:t>Population is theoretical reference.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Machine learning assumes:</a:t>
            </a:r>
          </a:p>
          <a:p>
            <a:pPr lvl="1"/>
            <a:r>
              <a:rPr lang="en-US" dirty="0" smtClean="0"/>
              <a:t>Training data sample ∼ Population distribution</a:t>
            </a:r>
          </a:p>
          <a:p>
            <a:pPr lvl="1"/>
            <a:r>
              <a:rPr lang="en-US" dirty="0" smtClean="0"/>
              <a:t>Goal: Learn function:𝑓(𝑥)≈𝑡𝑟𝑢𝑒𝑝𝑜𝑝𝑢𝑙𝑎𝑡𝑖𝑜𝑛𝑓𝑢𝑛𝑐𝑡𝑖𝑜𝑛</a:t>
            </a:r>
          </a:p>
          <a:p>
            <a:pPr lvl="1"/>
            <a:r>
              <a:rPr lang="en-US" dirty="0" smtClean="0"/>
              <a:t>Population distribution is unknown</a:t>
            </a:r>
          </a:p>
          <a:p>
            <a:pPr lvl="1"/>
            <a:r>
              <a:rPr lang="en-US" dirty="0" smtClean="0"/>
              <a:t>Sample approximates population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Population = complete dataset of interest</a:t>
            </a:r>
          </a:p>
          <a:p>
            <a:pPr lvl="1"/>
            <a:r>
              <a:rPr lang="en-US" dirty="0" smtClean="0"/>
              <a:t>It represents real-world data</a:t>
            </a:r>
          </a:p>
          <a:p>
            <a:pPr lvl="1"/>
            <a:r>
              <a:rPr lang="en-US" dirty="0" smtClean="0"/>
              <a:t>Machine learning tries to learn population patterns from sample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1916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2: Sample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Definition:</a:t>
            </a:r>
          </a:p>
          <a:p>
            <a:pPr lvl="1"/>
            <a:r>
              <a:rPr lang="en-US" dirty="0" smtClean="0"/>
              <a:t>A Sample is a subset taken from the population.</a:t>
            </a:r>
          </a:p>
          <a:p>
            <a:pPr lvl="1"/>
            <a:r>
              <a:rPr lang="en-US" dirty="0" smtClean="0"/>
              <a:t>It is used to represent the population.</a:t>
            </a:r>
          </a:p>
          <a:p>
            <a:r>
              <a:rPr lang="en-US" dirty="0" smtClean="0"/>
              <a:t>Why this exists</a:t>
            </a:r>
          </a:p>
          <a:p>
            <a:pPr lvl="1"/>
            <a:r>
              <a:rPr lang="en-US" dirty="0" smtClean="0"/>
              <a:t>Because population is too large to study fully.</a:t>
            </a:r>
          </a:p>
          <a:p>
            <a:pPr lvl="1"/>
            <a:r>
              <a:rPr lang="en-US" dirty="0" smtClean="0"/>
              <a:t>Sample makes analysis possible.</a:t>
            </a:r>
          </a:p>
          <a:p>
            <a:pPr lvl="1"/>
            <a:r>
              <a:rPr lang="en-US" dirty="0" smtClean="0"/>
              <a:t>Machine learning trains on sample data.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Population = all mangoes in India</a:t>
            </a:r>
          </a:p>
          <a:p>
            <a:pPr lvl="1"/>
            <a:r>
              <a:rPr lang="en-US" dirty="0" smtClean="0"/>
              <a:t>Sample = 100 mangoes you test</a:t>
            </a:r>
          </a:p>
          <a:p>
            <a:pPr lvl="1"/>
            <a:r>
              <a:rPr lang="en-US" dirty="0" smtClean="0"/>
              <a:t>You estimate taste from sample.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776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Sample size:𝑛</a:t>
            </a:r>
            <a:endParaRPr lang="en-US" dirty="0"/>
          </a:p>
          <a:p>
            <a:pPr lvl="1"/>
            <a:r>
              <a:rPr lang="en-US" dirty="0" smtClean="0"/>
              <a:t>Sample mean:𝑥ˉ=∑𝑋/𝑛	​</a:t>
            </a:r>
          </a:p>
          <a:p>
            <a:r>
              <a:rPr lang="en-US" dirty="0" smtClean="0"/>
              <a:t>Explanation of symbols</a:t>
            </a:r>
          </a:p>
          <a:p>
            <a:pPr lvl="1"/>
            <a:r>
              <a:rPr lang="en-US" dirty="0" smtClean="0"/>
              <a:t>𝑥ˉ̄ = sample mean</a:t>
            </a:r>
          </a:p>
          <a:p>
            <a:pPr lvl="1"/>
            <a:r>
              <a:rPr lang="el-GR" dirty="0" smtClean="0"/>
              <a:t>Σ = </a:t>
            </a:r>
            <a:r>
              <a:rPr lang="en-US" dirty="0" smtClean="0"/>
              <a:t>sum</a:t>
            </a:r>
          </a:p>
          <a:p>
            <a:pPr lvl="1"/>
            <a:r>
              <a:rPr lang="en-US" dirty="0" smtClean="0"/>
              <a:t>X = individual value</a:t>
            </a:r>
          </a:p>
          <a:p>
            <a:pPr lvl="1"/>
            <a:r>
              <a:rPr lang="en-US" dirty="0" smtClean="0"/>
              <a:t>n = sample size</a:t>
            </a:r>
            <a:endParaRPr lang="en-IN" dirty="0" smtClean="0"/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Population: All customers</a:t>
            </a:r>
          </a:p>
          <a:p>
            <a:pPr lvl="1"/>
            <a:r>
              <a:rPr lang="en-US" dirty="0" smtClean="0"/>
              <a:t>Sample: 10,000 customers</a:t>
            </a:r>
          </a:p>
          <a:p>
            <a:pPr lvl="1"/>
            <a:r>
              <a:rPr lang="en-US" dirty="0" smtClean="0"/>
              <a:t>Train ML model on sample</a:t>
            </a:r>
          </a:p>
          <a:p>
            <a:pPr lvl="1"/>
            <a:endParaRPr lang="en-US" dirty="0" smtClean="0"/>
          </a:p>
        </p:txBody>
      </p:sp>
      <p:pic>
        <p:nvPicPr>
          <p:cNvPr id="8194" name="Picture 2" descr="https://www.simplypsychology.org/wp-content/uploads/Sample-Target-Population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7701" y="2950738"/>
            <a:ext cx="7077739" cy="3774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034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Random sampling</a:t>
            </a:r>
          </a:p>
          <a:p>
            <a:pPr lvl="1"/>
            <a:r>
              <a:rPr lang="en-US" dirty="0" smtClean="0"/>
              <a:t>Stratified sampling</a:t>
            </a:r>
          </a:p>
          <a:p>
            <a:pPr lvl="1"/>
            <a:r>
              <a:rPr lang="en-US" dirty="0" smtClean="0"/>
              <a:t>Systematic sampling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Faster</a:t>
            </a:r>
          </a:p>
          <a:p>
            <a:pPr lvl="1"/>
            <a:r>
              <a:rPr lang="en-US" dirty="0" smtClean="0"/>
              <a:t>Cheaper</a:t>
            </a:r>
          </a:p>
          <a:p>
            <a:pPr lvl="1"/>
            <a:r>
              <a:rPr lang="en-US" dirty="0" smtClean="0"/>
              <a:t>Practical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May not represent full population perfectly</a:t>
            </a:r>
          </a:p>
          <a:p>
            <a:pPr lvl="1"/>
            <a:r>
              <a:rPr lang="en-US" dirty="0" smtClean="0"/>
              <a:t>Sampling bias possible</a:t>
            </a:r>
          </a:p>
        </p:txBody>
      </p:sp>
    </p:spTree>
    <p:extLst>
      <p:ext uri="{BB962C8B-B14F-4D97-AF65-F5344CB8AC3E}">
        <p14:creationId xmlns:p14="http://schemas.microsoft.com/office/powerpoint/2010/main" val="249359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Always used in ML</a:t>
            </a:r>
          </a:p>
          <a:p>
            <a:pPr lvl="1"/>
            <a:r>
              <a:rPr lang="en-US" dirty="0" smtClean="0"/>
              <a:t>ML never trains on full population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Impossible to avoid sample in ML</a:t>
            </a:r>
          </a:p>
          <a:p>
            <a:r>
              <a:rPr lang="en-US" dirty="0" smtClean="0"/>
              <a:t>Technical explanation</a:t>
            </a:r>
          </a:p>
          <a:p>
            <a:pPr lvl="1"/>
            <a:r>
              <a:rPr lang="en-US" dirty="0" smtClean="0"/>
              <a:t>Sample approximates population distribution:</a:t>
            </a:r>
          </a:p>
          <a:p>
            <a:pPr lvl="1"/>
            <a:r>
              <a:rPr lang="en-US" dirty="0" smtClean="0"/>
              <a:t>𝑃𝑠𝑎𝑚𝑝𝑙𝑒(𝑥)≈𝑃𝑝𝑜𝑝𝑢𝑙𝑎𝑡𝑖𝑜𝑛(𝑥)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Sample = subset of population used for training ML model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7374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3: Variable 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Variable = measurable property</a:t>
            </a:r>
          </a:p>
          <a:p>
            <a:pPr lvl="1"/>
            <a:r>
              <a:rPr lang="en-US" dirty="0" smtClean="0"/>
              <a:t>Example: Height, Weight, Gender, Age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ML models learn relationships between variables</a:t>
            </a:r>
          </a:p>
          <a:p>
            <a:pPr lvl="1"/>
            <a:r>
              <a:rPr lang="en-US" dirty="0" smtClean="0"/>
              <a:t>Variables = inputs and outputs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Recipe example:</a:t>
            </a:r>
          </a:p>
          <a:p>
            <a:pPr lvl="1"/>
            <a:r>
              <a:rPr lang="en-US" dirty="0" smtClean="0"/>
              <a:t>Ingredients = variables</a:t>
            </a:r>
          </a:p>
          <a:p>
            <a:pPr lvl="1"/>
            <a:r>
              <a:rPr lang="en-US" dirty="0" smtClean="0"/>
              <a:t>Dish taste = output variable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368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𝑋=𝑖𝑛𝑑𝑒𝑝𝑒𝑛𝑑𝑒𝑛𝑡𝑣𝑎𝑟𝑖𝑎𝑏𝑙𝑒</a:t>
            </a:r>
          </a:p>
          <a:p>
            <a:pPr lvl="1"/>
            <a:r>
              <a:rPr lang="en-US" dirty="0" smtClean="0"/>
              <a:t>𝑌=𝑑𝑒𝑝𝑒𝑛𝑑𝑒𝑛𝑡𝑣𝑎𝑟𝑖𝑎𝑏𝑙𝑒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X = input</a:t>
            </a:r>
          </a:p>
          <a:p>
            <a:pPr lvl="1"/>
            <a:r>
              <a:rPr lang="en-US" dirty="0" smtClean="0"/>
              <a:t>Y = output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Two main types:</a:t>
            </a:r>
          </a:p>
          <a:p>
            <a:pPr lvl="2"/>
            <a:r>
              <a:rPr lang="en-US" dirty="0" smtClean="0"/>
              <a:t>Quantitative</a:t>
            </a:r>
          </a:p>
          <a:p>
            <a:pPr lvl="2"/>
            <a:r>
              <a:rPr lang="en-US" dirty="0" smtClean="0"/>
              <a:t>Qualitative</a:t>
            </a:r>
          </a:p>
        </p:txBody>
      </p:sp>
    </p:spTree>
    <p:extLst>
      <p:ext uri="{BB962C8B-B14F-4D97-AF65-F5344CB8AC3E}">
        <p14:creationId xmlns:p14="http://schemas.microsoft.com/office/powerpoint/2010/main" val="27871832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Quantitative Variables</a:t>
            </a:r>
          </a:p>
          <a:p>
            <a:pPr lvl="1"/>
            <a:r>
              <a:rPr lang="en-US" dirty="0" smtClean="0"/>
              <a:t>Definition</a:t>
            </a:r>
          </a:p>
          <a:p>
            <a:pPr lvl="2"/>
            <a:r>
              <a:rPr lang="en-US" dirty="0" smtClean="0"/>
              <a:t>Numeric values</a:t>
            </a:r>
          </a:p>
          <a:p>
            <a:pPr lvl="2"/>
            <a:r>
              <a:rPr lang="en-US" dirty="0" err="1" smtClean="0"/>
              <a:t>Example:Height</a:t>
            </a:r>
            <a:r>
              <a:rPr lang="en-US" dirty="0" smtClean="0"/>
              <a:t>, Weight</a:t>
            </a:r>
          </a:p>
          <a:p>
            <a:pPr lvl="1"/>
            <a:r>
              <a:rPr lang="en-US" dirty="0" smtClean="0"/>
              <a:t>Types: Continuous, Discrete</a:t>
            </a:r>
          </a:p>
          <a:p>
            <a:pPr lvl="1"/>
            <a:r>
              <a:rPr lang="en-US" dirty="0" smtClean="0"/>
              <a:t>Continuous Variable</a:t>
            </a:r>
          </a:p>
          <a:p>
            <a:pPr lvl="2"/>
            <a:r>
              <a:rPr lang="en-US" dirty="0" err="1" smtClean="0"/>
              <a:t>Definition:Can</a:t>
            </a:r>
            <a:r>
              <a:rPr lang="en-US" dirty="0" smtClean="0"/>
              <a:t> take infinite values</a:t>
            </a:r>
          </a:p>
          <a:p>
            <a:pPr lvl="2"/>
            <a:r>
              <a:rPr lang="en-US" dirty="0" err="1" smtClean="0"/>
              <a:t>Example:Height</a:t>
            </a:r>
            <a:r>
              <a:rPr lang="en-US" dirty="0" smtClean="0"/>
              <a:t> = 170.1, 170.12, </a:t>
            </a:r>
            <a:r>
              <a:rPr lang="en-US" dirty="0" err="1" smtClean="0"/>
              <a:t>etc</a:t>
            </a:r>
            <a:endParaRPr lang="en-US" dirty="0" smtClean="0"/>
          </a:p>
          <a:p>
            <a:pPr lvl="1"/>
            <a:r>
              <a:rPr lang="en-US" dirty="0" smtClean="0"/>
              <a:t>Discrete Variable</a:t>
            </a:r>
          </a:p>
          <a:p>
            <a:pPr lvl="2"/>
            <a:r>
              <a:rPr lang="en-US" dirty="0" err="1" smtClean="0"/>
              <a:t>Definition:Countable</a:t>
            </a:r>
            <a:r>
              <a:rPr lang="en-US" dirty="0" smtClean="0"/>
              <a:t> values</a:t>
            </a:r>
          </a:p>
          <a:p>
            <a:pPr lvl="2"/>
            <a:r>
              <a:rPr lang="en-US" dirty="0" err="1" smtClean="0"/>
              <a:t>Example:Number</a:t>
            </a:r>
            <a:r>
              <a:rPr lang="en-US" dirty="0" smtClean="0"/>
              <a:t> of students1,2,3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2662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Qualitative Variable</a:t>
            </a:r>
          </a:p>
          <a:p>
            <a:pPr lvl="1"/>
            <a:r>
              <a:rPr lang="en-US" dirty="0" smtClean="0"/>
              <a:t>Definition: Category values</a:t>
            </a:r>
          </a:p>
          <a:p>
            <a:pPr lvl="1"/>
            <a:r>
              <a:rPr lang="en-US" dirty="0" smtClean="0"/>
              <a:t>Example: Male/Female</a:t>
            </a:r>
          </a:p>
          <a:p>
            <a:pPr lvl="1"/>
            <a:r>
              <a:rPr lang="en-US" dirty="0" smtClean="0"/>
              <a:t>Binary Variable</a:t>
            </a:r>
          </a:p>
          <a:p>
            <a:pPr lvl="2"/>
            <a:r>
              <a:rPr lang="en-US" dirty="0" smtClean="0"/>
              <a:t>Two categories</a:t>
            </a:r>
          </a:p>
          <a:p>
            <a:pPr lvl="2"/>
            <a:r>
              <a:rPr lang="en-US" dirty="0" smtClean="0"/>
              <a:t>Yes/No</a:t>
            </a:r>
          </a:p>
          <a:p>
            <a:pPr lvl="1"/>
            <a:r>
              <a:rPr lang="en-US" dirty="0" smtClean="0"/>
              <a:t>Categorical Variable</a:t>
            </a:r>
          </a:p>
          <a:p>
            <a:pPr lvl="2"/>
            <a:r>
              <a:rPr lang="en-US" dirty="0" smtClean="0"/>
              <a:t>Multiple categories</a:t>
            </a:r>
          </a:p>
          <a:p>
            <a:pPr lvl="2"/>
            <a:r>
              <a:rPr lang="en-US" dirty="0" smtClean="0"/>
              <a:t>Red, Blue, Green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Variables are building blocks of ML models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88068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4: Central Tendency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Central tendency is one of the most important foundations of statistics and machine learning.</a:t>
            </a:r>
          </a:p>
          <a:p>
            <a:pPr marL="0" indent="0">
              <a:buNone/>
            </a:pPr>
            <a:r>
              <a:rPr lang="en-US" dirty="0" smtClean="0"/>
              <a:t>It answers a very simple but powerful question:</a:t>
            </a:r>
          </a:p>
          <a:p>
            <a:pPr marL="0" indent="0">
              <a:buNone/>
            </a:pPr>
            <a:r>
              <a:rPr lang="en-US" dirty="0" smtClean="0"/>
              <a:t>"What is the center of the data?“</a:t>
            </a:r>
          </a:p>
          <a:p>
            <a:pPr marL="0" indent="0">
              <a:buNone/>
            </a:pPr>
            <a:r>
              <a:rPr lang="en-US" dirty="0" smtClean="0"/>
              <a:t>It includes:</a:t>
            </a:r>
          </a:p>
          <a:p>
            <a:pPr marL="0" indent="0">
              <a:buNone/>
            </a:pPr>
            <a:r>
              <a:rPr lang="en-IN" dirty="0" smtClean="0"/>
              <a:t>  Mean</a:t>
            </a:r>
          </a:p>
          <a:p>
            <a:pPr marL="0" indent="0">
              <a:buNone/>
            </a:pPr>
            <a:r>
              <a:rPr lang="en-IN" dirty="0" smtClean="0"/>
              <a:t>  Median</a:t>
            </a:r>
          </a:p>
          <a:p>
            <a:pPr marL="0" indent="0">
              <a:buNone/>
            </a:pPr>
            <a:r>
              <a:rPr lang="en-IN" dirty="0" smtClean="0"/>
              <a:t>  Mode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124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 smtClean="0"/>
              <a:t>PART 1: MEAN</a:t>
            </a:r>
          </a:p>
          <a:p>
            <a:r>
              <a:rPr lang="en-US" dirty="0" smtClean="0"/>
              <a:t>Definition: </a:t>
            </a:r>
          </a:p>
          <a:p>
            <a:pPr lvl="1"/>
            <a:r>
              <a:rPr lang="en-US" dirty="0" smtClean="0"/>
              <a:t>The Mean is the average value of a dataset.</a:t>
            </a:r>
          </a:p>
          <a:p>
            <a:pPr lvl="1"/>
            <a:r>
              <a:rPr lang="en-US" dirty="0" smtClean="0"/>
              <a:t>It is calculated by adding all values and dividing by total number of </a:t>
            </a:r>
            <a:r>
              <a:rPr lang="en-US" dirty="0" err="1" smtClean="0"/>
              <a:t>values.It</a:t>
            </a:r>
            <a:r>
              <a:rPr lang="en-US" dirty="0" smtClean="0"/>
              <a:t> represents the "center" of the data.</a:t>
            </a:r>
          </a:p>
          <a:p>
            <a:r>
              <a:rPr lang="en-US" dirty="0" smtClean="0"/>
              <a:t>We need mean because:</a:t>
            </a:r>
          </a:p>
          <a:p>
            <a:pPr marL="457200" lvl="1" indent="0">
              <a:buNone/>
            </a:pPr>
            <a:r>
              <a:rPr lang="en-US" dirty="0" smtClean="0"/>
              <a:t>• It summarizes large data into one number</a:t>
            </a:r>
          </a:p>
          <a:p>
            <a:pPr marL="457200" lvl="1" indent="0">
              <a:buNone/>
            </a:pPr>
            <a:r>
              <a:rPr lang="en-US" dirty="0" smtClean="0"/>
              <a:t>• Helps understand overall trend</a:t>
            </a:r>
          </a:p>
          <a:p>
            <a:pPr marL="457200" lvl="1" indent="0">
              <a:buNone/>
            </a:pPr>
            <a:r>
              <a:rPr lang="en-US" dirty="0" smtClean="0"/>
              <a:t>• Used in almost every ML algorithm</a:t>
            </a:r>
          </a:p>
          <a:p>
            <a:pPr marL="457200" lvl="1" indent="0">
              <a:buNone/>
            </a:pPr>
            <a:r>
              <a:rPr lang="en-US" dirty="0" smtClean="0"/>
              <a:t>• Used to measure error, variance, and loss</a:t>
            </a:r>
          </a:p>
          <a:p>
            <a:pPr lvl="1"/>
            <a:r>
              <a:rPr lang="en-US" dirty="0" smtClean="0"/>
              <a:t>Machine learning models try to minimize error relative to mean.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marks of 5 students:50, 60, 70, 80, 90</a:t>
            </a:r>
          </a:p>
          <a:p>
            <a:pPr lvl="1"/>
            <a:r>
              <a:rPr lang="en-US" dirty="0" smtClean="0"/>
              <a:t>Mean = average performance of class</a:t>
            </a:r>
          </a:p>
          <a:p>
            <a:pPr lvl="1"/>
            <a:r>
              <a:rPr lang="en-US" dirty="0" smtClean="0"/>
              <a:t>Instead of looking at 5 numbers, we use 1 number.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971419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Population mean:𝜇=∑𝑋/𝑁</a:t>
            </a:r>
          </a:p>
          <a:p>
            <a:pPr lvl="1"/>
            <a:r>
              <a:rPr lang="en-US" dirty="0" smtClean="0"/>
              <a:t>​Sample mean:𝑥ˉ=∑𝑋/𝑛</a:t>
            </a:r>
          </a:p>
          <a:p>
            <a:r>
              <a:rPr lang="en-US" dirty="0" smtClean="0"/>
              <a:t>​Explanation of each symbol</a:t>
            </a:r>
          </a:p>
          <a:p>
            <a:pPr lvl="1"/>
            <a:r>
              <a:rPr lang="el-GR" dirty="0" smtClean="0"/>
              <a:t>μ = </a:t>
            </a:r>
            <a:r>
              <a:rPr lang="en-US" dirty="0" smtClean="0"/>
              <a:t>population mean</a:t>
            </a:r>
          </a:p>
          <a:p>
            <a:pPr lvl="1"/>
            <a:r>
              <a:rPr lang="en-US" dirty="0" smtClean="0"/>
              <a:t>x̄ = sample mean</a:t>
            </a:r>
          </a:p>
          <a:p>
            <a:pPr lvl="1"/>
            <a:r>
              <a:rPr lang="el-GR" dirty="0" smtClean="0"/>
              <a:t>Σ = </a:t>
            </a:r>
            <a:r>
              <a:rPr lang="en-US" dirty="0" smtClean="0"/>
              <a:t>sum of all values</a:t>
            </a:r>
          </a:p>
          <a:p>
            <a:pPr lvl="1"/>
            <a:r>
              <a:rPr lang="en-US" dirty="0" smtClean="0"/>
              <a:t>X = individual value</a:t>
            </a:r>
          </a:p>
          <a:p>
            <a:pPr lvl="1"/>
            <a:r>
              <a:rPr lang="en-US" dirty="0" smtClean="0"/>
              <a:t>N = population size</a:t>
            </a:r>
          </a:p>
          <a:p>
            <a:pPr lvl="1"/>
            <a:r>
              <a:rPr lang="en-US" dirty="0" smtClean="0"/>
              <a:t>n = sample size</a:t>
            </a:r>
          </a:p>
        </p:txBody>
      </p:sp>
    </p:spTree>
    <p:extLst>
      <p:ext uri="{BB962C8B-B14F-4D97-AF65-F5344CB8AC3E}">
        <p14:creationId xmlns:p14="http://schemas.microsoft.com/office/powerpoint/2010/main" val="4061107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Dataset:2, 4, 6, 8, 10</a:t>
            </a:r>
          </a:p>
          <a:p>
            <a:pPr lvl="1"/>
            <a:r>
              <a:rPr lang="en-US" dirty="0" smtClean="0"/>
              <a:t>Step 1: Add all values 2+4+6+8+10 = 30</a:t>
            </a:r>
          </a:p>
          <a:p>
            <a:pPr lvl="1"/>
            <a:r>
              <a:rPr lang="en-US" dirty="0" smtClean="0"/>
              <a:t>Step 2: divide by count 30 / 5 = 6</a:t>
            </a:r>
          </a:p>
          <a:p>
            <a:pPr lvl="1"/>
            <a:r>
              <a:rPr lang="en-US" dirty="0" smtClean="0"/>
              <a:t>Mean = 6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Population mean (</a:t>
            </a:r>
            <a:r>
              <a:rPr lang="el-GR" dirty="0" smtClean="0"/>
              <a:t>μ)</a:t>
            </a:r>
            <a:endParaRPr lang="en-US" dirty="0" smtClean="0"/>
          </a:p>
          <a:p>
            <a:pPr lvl="1"/>
            <a:r>
              <a:rPr lang="en-US" dirty="0" smtClean="0"/>
              <a:t>Sample mean (x̄)</a:t>
            </a:r>
          </a:p>
          <a:p>
            <a:pPr lvl="1"/>
            <a:r>
              <a:rPr lang="en-US" dirty="0" smtClean="0"/>
              <a:t>Weighted mean</a:t>
            </a:r>
          </a:p>
          <a:p>
            <a:pPr lvl="2"/>
            <a:r>
              <a:rPr lang="en-US" dirty="0" smtClean="0"/>
              <a:t>Weighted mean formula:𝑥ˉ=∑(𝑤𝑖𝑥𝑖)/∑𝑤𝑖</a:t>
            </a:r>
          </a:p>
          <a:p>
            <a:r>
              <a:rPr lang="en-US" dirty="0" smtClean="0"/>
              <a:t>​Advantages</a:t>
            </a:r>
          </a:p>
          <a:p>
            <a:pPr lvl="1"/>
            <a:r>
              <a:rPr lang="en-US" dirty="0" smtClean="0"/>
              <a:t>Simple to calculate</a:t>
            </a:r>
          </a:p>
          <a:p>
            <a:pPr lvl="1"/>
            <a:r>
              <a:rPr lang="en-US" dirty="0" smtClean="0"/>
              <a:t>Uses all data points</a:t>
            </a:r>
          </a:p>
          <a:p>
            <a:pPr lvl="1"/>
            <a:r>
              <a:rPr lang="en-US" dirty="0" smtClean="0"/>
              <a:t>Very useful in ML</a:t>
            </a:r>
          </a:p>
        </p:txBody>
      </p:sp>
    </p:spTree>
    <p:extLst>
      <p:ext uri="{BB962C8B-B14F-4D97-AF65-F5344CB8AC3E}">
        <p14:creationId xmlns:p14="http://schemas.microsoft.com/office/powerpoint/2010/main" val="40332065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Sensitive to outliers</a:t>
            </a:r>
          </a:p>
          <a:p>
            <a:pPr lvl="1"/>
            <a:r>
              <a:rPr lang="en-US" dirty="0" smtClean="0"/>
              <a:t>Example:2, 3, 4, 5, 100</a:t>
            </a:r>
          </a:p>
          <a:p>
            <a:pPr lvl="1"/>
            <a:r>
              <a:rPr lang="en-US" dirty="0" smtClean="0"/>
              <a:t>Mean = 22.8</a:t>
            </a:r>
          </a:p>
          <a:p>
            <a:pPr lvl="1"/>
            <a:r>
              <a:rPr lang="en-US" dirty="0" smtClean="0"/>
              <a:t>But most values are near 3–5</a:t>
            </a:r>
          </a:p>
          <a:p>
            <a:pPr lvl="1"/>
            <a:r>
              <a:rPr lang="en-US" dirty="0" smtClean="0"/>
              <a:t>Mean distorted by outlier.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Use when data has no extreme outliers.</a:t>
            </a:r>
          </a:p>
          <a:p>
            <a:pPr lvl="1"/>
            <a:r>
              <a:rPr lang="en-US" dirty="0" smtClean="0"/>
              <a:t>Used in: Linear regression, Variance, Standard deviation, Gradient descent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Do not use when data has extreme outliers.</a:t>
            </a:r>
          </a:p>
          <a:p>
            <a:pPr lvl="1"/>
            <a:r>
              <a:rPr lang="en-US" dirty="0" smtClean="0"/>
              <a:t>Example: Income data, Few billionaires distort mean.</a:t>
            </a:r>
          </a:p>
        </p:txBody>
      </p:sp>
    </p:spTree>
    <p:extLst>
      <p:ext uri="{BB962C8B-B14F-4D97-AF65-F5344CB8AC3E}">
        <p14:creationId xmlns:p14="http://schemas.microsoft.com/office/powerpoint/2010/main" val="15977394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Mean minimizes squared error</a:t>
            </a:r>
          </a:p>
          <a:p>
            <a:pPr lvl="1"/>
            <a:r>
              <a:rPr lang="en-US" dirty="0" smtClean="0"/>
              <a:t>Mean is solution to: min⁡∑(𝑥−𝜇)^2</a:t>
            </a:r>
          </a:p>
          <a:p>
            <a:pPr lvl="1"/>
            <a:r>
              <a:rPr lang="en-US" dirty="0" smtClean="0"/>
              <a:t> This is why linear regression predicts mean.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Mean = average</a:t>
            </a:r>
          </a:p>
          <a:p>
            <a:pPr lvl="1"/>
            <a:r>
              <a:rPr lang="en-US" dirty="0" smtClean="0"/>
              <a:t>Represents center of data</a:t>
            </a:r>
          </a:p>
          <a:p>
            <a:pPr lvl="1"/>
            <a:r>
              <a:rPr lang="en-US" dirty="0" smtClean="0"/>
              <a:t>Very important in ML optimization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433575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PART 2: MEDIAN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Median is the middle value when data is sorted.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Mean is affected by outliers.</a:t>
            </a:r>
          </a:p>
          <a:p>
            <a:pPr lvl="1"/>
            <a:r>
              <a:rPr lang="en-US" dirty="0" smtClean="0"/>
              <a:t>Median is more robust.</a:t>
            </a:r>
          </a:p>
          <a:p>
            <a:r>
              <a:rPr lang="en-US" dirty="0" smtClean="0"/>
              <a:t>Slide 4: Real-life analogy</a:t>
            </a:r>
          </a:p>
          <a:p>
            <a:pPr lvl="1"/>
            <a:r>
              <a:rPr lang="en-US" dirty="0" smtClean="0"/>
              <a:t>Income example:10k, 20k, 30k, 40k, 10 crore</a:t>
            </a:r>
          </a:p>
          <a:p>
            <a:pPr lvl="1"/>
            <a:r>
              <a:rPr lang="en-US" dirty="0" smtClean="0"/>
              <a:t>Median = 30k</a:t>
            </a:r>
          </a:p>
          <a:p>
            <a:pPr lvl="1"/>
            <a:r>
              <a:rPr lang="en-US" dirty="0" smtClean="0"/>
              <a:t>More realistic than mean.</a:t>
            </a:r>
          </a:p>
        </p:txBody>
      </p:sp>
    </p:spTree>
    <p:extLst>
      <p:ext uri="{BB962C8B-B14F-4D97-AF65-F5344CB8AC3E}">
        <p14:creationId xmlns:p14="http://schemas.microsoft.com/office/powerpoint/2010/main" val="14578290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If odd number of values:𝑀𝑒𝑑𝑖𝑎𝑛=𝑚𝑖𝑑𝑑𝑙𝑒𝑣𝑎𝑙𝑢𝑒</a:t>
            </a:r>
          </a:p>
          <a:p>
            <a:pPr lvl="1"/>
            <a:r>
              <a:rPr lang="en-US" dirty="0" smtClean="0"/>
              <a:t>If even number:𝑀𝑒𝑑𝑖𝑎𝑛=𝑚𝑖𝑑𝑑𝑙𝑒1+𝑚𝑖𝑑𝑑𝑙𝑒2/2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Sort data first.</a:t>
            </a:r>
          </a:p>
          <a:p>
            <a:pPr lvl="1"/>
            <a:r>
              <a:rPr lang="en-US" dirty="0" smtClean="0"/>
              <a:t>Then pick middle.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Data:2,4,6,8,10</a:t>
            </a:r>
          </a:p>
          <a:p>
            <a:pPr lvl="1"/>
            <a:r>
              <a:rPr lang="en-US" dirty="0" smtClean="0"/>
              <a:t>Median = 6</a:t>
            </a:r>
          </a:p>
          <a:p>
            <a:pPr lvl="1"/>
            <a:r>
              <a:rPr lang="en-US" dirty="0" smtClean="0"/>
              <a:t>Even example:2,4,6,8</a:t>
            </a:r>
          </a:p>
          <a:p>
            <a:pPr lvl="1"/>
            <a:r>
              <a:rPr lang="en-US" dirty="0" smtClean="0"/>
              <a:t>Median = (4+6)/2 = 5</a:t>
            </a:r>
          </a:p>
        </p:txBody>
      </p:sp>
    </p:spTree>
    <p:extLst>
      <p:ext uri="{BB962C8B-B14F-4D97-AF65-F5344CB8AC3E}">
        <p14:creationId xmlns:p14="http://schemas.microsoft.com/office/powerpoint/2010/main" val="42066630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No major types</a:t>
            </a:r>
          </a:p>
          <a:p>
            <a:pPr lvl="1"/>
            <a:r>
              <a:rPr lang="en-US" dirty="0" smtClean="0"/>
              <a:t>But used in: Robust statistics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Not affected by outliers</a:t>
            </a:r>
          </a:p>
          <a:p>
            <a:pPr lvl="1"/>
            <a:r>
              <a:rPr lang="en-US" dirty="0" smtClean="0"/>
              <a:t>Better representation sometimes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Does not use all values</a:t>
            </a:r>
          </a:p>
          <a:p>
            <a:pPr lvl="1"/>
            <a:r>
              <a:rPr lang="en-US" dirty="0" smtClean="0"/>
              <a:t>Less mathematically useful in ML</a:t>
            </a:r>
          </a:p>
        </p:txBody>
      </p:sp>
    </p:spTree>
    <p:extLst>
      <p:ext uri="{BB962C8B-B14F-4D97-AF65-F5344CB8AC3E}">
        <p14:creationId xmlns:p14="http://schemas.microsoft.com/office/powerpoint/2010/main" val="1090624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When outliers exist</a:t>
            </a:r>
          </a:p>
          <a:p>
            <a:pPr lvl="1"/>
            <a:r>
              <a:rPr lang="en-US" dirty="0" smtClean="0"/>
              <a:t>Income, House prices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When mathematical optimization required</a:t>
            </a:r>
          </a:p>
          <a:p>
            <a:r>
              <a:rPr lang="en-US" dirty="0" smtClean="0"/>
              <a:t>Technical explanation</a:t>
            </a:r>
          </a:p>
          <a:p>
            <a:pPr lvl="1"/>
            <a:r>
              <a:rPr lang="en-US" dirty="0" smtClean="0"/>
              <a:t>Median minimizes absolute error:</a:t>
            </a:r>
          </a:p>
          <a:p>
            <a:pPr lvl="1"/>
            <a:r>
              <a:rPr lang="en-US" dirty="0" smtClean="0"/>
              <a:t>min⁡∑∣𝑥−𝑚𝑒𝑑𝑖𝑎𝑛∣</a:t>
            </a:r>
          </a:p>
          <a:p>
            <a:pPr lvl="1"/>
            <a:r>
              <a:rPr lang="en-US" dirty="0" smtClean="0"/>
              <a:t>Used in MAE loss.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Median = middle value</a:t>
            </a:r>
          </a:p>
          <a:p>
            <a:pPr lvl="1"/>
            <a:r>
              <a:rPr lang="en-US" dirty="0" smtClean="0"/>
              <a:t>Robust to outliers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39779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PART 3: MODE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Mode = most frequent value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Used to find most common category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Most common shoe size in store</a:t>
            </a:r>
          </a:p>
          <a:p>
            <a:r>
              <a:rPr lang="en-US" dirty="0" smtClean="0"/>
              <a:t>Formula</a:t>
            </a:r>
          </a:p>
          <a:p>
            <a:pPr lvl="1"/>
            <a:r>
              <a:rPr lang="en-US" dirty="0" smtClean="0"/>
              <a:t>No formula</a:t>
            </a:r>
          </a:p>
          <a:p>
            <a:pPr lvl="1"/>
            <a:r>
              <a:rPr lang="en-US" dirty="0" smtClean="0"/>
              <a:t>Frequency-based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Count frequency</a:t>
            </a:r>
          </a:p>
          <a:p>
            <a:pPr lvl="1"/>
            <a:r>
              <a:rPr lang="en-US" dirty="0" smtClean="0"/>
              <a:t>Highest frequency = mode</a:t>
            </a:r>
          </a:p>
        </p:txBody>
      </p:sp>
    </p:spTree>
    <p:extLst>
      <p:ext uri="{BB962C8B-B14F-4D97-AF65-F5344CB8AC3E}">
        <p14:creationId xmlns:p14="http://schemas.microsoft.com/office/powerpoint/2010/main" val="387340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Data:1,2,2,3,4</a:t>
            </a:r>
          </a:p>
          <a:p>
            <a:pPr lvl="1"/>
            <a:r>
              <a:rPr lang="en-US" dirty="0" smtClean="0"/>
              <a:t>Mode = 2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Unimodal (1 mode)</a:t>
            </a:r>
          </a:p>
          <a:p>
            <a:pPr lvl="1"/>
            <a:r>
              <a:rPr lang="en-US" dirty="0" smtClean="0"/>
              <a:t>Bimodal (2 modes)</a:t>
            </a:r>
          </a:p>
          <a:p>
            <a:pPr lvl="1"/>
            <a:r>
              <a:rPr lang="en-US" dirty="0" smtClean="0"/>
              <a:t>Multimodal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Useful for categorical data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Not useful for continuous data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Categorical data</a:t>
            </a:r>
          </a:p>
          <a:p>
            <a:pPr lvl="1"/>
            <a:r>
              <a:rPr lang="en-US" dirty="0" smtClean="0"/>
              <a:t>Example: Gender, Color</a:t>
            </a:r>
          </a:p>
        </p:txBody>
      </p:sp>
    </p:spTree>
    <p:extLst>
      <p:ext uri="{BB962C8B-B14F-4D97-AF65-F5344CB8AC3E}">
        <p14:creationId xmlns:p14="http://schemas.microsoft.com/office/powerpoint/2010/main" val="3825518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Continuous numeric data</a:t>
            </a:r>
          </a:p>
          <a:p>
            <a:r>
              <a:rPr lang="en-US" dirty="0" smtClean="0"/>
              <a:t>Technical explanation</a:t>
            </a:r>
          </a:p>
          <a:p>
            <a:pPr lvl="1"/>
            <a:r>
              <a:rPr lang="en-US" dirty="0" smtClean="0"/>
              <a:t>Mode estimates peak of probability distribution.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Mode = most frequent value</a:t>
            </a:r>
          </a:p>
          <a:p>
            <a:r>
              <a:rPr lang="en-US" dirty="0" smtClean="0"/>
              <a:t>Comparison Table</a:t>
            </a:r>
          </a:p>
          <a:p>
            <a:pPr marL="457200" lvl="1" indent="0">
              <a:buNone/>
            </a:pPr>
            <a:r>
              <a:rPr lang="en-US" b="1" dirty="0" smtClean="0"/>
              <a:t>Measure		Best Use</a:t>
            </a:r>
          </a:p>
          <a:p>
            <a:pPr marL="457200" lvl="1" indent="0">
              <a:buNone/>
            </a:pPr>
            <a:r>
              <a:rPr lang="en-US" dirty="0" smtClean="0"/>
              <a:t>Mean		General purpose</a:t>
            </a:r>
          </a:p>
          <a:p>
            <a:pPr marL="457200" lvl="1" indent="0">
              <a:buNone/>
            </a:pPr>
            <a:r>
              <a:rPr lang="en-US" dirty="0" smtClean="0"/>
              <a:t>Median		Outliers present</a:t>
            </a:r>
          </a:p>
          <a:p>
            <a:pPr marL="457200" lvl="1" indent="0">
              <a:buNone/>
            </a:pPr>
            <a:r>
              <a:rPr lang="en-US" dirty="0" smtClean="0"/>
              <a:t>Mode		Categorical data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5570542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5: Population Mean vs Sample Mean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PART 1: Population Mean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Population mean is the average value of the entire population.</a:t>
            </a:r>
          </a:p>
          <a:p>
            <a:pPr lvl="1"/>
            <a:r>
              <a:rPr lang="en-US" dirty="0" smtClean="0"/>
              <a:t>It represents the true average of all possible data.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Population mean represents the true real-world value.</a:t>
            </a:r>
          </a:p>
          <a:p>
            <a:pPr lvl="1"/>
            <a:r>
              <a:rPr lang="en-US" dirty="0" smtClean="0"/>
              <a:t>Machine learning tries to estimate this value using sample data.</a:t>
            </a:r>
          </a:p>
          <a:p>
            <a:pPr lvl="1"/>
            <a:r>
              <a:rPr lang="en-US" dirty="0" smtClean="0"/>
              <a:t>Since population is usually unknown, we estimate it.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Imagine: You want average height of all humans on Earth.</a:t>
            </a:r>
          </a:p>
          <a:p>
            <a:pPr lvl="1"/>
            <a:r>
              <a:rPr lang="en-US" dirty="0" smtClean="0"/>
              <a:t>Population mean = true average height of all humans.</a:t>
            </a:r>
          </a:p>
          <a:p>
            <a:pPr lvl="1"/>
            <a:r>
              <a:rPr lang="en-US" dirty="0" smtClean="0"/>
              <a:t>But you cannot measure everyone.</a:t>
            </a:r>
          </a:p>
          <a:p>
            <a:pPr lvl="1"/>
            <a:r>
              <a:rPr lang="en-US" dirty="0" smtClean="0"/>
              <a:t>So population mean exists theoretically.</a:t>
            </a:r>
          </a:p>
        </p:txBody>
      </p:sp>
    </p:spTree>
    <p:extLst>
      <p:ext uri="{BB962C8B-B14F-4D97-AF65-F5344CB8AC3E}">
        <p14:creationId xmlns:p14="http://schemas.microsoft.com/office/powerpoint/2010/main" val="13057465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Mathematical Formula</a:t>
            </a:r>
          </a:p>
          <a:p>
            <a:pPr marL="0" indent="0">
              <a:buNone/>
            </a:pPr>
            <a:r>
              <a:rPr lang="en-US" dirty="0" smtClean="0"/>
              <a:t>𝜇=∑𝑖=1𝑁𝑋𝑖𝑁</a:t>
            </a:r>
          </a:p>
          <a:p>
            <a:pPr marL="0" indent="0">
              <a:buNone/>
            </a:pPr>
            <a:r>
              <a:rPr lang="en-US" dirty="0" smtClean="0"/>
              <a:t>Explanation of each symbol</a:t>
            </a:r>
          </a:p>
          <a:p>
            <a:pPr marL="0" indent="0">
              <a:buNone/>
            </a:pPr>
            <a:r>
              <a:rPr lang="en-US" dirty="0" smtClean="0"/>
              <a:t>μ = population mean</a:t>
            </a:r>
          </a:p>
          <a:p>
            <a:pPr marL="0" indent="0">
              <a:buNone/>
            </a:pPr>
            <a:r>
              <a:rPr lang="en-US" dirty="0" smtClean="0"/>
              <a:t>Σ = sum of all values</a:t>
            </a:r>
          </a:p>
          <a:p>
            <a:pPr marL="0" indent="0">
              <a:buNone/>
            </a:pPr>
            <a:r>
              <a:rPr lang="en-US" dirty="0" smtClean="0"/>
              <a:t>Xi = each individual value</a:t>
            </a:r>
          </a:p>
          <a:p>
            <a:pPr marL="0" indent="0">
              <a:buNone/>
            </a:pPr>
            <a:r>
              <a:rPr lang="en-US" dirty="0" smtClean="0"/>
              <a:t>N = total population size</a:t>
            </a:r>
          </a:p>
          <a:p>
            <a:pPr marL="0" indent="0">
              <a:buNone/>
            </a:pPr>
            <a:r>
              <a:rPr lang="en-US" dirty="0" smtClean="0"/>
              <a:t>Practical example</a:t>
            </a:r>
          </a:p>
          <a:p>
            <a:pPr marL="0" indent="0">
              <a:buNone/>
            </a:pPr>
            <a:r>
              <a:rPr lang="en-US" dirty="0" smtClean="0"/>
              <a:t>Population:</a:t>
            </a:r>
          </a:p>
          <a:p>
            <a:pPr marL="0" indent="0">
              <a:buNone/>
            </a:pPr>
            <a:r>
              <a:rPr lang="en-US" dirty="0" smtClean="0"/>
              <a:t>Heights of all students in India</a:t>
            </a:r>
          </a:p>
          <a:p>
            <a:pPr marL="0" indent="0">
              <a:buNone/>
            </a:pPr>
            <a:r>
              <a:rPr lang="en-US" dirty="0" smtClean="0"/>
              <a:t>Population mean = true average height</a:t>
            </a:r>
          </a:p>
        </p:txBody>
      </p:sp>
    </p:spTree>
    <p:extLst>
      <p:ext uri="{BB962C8B-B14F-4D97-AF65-F5344CB8AC3E}">
        <p14:creationId xmlns:p14="http://schemas.microsoft.com/office/powerpoint/2010/main" val="4264339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𝜇=∑𝑖=1𝑁𝑋𝑖/𝑁</a:t>
            </a:r>
          </a:p>
          <a:p>
            <a:r>
              <a:rPr lang="en-US" dirty="0" smtClean="0"/>
              <a:t>Explanation of each symbol</a:t>
            </a:r>
          </a:p>
          <a:p>
            <a:pPr lvl="1"/>
            <a:r>
              <a:rPr lang="en-US" dirty="0" smtClean="0"/>
              <a:t>μ = population mean</a:t>
            </a:r>
          </a:p>
          <a:p>
            <a:pPr lvl="1"/>
            <a:r>
              <a:rPr lang="en-US" dirty="0" smtClean="0"/>
              <a:t>Σ = sum of all values</a:t>
            </a:r>
          </a:p>
          <a:p>
            <a:pPr lvl="1"/>
            <a:r>
              <a:rPr lang="en-US" dirty="0" smtClean="0"/>
              <a:t>Xi = each individual value</a:t>
            </a:r>
          </a:p>
          <a:p>
            <a:pPr lvl="1"/>
            <a:r>
              <a:rPr lang="en-US" dirty="0" smtClean="0"/>
              <a:t>N = total population size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Population: Heights of all students in India</a:t>
            </a:r>
          </a:p>
          <a:p>
            <a:pPr lvl="1"/>
            <a:r>
              <a:rPr lang="en-US" dirty="0" smtClean="0"/>
              <a:t>Population mean = true average height</a:t>
            </a:r>
          </a:p>
        </p:txBody>
      </p:sp>
    </p:spTree>
    <p:extLst>
      <p:ext uri="{BB962C8B-B14F-4D97-AF65-F5344CB8AC3E}">
        <p14:creationId xmlns:p14="http://schemas.microsoft.com/office/powerpoint/2010/main" val="2646289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Only one population mean exists per population.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Represents true real-world average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Impossible to calculate in real world usually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Used as theoretical reference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Cannot use directly in ML because population unknown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Population mean defines expected value:𝜇=𝐸[𝑋]</a:t>
            </a:r>
          </a:p>
          <a:p>
            <a:pPr lvl="1"/>
            <a:r>
              <a:rPr lang="en-US" dirty="0" smtClean="0"/>
              <a:t>Expected value means long-term average.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Population mean = true average of full population</a:t>
            </a:r>
          </a:p>
          <a:p>
            <a:pPr lvl="1"/>
            <a:r>
              <a:rPr lang="en-US" dirty="0" smtClean="0"/>
              <a:t>Usually unknown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9858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PART 2: Sample Mean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Sample mean is the average of sample data.</a:t>
            </a:r>
          </a:p>
          <a:p>
            <a:pPr lvl="1"/>
            <a:r>
              <a:rPr lang="en-US" dirty="0" smtClean="0"/>
              <a:t>It estimates population mean.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Because population mean is unknown.</a:t>
            </a:r>
          </a:p>
          <a:p>
            <a:pPr lvl="1"/>
            <a:r>
              <a:rPr lang="en-US" dirty="0" smtClean="0"/>
              <a:t>Sample mean is used to estimate it.</a:t>
            </a:r>
          </a:p>
          <a:p>
            <a:pPr lvl="1"/>
            <a:r>
              <a:rPr lang="en-US" dirty="0" smtClean="0"/>
              <a:t>Machine learning uses sample mean everywhere.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Population = all mangoes</a:t>
            </a:r>
          </a:p>
          <a:p>
            <a:pPr lvl="1"/>
            <a:r>
              <a:rPr lang="en-US" dirty="0" smtClean="0"/>
              <a:t>Sample = 100 mangoes</a:t>
            </a:r>
          </a:p>
          <a:p>
            <a:pPr lvl="1"/>
            <a:r>
              <a:rPr lang="en-US" dirty="0" smtClean="0"/>
              <a:t>Sample mean = estimate of population mean</a:t>
            </a:r>
          </a:p>
        </p:txBody>
      </p:sp>
    </p:spTree>
    <p:extLst>
      <p:ext uri="{BB962C8B-B14F-4D97-AF65-F5344CB8AC3E}">
        <p14:creationId xmlns:p14="http://schemas.microsoft.com/office/powerpoint/2010/main" val="15198753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𝑥ˉ=∑𝑋𝑖/𝑛	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x̄ = sample mean</a:t>
            </a:r>
          </a:p>
          <a:p>
            <a:pPr lvl="1"/>
            <a:r>
              <a:rPr lang="en-US" dirty="0" smtClean="0"/>
              <a:t>Xi = sample value</a:t>
            </a:r>
          </a:p>
          <a:p>
            <a:pPr lvl="1"/>
            <a:r>
              <a:rPr lang="en-US" dirty="0" smtClean="0"/>
              <a:t>n = sample size</a:t>
            </a:r>
          </a:p>
          <a:p>
            <a:pPr lvl="1"/>
            <a:r>
              <a:rPr lang="en-US" dirty="0" smtClean="0"/>
              <a:t>Practical example</a:t>
            </a:r>
          </a:p>
          <a:p>
            <a:r>
              <a:rPr lang="en-US" dirty="0" smtClean="0"/>
              <a:t>Sample:2,4,6,8,10</a:t>
            </a:r>
          </a:p>
          <a:p>
            <a:pPr lvl="1"/>
            <a:r>
              <a:rPr lang="en-US" dirty="0" smtClean="0"/>
              <a:t>Mean:(2+4+6+8+10)/5 = 6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Simple mean</a:t>
            </a:r>
          </a:p>
          <a:p>
            <a:pPr lvl="1"/>
            <a:r>
              <a:rPr lang="en-US" dirty="0" smtClean="0"/>
              <a:t>Weighted mean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Easy to calculate</a:t>
            </a:r>
          </a:p>
          <a:p>
            <a:pPr lvl="1"/>
            <a:r>
              <a:rPr lang="en-US" dirty="0" smtClean="0"/>
              <a:t>Used in ML training</a:t>
            </a:r>
          </a:p>
        </p:txBody>
      </p:sp>
    </p:spTree>
    <p:extLst>
      <p:ext uri="{BB962C8B-B14F-4D97-AF65-F5344CB8AC3E}">
        <p14:creationId xmlns:p14="http://schemas.microsoft.com/office/powerpoint/2010/main" val="777786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May differ from population mean</a:t>
            </a:r>
          </a:p>
          <a:p>
            <a:pPr lvl="1"/>
            <a:r>
              <a:rPr lang="en-US" dirty="0" smtClean="0"/>
              <a:t>Sampling error exists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Always used in machine learning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Never avoid sample mean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Sample mean is unbiased estimator:𝐸[𝑥ˉ]=𝜇</a:t>
            </a:r>
          </a:p>
          <a:p>
            <a:pPr lvl="1"/>
            <a:r>
              <a:rPr lang="en-US" dirty="0" smtClean="0"/>
              <a:t>Meaning sample mean approximates population mean.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Sample mean estimates population mean</a:t>
            </a:r>
          </a:p>
          <a:p>
            <a:pPr lvl="1"/>
            <a:r>
              <a:rPr lang="en-US" dirty="0" smtClean="0"/>
              <a:t>ML models use sample mean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2794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6: Measures of Variability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Central tendency tells center.</a:t>
            </a:r>
          </a:p>
          <a:p>
            <a:r>
              <a:rPr lang="en-US" dirty="0" smtClean="0"/>
              <a:t>Variability tells spread.</a:t>
            </a:r>
          </a:p>
          <a:p>
            <a:r>
              <a:rPr lang="en-US" dirty="0" smtClean="0"/>
              <a:t>Spread is CRITICAL in 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502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PART 1: RANGE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Range = difference between maximum and minimum value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Shows how wide data is spread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Temperature: Min = 10°C, Max = 40°C</a:t>
            </a:r>
          </a:p>
          <a:p>
            <a:pPr lvl="1"/>
            <a:r>
              <a:rPr lang="en-US" dirty="0" smtClean="0"/>
              <a:t>Range = 30°C</a:t>
            </a:r>
          </a:p>
          <a:p>
            <a:r>
              <a:rPr lang="en-US" dirty="0" smtClean="0"/>
              <a:t>Formula</a:t>
            </a:r>
          </a:p>
          <a:p>
            <a:pPr lvl="1"/>
            <a:r>
              <a:rPr lang="en-US" dirty="0" smtClean="0"/>
              <a:t>𝑅𝑎𝑛𝑔𝑒=𝑋𝑚𝑎𝑥−𝑋𝑚𝑖𝑛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err="1" smtClean="0"/>
              <a:t>Xmax</a:t>
            </a:r>
            <a:r>
              <a:rPr lang="en-US" dirty="0" smtClean="0"/>
              <a:t> = maximum value</a:t>
            </a:r>
          </a:p>
          <a:p>
            <a:pPr lvl="1"/>
            <a:r>
              <a:rPr lang="en-US" dirty="0" err="1" smtClean="0"/>
              <a:t>Xmin</a:t>
            </a:r>
            <a:r>
              <a:rPr lang="en-US" dirty="0" smtClean="0"/>
              <a:t> = minimum value</a:t>
            </a:r>
          </a:p>
        </p:txBody>
      </p:sp>
    </p:spTree>
    <p:extLst>
      <p:ext uri="{BB962C8B-B14F-4D97-AF65-F5344CB8AC3E}">
        <p14:creationId xmlns:p14="http://schemas.microsoft.com/office/powerpoint/2010/main" val="3946961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Data:2,4,6,8,10</a:t>
            </a:r>
          </a:p>
          <a:p>
            <a:pPr lvl="1"/>
            <a:r>
              <a:rPr lang="en-US" dirty="0" smtClean="0"/>
              <a:t>Range = 10−2 = 8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No major types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Simple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Sensitive to outliers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Quick spread estimate</a:t>
            </a:r>
          </a:p>
        </p:txBody>
      </p:sp>
    </p:spTree>
    <p:extLst>
      <p:ext uri="{BB962C8B-B14F-4D97-AF65-F5344CB8AC3E}">
        <p14:creationId xmlns:p14="http://schemas.microsoft.com/office/powerpoint/2010/main" val="3344557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Outlier heavy data</a:t>
            </a:r>
          </a:p>
          <a:p>
            <a:r>
              <a:rPr lang="en-US" dirty="0" smtClean="0"/>
              <a:t>Technical explanation</a:t>
            </a:r>
          </a:p>
          <a:p>
            <a:pPr lvl="1"/>
            <a:r>
              <a:rPr lang="en-US" dirty="0" smtClean="0"/>
              <a:t>Range ignores internal distribution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Range = max − min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8024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PART 2: VARIANCE (EXTREMELY IMPORTANT)</a:t>
            </a:r>
          </a:p>
          <a:p>
            <a:r>
              <a:rPr lang="en-IN" dirty="0" smtClean="0"/>
              <a:t>Definition</a:t>
            </a:r>
          </a:p>
          <a:p>
            <a:pPr lvl="1"/>
            <a:r>
              <a:rPr lang="en-IN" dirty="0" smtClean="0"/>
              <a:t>Variance measures how far data is spread from mean.</a:t>
            </a:r>
          </a:p>
          <a:p>
            <a:r>
              <a:rPr lang="en-IN" dirty="0" smtClean="0"/>
              <a:t>Why exists</a:t>
            </a:r>
          </a:p>
          <a:p>
            <a:pPr lvl="1"/>
            <a:r>
              <a:rPr lang="en-IN" dirty="0" smtClean="0"/>
              <a:t>Mean alone is insufficient.</a:t>
            </a:r>
          </a:p>
          <a:p>
            <a:pPr lvl="1"/>
            <a:r>
              <a:rPr lang="en-IN" dirty="0" smtClean="0"/>
              <a:t>Variance measures spread.</a:t>
            </a:r>
          </a:p>
          <a:p>
            <a:pPr lvl="1"/>
            <a:r>
              <a:rPr lang="en-IN" dirty="0" smtClean="0"/>
              <a:t>Machine learning minimizes variance.</a:t>
            </a:r>
          </a:p>
          <a:p>
            <a:r>
              <a:rPr lang="en-IN" dirty="0" smtClean="0"/>
              <a:t>Real-life analogy</a:t>
            </a:r>
          </a:p>
          <a:p>
            <a:pPr lvl="1"/>
            <a:r>
              <a:rPr lang="en-IN" dirty="0" smtClean="0"/>
              <a:t>Two classes:</a:t>
            </a:r>
          </a:p>
          <a:p>
            <a:pPr lvl="1"/>
            <a:r>
              <a:rPr lang="en-IN" dirty="0" smtClean="0"/>
              <a:t>Class A:50,50,50,50</a:t>
            </a:r>
          </a:p>
          <a:p>
            <a:pPr lvl="1"/>
            <a:r>
              <a:rPr lang="en-IN" dirty="0" smtClean="0"/>
              <a:t>Variance = 0</a:t>
            </a:r>
          </a:p>
          <a:p>
            <a:pPr lvl="1"/>
            <a:r>
              <a:rPr lang="en-IN" dirty="0" smtClean="0"/>
              <a:t>Class B:10,50,90,130</a:t>
            </a:r>
          </a:p>
          <a:p>
            <a:pPr lvl="1"/>
            <a:r>
              <a:rPr lang="en-IN" dirty="0" smtClean="0"/>
              <a:t>High variance</a:t>
            </a:r>
          </a:p>
        </p:txBody>
      </p:sp>
    </p:spTree>
    <p:extLst>
      <p:ext uri="{BB962C8B-B14F-4D97-AF65-F5344CB8AC3E}">
        <p14:creationId xmlns:p14="http://schemas.microsoft.com/office/powerpoint/2010/main" val="10671003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Formula</a:t>
            </a:r>
          </a:p>
          <a:p>
            <a:pPr lvl="1"/>
            <a:r>
              <a:rPr lang="en-IN" dirty="0" smtClean="0"/>
              <a:t>Population variance:𝜎^2=∑(𝑋−𝜇)^2/𝑁</a:t>
            </a:r>
          </a:p>
          <a:p>
            <a:pPr lvl="1"/>
            <a:r>
              <a:rPr lang="en-IN" dirty="0" smtClean="0"/>
              <a:t>Sample variance: 𝑠^2=∑(𝑋−𝑥ˉ)^2/𝑛−1</a:t>
            </a:r>
          </a:p>
          <a:p>
            <a:r>
              <a:rPr lang="en-IN" dirty="0" smtClean="0"/>
              <a:t>Explanation</a:t>
            </a:r>
          </a:p>
          <a:p>
            <a:pPr lvl="1"/>
            <a:r>
              <a:rPr lang="el-GR" dirty="0" smtClean="0"/>
              <a:t>σ² = </a:t>
            </a:r>
            <a:r>
              <a:rPr lang="en-IN" dirty="0" smtClean="0"/>
              <a:t>population variance</a:t>
            </a:r>
          </a:p>
          <a:p>
            <a:pPr lvl="1"/>
            <a:r>
              <a:rPr lang="en-IN" dirty="0" smtClean="0"/>
              <a:t>s² = sample variance</a:t>
            </a:r>
          </a:p>
          <a:p>
            <a:pPr lvl="1"/>
            <a:r>
              <a:rPr lang="en-IN" dirty="0" smtClean="0"/>
              <a:t>X = value</a:t>
            </a:r>
          </a:p>
          <a:p>
            <a:pPr lvl="1"/>
            <a:r>
              <a:rPr lang="el-GR" dirty="0" smtClean="0"/>
              <a:t>μ = </a:t>
            </a:r>
            <a:r>
              <a:rPr lang="en-IN" dirty="0" smtClean="0"/>
              <a:t>population mean</a:t>
            </a:r>
          </a:p>
          <a:p>
            <a:pPr lvl="1"/>
            <a:r>
              <a:rPr lang="en-IN" dirty="0" smtClean="0"/>
              <a:t>x̄ = sample mean</a:t>
            </a:r>
          </a:p>
          <a:p>
            <a:pPr lvl="1"/>
            <a:r>
              <a:rPr lang="en-IN" dirty="0" smtClean="0"/>
              <a:t>N = population size</a:t>
            </a:r>
          </a:p>
          <a:p>
            <a:pPr lvl="1"/>
            <a:r>
              <a:rPr lang="en-IN" dirty="0" smtClean="0"/>
              <a:t>n = sample size</a:t>
            </a:r>
          </a:p>
        </p:txBody>
      </p:sp>
    </p:spTree>
    <p:extLst>
      <p:ext uri="{BB962C8B-B14F-4D97-AF65-F5344CB8AC3E}">
        <p14:creationId xmlns:p14="http://schemas.microsoft.com/office/powerpoint/2010/main" val="18357152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Example</a:t>
            </a:r>
          </a:p>
          <a:p>
            <a:pPr lvl="1"/>
            <a:r>
              <a:rPr lang="en-IN" dirty="0" smtClean="0"/>
              <a:t>Data:2,4,6</a:t>
            </a:r>
          </a:p>
          <a:p>
            <a:pPr lvl="1"/>
            <a:r>
              <a:rPr lang="en-IN" dirty="0" smtClean="0"/>
              <a:t>Mean = 4</a:t>
            </a:r>
          </a:p>
          <a:p>
            <a:pPr lvl="1"/>
            <a:r>
              <a:rPr lang="en-IN" dirty="0" smtClean="0"/>
              <a:t>Variance:(2−4)²+(4−4)²+(6−4)² = 4+0+4 = 8/3 = 2.67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305" y="2366963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5891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Types</a:t>
            </a:r>
          </a:p>
          <a:p>
            <a:pPr lvl="1"/>
            <a:r>
              <a:rPr lang="en-IN" dirty="0" smtClean="0"/>
              <a:t>Population variance</a:t>
            </a:r>
          </a:p>
          <a:p>
            <a:pPr lvl="1"/>
            <a:r>
              <a:rPr lang="en-IN" dirty="0" smtClean="0"/>
              <a:t>Sample variance</a:t>
            </a:r>
          </a:p>
          <a:p>
            <a:r>
              <a:rPr lang="en-IN" dirty="0" smtClean="0"/>
              <a:t>Advantages</a:t>
            </a:r>
          </a:p>
          <a:p>
            <a:pPr lvl="1"/>
            <a:r>
              <a:rPr lang="en-IN" dirty="0" smtClean="0"/>
              <a:t>Measures true spread</a:t>
            </a:r>
          </a:p>
          <a:p>
            <a:pPr lvl="1"/>
            <a:r>
              <a:rPr lang="en-IN" dirty="0" smtClean="0"/>
              <a:t>Used in ML optimization</a:t>
            </a:r>
          </a:p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Units squared</a:t>
            </a:r>
          </a:p>
          <a:p>
            <a:r>
              <a:rPr lang="en-IN" dirty="0" smtClean="0"/>
              <a:t>When to use</a:t>
            </a:r>
          </a:p>
          <a:p>
            <a:pPr lvl="1"/>
            <a:r>
              <a:rPr lang="en-IN" dirty="0" smtClean="0"/>
              <a:t>Always in ML</a:t>
            </a:r>
          </a:p>
          <a:p>
            <a:r>
              <a:rPr lang="en-IN" dirty="0" smtClean="0"/>
              <a:t>When NOT to use</a:t>
            </a:r>
          </a:p>
          <a:p>
            <a:pPr lvl="1"/>
            <a:r>
              <a:rPr lang="en-IN" dirty="0" smtClean="0"/>
              <a:t>Never avoid variance</a:t>
            </a:r>
          </a:p>
        </p:txBody>
      </p:sp>
    </p:spTree>
    <p:extLst>
      <p:ext uri="{BB962C8B-B14F-4D97-AF65-F5344CB8AC3E}">
        <p14:creationId xmlns:p14="http://schemas.microsoft.com/office/powerpoint/2010/main" val="244593940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Technical deep explanation</a:t>
            </a:r>
          </a:p>
          <a:p>
            <a:pPr lvl="1"/>
            <a:r>
              <a:rPr lang="en-IN" dirty="0" smtClean="0"/>
              <a:t>Variance measures expected squared deviation:</a:t>
            </a:r>
          </a:p>
          <a:p>
            <a:pPr lvl="2"/>
            <a:r>
              <a:rPr lang="en-IN" dirty="0" smtClean="0"/>
              <a:t>𝑉𝑎𝑟(𝑋)=𝐸[(𝑋−𝜇)^2] </a:t>
            </a:r>
          </a:p>
          <a:p>
            <a:pPr lvl="1"/>
            <a:r>
              <a:rPr lang="en-IN" dirty="0" smtClean="0"/>
              <a:t>Used in: </a:t>
            </a:r>
          </a:p>
          <a:p>
            <a:pPr lvl="2"/>
            <a:r>
              <a:rPr lang="en-IN" dirty="0" smtClean="0"/>
              <a:t>Bias-variance </a:t>
            </a:r>
            <a:r>
              <a:rPr lang="en-IN" dirty="0" err="1" smtClean="0"/>
              <a:t>tradeoff</a:t>
            </a:r>
            <a:endParaRPr lang="en-IN" dirty="0" smtClean="0"/>
          </a:p>
          <a:p>
            <a:pPr lvl="2"/>
            <a:r>
              <a:rPr lang="en-IN" dirty="0" smtClean="0"/>
              <a:t>Loss functions</a:t>
            </a:r>
          </a:p>
          <a:p>
            <a:r>
              <a:rPr lang="en-IN" dirty="0" smtClean="0"/>
              <a:t>Summary</a:t>
            </a:r>
          </a:p>
          <a:p>
            <a:pPr lvl="1"/>
            <a:r>
              <a:rPr lang="en-IN" dirty="0" smtClean="0"/>
              <a:t>Variance measures spread from mean</a:t>
            </a:r>
          </a:p>
          <a:p>
            <a:pPr lvl="1"/>
            <a:r>
              <a:rPr lang="en-IN" dirty="0" smtClean="0"/>
              <a:t>Extremely important in ML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9500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PART 3: STANDARD DEVIATION (SD)</a:t>
            </a:r>
          </a:p>
          <a:p>
            <a:r>
              <a:rPr lang="en-IN" dirty="0" smtClean="0"/>
              <a:t>Definition</a:t>
            </a:r>
          </a:p>
          <a:p>
            <a:pPr lvl="1"/>
            <a:r>
              <a:rPr lang="en-IN" dirty="0" smtClean="0"/>
              <a:t>Standard Deviation tells us how far data values usually are from the mean.</a:t>
            </a:r>
          </a:p>
          <a:p>
            <a:pPr lvl="1"/>
            <a:r>
              <a:rPr lang="en-IN" dirty="0" smtClean="0"/>
              <a:t>It is the square root of variance, so it brings the unit back to normal.</a:t>
            </a:r>
          </a:p>
          <a:p>
            <a:r>
              <a:rPr lang="en-IN" dirty="0" smtClean="0"/>
              <a:t>Why this concept exists</a:t>
            </a:r>
          </a:p>
          <a:p>
            <a:pPr lvl="1"/>
            <a:r>
              <a:rPr lang="en-IN" dirty="0" smtClean="0"/>
              <a:t>Variance is useful but hard to interpret because units are squared.</a:t>
            </a:r>
          </a:p>
          <a:p>
            <a:pPr lvl="1"/>
            <a:r>
              <a:rPr lang="en-IN" dirty="0" smtClean="0"/>
              <a:t>Uses the same unit as data</a:t>
            </a:r>
          </a:p>
          <a:p>
            <a:pPr lvl="1"/>
            <a:r>
              <a:rPr lang="en-IN" dirty="0" smtClean="0"/>
              <a:t>Is easier to understand</a:t>
            </a:r>
          </a:p>
          <a:p>
            <a:pPr lvl="1"/>
            <a:r>
              <a:rPr lang="en-IN" dirty="0" smtClean="0"/>
              <a:t>Is widely used in ML, statistics, and finance</a:t>
            </a:r>
          </a:p>
          <a:p>
            <a:r>
              <a:rPr lang="en-IN" dirty="0" smtClean="0"/>
              <a:t>Real-life analogy</a:t>
            </a:r>
          </a:p>
          <a:p>
            <a:pPr lvl="1"/>
            <a:r>
              <a:rPr lang="en-IN" dirty="0" smtClean="0"/>
              <a:t>Marks of students:</a:t>
            </a:r>
          </a:p>
          <a:p>
            <a:pPr lvl="2"/>
            <a:r>
              <a:rPr lang="en-IN" dirty="0" smtClean="0"/>
              <a:t>Class A: all students score around 60</a:t>
            </a:r>
          </a:p>
          <a:p>
            <a:pPr lvl="2"/>
            <a:r>
              <a:rPr lang="en-IN" dirty="0" smtClean="0"/>
              <a:t>Class B: some score 20, some 100</a:t>
            </a:r>
          </a:p>
          <a:p>
            <a:pPr lvl="2"/>
            <a:r>
              <a:rPr lang="en-IN" dirty="0" smtClean="0"/>
              <a:t>Class B has higher standard deviation.</a:t>
            </a:r>
          </a:p>
        </p:txBody>
      </p:sp>
    </p:spTree>
    <p:extLst>
      <p:ext uri="{BB962C8B-B14F-4D97-AF65-F5344CB8AC3E}">
        <p14:creationId xmlns:p14="http://schemas.microsoft.com/office/powerpoint/2010/main" val="30505027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IN" dirty="0" smtClean="0"/>
              <a:t>Mathematical Formula</a:t>
            </a:r>
          </a:p>
          <a:p>
            <a:pPr lvl="1"/>
            <a:r>
              <a:rPr lang="en-IN" dirty="0" smtClean="0"/>
              <a:t>Population standard deviation:𝜎=√∑(𝑋−𝜇)^2/𝑁</a:t>
            </a:r>
          </a:p>
          <a:p>
            <a:pPr lvl="1"/>
            <a:r>
              <a:rPr lang="el-GR" dirty="0" smtClean="0"/>
              <a:t>​</a:t>
            </a:r>
            <a:r>
              <a:rPr lang="en-IN" dirty="0" smtClean="0"/>
              <a:t>Sample standard deviation:𝑠=√∑(𝑋−𝑥ˉ)^2/𝑛−1</a:t>
            </a:r>
          </a:p>
          <a:p>
            <a:r>
              <a:rPr lang="en-IN" dirty="0" smtClean="0"/>
              <a:t>​Explanation of each symbol</a:t>
            </a:r>
          </a:p>
          <a:p>
            <a:pPr lvl="1"/>
            <a:r>
              <a:rPr lang="el-GR" dirty="0" smtClean="0"/>
              <a:t>σ = </a:t>
            </a:r>
            <a:r>
              <a:rPr lang="en-IN" dirty="0" smtClean="0"/>
              <a:t>population standard deviation</a:t>
            </a:r>
          </a:p>
          <a:p>
            <a:pPr lvl="1"/>
            <a:r>
              <a:rPr lang="en-IN" dirty="0" smtClean="0"/>
              <a:t>s = sample standard deviation</a:t>
            </a:r>
          </a:p>
          <a:p>
            <a:pPr lvl="1"/>
            <a:r>
              <a:rPr lang="en-IN" dirty="0" smtClean="0"/>
              <a:t>X = data point</a:t>
            </a:r>
          </a:p>
          <a:p>
            <a:pPr lvl="1"/>
            <a:r>
              <a:rPr lang="el-GR" dirty="0" smtClean="0"/>
              <a:t>μ = </a:t>
            </a:r>
            <a:r>
              <a:rPr lang="en-IN" dirty="0" smtClean="0"/>
              <a:t>population mean</a:t>
            </a:r>
          </a:p>
          <a:p>
            <a:pPr lvl="1"/>
            <a:r>
              <a:rPr lang="en-IN" dirty="0" smtClean="0"/>
              <a:t>x̄ = sample mean</a:t>
            </a:r>
          </a:p>
          <a:p>
            <a:pPr lvl="1"/>
            <a:r>
              <a:rPr lang="en-IN" dirty="0" smtClean="0"/>
              <a:t>N = population size</a:t>
            </a:r>
          </a:p>
          <a:p>
            <a:pPr lvl="1"/>
            <a:r>
              <a:rPr lang="en-IN" dirty="0" smtClean="0"/>
              <a:t>n = sample size</a:t>
            </a:r>
          </a:p>
          <a:p>
            <a:r>
              <a:rPr lang="en-IN" dirty="0" smtClean="0"/>
              <a:t>Visual explanation (diagram)</a:t>
            </a:r>
          </a:p>
          <a:p>
            <a:pPr lvl="1"/>
            <a:r>
              <a:rPr lang="en-IN" dirty="0" smtClean="0"/>
              <a:t>Diagram: Spread around mean</a:t>
            </a:r>
          </a:p>
          <a:p>
            <a:pPr lvl="1"/>
            <a:r>
              <a:rPr lang="en-IN" dirty="0" smtClean="0"/>
              <a:t>Explanation: Narrow curve → low SD, Wide curve → high SD</a:t>
            </a:r>
            <a:endParaRPr lang="en-I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4890" y="2908786"/>
            <a:ext cx="48768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733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Practical example</a:t>
            </a:r>
          </a:p>
          <a:p>
            <a:pPr lvl="1"/>
            <a:r>
              <a:rPr lang="en-IN" dirty="0" smtClean="0"/>
              <a:t>Data: 2, 4, 6</a:t>
            </a:r>
          </a:p>
          <a:p>
            <a:pPr lvl="1"/>
            <a:r>
              <a:rPr lang="en-IN" dirty="0" smtClean="0"/>
              <a:t>Mean = 4</a:t>
            </a:r>
          </a:p>
          <a:p>
            <a:pPr lvl="1"/>
            <a:r>
              <a:rPr lang="en-IN" dirty="0" smtClean="0"/>
              <a:t>Deviations:(2−4)² = 4, (4−4)² = 0, (6−4)² = 4</a:t>
            </a:r>
          </a:p>
          <a:p>
            <a:pPr lvl="1"/>
            <a:r>
              <a:rPr lang="en-IN" dirty="0" smtClean="0"/>
              <a:t>Variance = 8/3 = 2.67</a:t>
            </a:r>
          </a:p>
          <a:p>
            <a:pPr lvl="1"/>
            <a:r>
              <a:rPr lang="en-IN" dirty="0" smtClean="0"/>
              <a:t>Standard deviation = √2.67 ≈ 1.63</a:t>
            </a:r>
          </a:p>
          <a:p>
            <a:r>
              <a:rPr lang="en-IN" dirty="0" smtClean="0"/>
              <a:t>Types</a:t>
            </a:r>
          </a:p>
          <a:p>
            <a:pPr lvl="1"/>
            <a:r>
              <a:rPr lang="en-IN" dirty="0" smtClean="0"/>
              <a:t>Population SD</a:t>
            </a:r>
          </a:p>
          <a:p>
            <a:pPr lvl="1"/>
            <a:r>
              <a:rPr lang="en-IN" dirty="0" smtClean="0"/>
              <a:t>Sample SD</a:t>
            </a:r>
          </a:p>
          <a:p>
            <a:r>
              <a:rPr lang="en-IN" dirty="0" smtClean="0"/>
              <a:t>Advantages</a:t>
            </a:r>
          </a:p>
          <a:p>
            <a:pPr lvl="1"/>
            <a:r>
              <a:rPr lang="en-IN" dirty="0" smtClean="0"/>
              <a:t>Easy to interpret</a:t>
            </a:r>
          </a:p>
          <a:p>
            <a:pPr lvl="1"/>
            <a:r>
              <a:rPr lang="en-IN" dirty="0" smtClean="0"/>
              <a:t>Used everywhere in ML</a:t>
            </a:r>
          </a:p>
          <a:p>
            <a:pPr lvl="1"/>
            <a:r>
              <a:rPr lang="en-IN" dirty="0" smtClean="0"/>
              <a:t>Same unit as data</a:t>
            </a:r>
          </a:p>
        </p:txBody>
      </p:sp>
    </p:spTree>
    <p:extLst>
      <p:ext uri="{BB962C8B-B14F-4D97-AF65-F5344CB8AC3E}">
        <p14:creationId xmlns:p14="http://schemas.microsoft.com/office/powerpoint/2010/main" val="11661685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Affected by outliers</a:t>
            </a:r>
          </a:p>
          <a:p>
            <a:r>
              <a:rPr lang="en-IN" dirty="0" smtClean="0"/>
              <a:t>When to use</a:t>
            </a:r>
          </a:p>
          <a:p>
            <a:pPr lvl="1"/>
            <a:r>
              <a:rPr lang="en-IN" dirty="0" smtClean="0"/>
              <a:t>Always in ML</a:t>
            </a:r>
          </a:p>
          <a:p>
            <a:pPr lvl="1"/>
            <a:r>
              <a:rPr lang="en-IN" dirty="0" smtClean="0"/>
              <a:t>Data normalization</a:t>
            </a:r>
          </a:p>
          <a:p>
            <a:pPr lvl="1"/>
            <a:r>
              <a:rPr lang="en-IN" dirty="0" smtClean="0"/>
              <a:t>Model evaluation</a:t>
            </a:r>
          </a:p>
          <a:p>
            <a:r>
              <a:rPr lang="en-IN" dirty="0" smtClean="0"/>
              <a:t>When NOT to use</a:t>
            </a:r>
          </a:p>
          <a:p>
            <a:pPr lvl="1"/>
            <a:r>
              <a:rPr lang="en-IN" dirty="0" smtClean="0"/>
              <a:t>When extreme outliers dominate data</a:t>
            </a:r>
          </a:p>
          <a:p>
            <a:r>
              <a:rPr lang="en-IN" dirty="0" smtClean="0"/>
              <a:t>Technical deep explanation</a:t>
            </a:r>
          </a:p>
          <a:p>
            <a:pPr lvl="1"/>
            <a:r>
              <a:rPr lang="en-IN" dirty="0" smtClean="0"/>
              <a:t>Standard deviation measures expected deviation from mean.</a:t>
            </a:r>
          </a:p>
          <a:p>
            <a:pPr lvl="1"/>
            <a:r>
              <a:rPr lang="en-IN" dirty="0" smtClean="0"/>
              <a:t>Used in: Z-score, Normal distribution</a:t>
            </a:r>
          </a:p>
          <a:p>
            <a:pPr lvl="1"/>
            <a:r>
              <a:rPr lang="en-IN" dirty="0" smtClean="0"/>
              <a:t>Feature scaling</a:t>
            </a:r>
          </a:p>
          <a:p>
            <a:r>
              <a:rPr lang="en-IN" dirty="0" smtClean="0"/>
              <a:t>Summary</a:t>
            </a:r>
          </a:p>
          <a:p>
            <a:pPr lvl="1"/>
            <a:r>
              <a:rPr lang="en-IN" dirty="0" smtClean="0"/>
              <a:t>Standard deviation = typical distance from mean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41519567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 smtClean="0"/>
              <a:t>PART 4: INTERQUARTILE RANGE (IQR)</a:t>
            </a:r>
          </a:p>
          <a:p>
            <a:r>
              <a:rPr lang="en-IN" dirty="0" smtClean="0"/>
              <a:t>Slide 2: Definition</a:t>
            </a:r>
          </a:p>
          <a:p>
            <a:r>
              <a:rPr lang="en-IN" dirty="0" smtClean="0"/>
              <a:t>IQR measures spread of the middle 50% of data.</a:t>
            </a:r>
          </a:p>
          <a:p>
            <a:r>
              <a:rPr lang="en-IN" dirty="0" smtClean="0"/>
              <a:t>It ignores extreme values.</a:t>
            </a:r>
          </a:p>
          <a:p>
            <a:r>
              <a:rPr lang="en-IN" dirty="0" smtClean="0"/>
              <a:t>Slide 3: Why exists</a:t>
            </a:r>
          </a:p>
          <a:p>
            <a:r>
              <a:rPr lang="en-IN" dirty="0" smtClean="0"/>
              <a:t>Mean and SD are sensitive to outliers.</a:t>
            </a:r>
          </a:p>
          <a:p>
            <a:r>
              <a:rPr lang="en-IN" dirty="0" smtClean="0"/>
              <a:t>IQR is robust.</a:t>
            </a:r>
          </a:p>
          <a:p>
            <a:r>
              <a:rPr lang="en-IN" dirty="0" smtClean="0"/>
              <a:t>Slide 4: Real-life analogy</a:t>
            </a:r>
          </a:p>
          <a:p>
            <a:r>
              <a:rPr lang="en-IN" dirty="0" smtClean="0"/>
              <a:t>Income </a:t>
            </a:r>
            <a:r>
              <a:rPr lang="en-IN" dirty="0" err="1" smtClean="0"/>
              <a:t>data:Few</a:t>
            </a:r>
            <a:r>
              <a:rPr lang="en-IN" dirty="0" smtClean="0"/>
              <a:t> billionaires</a:t>
            </a:r>
          </a:p>
          <a:p>
            <a:r>
              <a:rPr lang="en-IN" dirty="0" smtClean="0"/>
              <a:t>Many average earners</a:t>
            </a:r>
          </a:p>
          <a:p>
            <a:r>
              <a:rPr lang="en-IN" dirty="0" smtClean="0"/>
              <a:t>IQR focuses on middle group.</a:t>
            </a:r>
          </a:p>
        </p:txBody>
      </p:sp>
    </p:spTree>
    <p:extLst>
      <p:ext uri="{BB962C8B-B14F-4D97-AF65-F5344CB8AC3E}">
        <p14:creationId xmlns:p14="http://schemas.microsoft.com/office/powerpoint/2010/main" val="11152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Mathematical Formula</a:t>
            </a:r>
          </a:p>
          <a:p>
            <a:pPr lvl="1"/>
            <a:r>
              <a:rPr lang="en-IN" dirty="0" smtClean="0"/>
              <a:t>𝐼𝑄𝑅=𝑄3−𝑄1</a:t>
            </a:r>
          </a:p>
          <a:p>
            <a:r>
              <a:rPr lang="en-IN" dirty="0" smtClean="0"/>
              <a:t>Explanation</a:t>
            </a:r>
          </a:p>
          <a:p>
            <a:pPr lvl="1"/>
            <a:r>
              <a:rPr lang="en-IN" dirty="0" smtClean="0"/>
              <a:t>Q1 = 25th percentile</a:t>
            </a:r>
          </a:p>
          <a:p>
            <a:pPr lvl="1"/>
            <a:r>
              <a:rPr lang="en-IN" dirty="0" smtClean="0"/>
              <a:t>Q3 = 75th percentile</a:t>
            </a:r>
          </a:p>
          <a:p>
            <a:r>
              <a:rPr lang="en-IN" dirty="0" smtClean="0"/>
              <a:t>Visual explanation</a:t>
            </a:r>
          </a:p>
          <a:p>
            <a:pPr lvl="1"/>
            <a:r>
              <a:rPr lang="en-IN" dirty="0" smtClean="0"/>
              <a:t>Diagram: Box plot</a:t>
            </a:r>
          </a:p>
          <a:p>
            <a:r>
              <a:rPr lang="en-IN" dirty="0" smtClean="0"/>
              <a:t>Practical example</a:t>
            </a:r>
          </a:p>
          <a:p>
            <a:pPr lvl="1"/>
            <a:r>
              <a:rPr lang="en-IN" dirty="0" smtClean="0"/>
              <a:t>Data:1,2,3,4,5,6,7,8</a:t>
            </a:r>
          </a:p>
          <a:p>
            <a:pPr lvl="1"/>
            <a:r>
              <a:rPr lang="en-IN" dirty="0" smtClean="0"/>
              <a:t>Q1 = 3</a:t>
            </a:r>
          </a:p>
          <a:p>
            <a:pPr lvl="1"/>
            <a:r>
              <a:rPr lang="en-IN" dirty="0" smtClean="0"/>
              <a:t>Q3 = 7</a:t>
            </a:r>
          </a:p>
          <a:p>
            <a:pPr lvl="1"/>
            <a:r>
              <a:rPr lang="en-IN" dirty="0" smtClean="0"/>
              <a:t>IQR = 7 − 3 = 4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0" y="641445"/>
            <a:ext cx="48768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56343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Types</a:t>
            </a:r>
          </a:p>
          <a:p>
            <a:pPr lvl="1"/>
            <a:r>
              <a:rPr lang="en-IN" dirty="0" smtClean="0"/>
              <a:t>No major types</a:t>
            </a:r>
          </a:p>
          <a:p>
            <a:r>
              <a:rPr lang="en-IN" dirty="0" smtClean="0"/>
              <a:t>Advantages</a:t>
            </a:r>
          </a:p>
          <a:p>
            <a:pPr lvl="1"/>
            <a:r>
              <a:rPr lang="en-IN" dirty="0" smtClean="0"/>
              <a:t>Not affected by outliers</a:t>
            </a:r>
          </a:p>
          <a:p>
            <a:pPr lvl="1"/>
            <a:r>
              <a:rPr lang="en-IN" dirty="0" smtClean="0"/>
              <a:t>Robust measure</a:t>
            </a:r>
          </a:p>
          <a:p>
            <a:r>
              <a:rPr lang="en-IN" dirty="0" smtClean="0"/>
              <a:t>Disadvantages</a:t>
            </a:r>
          </a:p>
          <a:p>
            <a:pPr lvl="1"/>
            <a:r>
              <a:rPr lang="en-IN" dirty="0" smtClean="0"/>
              <a:t>Ignores extreme values completely</a:t>
            </a:r>
          </a:p>
          <a:p>
            <a:r>
              <a:rPr lang="en-IN" dirty="0" smtClean="0"/>
              <a:t>When to use</a:t>
            </a:r>
          </a:p>
          <a:p>
            <a:pPr lvl="1"/>
            <a:r>
              <a:rPr lang="en-IN" dirty="0" smtClean="0"/>
              <a:t>Outlier-heavy data: </a:t>
            </a:r>
          </a:p>
          <a:p>
            <a:pPr lvl="2"/>
            <a:r>
              <a:rPr lang="en-IN" dirty="0" smtClean="0"/>
              <a:t>Income</a:t>
            </a:r>
          </a:p>
          <a:p>
            <a:pPr lvl="2"/>
            <a:r>
              <a:rPr lang="en-IN" dirty="0" smtClean="0"/>
              <a:t>House prices</a:t>
            </a:r>
          </a:p>
        </p:txBody>
      </p:sp>
    </p:spTree>
    <p:extLst>
      <p:ext uri="{BB962C8B-B14F-4D97-AF65-F5344CB8AC3E}">
        <p14:creationId xmlns:p14="http://schemas.microsoft.com/office/powerpoint/2010/main" val="39503366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IN" dirty="0" smtClean="0"/>
              <a:t>When NOT to use</a:t>
            </a:r>
          </a:p>
          <a:p>
            <a:pPr lvl="1"/>
            <a:r>
              <a:rPr lang="en-IN" dirty="0" smtClean="0"/>
              <a:t>When full data spread is required</a:t>
            </a:r>
          </a:p>
          <a:p>
            <a:r>
              <a:rPr lang="en-IN" dirty="0" smtClean="0"/>
              <a:t>Technical deep explanation</a:t>
            </a:r>
          </a:p>
          <a:p>
            <a:pPr lvl="1"/>
            <a:r>
              <a:rPr lang="en-IN" dirty="0" smtClean="0"/>
              <a:t>IQR is used in outlier detection:</a:t>
            </a:r>
          </a:p>
          <a:p>
            <a:pPr lvl="1"/>
            <a:r>
              <a:rPr lang="en-IN" dirty="0" smtClean="0"/>
              <a:t>Outlier if:</a:t>
            </a:r>
          </a:p>
          <a:p>
            <a:pPr lvl="2"/>
            <a:r>
              <a:rPr lang="en-IN" dirty="0" smtClean="0"/>
              <a:t>𝑋&lt;𝑄1−1.5(𝐼𝑄𝑅) or 𝑋&gt;𝑄3+1.5(𝐼𝑄𝑅)</a:t>
            </a:r>
          </a:p>
          <a:p>
            <a:r>
              <a:rPr lang="en-IN" dirty="0" smtClean="0"/>
              <a:t>Summary</a:t>
            </a:r>
          </a:p>
          <a:p>
            <a:pPr lvl="1"/>
            <a:r>
              <a:rPr lang="en-IN" dirty="0" smtClean="0"/>
              <a:t>IQR = spread of middle 50%</a:t>
            </a:r>
            <a:endParaRPr lang="en-IN" dirty="0" smtClean="0"/>
          </a:p>
        </p:txBody>
      </p:sp>
    </p:spTree>
    <p:extLst>
      <p:ext uri="{BB962C8B-B14F-4D97-AF65-F5344CB8AC3E}">
        <p14:creationId xmlns:p14="http://schemas.microsoft.com/office/powerpoint/2010/main" val="25894952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7: COVARIANCE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Covariance measures how two variables change together.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Machine learning learns relationships between variables.</a:t>
            </a:r>
          </a:p>
          <a:p>
            <a:pPr lvl="1"/>
            <a:r>
              <a:rPr lang="en-US" dirty="0" smtClean="0"/>
              <a:t>Covariance tells: Do they increase together? Or move opposite?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Temperature ↑ → Ice cream sales ↑Positive covariance.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𝐶𝑜𝑣(𝑋,𝑌)=∑(𝑋−𝑥ˉ)(𝑌−𝑦ˉ)/𝑛</a:t>
            </a:r>
          </a:p>
        </p:txBody>
      </p:sp>
    </p:spTree>
    <p:extLst>
      <p:ext uri="{BB962C8B-B14F-4D97-AF65-F5344CB8AC3E}">
        <p14:creationId xmlns:p14="http://schemas.microsoft.com/office/powerpoint/2010/main" val="76867561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Slide 6: Explanation</a:t>
            </a:r>
          </a:p>
          <a:p>
            <a:pPr lvl="1"/>
            <a:r>
              <a:rPr lang="en-US" dirty="0" smtClean="0"/>
              <a:t>X, Y = variables</a:t>
            </a:r>
          </a:p>
          <a:p>
            <a:pPr lvl="1"/>
            <a:r>
              <a:rPr lang="en-US" dirty="0" smtClean="0"/>
              <a:t>x̄, ȳ = means</a:t>
            </a:r>
          </a:p>
          <a:p>
            <a:pPr lvl="1"/>
            <a:r>
              <a:rPr lang="en-US" dirty="0" smtClean="0"/>
              <a:t>Positive → move together</a:t>
            </a:r>
          </a:p>
          <a:p>
            <a:pPr lvl="1"/>
            <a:r>
              <a:rPr lang="en-US" dirty="0" smtClean="0"/>
              <a:t>Negative → move opposite</a:t>
            </a:r>
          </a:p>
          <a:p>
            <a:r>
              <a:rPr lang="en-US" dirty="0" smtClean="0"/>
              <a:t>Visual explanation</a:t>
            </a: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04587"/>
            <a:ext cx="6665297" cy="287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0764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Height ↑ → Weight ↑</a:t>
            </a:r>
          </a:p>
          <a:p>
            <a:pPr lvl="1"/>
            <a:r>
              <a:rPr lang="en-US" dirty="0" smtClean="0"/>
              <a:t>Positive covariance.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Positive covariance</a:t>
            </a:r>
          </a:p>
          <a:p>
            <a:pPr lvl="1"/>
            <a:r>
              <a:rPr lang="en-US" dirty="0" smtClean="0"/>
              <a:t>Negative covariance</a:t>
            </a:r>
          </a:p>
          <a:p>
            <a:pPr lvl="1"/>
            <a:r>
              <a:rPr lang="en-US" dirty="0" smtClean="0"/>
              <a:t>Zero covariance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Shows direction of relationship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Magnitude hard to interpret</a:t>
            </a:r>
          </a:p>
        </p:txBody>
      </p:sp>
    </p:spTree>
    <p:extLst>
      <p:ext uri="{BB962C8B-B14F-4D97-AF65-F5344CB8AC3E}">
        <p14:creationId xmlns:p14="http://schemas.microsoft.com/office/powerpoint/2010/main" val="64736785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Feature relationship analysis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When comparing scale-independent relationships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Covariance is base for correlation and PCA.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Covariance = joint variability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933252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8: CORRELATION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Correlation measures strength and direction of relationship between two variables.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Covariance magnitude is unclear.</a:t>
            </a:r>
          </a:p>
          <a:p>
            <a:pPr lvl="1"/>
            <a:r>
              <a:rPr lang="en-US" dirty="0" smtClean="0"/>
              <a:t>Correlation normalizes it.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Study hours ↑ → Marks ↑</a:t>
            </a:r>
          </a:p>
          <a:p>
            <a:pPr lvl="1"/>
            <a:r>
              <a:rPr lang="en-US" dirty="0" smtClean="0"/>
              <a:t>Strong positive correlation.</a:t>
            </a:r>
          </a:p>
        </p:txBody>
      </p:sp>
    </p:spTree>
    <p:extLst>
      <p:ext uri="{BB962C8B-B14F-4D97-AF65-F5344CB8AC3E}">
        <p14:creationId xmlns:p14="http://schemas.microsoft.com/office/powerpoint/2010/main" val="11122765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𝑟=𝐶𝑜𝑣(𝑋,𝑌)𝜎𝑋𝜎𝑌</a:t>
            </a:r>
          </a:p>
          <a:p>
            <a:r>
              <a:rPr lang="en-US" dirty="0" smtClean="0"/>
              <a:t>​Explanation</a:t>
            </a:r>
          </a:p>
          <a:p>
            <a:pPr lvl="1"/>
            <a:r>
              <a:rPr lang="en-US" dirty="0" smtClean="0"/>
              <a:t>r ranges from:-1 to +1</a:t>
            </a:r>
          </a:p>
          <a:p>
            <a:pPr lvl="2"/>
            <a:r>
              <a:rPr lang="en-US" dirty="0" smtClean="0"/>
              <a:t>+1 → perfect positive</a:t>
            </a:r>
          </a:p>
          <a:p>
            <a:pPr lvl="2"/>
            <a:r>
              <a:rPr lang="en-US" dirty="0" smtClean="0"/>
              <a:t>-1 → perfect negative</a:t>
            </a:r>
          </a:p>
          <a:p>
            <a:pPr lvl="2"/>
            <a:r>
              <a:rPr lang="en-US" dirty="0" smtClean="0"/>
              <a:t>0 → no relationship</a:t>
            </a:r>
          </a:p>
          <a:p>
            <a:r>
              <a:rPr lang="en-US" dirty="0" smtClean="0"/>
              <a:t>Visual explanation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76713"/>
            <a:ext cx="5457825" cy="200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17586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Height &amp; weight → r ≈ 0.7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Positive</a:t>
            </a:r>
          </a:p>
          <a:p>
            <a:pPr lvl="1"/>
            <a:r>
              <a:rPr lang="en-US" dirty="0" smtClean="0"/>
              <a:t>Negative</a:t>
            </a:r>
          </a:p>
          <a:p>
            <a:pPr lvl="1"/>
            <a:r>
              <a:rPr lang="en-US" dirty="0" smtClean="0"/>
              <a:t>Zero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Easy interpretation</a:t>
            </a:r>
          </a:p>
          <a:p>
            <a:pPr lvl="1"/>
            <a:r>
              <a:rPr lang="en-US" dirty="0" smtClean="0"/>
              <a:t>Scale-independent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Does not imply causation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Feature selection</a:t>
            </a:r>
          </a:p>
          <a:p>
            <a:pPr lvl="1"/>
            <a:r>
              <a:rPr lang="en-US" dirty="0" smtClean="0"/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370721541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Non-linear relationships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Assumptions: Linearity, Normality, Homoscedasticity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Correlation measures linear relationship strength</a:t>
            </a: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6300" y="3266554"/>
            <a:ext cx="7899400" cy="332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91655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9: DISTANCE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Distance is the foundation of many ML algorithms like:</a:t>
            </a:r>
          </a:p>
          <a:p>
            <a:pPr marL="457200" lvl="1" indent="0">
              <a:buNone/>
            </a:pPr>
            <a:r>
              <a:rPr lang="en-US" dirty="0" smtClean="0"/>
              <a:t>• KNN</a:t>
            </a:r>
            <a:br>
              <a:rPr lang="en-US" dirty="0" smtClean="0"/>
            </a:br>
            <a:r>
              <a:rPr lang="en-US" dirty="0" smtClean="0"/>
              <a:t>• </a:t>
            </a:r>
            <a:r>
              <a:rPr lang="en-US" dirty="0" err="1" smtClean="0"/>
              <a:t>KMeans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• SVM</a:t>
            </a:r>
            <a:br>
              <a:rPr lang="en-US" dirty="0" smtClean="0"/>
            </a:br>
            <a:r>
              <a:rPr lang="en-US" dirty="0" smtClean="0"/>
              <a:t>• Clustering</a:t>
            </a:r>
          </a:p>
          <a:p>
            <a:r>
              <a:rPr lang="en-US" dirty="0" smtClean="0"/>
              <a:t>Machine learning often works by measuring how "close" or "far" data points are.</a:t>
            </a:r>
          </a:p>
          <a:p>
            <a:r>
              <a:rPr lang="en-US" dirty="0" smtClean="0"/>
              <a:t>Definition </a:t>
            </a:r>
          </a:p>
          <a:p>
            <a:pPr lvl="1"/>
            <a:r>
              <a:rPr lang="en-US" dirty="0" smtClean="0"/>
              <a:t>Distance measures how far apart two data points are.</a:t>
            </a:r>
          </a:p>
          <a:p>
            <a:pPr lvl="1"/>
            <a:r>
              <a:rPr lang="en-US" dirty="0" smtClean="0"/>
              <a:t>It tells how similar or different two points are.</a:t>
            </a:r>
          </a:p>
          <a:p>
            <a:pPr lvl="1"/>
            <a:r>
              <a:rPr lang="en-US" dirty="0" smtClean="0"/>
              <a:t>Small distance → similar</a:t>
            </a:r>
            <a:br>
              <a:rPr lang="en-US" dirty="0" smtClean="0"/>
            </a:br>
            <a:r>
              <a:rPr lang="en-US" dirty="0" smtClean="0"/>
              <a:t>Large distance → different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93688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Machine learning needs to compare data points.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Face recognition compares distance between faces.</a:t>
            </a:r>
          </a:p>
          <a:p>
            <a:pPr lvl="1"/>
            <a:r>
              <a:rPr lang="en-US" dirty="0" smtClean="0"/>
              <a:t>Closer distance = same person.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Distance between two cities.</a:t>
            </a:r>
          </a:p>
          <a:p>
            <a:pPr lvl="1"/>
            <a:r>
              <a:rPr lang="en-US" dirty="0" smtClean="0"/>
              <a:t>Ahmedabad to Mumbai = 500 km</a:t>
            </a:r>
          </a:p>
          <a:p>
            <a:pPr lvl="1"/>
            <a:r>
              <a:rPr lang="en-US" dirty="0" smtClean="0"/>
              <a:t>Ahmedabad to Gandhinagar = 25 km</a:t>
            </a:r>
          </a:p>
          <a:p>
            <a:pPr lvl="1"/>
            <a:r>
              <a:rPr lang="en-US" dirty="0" smtClean="0"/>
              <a:t>Gandhinagar is more similar geographically.</a:t>
            </a:r>
          </a:p>
        </p:txBody>
      </p:sp>
    </p:spTree>
    <p:extLst>
      <p:ext uri="{BB962C8B-B14F-4D97-AF65-F5344CB8AC3E}">
        <p14:creationId xmlns:p14="http://schemas.microsoft.com/office/powerpoint/2010/main" val="5439911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 (Euclidean Distance)</a:t>
            </a:r>
          </a:p>
          <a:p>
            <a:pPr lvl="1"/>
            <a:r>
              <a:rPr lang="en-US" dirty="0" smtClean="0"/>
              <a:t>Most important distance formula:</a:t>
            </a:r>
          </a:p>
          <a:p>
            <a:pPr lvl="1"/>
            <a:r>
              <a:rPr lang="en-US" dirty="0" smtClean="0"/>
              <a:t>𝑑=√(𝑥1−𝑥2)^2+(𝑦1−𝑦2)^2 </a:t>
            </a:r>
          </a:p>
          <a:p>
            <a:r>
              <a:rPr lang="en-US" dirty="0" smtClean="0"/>
              <a:t>​Explanation of symbols</a:t>
            </a:r>
          </a:p>
          <a:p>
            <a:pPr lvl="1"/>
            <a:r>
              <a:rPr lang="en-US" dirty="0" smtClean="0"/>
              <a:t>d = distance</a:t>
            </a:r>
          </a:p>
          <a:p>
            <a:pPr lvl="1"/>
            <a:r>
              <a:rPr lang="en-US" dirty="0" smtClean="0"/>
              <a:t>(x1, y1) = first point</a:t>
            </a:r>
          </a:p>
          <a:p>
            <a:pPr lvl="1"/>
            <a:r>
              <a:rPr lang="en-US" dirty="0" smtClean="0"/>
              <a:t>(x2, y2) = second point</a:t>
            </a:r>
          </a:p>
          <a:p>
            <a:r>
              <a:rPr lang="en-US" dirty="0" smtClean="0"/>
              <a:t>Visual explanation</a:t>
            </a:r>
          </a:p>
          <a:p>
            <a:pPr lvl="1"/>
            <a:r>
              <a:rPr lang="en-US" dirty="0" smtClean="0"/>
              <a:t>Diagram: Distance between two points</a:t>
            </a:r>
          </a:p>
        </p:txBody>
      </p:sp>
      <p:pic>
        <p:nvPicPr>
          <p:cNvPr id="63490" name="Picture 2" descr="https://upload.wikimedia.org/wikipedia/commons/thumb/5/55/Euclidean_distance_2d.svg/512px-Euclidean_distance_2d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814637"/>
            <a:ext cx="4876800" cy="3362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14481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Point A: (2,3)</a:t>
            </a:r>
          </a:p>
          <a:p>
            <a:pPr lvl="1"/>
            <a:r>
              <a:rPr lang="en-US" dirty="0" smtClean="0"/>
              <a:t>Point B: (5,7)</a:t>
            </a:r>
          </a:p>
          <a:p>
            <a:pPr lvl="1"/>
            <a:r>
              <a:rPr lang="en-US" dirty="0" smtClean="0"/>
              <a:t>Distance: √(5−2)^2+(7−3)^2 = √9+16</a:t>
            </a:r>
            <a:r>
              <a:rPr lang="en-US" dirty="0" smtClean="0"/>
              <a:t> </a:t>
            </a:r>
            <a:r>
              <a:rPr lang="en-US" dirty="0" smtClean="0"/>
              <a:t>= √25</a:t>
            </a:r>
            <a:r>
              <a:rPr lang="en-US" dirty="0" smtClean="0"/>
              <a:t> </a:t>
            </a:r>
            <a:r>
              <a:rPr lang="en-US" dirty="0" smtClean="0"/>
              <a:t>​= 5</a:t>
            </a:r>
          </a:p>
          <a:p>
            <a:r>
              <a:rPr lang="en-US" dirty="0" smtClean="0"/>
              <a:t>Most important distance types:</a:t>
            </a:r>
          </a:p>
          <a:p>
            <a:pPr lvl="1"/>
            <a:r>
              <a:rPr lang="en-US" dirty="0" smtClean="0"/>
              <a:t>Euclidean distance</a:t>
            </a:r>
          </a:p>
          <a:p>
            <a:pPr lvl="1"/>
            <a:r>
              <a:rPr lang="en-US" dirty="0" smtClean="0"/>
              <a:t>Manhattan distance</a:t>
            </a:r>
          </a:p>
          <a:p>
            <a:pPr lvl="1"/>
            <a:r>
              <a:rPr lang="en-US" dirty="0" err="1" smtClean="0"/>
              <a:t>Minkowski</a:t>
            </a:r>
            <a:r>
              <a:rPr lang="en-US" dirty="0" smtClean="0"/>
              <a:t> distance</a:t>
            </a:r>
          </a:p>
          <a:p>
            <a:pPr lvl="1"/>
            <a:r>
              <a:rPr lang="en-US" dirty="0" smtClean="0"/>
              <a:t>Manhattan distance formula:∣𝑥1−𝑥2∣+∣𝑦1−𝑦2∣ 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Simple</a:t>
            </a:r>
          </a:p>
          <a:p>
            <a:pPr lvl="1"/>
            <a:r>
              <a:rPr lang="en-US" dirty="0" smtClean="0"/>
              <a:t>Used everywhere</a:t>
            </a:r>
          </a:p>
        </p:txBody>
      </p:sp>
    </p:spTree>
    <p:extLst>
      <p:ext uri="{BB962C8B-B14F-4D97-AF65-F5344CB8AC3E}">
        <p14:creationId xmlns:p14="http://schemas.microsoft.com/office/powerpoint/2010/main" val="155353995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Sensitive to scale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KNN</a:t>
            </a:r>
          </a:p>
          <a:p>
            <a:pPr lvl="1"/>
            <a:r>
              <a:rPr lang="en-US" dirty="0" smtClean="0"/>
              <a:t>Clustering</a:t>
            </a:r>
          </a:p>
          <a:p>
            <a:pPr lvl="1"/>
            <a:r>
              <a:rPr lang="en-US" dirty="0" smtClean="0"/>
              <a:t>Similarity problems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When features have different scales (need normalization)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Distance defines geometric space.</a:t>
            </a:r>
          </a:p>
          <a:p>
            <a:pPr lvl="1"/>
            <a:r>
              <a:rPr lang="en-US" dirty="0" smtClean="0"/>
              <a:t>ML models create decision boundaries based on distance.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Distance measures similarity between data points.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636184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10: LINEARITY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Linearity means relationship between variables forms a straight line.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Many ML models assume linear relationship.</a:t>
            </a:r>
          </a:p>
          <a:p>
            <a:r>
              <a:rPr lang="en-US" dirty="0" smtClean="0"/>
              <a:t>Example: Linear regression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If salary increases steadily with experience → linear relationship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Linear equation:𝑦=𝑚𝑥+𝑏y=</a:t>
            </a:r>
            <a:r>
              <a:rPr lang="en-US" dirty="0" err="1" smtClean="0"/>
              <a:t>mx+b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0226267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y = output</a:t>
            </a:r>
          </a:p>
          <a:p>
            <a:pPr lvl="1"/>
            <a:r>
              <a:rPr lang="en-US" dirty="0" smtClean="0"/>
              <a:t>x = input</a:t>
            </a:r>
          </a:p>
          <a:p>
            <a:pPr lvl="1"/>
            <a:r>
              <a:rPr lang="en-US" dirty="0" smtClean="0"/>
              <a:t>m = slope</a:t>
            </a:r>
          </a:p>
          <a:p>
            <a:pPr lvl="1"/>
            <a:r>
              <a:rPr lang="en-US" dirty="0" smtClean="0"/>
              <a:t>b = intercept</a:t>
            </a:r>
          </a:p>
          <a:p>
            <a:r>
              <a:rPr lang="en-US" dirty="0" smtClean="0"/>
              <a:t>Visual explanation: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Experience vs Salary</a:t>
            </a:r>
          </a:p>
          <a:p>
            <a:pPr lvl="1"/>
            <a:r>
              <a:rPr lang="en-US" dirty="0" smtClean="0"/>
              <a:t>Straight line relationship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Positive linear</a:t>
            </a:r>
          </a:p>
          <a:p>
            <a:pPr lvl="1"/>
            <a:r>
              <a:rPr lang="en-US" dirty="0" smtClean="0"/>
              <a:t>Negative linear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pic>
        <p:nvPicPr>
          <p:cNvPr id="70658" name="Picture 2" descr="https://upload.wikimedia.org/wikipedia/commons/thumb/3/3a/Linear_regression.svg/512px-Linear_regressio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247" y="1528549"/>
            <a:ext cx="4876800" cy="3219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4548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Easy modeling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Cannot capture complex patterns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Linear regression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Non-linear data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Linear models assume:𝐸[𝑌∣𝑋]=𝑎𝑋+𝑏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Linearity = straight line 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42478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11: NORMALITY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Normal distribution is bell-shaped distribution.</a:t>
            </a:r>
          </a:p>
          <a:p>
            <a:pPr lvl="1"/>
            <a:r>
              <a:rPr lang="en-US" dirty="0" smtClean="0"/>
              <a:t>Most values lie near mean.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Many ML models assume normal distribution.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Human heights follow normal distribution.</a:t>
            </a:r>
          </a:p>
          <a:p>
            <a:pPr lvl="1"/>
            <a:r>
              <a:rPr lang="en-US" dirty="0" smtClean="0"/>
              <a:t>Most people average height.</a:t>
            </a:r>
          </a:p>
          <a:p>
            <a:pPr lvl="1"/>
            <a:r>
              <a:rPr lang="en-US" dirty="0" smtClean="0"/>
              <a:t>Few very tall or short.</a:t>
            </a:r>
          </a:p>
        </p:txBody>
      </p:sp>
    </p:spTree>
    <p:extLst>
      <p:ext uri="{BB962C8B-B14F-4D97-AF65-F5344CB8AC3E}">
        <p14:creationId xmlns:p14="http://schemas.microsoft.com/office/powerpoint/2010/main" val="355847673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𝑓(𝑥)=1/𝜎√2𝜋*𝑒^−(𝑥−𝜇)^2/2𝜎^2 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l-GR" dirty="0" smtClean="0"/>
              <a:t>μ = </a:t>
            </a:r>
            <a:r>
              <a:rPr lang="en-US" dirty="0" smtClean="0"/>
              <a:t>mean</a:t>
            </a:r>
          </a:p>
          <a:p>
            <a:pPr lvl="1"/>
            <a:r>
              <a:rPr lang="el-GR" dirty="0" smtClean="0"/>
              <a:t>σ = </a:t>
            </a:r>
            <a:r>
              <a:rPr lang="en-US" dirty="0" smtClean="0"/>
              <a:t>standard deviation</a:t>
            </a:r>
          </a:p>
          <a:p>
            <a:r>
              <a:rPr lang="en-US" dirty="0" smtClean="0"/>
              <a:t>Visual explanation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IQ scores</a:t>
            </a:r>
          </a:p>
          <a:p>
            <a:pPr lvl="1"/>
            <a:r>
              <a:rPr lang="en-US" dirty="0" smtClean="0"/>
              <a:t>Most around 100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Standard normal distribution</a:t>
            </a:r>
          </a:p>
        </p:txBody>
      </p:sp>
      <p:pic>
        <p:nvPicPr>
          <p:cNvPr id="71682" name="Picture 2" descr="https://upload.wikimedia.org/wikipedia/commons/thumb/7/74/Normal_Distribution_PDF.svg/512px-Normal_Distribution_PDF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5247" y="1847103"/>
            <a:ext cx="4876800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72066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Mathematically convenient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Real data not always normal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Statistical tests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Skewed data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Central Limit Theorem makes many distributions normal.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Normal distribution = bell curve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631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12: HOMOSCEDASTICITY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Homoscedasticity means that the spread (variance) of errors remains constant across all values of the input variable.</a:t>
            </a:r>
          </a:p>
          <a:p>
            <a:pPr lvl="1"/>
            <a:r>
              <a:rPr lang="en-US" dirty="0" smtClean="0"/>
              <a:t>In simple words: The prediction errors should be evenly spread everywhere.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Machine learning models assume that errors behave consistently.</a:t>
            </a:r>
          </a:p>
          <a:p>
            <a:pPr lvl="1"/>
            <a:r>
              <a:rPr lang="en-US" dirty="0" smtClean="0"/>
              <a:t>If error spread changes, model assumptions break.</a:t>
            </a:r>
          </a:p>
          <a:p>
            <a:pPr lvl="1"/>
            <a:r>
              <a:rPr lang="en-US" dirty="0" smtClean="0"/>
              <a:t>This affects:</a:t>
            </a:r>
          </a:p>
          <a:p>
            <a:pPr marL="914400" lvl="2" indent="0">
              <a:buNone/>
            </a:pPr>
            <a:r>
              <a:rPr lang="en-US" dirty="0" smtClean="0"/>
              <a:t>• Linear regression accuracy</a:t>
            </a:r>
          </a:p>
          <a:p>
            <a:pPr marL="914400" lvl="2" indent="0">
              <a:buNone/>
            </a:pPr>
            <a:r>
              <a:rPr lang="en-US" dirty="0" smtClean="0"/>
              <a:t>• Confidence intervals</a:t>
            </a:r>
          </a:p>
          <a:p>
            <a:pPr marL="914400" lvl="2" indent="0">
              <a:buNone/>
            </a:pPr>
            <a:r>
              <a:rPr lang="en-US" dirty="0" smtClean="0"/>
              <a:t>• Statistical tests</a:t>
            </a:r>
          </a:p>
        </p:txBody>
      </p:sp>
    </p:spTree>
    <p:extLst>
      <p:ext uri="{BB962C8B-B14F-4D97-AF65-F5344CB8AC3E}">
        <p14:creationId xmlns:p14="http://schemas.microsoft.com/office/powerpoint/2010/main" val="100706067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throwing darts at a dartboard.</a:t>
            </a:r>
          </a:p>
          <a:p>
            <a:pPr lvl="1"/>
            <a:r>
              <a:rPr lang="en-US" dirty="0" smtClean="0"/>
              <a:t>Case 1 (Homoscedastic):Darts spread evenly around center everywhere.</a:t>
            </a:r>
          </a:p>
          <a:p>
            <a:pPr lvl="1"/>
            <a:r>
              <a:rPr lang="en-US" dirty="0" smtClean="0"/>
              <a:t>Case 2 (Heteroscedastic):Near center → tight spread, Far from center → wide spread</a:t>
            </a:r>
          </a:p>
          <a:p>
            <a:pPr lvl="1"/>
            <a:r>
              <a:rPr lang="en-US" dirty="0" smtClean="0"/>
              <a:t>Machine learning prefers Case 1.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Error term:𝑉𝑎𝑟(𝜖𝑖)=𝜎^2</a:t>
            </a:r>
          </a:p>
          <a:p>
            <a:r>
              <a:rPr lang="en-US" dirty="0" smtClean="0"/>
              <a:t>Explanation of each symbol</a:t>
            </a:r>
          </a:p>
          <a:p>
            <a:pPr lvl="1"/>
            <a:r>
              <a:rPr lang="en-US" dirty="0" err="1" smtClean="0"/>
              <a:t>Var</a:t>
            </a:r>
            <a:r>
              <a:rPr lang="en-US" dirty="0" smtClean="0"/>
              <a:t>(</a:t>
            </a:r>
            <a:r>
              <a:rPr lang="el-GR" dirty="0" smtClean="0"/>
              <a:t>ε</a:t>
            </a:r>
            <a:r>
              <a:rPr lang="en-US" dirty="0" err="1" smtClean="0"/>
              <a:t>i</a:t>
            </a:r>
            <a:r>
              <a:rPr lang="en-US" dirty="0" smtClean="0"/>
              <a:t>) = variance of error</a:t>
            </a:r>
          </a:p>
          <a:p>
            <a:pPr lvl="1"/>
            <a:r>
              <a:rPr lang="el-GR" dirty="0" smtClean="0"/>
              <a:t>ε</a:t>
            </a:r>
            <a:r>
              <a:rPr lang="en-US" dirty="0" err="1" smtClean="0"/>
              <a:t>i</a:t>
            </a:r>
            <a:r>
              <a:rPr lang="en-US" dirty="0" smtClean="0"/>
              <a:t> = error for </a:t>
            </a:r>
            <a:r>
              <a:rPr lang="en-US" dirty="0" err="1" smtClean="0"/>
              <a:t>ith</a:t>
            </a:r>
            <a:r>
              <a:rPr lang="en-US" dirty="0" smtClean="0"/>
              <a:t> data point</a:t>
            </a:r>
          </a:p>
          <a:p>
            <a:pPr lvl="1"/>
            <a:r>
              <a:rPr lang="el-GR" dirty="0" smtClean="0"/>
              <a:t>σ² = </a:t>
            </a:r>
            <a:r>
              <a:rPr lang="en-US" dirty="0" smtClean="0"/>
              <a:t>constant variance</a:t>
            </a:r>
          </a:p>
          <a:p>
            <a:pPr lvl="1"/>
            <a:r>
              <a:rPr lang="en-US" dirty="0" smtClean="0"/>
              <a:t>Meaning: Variance must remain constant.</a:t>
            </a:r>
          </a:p>
        </p:txBody>
      </p:sp>
    </p:spTree>
    <p:extLst>
      <p:ext uri="{BB962C8B-B14F-4D97-AF65-F5344CB8AC3E}">
        <p14:creationId xmlns:p14="http://schemas.microsoft.com/office/powerpoint/2010/main" val="34705989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Visual explanation (diagram)</a:t>
            </a:r>
          </a:p>
          <a:p>
            <a:pPr lvl="1"/>
            <a:r>
              <a:rPr lang="en-US" dirty="0" smtClean="0"/>
              <a:t>Diagram: Homoscedastic vs Heteroscedastic 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Predict salary from experience.</a:t>
            </a:r>
          </a:p>
          <a:p>
            <a:pPr lvl="1"/>
            <a:r>
              <a:rPr lang="en-US" dirty="0" smtClean="0"/>
              <a:t>Good case: Error spread same for all experience levels.</a:t>
            </a:r>
          </a:p>
          <a:p>
            <a:pPr lvl="1"/>
            <a:r>
              <a:rPr lang="en-US" dirty="0" smtClean="0"/>
              <a:t>Bad case: Low experience → small error, High experience → large error</a:t>
            </a:r>
          </a:p>
          <a:p>
            <a:pPr lvl="1"/>
            <a:r>
              <a:rPr lang="en-US" dirty="0" smtClean="0"/>
              <a:t>Bad case violates homoscedasticity.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Homoscedasticity (good)</a:t>
            </a:r>
          </a:p>
          <a:p>
            <a:pPr lvl="1"/>
            <a:r>
              <a:rPr lang="en-US" dirty="0" smtClean="0"/>
              <a:t>Heteroscedasticity (bad)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Ensures reliable model performance</a:t>
            </a:r>
          </a:p>
          <a:p>
            <a:pPr lvl="1"/>
            <a:r>
              <a:rPr lang="en-US" dirty="0" smtClean="0"/>
              <a:t>Accurate statistical inference</a:t>
            </a:r>
          </a:p>
          <a:p>
            <a:pPr lvl="1"/>
            <a:r>
              <a:rPr lang="en-US" dirty="0" smtClean="0"/>
              <a:t>Improves regression validity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7122" y="3142612"/>
            <a:ext cx="6068701" cy="303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035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Rare in real-world data</a:t>
            </a:r>
          </a:p>
          <a:p>
            <a:pPr lvl="1"/>
            <a:r>
              <a:rPr lang="en-US" dirty="0" smtClean="0"/>
              <a:t>Often violated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Linear regression</a:t>
            </a:r>
          </a:p>
          <a:p>
            <a:pPr lvl="1"/>
            <a:r>
              <a:rPr lang="en-US" dirty="0" smtClean="0"/>
              <a:t>Statistical modeling</a:t>
            </a:r>
          </a:p>
          <a:p>
            <a:pPr lvl="1"/>
            <a:r>
              <a:rPr lang="en-US" dirty="0" smtClean="0"/>
              <a:t>Inferential statistics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When data clearly shows changing variance</a:t>
            </a:r>
          </a:p>
          <a:p>
            <a:pPr lvl="1"/>
            <a:r>
              <a:rPr lang="en-US" dirty="0" smtClean="0"/>
              <a:t>Use robust models instead like:</a:t>
            </a:r>
          </a:p>
          <a:p>
            <a:pPr lvl="2"/>
            <a:r>
              <a:rPr lang="en-US" dirty="0" smtClean="0"/>
              <a:t>Decision Trees</a:t>
            </a:r>
          </a:p>
          <a:p>
            <a:pPr lvl="2"/>
            <a:r>
              <a:rPr lang="en-US" dirty="0" smtClean="0"/>
              <a:t>Random Forest</a:t>
            </a:r>
          </a:p>
        </p:txBody>
      </p:sp>
    </p:spTree>
    <p:extLst>
      <p:ext uri="{BB962C8B-B14F-4D97-AF65-F5344CB8AC3E}">
        <p14:creationId xmlns:p14="http://schemas.microsoft.com/office/powerpoint/2010/main" val="40162071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Linear regression assumes:𝐸(𝜖𝑖^2)=𝑐𝑜𝑛𝑠𝑡𝑎𝑛𝑡 </a:t>
            </a:r>
          </a:p>
          <a:p>
            <a:pPr lvl="1"/>
            <a:r>
              <a:rPr lang="en-US" dirty="0" smtClean="0"/>
              <a:t>Violation causes:</a:t>
            </a:r>
          </a:p>
          <a:p>
            <a:pPr marL="914400" lvl="2" indent="0">
              <a:buNone/>
            </a:pPr>
            <a:r>
              <a:rPr lang="en-US" dirty="0" smtClean="0"/>
              <a:t>• inefficient parameter estimation</a:t>
            </a:r>
          </a:p>
          <a:p>
            <a:pPr marL="914400" lvl="2" indent="0">
              <a:buNone/>
            </a:pPr>
            <a:r>
              <a:rPr lang="en-US" dirty="0" smtClean="0"/>
              <a:t>• incorrect confidence intervals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Homoscedasticity means constant error variance.</a:t>
            </a:r>
          </a:p>
          <a:p>
            <a:pPr lvl="1"/>
            <a:r>
              <a:rPr lang="en-US" dirty="0" smtClean="0"/>
              <a:t>It is required for linear regression validity.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794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13: OUTLIERS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Outlier is a data point that is extremely different from other data points.</a:t>
            </a:r>
          </a:p>
          <a:p>
            <a:pPr lvl="1"/>
            <a:r>
              <a:rPr lang="en-US" dirty="0" smtClean="0"/>
              <a:t>It lies far away from normal range.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Outliers affect machine learning models by:</a:t>
            </a:r>
          </a:p>
          <a:p>
            <a:pPr marL="914400" lvl="2" indent="0">
              <a:buNone/>
            </a:pPr>
            <a:r>
              <a:rPr lang="en-US" dirty="0" smtClean="0"/>
              <a:t>• Distorting mean</a:t>
            </a:r>
          </a:p>
          <a:p>
            <a:pPr marL="914400" lvl="2" indent="0">
              <a:buNone/>
            </a:pPr>
            <a:r>
              <a:rPr lang="en-US" dirty="0" smtClean="0"/>
              <a:t>• Increasing variance</a:t>
            </a:r>
          </a:p>
          <a:p>
            <a:pPr marL="914400" lvl="2" indent="0">
              <a:buNone/>
            </a:pPr>
            <a:r>
              <a:rPr lang="en-US" dirty="0" smtClean="0"/>
              <a:t>• Reducing model accuracy</a:t>
            </a:r>
          </a:p>
          <a:p>
            <a:pPr lvl="1"/>
            <a:r>
              <a:rPr lang="en-US" dirty="0" smtClean="0"/>
              <a:t>Outliers can come from:</a:t>
            </a:r>
          </a:p>
          <a:p>
            <a:pPr lvl="2"/>
            <a:r>
              <a:rPr lang="en-US" dirty="0" smtClean="0"/>
              <a:t>Measurement errors</a:t>
            </a:r>
          </a:p>
          <a:p>
            <a:pPr lvl="2"/>
            <a:r>
              <a:rPr lang="en-US" dirty="0" smtClean="0"/>
              <a:t>Rare events</a:t>
            </a:r>
          </a:p>
          <a:p>
            <a:pPr lvl="2"/>
            <a:r>
              <a:rPr lang="en-US" dirty="0" err="1" smtClean="0"/>
              <a:t>FraudNoise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96565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Income example:10k, 12k, 15k, 18k, 20k, 10 crore</a:t>
            </a:r>
          </a:p>
          <a:p>
            <a:pPr lvl="1"/>
            <a:r>
              <a:rPr lang="en-US" dirty="0" smtClean="0"/>
              <a:t>10 crore ← Outlier</a:t>
            </a:r>
          </a:p>
          <a:p>
            <a:pPr lvl="1"/>
            <a:r>
              <a:rPr lang="en-US" dirty="0" smtClean="0"/>
              <a:t>This one value distorts average.</a:t>
            </a:r>
          </a:p>
          <a:p>
            <a:r>
              <a:rPr lang="en-US" dirty="0" smtClean="0"/>
              <a:t>Mathematical Formula (IQR Method)</a:t>
            </a:r>
          </a:p>
          <a:p>
            <a:pPr lvl="1"/>
            <a:r>
              <a:rPr lang="en-US" dirty="0" smtClean="0"/>
              <a:t>Outlier detection rule:</a:t>
            </a:r>
          </a:p>
          <a:p>
            <a:pPr lvl="2"/>
            <a:r>
              <a:rPr lang="en-US" dirty="0" smtClean="0"/>
              <a:t>Lower bound:𝑄1−1.5(𝐼𝑄𝑅)</a:t>
            </a:r>
          </a:p>
          <a:p>
            <a:pPr lvl="2"/>
            <a:r>
              <a:rPr lang="en-US" dirty="0" smtClean="0"/>
              <a:t>Upper bound:𝑄3+1.5(𝐼𝑄𝑅)</a:t>
            </a:r>
          </a:p>
          <a:p>
            <a:r>
              <a:rPr lang="en-US" dirty="0" smtClean="0"/>
              <a:t>Explanation of symbols</a:t>
            </a:r>
          </a:p>
          <a:p>
            <a:pPr lvl="1"/>
            <a:r>
              <a:rPr lang="en-US" dirty="0" smtClean="0"/>
              <a:t>Q1 = 25th percentile</a:t>
            </a:r>
          </a:p>
          <a:p>
            <a:pPr lvl="1"/>
            <a:r>
              <a:rPr lang="en-US" dirty="0" smtClean="0"/>
              <a:t>Q3 = 75th percentile</a:t>
            </a:r>
          </a:p>
          <a:p>
            <a:pPr lvl="1"/>
            <a:r>
              <a:rPr lang="en-US" dirty="0" smtClean="0"/>
              <a:t>IQR = Q3 − Q1</a:t>
            </a:r>
          </a:p>
          <a:p>
            <a:pPr lvl="1"/>
            <a:r>
              <a:rPr lang="en-US" dirty="0" smtClean="0"/>
              <a:t>Any value outside bounds = outlier</a:t>
            </a:r>
          </a:p>
        </p:txBody>
      </p:sp>
    </p:spTree>
    <p:extLst>
      <p:ext uri="{BB962C8B-B14F-4D97-AF65-F5344CB8AC3E}">
        <p14:creationId xmlns:p14="http://schemas.microsoft.com/office/powerpoint/2010/main" val="39248025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Data:1,2,3,4,5,6,7,100</a:t>
            </a:r>
          </a:p>
          <a:p>
            <a:pPr lvl="1"/>
            <a:r>
              <a:rPr lang="en-US" dirty="0" smtClean="0"/>
              <a:t>Q1 = 3</a:t>
            </a:r>
          </a:p>
          <a:p>
            <a:pPr lvl="1"/>
            <a:r>
              <a:rPr lang="en-US" dirty="0" smtClean="0"/>
              <a:t>Q3 = 7</a:t>
            </a:r>
          </a:p>
          <a:p>
            <a:pPr lvl="1"/>
            <a:r>
              <a:rPr lang="en-US" dirty="0" smtClean="0"/>
              <a:t>IQR = 4</a:t>
            </a:r>
          </a:p>
          <a:p>
            <a:pPr lvl="1"/>
            <a:r>
              <a:rPr lang="en-US" dirty="0" smtClean="0"/>
              <a:t>Upper bound:7+1.5(4)=13</a:t>
            </a:r>
          </a:p>
          <a:p>
            <a:pPr lvl="1"/>
            <a:r>
              <a:rPr lang="en-US" dirty="0" smtClean="0"/>
              <a:t>100 &gt; 13 → outlier</a:t>
            </a:r>
          </a:p>
          <a:p>
            <a:r>
              <a:rPr lang="en-US" dirty="0" smtClean="0"/>
              <a:t>Types of Outliers</a:t>
            </a:r>
          </a:p>
          <a:p>
            <a:pPr lvl="1"/>
            <a:r>
              <a:rPr lang="en-US" dirty="0" smtClean="0"/>
              <a:t>Point outlier: Single extreme value</a:t>
            </a:r>
          </a:p>
          <a:p>
            <a:pPr lvl="1"/>
            <a:r>
              <a:rPr lang="en-US" dirty="0" smtClean="0"/>
              <a:t>Contextual outlier: Abnormal in specific context</a:t>
            </a:r>
          </a:p>
          <a:p>
            <a:pPr lvl="1"/>
            <a:r>
              <a:rPr lang="en-US" dirty="0" smtClean="0"/>
              <a:t>Collective outlier: Group of abnormal values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Help detect fraud</a:t>
            </a:r>
          </a:p>
          <a:p>
            <a:pPr lvl="1"/>
            <a:r>
              <a:rPr lang="en-US" dirty="0" smtClean="0"/>
              <a:t>Help detect rare events</a:t>
            </a:r>
          </a:p>
          <a:p>
            <a:pPr lvl="1"/>
            <a:r>
              <a:rPr lang="en-US" dirty="0" smtClean="0"/>
              <a:t>Help detect data errors</a:t>
            </a:r>
          </a:p>
        </p:txBody>
      </p:sp>
    </p:spTree>
    <p:extLst>
      <p:ext uri="{BB962C8B-B14F-4D97-AF65-F5344CB8AC3E}">
        <p14:creationId xmlns:p14="http://schemas.microsoft.com/office/powerpoint/2010/main" val="428734321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Distort ML models</a:t>
            </a:r>
          </a:p>
          <a:p>
            <a:pPr lvl="1"/>
            <a:r>
              <a:rPr lang="en-US" dirty="0" smtClean="0"/>
              <a:t>Distort mean</a:t>
            </a:r>
          </a:p>
          <a:p>
            <a:pPr lvl="1"/>
            <a:r>
              <a:rPr lang="en-US" dirty="0" smtClean="0"/>
              <a:t>Reduce accuracy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Fraud detection</a:t>
            </a:r>
          </a:p>
          <a:p>
            <a:pPr lvl="1"/>
            <a:r>
              <a:rPr lang="en-US" dirty="0" smtClean="0"/>
              <a:t>Anomaly detection</a:t>
            </a:r>
          </a:p>
          <a:p>
            <a:pPr lvl="1"/>
            <a:r>
              <a:rPr lang="en-US" dirty="0" smtClean="0"/>
              <a:t>Medical diagnosis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When they are measurement errors</a:t>
            </a:r>
          </a:p>
          <a:p>
            <a:pPr lvl="1"/>
            <a:r>
              <a:rPr lang="en-US" dirty="0" smtClean="0"/>
              <a:t>Must remove them before training ML model.</a:t>
            </a:r>
          </a:p>
        </p:txBody>
      </p:sp>
    </p:spTree>
    <p:extLst>
      <p:ext uri="{BB962C8B-B14F-4D97-AF65-F5344CB8AC3E}">
        <p14:creationId xmlns:p14="http://schemas.microsoft.com/office/powerpoint/2010/main" val="250586095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Outliers increase loss function value.</a:t>
            </a:r>
          </a:p>
          <a:p>
            <a:pPr lvl="1"/>
            <a:r>
              <a:rPr lang="en-US" dirty="0" smtClean="0"/>
              <a:t>Example MSE loss:𝑀𝑆𝐸=1/𝑛*∑(𝑦−𝑦^)^2 </a:t>
            </a:r>
          </a:p>
          <a:p>
            <a:pPr lvl="1"/>
            <a:r>
              <a:rPr lang="en-US" dirty="0" smtClean="0"/>
              <a:t>Outliers create large squared error.</a:t>
            </a:r>
          </a:p>
          <a:p>
            <a:pPr lvl="1"/>
            <a:r>
              <a:rPr lang="en-US" dirty="0" smtClean="0"/>
              <a:t>This heavily affects training.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Outliers are extreme values.</a:t>
            </a:r>
          </a:p>
          <a:p>
            <a:pPr lvl="1"/>
            <a:r>
              <a:rPr lang="en-US" dirty="0" smtClean="0"/>
              <a:t>They must be detected and handled properly.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96943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14: Hypothesis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 Hypothesis is an assumption or claim about data that we want to test.</a:t>
            </a:r>
          </a:p>
          <a:p>
            <a:pPr lvl="1"/>
            <a:r>
              <a:rPr lang="en-US" dirty="0" smtClean="0"/>
              <a:t>It is a statement that can be proven true or false using data.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We use hypothesis because we need to make decisions based on data.</a:t>
            </a:r>
          </a:p>
          <a:p>
            <a:pPr lvl="1"/>
            <a:r>
              <a:rPr lang="en-US" dirty="0" smtClean="0"/>
              <a:t>Machine learning models also test hypotheses internally.</a:t>
            </a:r>
          </a:p>
          <a:p>
            <a:r>
              <a:rPr lang="en-US" dirty="0" smtClean="0"/>
              <a:t>Examples:</a:t>
            </a:r>
          </a:p>
          <a:p>
            <a:pPr marL="457200" lvl="1" indent="0">
              <a:buNone/>
            </a:pPr>
            <a:r>
              <a:rPr lang="en-US" dirty="0" smtClean="0"/>
              <a:t>• Does studying more increase marks?</a:t>
            </a:r>
          </a:p>
          <a:p>
            <a:pPr marL="457200" lvl="1" indent="0">
              <a:buNone/>
            </a:pPr>
            <a:r>
              <a:rPr lang="en-US" dirty="0" smtClean="0"/>
              <a:t>• Does medicine reduce fever?</a:t>
            </a:r>
          </a:p>
          <a:p>
            <a:pPr marL="457200" lvl="1" indent="0">
              <a:buNone/>
            </a:pPr>
            <a:r>
              <a:rPr lang="en-US" dirty="0" smtClean="0"/>
              <a:t>• Does house size affect price?</a:t>
            </a:r>
          </a:p>
          <a:p>
            <a:pPr lvl="1"/>
            <a:r>
              <a:rPr lang="en-US" dirty="0" smtClean="0"/>
              <a:t>Hypothesis testing helps confirm if relationship is real.</a:t>
            </a:r>
          </a:p>
        </p:txBody>
      </p:sp>
    </p:spTree>
    <p:extLst>
      <p:ext uri="{BB962C8B-B14F-4D97-AF65-F5344CB8AC3E}">
        <p14:creationId xmlns:p14="http://schemas.microsoft.com/office/powerpoint/2010/main" val="255425623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a doctor says: “This medicine works.”</a:t>
            </a:r>
          </a:p>
          <a:p>
            <a:pPr lvl="1"/>
            <a:r>
              <a:rPr lang="en-US" dirty="0" smtClean="0"/>
              <a:t>This is a hypothesis.</a:t>
            </a:r>
          </a:p>
          <a:p>
            <a:pPr lvl="1"/>
            <a:r>
              <a:rPr lang="en-US" dirty="0" smtClean="0"/>
              <a:t>We test it on patients to verify.</a:t>
            </a:r>
          </a:p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Hypothesis is written as:𝐻</a:t>
            </a:r>
          </a:p>
          <a:p>
            <a:pPr lvl="1"/>
            <a:r>
              <a:rPr lang="en-US" dirty="0" smtClean="0"/>
              <a:t>Usually two hypotheses exist:𝐻0 and 𝐻1</a:t>
            </a:r>
          </a:p>
          <a:p>
            <a:r>
              <a:rPr lang="en-US" dirty="0" smtClean="0"/>
              <a:t>​Explanation of symbols</a:t>
            </a:r>
          </a:p>
          <a:p>
            <a:pPr lvl="1"/>
            <a:r>
              <a:rPr lang="en-US" dirty="0" smtClean="0"/>
              <a:t>H = Hypothesis</a:t>
            </a:r>
          </a:p>
          <a:p>
            <a:pPr lvl="1"/>
            <a:r>
              <a:rPr lang="en-US" dirty="0" smtClean="0"/>
              <a:t>H₀ = Null Hypothesis</a:t>
            </a:r>
          </a:p>
          <a:p>
            <a:pPr lvl="1"/>
            <a:r>
              <a:rPr lang="en-US" dirty="0" smtClean="0"/>
              <a:t>H₁ = Alternative Hypothesis</a:t>
            </a:r>
          </a:p>
          <a:p>
            <a:pPr lvl="1"/>
            <a:r>
              <a:rPr lang="en-US" dirty="0" smtClean="0"/>
              <a:t>These represent competing claims.</a:t>
            </a:r>
          </a:p>
        </p:txBody>
      </p:sp>
    </p:spTree>
    <p:extLst>
      <p:ext uri="{BB962C8B-B14F-4D97-AF65-F5344CB8AC3E}">
        <p14:creationId xmlns:p14="http://schemas.microsoft.com/office/powerpoint/2010/main" val="346808577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Visual explanation</a:t>
            </a:r>
          </a:p>
          <a:p>
            <a:r>
              <a:rPr lang="en-US" dirty="0" smtClean="0"/>
              <a:t>Diagram: Hypothesis testing distribution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Hypothesis: “Students who study more score higher.” </a:t>
            </a:r>
          </a:p>
          <a:p>
            <a:pPr lvl="1"/>
            <a:r>
              <a:rPr lang="en-US" dirty="0" smtClean="0"/>
              <a:t>We test this using data.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" y="1662525"/>
            <a:ext cx="5982724" cy="299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98779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Null hypothesis (H₀)</a:t>
            </a:r>
          </a:p>
          <a:p>
            <a:pPr lvl="1"/>
            <a:r>
              <a:rPr lang="en-US" dirty="0" smtClean="0"/>
              <a:t>Alternative hypothesis (H₁)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Helps make data-driven decisions</a:t>
            </a:r>
          </a:p>
          <a:p>
            <a:pPr lvl="1"/>
            <a:r>
              <a:rPr lang="en-US" dirty="0" smtClean="0"/>
              <a:t>Foundation of statistical testing</a:t>
            </a:r>
          </a:p>
          <a:p>
            <a:pPr lvl="1"/>
            <a:r>
              <a:rPr lang="en-US" dirty="0" smtClean="0"/>
              <a:t>Used in ML feature selection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Requires sufficient data</a:t>
            </a:r>
          </a:p>
          <a:p>
            <a:pPr lvl="1"/>
            <a:r>
              <a:rPr lang="en-US" dirty="0" smtClean="0"/>
              <a:t>Incorrect hypothesis can mislead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Scientific testing</a:t>
            </a:r>
          </a:p>
          <a:p>
            <a:pPr lvl="1"/>
            <a:r>
              <a:rPr lang="en-US" dirty="0" smtClean="0"/>
              <a:t>Machine learning</a:t>
            </a:r>
          </a:p>
          <a:p>
            <a:pPr lvl="1"/>
            <a:r>
              <a:rPr lang="en-US" dirty="0" smtClean="0"/>
              <a:t>Medical testing</a:t>
            </a:r>
          </a:p>
          <a:p>
            <a:pPr lvl="1"/>
            <a:r>
              <a:rPr lang="en-US" dirty="0" smtClean="0"/>
              <a:t>A/B testing</a:t>
            </a:r>
          </a:p>
        </p:txBody>
      </p:sp>
    </p:spTree>
    <p:extLst>
      <p:ext uri="{BB962C8B-B14F-4D97-AF65-F5344CB8AC3E}">
        <p14:creationId xmlns:p14="http://schemas.microsoft.com/office/powerpoint/2010/main" val="197751284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When no data exists</a:t>
            </a:r>
          </a:p>
          <a:p>
            <a:pPr lvl="1"/>
            <a:r>
              <a:rPr lang="en-US" dirty="0" smtClean="0"/>
              <a:t>Pure intuition-based problems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Hypothesis testing uses probability theory.</a:t>
            </a:r>
          </a:p>
          <a:p>
            <a:pPr lvl="1"/>
            <a:r>
              <a:rPr lang="en-US" dirty="0" smtClean="0"/>
              <a:t>We test whether observed data is consistent with assumed hypothesis.</a:t>
            </a:r>
          </a:p>
          <a:p>
            <a:pPr lvl="1"/>
            <a:r>
              <a:rPr lang="en-US" dirty="0" smtClean="0"/>
              <a:t>Mathematically:𝑃(𝐷𝑎𝑡𝑎∣𝐻𝑦𝑝𝑜𝑡ℎ𝑒𝑠𝑖𝑠)</a:t>
            </a:r>
          </a:p>
          <a:p>
            <a:pPr lvl="1"/>
            <a:r>
              <a:rPr lang="en-US" dirty="0" smtClean="0"/>
              <a:t>If probability is very low → reject hypothesis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Hypothesis = assumption about data</a:t>
            </a:r>
          </a:p>
          <a:p>
            <a:pPr lvl="1"/>
            <a:r>
              <a:rPr lang="en-US" dirty="0" smtClean="0"/>
              <a:t>It is tested using statistical methods</a:t>
            </a:r>
          </a:p>
          <a:p>
            <a:pPr lvl="1"/>
            <a:r>
              <a:rPr lang="en-US" dirty="0" smtClean="0"/>
              <a:t>Foundation of ML model evaluation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87348038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15: Null Hypothesis (H₀)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Null hypothesis assumes: “There is NO relationship or NO effect.” </a:t>
            </a:r>
          </a:p>
          <a:p>
            <a:pPr lvl="1"/>
            <a:r>
              <a:rPr lang="en-US" dirty="0" smtClean="0"/>
              <a:t>It assumes everything is due to chance.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Null hypothesis acts as default assumption.</a:t>
            </a:r>
          </a:p>
          <a:p>
            <a:pPr lvl="1"/>
            <a:r>
              <a:rPr lang="en-US" dirty="0" smtClean="0"/>
              <a:t>We assume nothing special is happening unless proven otherwise.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Court example: Person is assumed innocent until proven guilty.</a:t>
            </a:r>
          </a:p>
          <a:p>
            <a:pPr lvl="1"/>
            <a:r>
              <a:rPr lang="en-US" dirty="0" smtClean="0"/>
              <a:t>Null hypothesis = innocent</a:t>
            </a:r>
          </a:p>
          <a:p>
            <a:pPr lvl="1"/>
            <a:r>
              <a:rPr lang="en-US" dirty="0" smtClean="0"/>
              <a:t>Alternative hypothesis = guilty</a:t>
            </a:r>
          </a:p>
        </p:txBody>
      </p:sp>
    </p:spTree>
    <p:extLst>
      <p:ext uri="{BB962C8B-B14F-4D97-AF65-F5344CB8AC3E}">
        <p14:creationId xmlns:p14="http://schemas.microsoft.com/office/powerpoint/2010/main" val="300642735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𝐻0:𝜇=</a:t>
            </a:r>
            <a:r>
              <a:rPr lang="el-GR" dirty="0" smtClean="0"/>
              <a:t> μ₀ </a:t>
            </a:r>
            <a:endParaRPr lang="en-US" dirty="0" smtClean="0"/>
          </a:p>
          <a:p>
            <a:r>
              <a:rPr lang="el-GR" dirty="0" smtClean="0"/>
              <a:t>​</a:t>
            </a:r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H₀ = null hypothesis</a:t>
            </a:r>
          </a:p>
          <a:p>
            <a:pPr lvl="1"/>
            <a:r>
              <a:rPr lang="el-GR" dirty="0" smtClean="0"/>
              <a:t>μ = </a:t>
            </a:r>
            <a:r>
              <a:rPr lang="en-US" dirty="0" smtClean="0"/>
              <a:t>population mean</a:t>
            </a:r>
          </a:p>
          <a:p>
            <a:pPr lvl="1"/>
            <a:r>
              <a:rPr lang="el-GR" dirty="0" smtClean="0"/>
              <a:t>μ₀ = </a:t>
            </a:r>
            <a:r>
              <a:rPr lang="en-US" dirty="0" smtClean="0"/>
              <a:t>assumed mean</a:t>
            </a:r>
          </a:p>
          <a:p>
            <a:pPr lvl="1"/>
            <a:r>
              <a:rPr lang="en-US" dirty="0" smtClean="0"/>
              <a:t>Actual mean equals assumed mean</a:t>
            </a:r>
          </a:p>
          <a:p>
            <a:pPr lvl="1"/>
            <a:r>
              <a:rPr lang="en-US" dirty="0" smtClean="0"/>
              <a:t>No effect exists.</a:t>
            </a:r>
          </a:p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H₀: Studying has no effect on marks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Equality </a:t>
            </a:r>
            <a:r>
              <a:rPr lang="en-US" dirty="0" err="1" smtClean="0"/>
              <a:t>hypothesis:H</a:t>
            </a:r>
            <a:r>
              <a:rPr lang="en-US" dirty="0" smtClean="0"/>
              <a:t>₀: </a:t>
            </a:r>
            <a:r>
              <a:rPr lang="el-GR" dirty="0" smtClean="0"/>
              <a:t>μ = μ₀</a:t>
            </a:r>
            <a:endParaRPr lang="en-US" dirty="0" smtClean="0"/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Provides baseline</a:t>
            </a:r>
          </a:p>
          <a:p>
            <a:pPr lvl="1"/>
            <a:r>
              <a:rPr lang="en-US" dirty="0" smtClean="0"/>
              <a:t>Allows objective testing</a:t>
            </a:r>
          </a:p>
        </p:txBody>
      </p:sp>
    </p:spTree>
    <p:extLst>
      <p:ext uri="{BB962C8B-B14F-4D97-AF65-F5344CB8AC3E}">
        <p14:creationId xmlns:p14="http://schemas.microsoft.com/office/powerpoint/2010/main" val="3767121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May not represent real world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Always used in hypothesis testing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Never skipped in statistical testing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Null hypothesis defines probability distribution.</a:t>
            </a:r>
          </a:p>
          <a:p>
            <a:pPr lvl="1"/>
            <a:r>
              <a:rPr lang="en-US" dirty="0" smtClean="0"/>
              <a:t>Statistical tests measure deviation from null hypothesis.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Null hypothesis assumes no effect.</a:t>
            </a:r>
          </a:p>
          <a:p>
            <a:pPr lvl="1"/>
            <a:r>
              <a:rPr lang="en-US" dirty="0" smtClean="0"/>
              <a:t>We try to reject it using data.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4663301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16: Alternative Hypothesis (H₁)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Alternative hypothesis assumes: “There IS a real relationship or effect.”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Alternative hypothesis represents actual claim.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Court example: Alternative hypothesis = guilty</a:t>
            </a:r>
          </a:p>
          <a:p>
            <a:r>
              <a:rPr lang="en-US" dirty="0" smtClean="0"/>
              <a:t>Mathematical representation</a:t>
            </a:r>
          </a:p>
          <a:p>
            <a:pPr lvl="1"/>
            <a:r>
              <a:rPr lang="en-US" dirty="0" smtClean="0"/>
              <a:t>𝐻1:𝜇≠𝜇0	</a:t>
            </a:r>
            <a:r>
              <a:rPr lang="el-GR" dirty="0" smtClean="0"/>
              <a:t>	​</a:t>
            </a:r>
            <a:r>
              <a:rPr lang="en-US" dirty="0" smtClean="0"/>
              <a:t>or	𝐻1:𝜇&gt;𝜇0</a:t>
            </a:r>
            <a:r>
              <a:rPr lang="el-GR" dirty="0" smtClean="0"/>
              <a:t>	​</a:t>
            </a:r>
            <a:r>
              <a:rPr lang="en-US" dirty="0" smtClean="0"/>
              <a:t>or	𝐻1:𝜇&lt;𝜇0</a:t>
            </a:r>
            <a:r>
              <a:rPr lang="el-GR" dirty="0" smtClean="0"/>
              <a:t>	​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9644419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Means actual mean differs from assumed mean.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H₁: Studying increases marks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Two-tailed test</a:t>
            </a:r>
          </a:p>
          <a:p>
            <a:pPr lvl="1"/>
            <a:r>
              <a:rPr lang="en-US" dirty="0" smtClean="0"/>
              <a:t>One-tailed test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Represents real effect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Harder to prove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When testing real-world claims</a:t>
            </a:r>
          </a:p>
        </p:txBody>
      </p:sp>
    </p:spTree>
    <p:extLst>
      <p:ext uri="{BB962C8B-B14F-4D97-AF65-F5344CB8AC3E}">
        <p14:creationId xmlns:p14="http://schemas.microsoft.com/office/powerpoint/2010/main" val="297718584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Always used alongside null hypothesis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If probability of data under null hypothesis is very low, alternative hypothesis accepted.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Alternative hypothesis represents real effect.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496747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17: P-Value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concept is used everywhere in:</a:t>
            </a:r>
          </a:p>
          <a:p>
            <a:pPr marL="457200" lvl="1" indent="0">
              <a:buNone/>
            </a:pPr>
            <a:r>
              <a:rPr lang="en-US" dirty="0" smtClean="0"/>
              <a:t>• Machine Learning</a:t>
            </a:r>
          </a:p>
          <a:p>
            <a:pPr marL="457200" lvl="1" indent="0">
              <a:buNone/>
            </a:pPr>
            <a:r>
              <a:rPr lang="en-US" dirty="0" smtClean="0"/>
              <a:t>• Feature Selection</a:t>
            </a:r>
          </a:p>
          <a:p>
            <a:pPr marL="457200" lvl="1" indent="0">
              <a:buNone/>
            </a:pPr>
            <a:r>
              <a:rPr lang="en-US" dirty="0" smtClean="0"/>
              <a:t>• Medical Research</a:t>
            </a:r>
          </a:p>
          <a:p>
            <a:pPr marL="457200" lvl="1" indent="0">
              <a:buNone/>
            </a:pPr>
            <a:r>
              <a:rPr lang="en-US" dirty="0" smtClean="0"/>
              <a:t>• A/B Testing</a:t>
            </a:r>
          </a:p>
          <a:p>
            <a:pPr marL="457200" lvl="1" indent="0">
              <a:buNone/>
            </a:pPr>
            <a:r>
              <a:rPr lang="en-US" dirty="0" smtClean="0"/>
              <a:t>• Model Evaluation</a:t>
            </a:r>
          </a:p>
          <a:p>
            <a:r>
              <a:rPr lang="en-US" dirty="0" smtClean="0"/>
              <a:t>Definition </a:t>
            </a:r>
          </a:p>
          <a:p>
            <a:pPr lvl="1"/>
            <a:r>
              <a:rPr lang="en-US" dirty="0" smtClean="0"/>
              <a:t>The P-value is the probability of getting the observed result (or something more extreme) assuming the Null Hypothesis is true.</a:t>
            </a:r>
          </a:p>
          <a:p>
            <a:pPr lvl="1"/>
            <a:r>
              <a:rPr lang="en-US" dirty="0" smtClean="0"/>
              <a:t>In simple words: P-value tells us how likely the observed result happened by chance.</a:t>
            </a:r>
          </a:p>
        </p:txBody>
      </p:sp>
    </p:spTree>
    <p:extLst>
      <p:ext uri="{BB962C8B-B14F-4D97-AF65-F5344CB8AC3E}">
        <p14:creationId xmlns:p14="http://schemas.microsoft.com/office/powerpoint/2010/main" val="243892769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We need a way to decide: Is this result real? Or just random? P-value helps us make this decision objectively.</a:t>
            </a:r>
          </a:p>
          <a:p>
            <a:pPr lvl="1"/>
            <a:r>
              <a:rPr lang="en-US" dirty="0" smtClean="0"/>
              <a:t>Machine learning uses P-values in:</a:t>
            </a:r>
          </a:p>
          <a:p>
            <a:pPr marL="914400" lvl="2" indent="0">
              <a:buNone/>
            </a:pPr>
            <a:r>
              <a:rPr lang="en-US" dirty="0" smtClean="0"/>
              <a:t>• Feature selection</a:t>
            </a:r>
          </a:p>
          <a:p>
            <a:pPr marL="914400" lvl="2" indent="0">
              <a:buNone/>
            </a:pPr>
            <a:r>
              <a:rPr lang="en-US" dirty="0" smtClean="0"/>
              <a:t>• Statistical testing</a:t>
            </a:r>
          </a:p>
          <a:p>
            <a:pPr marL="914400" lvl="2" indent="0">
              <a:buNone/>
            </a:pPr>
            <a:r>
              <a:rPr lang="en-US" dirty="0" smtClean="0"/>
              <a:t>• Model validation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flipping a coin.</a:t>
            </a:r>
          </a:p>
          <a:p>
            <a:pPr lvl="1"/>
            <a:r>
              <a:rPr lang="en-US" dirty="0" smtClean="0"/>
              <a:t>Null hypothesis: Coin is fair.</a:t>
            </a:r>
          </a:p>
          <a:p>
            <a:pPr lvl="1"/>
            <a:r>
              <a:rPr lang="en-US" dirty="0" smtClean="0"/>
              <a:t>You flip coin 10 times and get 10 heads.</a:t>
            </a:r>
          </a:p>
          <a:p>
            <a:pPr lvl="1"/>
            <a:r>
              <a:rPr lang="en-US" dirty="0" smtClean="0"/>
              <a:t>This is very unlikely.</a:t>
            </a:r>
          </a:p>
          <a:p>
            <a:pPr lvl="1"/>
            <a:r>
              <a:rPr lang="en-US" dirty="0" smtClean="0"/>
              <a:t>P-value will be very small.</a:t>
            </a:r>
          </a:p>
          <a:p>
            <a:pPr lvl="1"/>
            <a:r>
              <a:rPr lang="en-US" dirty="0" smtClean="0"/>
              <a:t>This suggests coin may not be fair.</a:t>
            </a:r>
          </a:p>
          <a:p>
            <a:r>
              <a:rPr lang="en-US" dirty="0" smtClean="0"/>
              <a:t>Mathematical Definition</a:t>
            </a:r>
          </a:p>
          <a:p>
            <a:pPr lvl="1"/>
            <a:r>
              <a:rPr lang="en-US" dirty="0" smtClean="0"/>
              <a:t>𝑃-value=𝑃(observed data∣𝐻0) </a:t>
            </a:r>
          </a:p>
        </p:txBody>
      </p:sp>
    </p:spTree>
    <p:extLst>
      <p:ext uri="{BB962C8B-B14F-4D97-AF65-F5344CB8AC3E}">
        <p14:creationId xmlns:p14="http://schemas.microsoft.com/office/powerpoint/2010/main" val="326801311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Explanation of symbols</a:t>
            </a:r>
          </a:p>
          <a:p>
            <a:pPr lvl="1"/>
            <a:r>
              <a:rPr lang="en-US" dirty="0" smtClean="0"/>
              <a:t>P = probability</a:t>
            </a:r>
          </a:p>
          <a:p>
            <a:pPr lvl="1"/>
            <a:r>
              <a:rPr lang="en-US" dirty="0" smtClean="0"/>
              <a:t>Observed data = actual measured result</a:t>
            </a:r>
          </a:p>
          <a:p>
            <a:pPr lvl="1"/>
            <a:r>
              <a:rPr lang="en-US" dirty="0" smtClean="0"/>
              <a:t>H₀ = null hypothesis</a:t>
            </a:r>
          </a:p>
          <a:p>
            <a:pPr lvl="1"/>
            <a:r>
              <a:rPr lang="en-US" dirty="0" smtClean="0"/>
              <a:t>Meaning: Probability of observing data assuming null hypothesis is true.</a:t>
            </a:r>
          </a:p>
          <a:p>
            <a:pPr lvl="1"/>
            <a:endParaRPr lang="en-US" dirty="0"/>
          </a:p>
          <a:p>
            <a:pPr lvl="1"/>
            <a:endParaRPr lang="en-US" dirty="0" smtClean="0"/>
          </a:p>
          <a:p>
            <a:r>
              <a:rPr lang="en-US" dirty="0" smtClean="0"/>
              <a:t>Visual explanation</a:t>
            </a:r>
          </a:p>
          <a:p>
            <a:pPr lvl="1"/>
            <a:r>
              <a:rPr lang="en-US" dirty="0" smtClean="0"/>
              <a:t>Diagram: P-value as tail area</a:t>
            </a:r>
          </a:p>
        </p:txBody>
      </p:sp>
      <p:pic>
        <p:nvPicPr>
          <p:cNvPr id="97282" name="Picture 2" descr="https://analystprep.com/cfa-level-1-exam/wp-content/uploads/2019/08/page-17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741" y="2850266"/>
            <a:ext cx="6311426" cy="400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59300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Example:</a:t>
            </a:r>
          </a:p>
          <a:p>
            <a:pPr lvl="1"/>
            <a:r>
              <a:rPr lang="en-US" dirty="0" smtClean="0"/>
              <a:t>H₀: Studying has no effect on marks</a:t>
            </a:r>
          </a:p>
          <a:p>
            <a:pPr lvl="1"/>
            <a:r>
              <a:rPr lang="en-US" dirty="0" smtClean="0"/>
              <a:t>Experiment shows strong improvement.</a:t>
            </a:r>
          </a:p>
          <a:p>
            <a:pPr lvl="1"/>
            <a:r>
              <a:rPr lang="en-US" dirty="0" smtClean="0"/>
              <a:t>P-value = 0.001</a:t>
            </a:r>
          </a:p>
          <a:p>
            <a:pPr lvl="1"/>
            <a:r>
              <a:rPr lang="en-US" dirty="0" smtClean="0"/>
              <a:t>This means only 0.1% chance result happened randomly.</a:t>
            </a:r>
          </a:p>
          <a:p>
            <a:pPr lvl="1"/>
            <a:r>
              <a:rPr lang="en-US" dirty="0" smtClean="0"/>
              <a:t>So reject null hypothesis.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No major types, but interpretation levels exist</a:t>
            </a:r>
          </a:p>
          <a:p>
            <a:pPr lvl="1"/>
            <a:r>
              <a:rPr lang="en-US" dirty="0" smtClean="0"/>
              <a:t>Common thresholds:0.05, 0.01, 0.001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Objective decision making</a:t>
            </a:r>
          </a:p>
          <a:p>
            <a:pPr lvl="1"/>
            <a:r>
              <a:rPr lang="en-US" dirty="0" smtClean="0"/>
              <a:t>Widely used</a:t>
            </a:r>
          </a:p>
          <a:p>
            <a:pPr lvl="1"/>
            <a:r>
              <a:rPr lang="en-US" dirty="0" smtClean="0"/>
              <a:t>Foundation of statistical testing</a:t>
            </a:r>
          </a:p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Misinterpreted often</a:t>
            </a:r>
          </a:p>
          <a:p>
            <a:pPr lvl="1"/>
            <a:r>
              <a:rPr lang="en-US" dirty="0" smtClean="0"/>
              <a:t>Does not measure effect size</a:t>
            </a:r>
          </a:p>
        </p:txBody>
      </p:sp>
    </p:spTree>
    <p:extLst>
      <p:ext uri="{BB962C8B-B14F-4D97-AF65-F5344CB8AC3E}">
        <p14:creationId xmlns:p14="http://schemas.microsoft.com/office/powerpoint/2010/main" val="27931540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Feature selection</a:t>
            </a:r>
          </a:p>
          <a:p>
            <a:pPr lvl="1"/>
            <a:r>
              <a:rPr lang="en-US" dirty="0" smtClean="0"/>
              <a:t>Hypothesis testing</a:t>
            </a:r>
          </a:p>
          <a:p>
            <a:pPr lvl="1"/>
            <a:r>
              <a:rPr lang="en-US" dirty="0" smtClean="0"/>
              <a:t>Scientific experiments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When sample size too small</a:t>
            </a:r>
          </a:p>
          <a:p>
            <a:pPr lvl="1"/>
            <a:r>
              <a:rPr lang="en-US" dirty="0" smtClean="0"/>
              <a:t>When assumptions violated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Decision rule:</a:t>
            </a:r>
          </a:p>
          <a:p>
            <a:pPr lvl="2"/>
            <a:r>
              <a:rPr lang="en-US" dirty="0" smtClean="0"/>
              <a:t>If:𝑃&lt;0.05, Reject null hypothesis.</a:t>
            </a:r>
          </a:p>
          <a:p>
            <a:pPr lvl="2"/>
            <a:r>
              <a:rPr lang="en-US" dirty="0" smtClean="0"/>
              <a:t>If:𝑃&gt;0.05 Fail to reject null hypothesis.</a:t>
            </a:r>
          </a:p>
          <a:p>
            <a:pPr lvl="1"/>
            <a:r>
              <a:rPr lang="en-US" dirty="0" smtClean="0"/>
              <a:t>This threshold is called significance level (α).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P-value measures probability of observing result by chance.</a:t>
            </a:r>
          </a:p>
          <a:p>
            <a:pPr lvl="1"/>
            <a:r>
              <a:rPr lang="en-US" dirty="0" smtClean="0"/>
              <a:t>Small P-value → strong evidence against null hypothesis.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967307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18: T-Value (Test Statistic)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This is the numerical value used to calculate P-value.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T-value measures how far sample mean is from population mean in units of standard error.</a:t>
            </a:r>
          </a:p>
          <a:p>
            <a:pPr lvl="1"/>
            <a:r>
              <a:rPr lang="en-US" dirty="0" smtClean="0"/>
              <a:t>In simple words: It tells how extreme the result is.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We need a numerical measure to determine how unusual data is.</a:t>
            </a:r>
          </a:p>
          <a:p>
            <a:pPr lvl="1"/>
            <a:r>
              <a:rPr lang="en-US" dirty="0" smtClean="0"/>
              <a:t>Larger T-value → stronger evidence against null hypothesis.</a:t>
            </a:r>
          </a:p>
        </p:txBody>
      </p:sp>
    </p:spTree>
    <p:extLst>
      <p:ext uri="{BB962C8B-B14F-4D97-AF65-F5344CB8AC3E}">
        <p14:creationId xmlns:p14="http://schemas.microsoft.com/office/powerpoint/2010/main" val="59054706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Imagine exam average:</a:t>
            </a:r>
          </a:p>
          <a:p>
            <a:pPr lvl="1"/>
            <a:r>
              <a:rPr lang="en-US" dirty="0" smtClean="0"/>
              <a:t>Expected average = 50</a:t>
            </a:r>
          </a:p>
          <a:p>
            <a:pPr lvl="1"/>
            <a:r>
              <a:rPr lang="en-US" dirty="0" smtClean="0"/>
              <a:t>Observed average = 90</a:t>
            </a:r>
          </a:p>
          <a:p>
            <a:pPr lvl="1"/>
            <a:r>
              <a:rPr lang="en-US" dirty="0" smtClean="0"/>
              <a:t>This difference is large → high T-value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𝑡=𝑥ˉ−𝜇/𝑠/√𝑛 </a:t>
            </a:r>
          </a:p>
          <a:p>
            <a:r>
              <a:rPr lang="el-GR" dirty="0" smtClean="0"/>
              <a:t>​</a:t>
            </a:r>
            <a:r>
              <a:rPr lang="en-US" dirty="0" smtClean="0"/>
              <a:t>Explanation of symbols</a:t>
            </a:r>
          </a:p>
          <a:p>
            <a:pPr lvl="1"/>
            <a:r>
              <a:rPr lang="en-US" dirty="0" smtClean="0"/>
              <a:t>t = T-value</a:t>
            </a:r>
          </a:p>
          <a:p>
            <a:pPr lvl="1"/>
            <a:r>
              <a:rPr lang="en-US" dirty="0" smtClean="0"/>
              <a:t>x̄ = sample mean</a:t>
            </a:r>
          </a:p>
          <a:p>
            <a:pPr lvl="1"/>
            <a:r>
              <a:rPr lang="el-GR" dirty="0" smtClean="0"/>
              <a:t>μ = </a:t>
            </a:r>
            <a:r>
              <a:rPr lang="en-US" dirty="0" smtClean="0"/>
              <a:t>population mean</a:t>
            </a:r>
          </a:p>
          <a:p>
            <a:pPr lvl="1"/>
            <a:r>
              <a:rPr lang="en-US" dirty="0" smtClean="0"/>
              <a:t>s = sample standard deviation</a:t>
            </a:r>
          </a:p>
          <a:p>
            <a:pPr lvl="1"/>
            <a:r>
              <a:rPr lang="en-US" dirty="0" smtClean="0"/>
              <a:t>n = sample size</a:t>
            </a:r>
          </a:p>
          <a:p>
            <a:pPr lvl="1"/>
            <a:r>
              <a:rPr lang="en-US" dirty="0" smtClean="0"/>
              <a:t>s/√n = standard error</a:t>
            </a:r>
          </a:p>
          <a:p>
            <a:pPr lvl="1"/>
            <a:r>
              <a:rPr lang="en-US" dirty="0" smtClean="0"/>
              <a:t>Standard error measures uncertainty in mean.</a:t>
            </a:r>
          </a:p>
        </p:txBody>
      </p:sp>
    </p:spTree>
    <p:extLst>
      <p:ext uri="{BB962C8B-B14F-4D97-AF65-F5344CB8AC3E}">
        <p14:creationId xmlns:p14="http://schemas.microsoft.com/office/powerpoint/2010/main" val="309656095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Sample mean = 60</a:t>
            </a:r>
          </a:p>
          <a:p>
            <a:pPr lvl="1"/>
            <a:r>
              <a:rPr lang="en-US" dirty="0" smtClean="0"/>
              <a:t>Population mean = 50</a:t>
            </a:r>
          </a:p>
          <a:p>
            <a:pPr lvl="1"/>
            <a:r>
              <a:rPr lang="en-US" dirty="0" smtClean="0"/>
              <a:t>Standard deviation = 10</a:t>
            </a:r>
          </a:p>
          <a:p>
            <a:pPr lvl="1"/>
            <a:r>
              <a:rPr lang="en-US" dirty="0" smtClean="0"/>
              <a:t>Sample size = 25</a:t>
            </a:r>
          </a:p>
          <a:p>
            <a:pPr lvl="1"/>
            <a:r>
              <a:rPr lang="en-US" dirty="0" smtClean="0"/>
              <a:t>𝑡 = 60−50/10/√25 ​= 10/2 = 5 </a:t>
            </a:r>
          </a:p>
          <a:p>
            <a:pPr lvl="1"/>
            <a:r>
              <a:rPr lang="en-US" dirty="0" smtClean="0"/>
              <a:t>Large T-value = strong evidence.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Positive T-value</a:t>
            </a:r>
          </a:p>
          <a:p>
            <a:pPr lvl="1"/>
            <a:r>
              <a:rPr lang="en-US" dirty="0" smtClean="0"/>
              <a:t>Negative T-value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Quantifies difference</a:t>
            </a:r>
          </a:p>
          <a:p>
            <a:pPr lvl="1"/>
            <a:r>
              <a:rPr lang="en-US" dirty="0" smtClean="0"/>
              <a:t>Used to compute P-value</a:t>
            </a:r>
          </a:p>
        </p:txBody>
      </p:sp>
    </p:spTree>
    <p:extLst>
      <p:ext uri="{BB962C8B-B14F-4D97-AF65-F5344CB8AC3E}">
        <p14:creationId xmlns:p14="http://schemas.microsoft.com/office/powerpoint/2010/main" val="184382615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Requires normality assumption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T-test</a:t>
            </a:r>
          </a:p>
          <a:p>
            <a:pPr lvl="1"/>
            <a:r>
              <a:rPr lang="en-US" dirty="0" smtClean="0"/>
              <a:t>Hypothesis testing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Very large datasets (use Z-test)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T-value measures standardized distance from null hypothesis mean.</a:t>
            </a:r>
          </a:p>
          <a:p>
            <a:pPr lvl="1"/>
            <a:r>
              <a:rPr lang="en-US" dirty="0" smtClean="0"/>
              <a:t>Higher absolute T-value → lower P-value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T-value measures how extreme sample result is.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8949028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19: T-Test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The T-test is one of the most widely used statistical tests in machine learning and data science.</a:t>
            </a:r>
          </a:p>
          <a:p>
            <a:r>
              <a:rPr lang="en-US" dirty="0" smtClean="0"/>
              <a:t>It helps answer: “Are two averages significantly different, or is the difference just random?”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A T-test is used to determine whether the difference between two means is statistically significant.</a:t>
            </a:r>
          </a:p>
          <a:p>
            <a:pPr lvl="1"/>
            <a:r>
              <a:rPr lang="en-US" dirty="0" smtClean="0"/>
              <a:t>In simple words: It checks if two averages are truly different or just different due to chance.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We need to compare averages in many real-world problems.</a:t>
            </a:r>
          </a:p>
          <a:p>
            <a:r>
              <a:rPr lang="en-US" dirty="0" smtClean="0"/>
              <a:t>Examples:</a:t>
            </a:r>
          </a:p>
          <a:p>
            <a:pPr marL="457200" lvl="1" indent="0">
              <a:buNone/>
            </a:pPr>
            <a:r>
              <a:rPr lang="en-US" dirty="0" smtClean="0"/>
              <a:t>• Does new medicine work better than old medicine?</a:t>
            </a:r>
          </a:p>
          <a:p>
            <a:pPr marL="457200" lvl="1" indent="0">
              <a:buNone/>
            </a:pPr>
            <a:r>
              <a:rPr lang="en-US" dirty="0" smtClean="0"/>
              <a:t>• Do students who study more score higher?</a:t>
            </a:r>
          </a:p>
          <a:p>
            <a:pPr marL="457200" lvl="1" indent="0">
              <a:buNone/>
            </a:pPr>
            <a:r>
              <a:rPr lang="en-US" dirty="0" smtClean="0"/>
              <a:t>• Does new ML feature improve model performance?</a:t>
            </a:r>
          </a:p>
          <a:p>
            <a:pPr lvl="1"/>
            <a:r>
              <a:rPr lang="en-US" dirty="0" smtClean="0"/>
              <a:t>T-test helps answer these objectively.</a:t>
            </a:r>
          </a:p>
        </p:txBody>
      </p:sp>
    </p:spTree>
    <p:extLst>
      <p:ext uri="{BB962C8B-B14F-4D97-AF65-F5344CB8AC3E}">
        <p14:creationId xmlns:p14="http://schemas.microsoft.com/office/powerpoint/2010/main" val="198600086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Suppose two classes take an exam.</a:t>
            </a:r>
          </a:p>
          <a:p>
            <a:pPr lvl="1"/>
            <a:r>
              <a:rPr lang="en-US" dirty="0" smtClean="0"/>
              <a:t>Class A average = 60</a:t>
            </a:r>
          </a:p>
          <a:p>
            <a:pPr lvl="1"/>
            <a:r>
              <a:rPr lang="en-US" dirty="0" smtClean="0"/>
              <a:t>Class B average = 65</a:t>
            </a:r>
          </a:p>
          <a:p>
            <a:pPr lvl="1"/>
            <a:r>
              <a:rPr lang="en-US" dirty="0" smtClean="0"/>
              <a:t>Question: Is Class B actually better? Or difference happened randomly?</a:t>
            </a:r>
          </a:p>
          <a:p>
            <a:pPr lvl="1"/>
            <a:r>
              <a:rPr lang="en-US" dirty="0" smtClean="0"/>
              <a:t>T-test answers this.</a:t>
            </a:r>
          </a:p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One-sample T-test formula: 𝑡=𝑥ˉ−𝜇/𝑠/√𝑛	​</a:t>
            </a:r>
          </a:p>
          <a:p>
            <a:pPr lvl="1"/>
            <a:r>
              <a:rPr lang="en-US" dirty="0" smtClean="0"/>
              <a:t>Two-sample T-test formula: 𝑡=𝑥ˉ1−𝑥ˉ2/√𝑠1^2/𝑛1+𝑠2^2/𝑛2	​	​</a:t>
            </a:r>
          </a:p>
          <a:p>
            <a:r>
              <a:rPr lang="en-US" dirty="0" smtClean="0"/>
              <a:t>Explanation of symbols</a:t>
            </a:r>
          </a:p>
          <a:p>
            <a:pPr lvl="1"/>
            <a:r>
              <a:rPr lang="en-US" dirty="0" smtClean="0"/>
              <a:t>t = T-value</a:t>
            </a:r>
          </a:p>
          <a:p>
            <a:pPr lvl="1"/>
            <a:r>
              <a:rPr lang="en-US" dirty="0" smtClean="0"/>
              <a:t>x̄₁, x̄₂ = sample means</a:t>
            </a:r>
          </a:p>
          <a:p>
            <a:pPr lvl="1"/>
            <a:r>
              <a:rPr lang="en-US" dirty="0" smtClean="0"/>
              <a:t>μ = population mean</a:t>
            </a:r>
          </a:p>
          <a:p>
            <a:pPr lvl="1"/>
            <a:r>
              <a:rPr lang="en-US" dirty="0" smtClean="0"/>
              <a:t>s₁, s₂ = standard deviations</a:t>
            </a:r>
          </a:p>
          <a:p>
            <a:pPr lvl="1"/>
            <a:r>
              <a:rPr lang="en-US" dirty="0" smtClean="0"/>
              <a:t>n₁, n₂ = sample sizes</a:t>
            </a:r>
          </a:p>
        </p:txBody>
      </p:sp>
    </p:spTree>
    <p:extLst>
      <p:ext uri="{BB962C8B-B14F-4D97-AF65-F5344CB8AC3E}">
        <p14:creationId xmlns:p14="http://schemas.microsoft.com/office/powerpoint/2010/main" val="297989924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Class A mean = 60</a:t>
            </a:r>
          </a:p>
          <a:p>
            <a:pPr lvl="1"/>
            <a:r>
              <a:rPr lang="en-US" dirty="0" smtClean="0"/>
              <a:t>Class B mean = 80</a:t>
            </a:r>
          </a:p>
          <a:p>
            <a:pPr lvl="1"/>
            <a:r>
              <a:rPr lang="en-US" dirty="0" smtClean="0"/>
              <a:t>If T-test gives P-value = 0.001</a:t>
            </a:r>
          </a:p>
          <a:p>
            <a:pPr lvl="1"/>
            <a:r>
              <a:rPr lang="en-US" dirty="0" smtClean="0"/>
              <a:t>Conclusion: Difference is statistically significant.</a:t>
            </a:r>
          </a:p>
          <a:p>
            <a:r>
              <a:rPr lang="en-US" dirty="0" smtClean="0"/>
              <a:t>Three important types:</a:t>
            </a:r>
          </a:p>
          <a:p>
            <a:pPr lvl="1"/>
            <a:r>
              <a:rPr lang="en-US" dirty="0" smtClean="0"/>
              <a:t>One-sample T-test: Compare sample mean to population mean</a:t>
            </a:r>
          </a:p>
          <a:p>
            <a:pPr lvl="1"/>
            <a:r>
              <a:rPr lang="en-US" dirty="0" smtClean="0"/>
              <a:t>Two-sample T-test: Compare two independent groups</a:t>
            </a:r>
          </a:p>
          <a:p>
            <a:pPr lvl="1"/>
            <a:r>
              <a:rPr lang="en-US" dirty="0" smtClean="0"/>
              <a:t>Paired T-test: Compare same group before and after change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Simple</a:t>
            </a:r>
          </a:p>
          <a:p>
            <a:pPr lvl="1"/>
            <a:r>
              <a:rPr lang="en-US" dirty="0" smtClean="0"/>
              <a:t>Widely used</a:t>
            </a:r>
          </a:p>
          <a:p>
            <a:pPr lvl="1"/>
            <a:r>
              <a:rPr lang="en-US" dirty="0" smtClean="0"/>
              <a:t>Powerful statistical test</a:t>
            </a:r>
          </a:p>
        </p:txBody>
      </p:sp>
    </p:spTree>
    <p:extLst>
      <p:ext uri="{BB962C8B-B14F-4D97-AF65-F5344CB8AC3E}">
        <p14:creationId xmlns:p14="http://schemas.microsoft.com/office/powerpoint/2010/main" val="3976548694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Assumes normal distribution</a:t>
            </a:r>
          </a:p>
          <a:p>
            <a:pPr lvl="1"/>
            <a:r>
              <a:rPr lang="en-US" dirty="0" smtClean="0"/>
              <a:t>Sensitive to outliers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Compare two means</a:t>
            </a:r>
          </a:p>
          <a:p>
            <a:pPr lvl="1"/>
            <a:r>
              <a:rPr lang="en-US" dirty="0" smtClean="0"/>
              <a:t>Feature selection</a:t>
            </a:r>
          </a:p>
          <a:p>
            <a:pPr lvl="1"/>
            <a:r>
              <a:rPr lang="en-US" dirty="0" smtClean="0"/>
              <a:t>A/B testing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More than two groups (use ANOVA instead)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T-test measures signal vs noise ratio:</a:t>
            </a:r>
          </a:p>
          <a:p>
            <a:pPr lvl="1"/>
            <a:r>
              <a:rPr lang="en-US" dirty="0" smtClean="0"/>
              <a:t>Signal = difference between means</a:t>
            </a:r>
          </a:p>
          <a:p>
            <a:pPr lvl="1"/>
            <a:r>
              <a:rPr lang="en-US" dirty="0" smtClean="0"/>
              <a:t>Noise = variation in data</a:t>
            </a:r>
          </a:p>
          <a:p>
            <a:pPr lvl="1"/>
            <a:r>
              <a:rPr lang="en-US" dirty="0" smtClean="0"/>
              <a:t>Higher signal → reject null hypothesis.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T-test compares means and determines if difference is real.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2250168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TOPIC 20: ANOVA (Analysis of Variance)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ANOVA is an extension of T-test.</a:t>
            </a:r>
          </a:p>
          <a:p>
            <a:r>
              <a:rPr lang="en-US" dirty="0" smtClean="0"/>
              <a:t>Definition </a:t>
            </a:r>
          </a:p>
          <a:p>
            <a:pPr lvl="1"/>
            <a:r>
              <a:rPr lang="en-US" dirty="0" smtClean="0"/>
              <a:t>ANOVA tests whether the means of three or more groups are significantly different.</a:t>
            </a:r>
          </a:p>
          <a:p>
            <a:r>
              <a:rPr lang="en-US" dirty="0" smtClean="0"/>
              <a:t>Why this concept exists</a:t>
            </a:r>
          </a:p>
          <a:p>
            <a:pPr lvl="1"/>
            <a:r>
              <a:rPr lang="en-US" dirty="0" smtClean="0"/>
              <a:t>T-test compares only 2 groups.</a:t>
            </a:r>
          </a:p>
          <a:p>
            <a:pPr lvl="1"/>
            <a:r>
              <a:rPr lang="en-US" dirty="0" smtClean="0"/>
              <a:t>ANOVA compares multiple groups.</a:t>
            </a:r>
          </a:p>
          <a:p>
            <a:pPr lvl="1"/>
            <a:r>
              <a:rPr lang="en-US" dirty="0" smtClean="0"/>
              <a:t>Example: Compare performance of 3 ML models.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Compare exam scores of: Class A, Class B, Class C</a:t>
            </a:r>
          </a:p>
          <a:p>
            <a:pPr lvl="1"/>
            <a:r>
              <a:rPr lang="en-US" dirty="0" smtClean="0"/>
              <a:t>ANOVA determines if any class differs significantly.</a:t>
            </a:r>
          </a:p>
        </p:txBody>
      </p:sp>
    </p:spTree>
    <p:extLst>
      <p:ext uri="{BB962C8B-B14F-4D97-AF65-F5344CB8AC3E}">
        <p14:creationId xmlns:p14="http://schemas.microsoft.com/office/powerpoint/2010/main" val="132910453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F-statistic formula:𝐹=variance between groups/variance within groups</a:t>
            </a:r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F = test statistic</a:t>
            </a:r>
          </a:p>
          <a:p>
            <a:pPr lvl="1"/>
            <a:r>
              <a:rPr lang="en-US" dirty="0" smtClean="0"/>
              <a:t>Higher F → greater difference between groups</a:t>
            </a:r>
          </a:p>
          <a:p>
            <a:r>
              <a:rPr lang="en-US" dirty="0" smtClean="0"/>
              <a:t>Visual explanation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237" y="3462194"/>
            <a:ext cx="5429538" cy="2714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8015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Compare accuracy of 3 ML models:</a:t>
            </a:r>
          </a:p>
          <a:p>
            <a:pPr lvl="1"/>
            <a:r>
              <a:rPr lang="en-US" dirty="0" smtClean="0"/>
              <a:t>Model A: 80%</a:t>
            </a:r>
          </a:p>
          <a:p>
            <a:pPr lvl="1"/>
            <a:r>
              <a:rPr lang="en-US" dirty="0" smtClean="0"/>
              <a:t>Model B: 85%</a:t>
            </a:r>
          </a:p>
          <a:p>
            <a:pPr lvl="1"/>
            <a:r>
              <a:rPr lang="en-US" dirty="0" smtClean="0"/>
              <a:t>Model C: 95%</a:t>
            </a:r>
          </a:p>
          <a:p>
            <a:pPr lvl="1"/>
            <a:r>
              <a:rPr lang="en-US" dirty="0" smtClean="0"/>
              <a:t>ANOVA checks if differences are statistically significant.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One-way ANOVA</a:t>
            </a:r>
          </a:p>
          <a:p>
            <a:pPr lvl="1"/>
            <a:r>
              <a:rPr lang="en-US" dirty="0" smtClean="0"/>
              <a:t>Two-way ANOVA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Compare multiple groups</a:t>
            </a:r>
          </a:p>
          <a:p>
            <a:pPr lvl="1"/>
            <a:r>
              <a:rPr lang="en-US" dirty="0" smtClean="0"/>
              <a:t>Efficient</a:t>
            </a:r>
          </a:p>
        </p:txBody>
      </p:sp>
    </p:spTree>
    <p:extLst>
      <p:ext uri="{BB962C8B-B14F-4D97-AF65-F5344CB8AC3E}">
        <p14:creationId xmlns:p14="http://schemas.microsoft.com/office/powerpoint/2010/main" val="10388203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Does not identify which group differs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Compare multiple ML models</a:t>
            </a:r>
          </a:p>
          <a:p>
            <a:pPr lvl="1"/>
            <a:r>
              <a:rPr lang="en-US" dirty="0" smtClean="0"/>
              <a:t>Feature selection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Only 2 groups (use T-test)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ANOVA compares variance: Between-group variance, Within-group variance</a:t>
            </a:r>
          </a:p>
          <a:p>
            <a:pPr lvl="1"/>
            <a:r>
              <a:rPr lang="en-US" dirty="0" smtClean="0"/>
              <a:t>Higher ratio → reject null hypothesis.</a:t>
            </a:r>
          </a:p>
          <a:p>
            <a:r>
              <a:rPr lang="en-US" dirty="0" smtClean="0"/>
              <a:t>Slide 15: Summary</a:t>
            </a:r>
          </a:p>
          <a:p>
            <a:pPr lvl="1"/>
            <a:r>
              <a:rPr lang="en-US" dirty="0" smtClean="0"/>
              <a:t>ANOVA compares multiple group means.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99957906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TOPIC 21: Chi-Square Test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is extremely important in machine learning for categorical features.</a:t>
            </a:r>
          </a:p>
          <a:p>
            <a:r>
              <a:rPr lang="en-US" dirty="0" smtClean="0"/>
              <a:t>Definition</a:t>
            </a:r>
          </a:p>
          <a:p>
            <a:pPr lvl="1"/>
            <a:r>
              <a:rPr lang="en-US" dirty="0" smtClean="0"/>
              <a:t>Chi-square test determines whether two categorical variables are related.</a:t>
            </a:r>
          </a:p>
          <a:p>
            <a:r>
              <a:rPr lang="en-US" dirty="0" smtClean="0"/>
              <a:t>Why exists</a:t>
            </a:r>
          </a:p>
          <a:p>
            <a:pPr lvl="1"/>
            <a:r>
              <a:rPr lang="en-US" dirty="0" smtClean="0"/>
              <a:t>Machine learning often works with categorical data.</a:t>
            </a:r>
          </a:p>
          <a:p>
            <a:pPr lvl="1"/>
            <a:r>
              <a:rPr lang="en-US" dirty="0" smtClean="0"/>
              <a:t>Chi-square helps determine feature importance.</a:t>
            </a:r>
          </a:p>
          <a:p>
            <a:r>
              <a:rPr lang="en-US" dirty="0" smtClean="0"/>
              <a:t>Real-life analogy</a:t>
            </a:r>
          </a:p>
          <a:p>
            <a:pPr lvl="1"/>
            <a:r>
              <a:rPr lang="en-US" dirty="0" smtClean="0"/>
              <a:t>Does smoking affect lung disease?</a:t>
            </a:r>
          </a:p>
          <a:p>
            <a:pPr lvl="1"/>
            <a:r>
              <a:rPr lang="en-US" dirty="0" smtClean="0"/>
              <a:t>Chi-square tests relationship.</a:t>
            </a:r>
          </a:p>
        </p:txBody>
      </p:sp>
    </p:spTree>
    <p:extLst>
      <p:ext uri="{BB962C8B-B14F-4D97-AF65-F5344CB8AC3E}">
        <p14:creationId xmlns:p14="http://schemas.microsoft.com/office/powerpoint/2010/main" val="356527729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Mathematical Formula</a:t>
            </a:r>
          </a:p>
          <a:p>
            <a:pPr lvl="1"/>
            <a:r>
              <a:rPr lang="en-US" dirty="0" smtClean="0"/>
              <a:t>𝜒2=∑(𝑂−𝐸)^2/𝐸</a:t>
            </a:r>
            <a:endParaRPr lang="en-US" dirty="0"/>
          </a:p>
          <a:p>
            <a:r>
              <a:rPr lang="en-US" dirty="0" smtClean="0"/>
              <a:t>Explanation</a:t>
            </a:r>
          </a:p>
          <a:p>
            <a:pPr lvl="1"/>
            <a:r>
              <a:rPr lang="en-US" dirty="0" smtClean="0"/>
              <a:t>χ² = Chi-square value</a:t>
            </a:r>
          </a:p>
          <a:p>
            <a:pPr lvl="1"/>
            <a:r>
              <a:rPr lang="en-US" dirty="0" smtClean="0"/>
              <a:t>O = observed value</a:t>
            </a:r>
          </a:p>
          <a:p>
            <a:pPr lvl="1"/>
            <a:r>
              <a:rPr lang="en-US" dirty="0" smtClean="0"/>
              <a:t>E = expected value</a:t>
            </a:r>
          </a:p>
          <a:p>
            <a:r>
              <a:rPr lang="en-US" dirty="0" smtClean="0"/>
              <a:t>Practical example</a:t>
            </a:r>
          </a:p>
          <a:p>
            <a:pPr lvl="1"/>
            <a:r>
              <a:rPr lang="en-US" dirty="0" smtClean="0"/>
              <a:t>Test if gender affects product purchase.</a:t>
            </a:r>
          </a:p>
          <a:p>
            <a:r>
              <a:rPr lang="en-US" dirty="0" smtClean="0"/>
              <a:t>Types</a:t>
            </a:r>
          </a:p>
          <a:p>
            <a:pPr lvl="1"/>
            <a:r>
              <a:rPr lang="en-US" dirty="0" smtClean="0"/>
              <a:t>Test of independence</a:t>
            </a:r>
          </a:p>
          <a:p>
            <a:pPr lvl="1"/>
            <a:r>
              <a:rPr lang="en-US" dirty="0" smtClean="0"/>
              <a:t>Test of goodness-of-fit</a:t>
            </a:r>
          </a:p>
          <a:p>
            <a:r>
              <a:rPr lang="en-US" dirty="0" smtClean="0"/>
              <a:t>Advantages</a:t>
            </a:r>
          </a:p>
          <a:p>
            <a:pPr lvl="1"/>
            <a:r>
              <a:rPr lang="en-US" dirty="0" smtClean="0"/>
              <a:t>Works with categorical data</a:t>
            </a:r>
          </a:p>
          <a:p>
            <a:pPr lvl="1"/>
            <a:r>
              <a:rPr lang="en-US" dirty="0" smtClean="0"/>
              <a:t>Feature selection</a:t>
            </a:r>
          </a:p>
        </p:txBody>
      </p:sp>
    </p:spTree>
    <p:extLst>
      <p:ext uri="{BB962C8B-B14F-4D97-AF65-F5344CB8AC3E}">
        <p14:creationId xmlns:p14="http://schemas.microsoft.com/office/powerpoint/2010/main" val="100898869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1445"/>
            <a:ext cx="10515600" cy="5535518"/>
          </a:xfrm>
        </p:spPr>
        <p:txBody>
          <a:bodyPr>
            <a:normAutofit/>
          </a:bodyPr>
          <a:lstStyle/>
          <a:p>
            <a:r>
              <a:rPr lang="en-US" dirty="0" smtClean="0"/>
              <a:t>Disadvantages</a:t>
            </a:r>
          </a:p>
          <a:p>
            <a:pPr lvl="1"/>
            <a:r>
              <a:rPr lang="en-US" dirty="0" smtClean="0"/>
              <a:t>Requires sufficient sample size</a:t>
            </a:r>
          </a:p>
          <a:p>
            <a:r>
              <a:rPr lang="en-US" dirty="0" smtClean="0"/>
              <a:t>When to use</a:t>
            </a:r>
          </a:p>
          <a:p>
            <a:pPr lvl="1"/>
            <a:r>
              <a:rPr lang="en-US" dirty="0" smtClean="0"/>
              <a:t>Categorical feature selection</a:t>
            </a:r>
          </a:p>
          <a:p>
            <a:r>
              <a:rPr lang="en-US" dirty="0" smtClean="0"/>
              <a:t>When NOT to use</a:t>
            </a:r>
          </a:p>
          <a:p>
            <a:pPr lvl="1"/>
            <a:r>
              <a:rPr lang="en-US" dirty="0" smtClean="0"/>
              <a:t>Continuous data</a:t>
            </a:r>
          </a:p>
          <a:p>
            <a:r>
              <a:rPr lang="en-US" dirty="0" smtClean="0"/>
              <a:t>Technical deep explanation</a:t>
            </a:r>
          </a:p>
          <a:p>
            <a:pPr lvl="1"/>
            <a:r>
              <a:rPr lang="en-US" dirty="0" smtClean="0"/>
              <a:t>Measures difference between observed and expected frequencies. </a:t>
            </a:r>
          </a:p>
          <a:p>
            <a:r>
              <a:rPr lang="en-US" dirty="0" smtClean="0"/>
              <a:t>Summary</a:t>
            </a:r>
          </a:p>
          <a:p>
            <a:pPr lvl="1"/>
            <a:r>
              <a:rPr lang="en-US" dirty="0" smtClean="0"/>
              <a:t>Chi-square tests relationship between categorical variables.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3978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4489</TotalTime>
  <Words>5728</Words>
  <Application>Microsoft Office PowerPoint</Application>
  <PresentationFormat>Widescreen</PresentationFormat>
  <Paragraphs>1254</Paragraphs>
  <Slides>112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112</vt:i4>
      </vt:variant>
    </vt:vector>
  </HeadingPairs>
  <TitlesOfParts>
    <vt:vector size="116" baseType="lpstr">
      <vt:lpstr>Arial</vt:lpstr>
      <vt:lpstr>Calibri</vt:lpstr>
      <vt:lpstr>Calibri Light</vt:lpstr>
      <vt:lpstr>Office Theme</vt:lpstr>
      <vt:lpstr>STATISTICAL FOUNDATIONS</vt:lpstr>
      <vt:lpstr>TOPIC 1: Population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2: Sample</vt:lpstr>
      <vt:lpstr>PowerPoint Presentation</vt:lpstr>
      <vt:lpstr>PowerPoint Presentation</vt:lpstr>
      <vt:lpstr>PowerPoint Presentation</vt:lpstr>
      <vt:lpstr>TOPIC 3: Variable Types</vt:lpstr>
      <vt:lpstr>PowerPoint Presentation</vt:lpstr>
      <vt:lpstr>PowerPoint Presentation</vt:lpstr>
      <vt:lpstr>PowerPoint Presentation</vt:lpstr>
      <vt:lpstr>TOPIC 4: Central Tendency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5: Population Mean vs Sample Mean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6: Measures of Variability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TOPIC 7: COVARIANCE</vt:lpstr>
      <vt:lpstr>PowerPoint Presentation</vt:lpstr>
      <vt:lpstr>PowerPoint Presentation</vt:lpstr>
      <vt:lpstr>PowerPoint Presentation</vt:lpstr>
      <vt:lpstr>TOPIC 8: CORRELATION</vt:lpstr>
      <vt:lpstr>PowerPoint Presentation</vt:lpstr>
      <vt:lpstr>PowerPoint Presentation</vt:lpstr>
      <vt:lpstr>PowerPoint Presentation</vt:lpstr>
      <vt:lpstr>TOPIC 9: DISTANCE</vt:lpstr>
      <vt:lpstr>PowerPoint Presentation</vt:lpstr>
      <vt:lpstr>PowerPoint Presentation</vt:lpstr>
      <vt:lpstr>PowerPoint Presentation</vt:lpstr>
      <vt:lpstr>PowerPoint Presentation</vt:lpstr>
      <vt:lpstr>TOPIC 10: LINEARITY</vt:lpstr>
      <vt:lpstr>PowerPoint Presentation</vt:lpstr>
      <vt:lpstr>PowerPoint Presentation</vt:lpstr>
      <vt:lpstr>TOPIC 11: NORMALITY</vt:lpstr>
      <vt:lpstr>PowerPoint Presentation</vt:lpstr>
      <vt:lpstr>PowerPoint Presentation</vt:lpstr>
      <vt:lpstr>TOPIC 12: HOMOSCEDASTICITY</vt:lpstr>
      <vt:lpstr>PowerPoint Presentation</vt:lpstr>
      <vt:lpstr>PowerPoint Presentation</vt:lpstr>
      <vt:lpstr>PowerPoint Presentation</vt:lpstr>
      <vt:lpstr>PowerPoint Presentation</vt:lpstr>
      <vt:lpstr>TOPIC 13: OUTLIERS</vt:lpstr>
      <vt:lpstr>PowerPoint Presentation</vt:lpstr>
      <vt:lpstr>PowerPoint Presentation</vt:lpstr>
      <vt:lpstr>PowerPoint Presentation</vt:lpstr>
      <vt:lpstr>PowerPoint Presentation</vt:lpstr>
      <vt:lpstr>TOPIC 14: Hypothesis</vt:lpstr>
      <vt:lpstr>PowerPoint Presentation</vt:lpstr>
      <vt:lpstr>PowerPoint Presentation</vt:lpstr>
      <vt:lpstr>PowerPoint Presentation</vt:lpstr>
      <vt:lpstr>PowerPoint Presentation</vt:lpstr>
      <vt:lpstr>TOPIC 15: Null Hypothesis (H₀)</vt:lpstr>
      <vt:lpstr>PowerPoint Presentation</vt:lpstr>
      <vt:lpstr>PowerPoint Presentation</vt:lpstr>
      <vt:lpstr>TOPIC 16: Alternative Hypothesis (H₁)</vt:lpstr>
      <vt:lpstr>PowerPoint Presentation</vt:lpstr>
      <vt:lpstr>PowerPoint Presentation</vt:lpstr>
      <vt:lpstr>TOPIC 17: P-Value</vt:lpstr>
      <vt:lpstr>PowerPoint Presentation</vt:lpstr>
      <vt:lpstr>PowerPoint Presentation</vt:lpstr>
      <vt:lpstr>PowerPoint Presentation</vt:lpstr>
      <vt:lpstr>PowerPoint Presentation</vt:lpstr>
      <vt:lpstr>TOPIC 18: T-Value (Test Statistic)</vt:lpstr>
      <vt:lpstr>PowerPoint Presentation</vt:lpstr>
      <vt:lpstr>PowerPoint Presentation</vt:lpstr>
      <vt:lpstr>PowerPoint Presentation</vt:lpstr>
      <vt:lpstr>TOPIC 19: T-Test</vt:lpstr>
      <vt:lpstr>PowerPoint Presentation</vt:lpstr>
      <vt:lpstr>PowerPoint Presentation</vt:lpstr>
      <vt:lpstr>PowerPoint Presentation</vt:lpstr>
      <vt:lpstr>TOPIC 20: ANOVA (Analysis of Variance)</vt:lpstr>
      <vt:lpstr>PowerPoint Presentation</vt:lpstr>
      <vt:lpstr>PowerPoint Presentation</vt:lpstr>
      <vt:lpstr>PowerPoint Presentation</vt:lpstr>
      <vt:lpstr>TOPIC 21: Chi-Square Test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STATISTICAL FOUNDATIONS</dc:title>
  <dc:creator>NIRVANA</dc:creator>
  <cp:lastModifiedBy>NIRVANA</cp:lastModifiedBy>
  <cp:revision>36</cp:revision>
  <dcterms:created xsi:type="dcterms:W3CDTF">2026-02-13T06:25:49Z</dcterms:created>
  <dcterms:modified xsi:type="dcterms:W3CDTF">2026-02-16T09:15:32Z</dcterms:modified>
</cp:coreProperties>
</file>