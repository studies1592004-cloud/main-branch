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7" r:id="rId3"/>
    <p:sldId id="369" r:id="rId4"/>
    <p:sldId id="368" r:id="rId5"/>
    <p:sldId id="370" r:id="rId6"/>
    <p:sldId id="379" r:id="rId7"/>
    <p:sldId id="371" r:id="rId8"/>
    <p:sldId id="380" r:id="rId9"/>
    <p:sldId id="372" r:id="rId10"/>
    <p:sldId id="382" r:id="rId11"/>
    <p:sldId id="377" r:id="rId12"/>
    <p:sldId id="373" r:id="rId13"/>
    <p:sldId id="374" r:id="rId14"/>
    <p:sldId id="383" r:id="rId15"/>
    <p:sldId id="375" r:id="rId16"/>
    <p:sldId id="3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9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13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87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3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5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22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12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3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70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03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4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RANDOM FOREST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7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1. What is Random Forest</a:t>
            </a:r>
          </a:p>
          <a:p>
            <a:pPr lvl="1"/>
            <a:r>
              <a:rPr lang="en-US" sz="3600" dirty="0"/>
              <a:t>Random Forest is a </a:t>
            </a:r>
            <a:r>
              <a:rPr lang="en-US" sz="3600" b="1" dirty="0"/>
              <a:t>supervised ensemble machine learning algorithm</a:t>
            </a:r>
            <a:r>
              <a:rPr lang="en-US" sz="3600" dirty="0"/>
              <a:t> that builds </a:t>
            </a:r>
            <a:r>
              <a:rPr lang="en-US" sz="3600" b="1" dirty="0"/>
              <a:t>multiple decision trees</a:t>
            </a:r>
            <a:r>
              <a:rPr lang="en-US" sz="3600" dirty="0"/>
              <a:t> and combines their outputs to produce a </a:t>
            </a:r>
            <a:r>
              <a:rPr lang="en-US" sz="3600" b="1" dirty="0"/>
              <a:t>more accurate and robust prediction</a:t>
            </a:r>
            <a:r>
              <a:rPr lang="en-US" sz="3600" dirty="0"/>
              <a:t>.</a:t>
            </a:r>
          </a:p>
          <a:p>
            <a:pPr lvl="1"/>
            <a:r>
              <a:rPr lang="en-US" sz="3600" dirty="0"/>
              <a:t>It works for both </a:t>
            </a:r>
            <a:r>
              <a:rPr lang="en-US" sz="3600" b="1" dirty="0"/>
              <a:t>classification</a:t>
            </a:r>
            <a:r>
              <a:rPr lang="en-US" sz="3600" dirty="0"/>
              <a:t> and </a:t>
            </a:r>
            <a:r>
              <a:rPr lang="en-US" sz="3600" b="1" dirty="0"/>
              <a:t>regression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97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2. Purpose</a:t>
            </a:r>
          </a:p>
          <a:p>
            <a:pPr lvl="1"/>
            <a:r>
              <a:rPr lang="en-US" sz="3600" b="1" dirty="0"/>
              <a:t>To improve prediction accuracy and generalization</a:t>
            </a:r>
            <a:r>
              <a:rPr lang="en-US" sz="3600" dirty="0"/>
              <a:t> by reducing the </a:t>
            </a:r>
            <a:r>
              <a:rPr lang="en-US" sz="3600" b="1" dirty="0"/>
              <a:t>overfitting and instability</a:t>
            </a:r>
            <a:r>
              <a:rPr lang="en-US" sz="3600" dirty="0"/>
              <a:t> of individual decision trees.</a:t>
            </a:r>
          </a:p>
        </p:txBody>
      </p:sp>
    </p:spTree>
    <p:extLst>
      <p:ext uri="{BB962C8B-B14F-4D97-AF65-F5344CB8AC3E}">
        <p14:creationId xmlns:p14="http://schemas.microsoft.com/office/powerpoint/2010/main" val="7521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3. Why it is Used</a:t>
            </a:r>
          </a:p>
          <a:p>
            <a:pPr lvl="1"/>
            <a:r>
              <a:rPr lang="en-US" sz="3600" dirty="0"/>
              <a:t>Reduces overfitting of decision trees</a:t>
            </a:r>
          </a:p>
          <a:p>
            <a:pPr lvl="1"/>
            <a:r>
              <a:rPr lang="en-US" sz="3600" dirty="0"/>
              <a:t>Handles non-linear relationships</a:t>
            </a:r>
          </a:p>
          <a:p>
            <a:pPr lvl="1"/>
            <a:r>
              <a:rPr lang="en-US" sz="3600" dirty="0"/>
              <a:t>Works well with high-dimensional data</a:t>
            </a:r>
          </a:p>
          <a:p>
            <a:pPr lvl="1"/>
            <a:r>
              <a:rPr lang="en-US" sz="3600" dirty="0"/>
              <a:t>Robust to noise and outliers</a:t>
            </a:r>
          </a:p>
          <a:p>
            <a:pPr lvl="1"/>
            <a:r>
              <a:rPr lang="en-US" sz="3600" dirty="0"/>
              <a:t>Provides feature importance</a:t>
            </a:r>
          </a:p>
        </p:txBody>
      </p:sp>
    </p:spTree>
    <p:extLst>
      <p:ext uri="{BB962C8B-B14F-4D97-AF65-F5344CB8AC3E}">
        <p14:creationId xmlns:p14="http://schemas.microsoft.com/office/powerpoint/2010/main" val="426510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How Random Forest Works (Algorithm)</a:t>
            </a:r>
          </a:p>
          <a:p>
            <a:pPr marL="457200" lvl="1" indent="0">
              <a:buNone/>
            </a:pPr>
            <a:r>
              <a:rPr lang="en-US" b="1" dirty="0"/>
              <a:t>Core Ideas:</a:t>
            </a:r>
          </a:p>
          <a:p>
            <a:pPr lvl="1"/>
            <a:r>
              <a:rPr lang="en-US" b="1" dirty="0"/>
              <a:t>Bagging (Bootstrap Aggregation)</a:t>
            </a:r>
            <a:endParaRPr lang="en-US" dirty="0"/>
          </a:p>
          <a:p>
            <a:pPr lvl="1"/>
            <a:r>
              <a:rPr lang="en-US" b="1" dirty="0"/>
              <a:t>Random Feature Selection</a:t>
            </a:r>
            <a:endParaRPr lang="en-US" dirty="0"/>
          </a:p>
          <a:p>
            <a:pPr marL="457200" lvl="1" indent="0">
              <a:buNone/>
            </a:pPr>
            <a:r>
              <a:rPr lang="en-US" b="1" dirty="0"/>
              <a:t>Step-by-Step Algorithm:</a:t>
            </a:r>
          </a:p>
          <a:p>
            <a:pPr lvl="1"/>
            <a:r>
              <a:rPr lang="en-US" dirty="0"/>
              <a:t>Draw multiple </a:t>
            </a:r>
            <a:r>
              <a:rPr lang="en-US" b="1" dirty="0"/>
              <a:t>bootstrap samples</a:t>
            </a:r>
            <a:r>
              <a:rPr lang="en-US" dirty="0"/>
              <a:t> from the dataset</a:t>
            </a:r>
          </a:p>
          <a:p>
            <a:pPr lvl="1"/>
            <a:r>
              <a:rPr lang="en-US" dirty="0"/>
              <a:t>Train a </a:t>
            </a:r>
            <a:r>
              <a:rPr lang="en-US" b="1" dirty="0"/>
              <a:t>decision tree</a:t>
            </a:r>
            <a:r>
              <a:rPr lang="en-US" dirty="0"/>
              <a:t> on each sample</a:t>
            </a:r>
          </a:p>
          <a:p>
            <a:pPr lvl="1"/>
            <a:r>
              <a:rPr lang="en-US" dirty="0"/>
              <a:t>At every split, select a </a:t>
            </a:r>
            <a:r>
              <a:rPr lang="en-US" b="1" dirty="0"/>
              <a:t>random subset of features</a:t>
            </a:r>
            <a:endParaRPr lang="en-US" dirty="0"/>
          </a:p>
          <a:p>
            <a:pPr lvl="1"/>
            <a:r>
              <a:rPr lang="en-US" dirty="0"/>
              <a:t>Grow trees independently and in parallel</a:t>
            </a:r>
          </a:p>
          <a:p>
            <a:pPr lvl="1"/>
            <a:r>
              <a:rPr lang="en-US" dirty="0"/>
              <a:t>Aggregate predictions:</a:t>
            </a:r>
          </a:p>
          <a:p>
            <a:pPr lvl="2"/>
            <a:r>
              <a:rPr lang="en-US" dirty="0"/>
              <a:t>Classification → </a:t>
            </a:r>
            <a:r>
              <a:rPr lang="en-US" b="1" dirty="0"/>
              <a:t>majority vote</a:t>
            </a:r>
            <a:endParaRPr lang="en-US" dirty="0"/>
          </a:p>
          <a:p>
            <a:pPr lvl="2"/>
            <a:r>
              <a:rPr lang="en-US" dirty="0"/>
              <a:t>Regression → </a:t>
            </a:r>
            <a:r>
              <a:rPr lang="en-US" b="1" dirty="0"/>
              <a:t>mean of predictions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20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/>
              <a:t>5. Formula / Mathematical Intuition</a:t>
            </a:r>
          </a:p>
          <a:p>
            <a:pPr marL="457200" lvl="1" indent="0">
              <a:buNone/>
            </a:pPr>
            <a:r>
              <a:rPr lang="en-IN" sz="3600" b="1" dirty="0"/>
              <a:t>Classification Prediction:</a:t>
            </a:r>
          </a:p>
          <a:p>
            <a:pPr lvl="1"/>
            <a:r>
              <a:rPr lang="en-IN" sz="3600" dirty="0"/>
              <a:t>y^=mode{T1(x),T2(x),...,</a:t>
            </a:r>
            <a:r>
              <a:rPr lang="en-IN" sz="3600" dirty="0" err="1"/>
              <a:t>Tn</a:t>
            </a:r>
            <a:r>
              <a:rPr lang="en-IN" sz="3600" dirty="0"/>
              <a:t>(x</a:t>
            </a:r>
            <a:r>
              <a:rPr lang="en-IN" sz="3600" dirty="0" smtClean="0"/>
              <a:t>)} </a:t>
            </a:r>
          </a:p>
          <a:p>
            <a:pPr marL="457200" lvl="1" indent="0">
              <a:buNone/>
            </a:pPr>
            <a:r>
              <a:rPr lang="en-IN" sz="3600" b="1" dirty="0" smtClean="0"/>
              <a:t>Regression </a:t>
            </a:r>
            <a:r>
              <a:rPr lang="en-IN" sz="3600" b="1" dirty="0"/>
              <a:t>Prediction:</a:t>
            </a:r>
          </a:p>
          <a:p>
            <a:pPr lvl="1"/>
            <a:r>
              <a:rPr lang="en-IN" sz="3600" dirty="0"/>
              <a:t>y^=1n∑</a:t>
            </a:r>
            <a:r>
              <a:rPr lang="en-IN" sz="3600" dirty="0" smtClean="0"/>
              <a:t>i=1/</a:t>
            </a:r>
            <a:r>
              <a:rPr lang="en-IN" sz="3600" dirty="0" err="1" smtClean="0"/>
              <a:t>nTi</a:t>
            </a:r>
            <a:r>
              <a:rPr lang="en-IN" sz="3600" dirty="0" smtClean="0"/>
              <a:t>(x) </a:t>
            </a:r>
          </a:p>
          <a:p>
            <a:pPr lvl="1"/>
            <a:r>
              <a:rPr lang="en-IN" sz="3600" dirty="0" smtClean="0"/>
              <a:t>Where </a:t>
            </a:r>
            <a:r>
              <a:rPr lang="en-IN" sz="3600" dirty="0" err="1" smtClean="0"/>
              <a:t>Ti</a:t>
            </a:r>
            <a:r>
              <a:rPr lang="en-IN" sz="3600" dirty="0" smtClean="0"/>
              <a:t>​ </a:t>
            </a:r>
            <a:r>
              <a:rPr lang="en-IN" sz="3600" dirty="0"/>
              <a:t>is the prediction of the </a:t>
            </a:r>
            <a:r>
              <a:rPr lang="en-IN" sz="3600" dirty="0" err="1"/>
              <a:t>i-th</a:t>
            </a:r>
            <a:r>
              <a:rPr lang="en-IN" sz="3600" dirty="0"/>
              <a:t> tree.</a:t>
            </a:r>
          </a:p>
        </p:txBody>
      </p:sp>
    </p:spTree>
    <p:extLst>
      <p:ext uri="{BB962C8B-B14F-4D97-AF65-F5344CB8AC3E}">
        <p14:creationId xmlns:p14="http://schemas.microsoft.com/office/powerpoint/2010/main" val="102720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b="1" dirty="0"/>
              <a:t>6. Technical Details</a:t>
            </a:r>
          </a:p>
          <a:p>
            <a:pPr marL="457200" lvl="1" indent="0">
              <a:buNone/>
            </a:pPr>
            <a:r>
              <a:rPr lang="en-IN" sz="3200" b="1" dirty="0"/>
              <a:t>Ensemble Type:</a:t>
            </a:r>
          </a:p>
          <a:p>
            <a:pPr lvl="1"/>
            <a:r>
              <a:rPr lang="en-IN" sz="3200" b="1" dirty="0"/>
              <a:t>Bagging-based ensemble</a:t>
            </a:r>
            <a:endParaRPr lang="en-IN" sz="3200" dirty="0"/>
          </a:p>
          <a:p>
            <a:pPr marL="457200" lvl="1" indent="0">
              <a:buNone/>
            </a:pPr>
            <a:r>
              <a:rPr lang="en-IN" sz="3200" b="1" dirty="0"/>
              <a:t>Tree Properties:</a:t>
            </a:r>
          </a:p>
          <a:p>
            <a:pPr lvl="1"/>
            <a:r>
              <a:rPr lang="en-IN" sz="3200" dirty="0"/>
              <a:t>Trees are </a:t>
            </a:r>
            <a:r>
              <a:rPr lang="en-IN" sz="3200" b="1" dirty="0"/>
              <a:t>deep and unpruned</a:t>
            </a:r>
            <a:endParaRPr lang="en-IN" sz="3200" dirty="0"/>
          </a:p>
          <a:p>
            <a:pPr lvl="1"/>
            <a:r>
              <a:rPr lang="en-IN" sz="3200" dirty="0"/>
              <a:t>High variance, low bias individually</a:t>
            </a:r>
          </a:p>
          <a:p>
            <a:pPr lvl="1"/>
            <a:r>
              <a:rPr lang="en-IN" sz="3200" dirty="0"/>
              <a:t>Ensemble reduces variance</a:t>
            </a:r>
          </a:p>
          <a:p>
            <a:pPr marL="457200" lvl="1" indent="0">
              <a:buNone/>
            </a:pPr>
            <a:r>
              <a:rPr lang="en-IN" sz="3200" b="1" dirty="0"/>
              <a:t>Randomness Sources:</a:t>
            </a:r>
          </a:p>
          <a:p>
            <a:pPr lvl="1"/>
            <a:r>
              <a:rPr lang="en-IN" sz="3200" dirty="0"/>
              <a:t>Data sampling (bootstrap)</a:t>
            </a:r>
          </a:p>
          <a:p>
            <a:pPr lvl="1"/>
            <a:r>
              <a:rPr lang="en-IN" sz="3200" dirty="0"/>
              <a:t>Feature sampling at splits</a:t>
            </a:r>
          </a:p>
        </p:txBody>
      </p:sp>
    </p:spTree>
    <p:extLst>
      <p:ext uri="{BB962C8B-B14F-4D97-AF65-F5344CB8AC3E}">
        <p14:creationId xmlns:p14="http://schemas.microsoft.com/office/powerpoint/2010/main" val="3402637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/>
              <a:t>7. Parameters</a:t>
            </a:r>
          </a:p>
          <a:p>
            <a:pPr marL="457200" lvl="1" indent="0">
              <a:buNone/>
            </a:pPr>
            <a:r>
              <a:rPr lang="en-US" sz="3200" b="1" dirty="0"/>
              <a:t>Model Parameters (Learned):</a:t>
            </a:r>
          </a:p>
          <a:p>
            <a:pPr lvl="1"/>
            <a:r>
              <a:rPr lang="en-US" sz="3200" dirty="0"/>
              <a:t>Individual tree structures</a:t>
            </a:r>
          </a:p>
          <a:p>
            <a:pPr lvl="1"/>
            <a:r>
              <a:rPr lang="en-US" sz="3200" dirty="0"/>
              <a:t>Split thresholds</a:t>
            </a:r>
          </a:p>
          <a:p>
            <a:pPr lvl="1"/>
            <a:r>
              <a:rPr lang="en-US" sz="3200" dirty="0"/>
              <a:t>Leaf predictions</a:t>
            </a:r>
          </a:p>
          <a:p>
            <a:pPr marL="457200" lvl="1" indent="0">
              <a:buNone/>
            </a:pPr>
            <a:r>
              <a:rPr lang="en-US" sz="3200" b="1" dirty="0" err="1"/>
              <a:t>Hyperparameters</a:t>
            </a:r>
            <a:r>
              <a:rPr lang="en-US" sz="3200" b="1" dirty="0"/>
              <a:t> (Most Important):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661894"/>
              </p:ext>
            </p:extLst>
          </p:nvPr>
        </p:nvGraphicFramePr>
        <p:xfrm>
          <a:off x="1725306" y="3752905"/>
          <a:ext cx="7705298" cy="2926080"/>
        </p:xfrm>
        <a:graphic>
          <a:graphicData uri="http://schemas.openxmlformats.org/drawingml/2006/table">
            <a:tbl>
              <a:tblPr/>
              <a:tblGrid>
                <a:gridCol w="3852649"/>
                <a:gridCol w="3852649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n_estimators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Number of trees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max_depth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Max depth of each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min_samples_split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Minimum samples to split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min_samples_leaf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Minimum samples at leaf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max_features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Features considered per split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bootstrap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Whether sampling is with replacement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criterion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Gini, Entropy, 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20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641445"/>
            <a:ext cx="9493155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8. Feature Importance</a:t>
            </a:r>
          </a:p>
          <a:p>
            <a:pPr lvl="1"/>
            <a:r>
              <a:rPr lang="en-US" dirty="0"/>
              <a:t>Random Forest estimates feature importance using:</a:t>
            </a:r>
          </a:p>
          <a:p>
            <a:pPr lvl="1"/>
            <a:r>
              <a:rPr lang="en-US" b="1" dirty="0"/>
              <a:t>Mean Decrease in Impurity (MDI)</a:t>
            </a:r>
            <a:endParaRPr lang="en-US" dirty="0"/>
          </a:p>
          <a:p>
            <a:pPr lvl="1"/>
            <a:r>
              <a:rPr lang="en-US" b="1" dirty="0"/>
              <a:t>Permutation Importance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483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641445"/>
            <a:ext cx="9493155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9. Assumptions</a:t>
            </a:r>
          </a:p>
          <a:p>
            <a:pPr lvl="1"/>
            <a:r>
              <a:rPr lang="en-US" dirty="0"/>
              <a:t>No strict statistical assumptions</a:t>
            </a:r>
          </a:p>
          <a:p>
            <a:pPr lvl="1"/>
            <a:r>
              <a:rPr lang="en-US" dirty="0"/>
              <a:t>Assumes trees are </a:t>
            </a:r>
            <a:r>
              <a:rPr lang="en-US" b="1" dirty="0"/>
              <a:t>weakly correlated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130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media.geeksforgeeks.org/wp-content/uploads/20240701170624/Random-Forest-Algorithm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https://media.geeksforgeeks.org/wp-content/uploads/20251216121929631349/random_forest_algorithm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75" y="312738"/>
            <a:ext cx="8673943" cy="620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92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10. Pros</a:t>
            </a:r>
          </a:p>
          <a:p>
            <a:pPr lvl="1"/>
            <a:r>
              <a:rPr lang="en-US" sz="3600" dirty="0"/>
              <a:t>High accuracy</a:t>
            </a:r>
          </a:p>
          <a:p>
            <a:pPr lvl="1"/>
            <a:r>
              <a:rPr lang="en-US" sz="3600" dirty="0"/>
              <a:t>Handles non-linear data well</a:t>
            </a:r>
          </a:p>
          <a:p>
            <a:pPr lvl="1"/>
            <a:r>
              <a:rPr lang="en-US" sz="3600" dirty="0"/>
              <a:t>Resistant to overfitting</a:t>
            </a:r>
          </a:p>
          <a:p>
            <a:pPr lvl="1"/>
            <a:r>
              <a:rPr lang="en-US" sz="3600" dirty="0"/>
              <a:t>Works with missing values (some implementations)</a:t>
            </a:r>
          </a:p>
          <a:p>
            <a:pPr lvl="1"/>
            <a:r>
              <a:rPr lang="en-US" sz="3600" dirty="0"/>
              <a:t>Scales well with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1563962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11. Cons</a:t>
            </a:r>
          </a:p>
          <a:p>
            <a:pPr lvl="1"/>
            <a:r>
              <a:rPr lang="en-US" sz="3600" dirty="0"/>
              <a:t>Less interpretable than single trees</a:t>
            </a:r>
          </a:p>
          <a:p>
            <a:pPr lvl="1"/>
            <a:r>
              <a:rPr lang="en-US" sz="3600" dirty="0"/>
              <a:t>Computationally expensive</a:t>
            </a:r>
          </a:p>
          <a:p>
            <a:pPr lvl="1"/>
            <a:r>
              <a:rPr lang="en-US" sz="3600" dirty="0"/>
              <a:t>Slower inference</a:t>
            </a:r>
          </a:p>
          <a:p>
            <a:pPr lvl="1"/>
            <a:r>
              <a:rPr lang="en-US" sz="3600" dirty="0"/>
              <a:t>Large memory usage</a:t>
            </a:r>
          </a:p>
          <a:p>
            <a:pPr lvl="1"/>
            <a:r>
              <a:rPr lang="en-US" sz="3600" dirty="0"/>
              <a:t>Feature importance can be biased</a:t>
            </a:r>
          </a:p>
        </p:txBody>
      </p:sp>
    </p:spTree>
    <p:extLst>
      <p:ext uri="{BB962C8B-B14F-4D97-AF65-F5344CB8AC3E}">
        <p14:creationId xmlns:p14="http://schemas.microsoft.com/office/powerpoint/2010/main" val="414998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4000" b="1" dirty="0" smtClean="0"/>
              <a:t>12. </a:t>
            </a:r>
            <a:r>
              <a:rPr lang="en-IN" sz="4000" b="1" dirty="0"/>
              <a:t>Real-World Applications</a:t>
            </a:r>
          </a:p>
          <a:p>
            <a:pPr marL="457200" lvl="1" indent="0">
              <a:buNone/>
            </a:pPr>
            <a:r>
              <a:rPr lang="en-IN" sz="3600" b="1" dirty="0"/>
              <a:t>Finance:</a:t>
            </a:r>
          </a:p>
          <a:p>
            <a:pPr lvl="1"/>
            <a:r>
              <a:rPr lang="en-IN" sz="3600" dirty="0"/>
              <a:t>Credit scoring</a:t>
            </a:r>
          </a:p>
          <a:p>
            <a:pPr lvl="1"/>
            <a:r>
              <a:rPr lang="en-IN" sz="3600" dirty="0"/>
              <a:t>Fraud detection</a:t>
            </a:r>
          </a:p>
          <a:p>
            <a:pPr marL="457200" lvl="1" indent="0">
              <a:buNone/>
            </a:pPr>
            <a:r>
              <a:rPr lang="en-IN" sz="3600" b="1" dirty="0"/>
              <a:t>Healthcare:</a:t>
            </a:r>
          </a:p>
          <a:p>
            <a:pPr lvl="1"/>
            <a:r>
              <a:rPr lang="en-IN" sz="3600" dirty="0"/>
              <a:t>Disease prediction</a:t>
            </a:r>
          </a:p>
          <a:p>
            <a:pPr lvl="1"/>
            <a:r>
              <a:rPr lang="en-IN" sz="3600" dirty="0"/>
              <a:t>Risk stratification</a:t>
            </a:r>
          </a:p>
          <a:p>
            <a:pPr marL="457200" lvl="1" indent="0">
              <a:buNone/>
            </a:pPr>
            <a:r>
              <a:rPr lang="en-IN" sz="3600" b="1" dirty="0"/>
              <a:t>Marketing:</a:t>
            </a:r>
          </a:p>
          <a:p>
            <a:pPr lvl="1"/>
            <a:r>
              <a:rPr lang="en-IN" sz="3600" dirty="0"/>
              <a:t>Customer churn prediction</a:t>
            </a:r>
          </a:p>
          <a:p>
            <a:pPr lvl="1"/>
            <a:r>
              <a:rPr lang="en-IN" sz="3600" dirty="0"/>
              <a:t>Recommendation systems</a:t>
            </a:r>
          </a:p>
          <a:p>
            <a:pPr marL="457200" lvl="1" indent="0">
              <a:buNone/>
            </a:pPr>
            <a:r>
              <a:rPr lang="en-IN" sz="3600" b="1" dirty="0"/>
              <a:t>Engineering:</a:t>
            </a:r>
          </a:p>
          <a:p>
            <a:pPr lvl="1"/>
            <a:r>
              <a:rPr lang="en-IN" sz="3600" dirty="0"/>
              <a:t>Fault detection</a:t>
            </a:r>
          </a:p>
          <a:p>
            <a:pPr lvl="1"/>
            <a:r>
              <a:rPr lang="en-IN" sz="3600" dirty="0"/>
              <a:t>Predictive maintenance</a:t>
            </a:r>
          </a:p>
          <a:p>
            <a:pPr marL="457200" lvl="1" indent="0">
              <a:buNone/>
            </a:pPr>
            <a:r>
              <a:rPr lang="en-IN" sz="3600" b="1" dirty="0"/>
              <a:t>ML Pipelines:</a:t>
            </a:r>
          </a:p>
          <a:p>
            <a:pPr lvl="1"/>
            <a:r>
              <a:rPr lang="en-IN" sz="3600" dirty="0"/>
              <a:t>Baseline model for tabular data</a:t>
            </a:r>
          </a:p>
          <a:p>
            <a:pPr lvl="1"/>
            <a:r>
              <a:rPr lang="en-IN" sz="3600" dirty="0"/>
              <a:t>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3844668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4000" b="1" dirty="0" smtClean="0"/>
              <a:t>13. </a:t>
            </a:r>
            <a:r>
              <a:rPr lang="en-IN" sz="4000" b="1" dirty="0"/>
              <a:t>Random Forest vs Decision </a:t>
            </a:r>
            <a:r>
              <a:rPr lang="en-IN" sz="4000" b="1" dirty="0" smtClean="0"/>
              <a:t>Tree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255282"/>
              </p:ext>
            </p:extLst>
          </p:nvPr>
        </p:nvGraphicFramePr>
        <p:xfrm>
          <a:off x="919518" y="1555847"/>
          <a:ext cx="10352964" cy="4621116"/>
        </p:xfrm>
        <a:graphic>
          <a:graphicData uri="http://schemas.openxmlformats.org/drawingml/2006/table">
            <a:tbl>
              <a:tblPr/>
              <a:tblGrid>
                <a:gridCol w="3450988"/>
                <a:gridCol w="3450988"/>
                <a:gridCol w="3450988"/>
              </a:tblGrid>
              <a:tr h="770186">
                <a:tc>
                  <a:txBody>
                    <a:bodyPr/>
                    <a:lstStyle/>
                    <a:p>
                      <a:r>
                        <a:rPr lang="en-IN" b="1" dirty="0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0186">
                <a:tc>
                  <a:txBody>
                    <a:bodyPr/>
                    <a:lstStyle/>
                    <a:p>
                      <a:r>
                        <a:rPr lang="en-IN" b="1" dirty="0"/>
                        <a:t>Overfitting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0186">
                <a:tc>
                  <a:txBody>
                    <a:bodyPr/>
                    <a:lstStyle/>
                    <a:p>
                      <a:r>
                        <a:rPr lang="en-IN" b="1"/>
                        <a:t>Stability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0186">
                <a:tc>
                  <a:txBody>
                    <a:bodyPr/>
                    <a:lstStyle/>
                    <a:p>
                      <a:r>
                        <a:rPr lang="en-IN" b="1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0186">
                <a:tc>
                  <a:txBody>
                    <a:bodyPr/>
                    <a:lstStyle/>
                    <a:p>
                      <a:r>
                        <a:rPr lang="en-IN" b="1"/>
                        <a:t>Interpretability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0186">
                <a:tc>
                  <a:txBody>
                    <a:bodyPr/>
                    <a:lstStyle/>
                    <a:p>
                      <a:r>
                        <a:rPr lang="en-IN" b="1" dirty="0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684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Summary</a:t>
            </a:r>
          </a:p>
          <a:p>
            <a:pPr lvl="1"/>
            <a:r>
              <a:rPr lang="en-US" sz="3200" dirty="0"/>
              <a:t>Random Forest is a </a:t>
            </a:r>
            <a:r>
              <a:rPr lang="en-US" sz="3200" b="1" dirty="0"/>
              <a:t>bagging-based ensemble of decision trees</a:t>
            </a:r>
            <a:r>
              <a:rPr lang="en-US" sz="3200" dirty="0"/>
              <a:t> that achieves </a:t>
            </a:r>
            <a:r>
              <a:rPr lang="en-US" sz="3200" b="1" dirty="0"/>
              <a:t>high accuracy and robustness</a:t>
            </a:r>
            <a:r>
              <a:rPr lang="en-US" sz="3200" dirty="0"/>
              <a:t> by averaging multiple </a:t>
            </a:r>
            <a:r>
              <a:rPr lang="en-US" sz="3200"/>
              <a:t>uncorrelated </a:t>
            </a:r>
            <a:r>
              <a:rPr lang="en-US" sz="3200" smtClean="0"/>
              <a:t>trees.</a:t>
            </a:r>
            <a:endParaRPr lang="en-US" sz="3200" dirty="0"/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76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4559</TotalTime>
  <Words>455</Words>
  <Application>Microsoft Office PowerPoint</Application>
  <PresentationFormat>Widescreen</PresentationFormat>
  <Paragraphs>118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RANDOM FOREST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</dc:title>
  <dc:creator>NIRVANA</dc:creator>
  <cp:lastModifiedBy>NIRVANA</cp:lastModifiedBy>
  <cp:revision>50</cp:revision>
  <dcterms:created xsi:type="dcterms:W3CDTF">2026-02-13T06:25:49Z</dcterms:created>
  <dcterms:modified xsi:type="dcterms:W3CDTF">2026-02-20T08:25:06Z</dcterms:modified>
</cp:coreProperties>
</file>