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79" r:id="rId4"/>
    <p:sldId id="369" r:id="rId5"/>
    <p:sldId id="368" r:id="rId6"/>
    <p:sldId id="370" r:id="rId7"/>
    <p:sldId id="371" r:id="rId8"/>
    <p:sldId id="372" r:id="rId9"/>
    <p:sldId id="377" r:id="rId10"/>
    <p:sldId id="373" r:id="rId11"/>
    <p:sldId id="374" r:id="rId12"/>
    <p:sldId id="375" r:id="rId13"/>
    <p:sldId id="378" r:id="rId14"/>
    <p:sldId id="3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LOGISTIC REGRESSION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Logistic Regression</a:t>
            </a:r>
          </a:p>
          <a:p>
            <a:pPr lvl="1"/>
            <a:r>
              <a:rPr lang="en-US" sz="3600" dirty="0"/>
              <a:t>Logistic Regression is a </a:t>
            </a:r>
            <a:r>
              <a:rPr lang="en-US" sz="3600" b="1" dirty="0"/>
              <a:t>supervised machine learning algorithm</a:t>
            </a:r>
            <a:r>
              <a:rPr lang="en-US" sz="3600" dirty="0"/>
              <a:t> and a </a:t>
            </a:r>
            <a:r>
              <a:rPr lang="en-US" sz="3600" b="1" dirty="0"/>
              <a:t>statistical classification method</a:t>
            </a:r>
            <a:r>
              <a:rPr lang="en-US" sz="3600" dirty="0"/>
              <a:t> used to predict the </a:t>
            </a:r>
            <a:r>
              <a:rPr lang="en-US" sz="3600" b="1" dirty="0"/>
              <a:t>probability of a categorical outcome</a:t>
            </a:r>
            <a:r>
              <a:rPr lang="en-US" sz="3600" dirty="0"/>
              <a:t>, most commonly </a:t>
            </a:r>
            <a:r>
              <a:rPr lang="en-US" sz="3600" b="1" dirty="0"/>
              <a:t>binary outcomes</a:t>
            </a:r>
            <a:r>
              <a:rPr lang="en-US" sz="3600" dirty="0"/>
              <a:t> (0 or 1, Yes or No).</a:t>
            </a:r>
          </a:p>
          <a:p>
            <a:pPr lvl="1"/>
            <a:r>
              <a:rPr lang="en-US" sz="3600" dirty="0"/>
              <a:t>Despite the name, it is used for </a:t>
            </a:r>
            <a:r>
              <a:rPr lang="en-US" sz="3600" b="1" dirty="0"/>
              <a:t>classification</a:t>
            </a:r>
            <a:r>
              <a:rPr lang="en-US" sz="3600" dirty="0"/>
              <a:t>, not regression.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/>
              <a:t>2</a:t>
            </a:r>
            <a:r>
              <a:rPr lang="en-US" sz="4000" b="1" dirty="0" smtClean="0"/>
              <a:t>. Purpose </a:t>
            </a:r>
            <a:r>
              <a:rPr lang="en-US" sz="4000" b="1" dirty="0"/>
              <a:t>of Logistic Regression</a:t>
            </a:r>
          </a:p>
          <a:p>
            <a:pPr marL="457200" lvl="1" indent="0">
              <a:buNone/>
            </a:pPr>
            <a:r>
              <a:rPr lang="en-US" sz="3600" dirty="0"/>
              <a:t>The purpose of </a:t>
            </a:r>
            <a:r>
              <a:rPr lang="en-US" sz="3600" b="1" dirty="0"/>
              <a:t>Logistic Regression</a:t>
            </a:r>
            <a:r>
              <a:rPr lang="en-US" sz="3600" dirty="0"/>
              <a:t> is to:</a:t>
            </a:r>
          </a:p>
          <a:p>
            <a:pPr lvl="1"/>
            <a:r>
              <a:rPr lang="en-US" sz="3600" b="1" dirty="0"/>
              <a:t>Predict the probability of an event occurring</a:t>
            </a:r>
            <a:endParaRPr lang="en-US" sz="3600" dirty="0"/>
          </a:p>
          <a:p>
            <a:pPr lvl="1"/>
            <a:r>
              <a:rPr lang="en-US" sz="3600" b="1" dirty="0"/>
              <a:t>Classify data into discrete categories</a:t>
            </a:r>
            <a:r>
              <a:rPr lang="en-US" sz="3600" dirty="0"/>
              <a:t>, especially binary classes (0 or 1)</a:t>
            </a:r>
          </a:p>
          <a:p>
            <a:pPr lvl="1"/>
            <a:r>
              <a:rPr lang="en-US" sz="3600" b="1" dirty="0"/>
              <a:t>Model the relationship between features and log-odds of an outcome</a:t>
            </a:r>
            <a:endParaRPr lang="en-US" sz="3600" dirty="0"/>
          </a:p>
          <a:p>
            <a:pPr lvl="1"/>
            <a:r>
              <a:rPr lang="en-US" sz="3600" b="1" dirty="0"/>
              <a:t>Support decision-making</a:t>
            </a:r>
            <a:r>
              <a:rPr lang="en-US" sz="3600" dirty="0"/>
              <a:t> using probability thresholds</a:t>
            </a:r>
          </a:p>
          <a:p>
            <a:pPr lvl="1"/>
            <a:r>
              <a:rPr lang="en-US" sz="3600" dirty="0"/>
              <a:t>Provide </a:t>
            </a:r>
            <a:r>
              <a:rPr lang="en-US" sz="3600" b="1" dirty="0"/>
              <a:t>interpretable classification results</a:t>
            </a:r>
            <a:endParaRPr lang="en-US" sz="3600" dirty="0"/>
          </a:p>
          <a:p>
            <a:pPr marL="457200" lvl="1" indent="0">
              <a:buNone/>
            </a:pPr>
            <a:r>
              <a:rPr lang="en-US" sz="3600" i="1" dirty="0" smtClean="0"/>
              <a:t>In </a:t>
            </a:r>
            <a:r>
              <a:rPr lang="en-US" sz="3600" i="1" dirty="0"/>
              <a:t>simple terms: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Logistic Regression is used </a:t>
            </a:r>
            <a:r>
              <a:rPr lang="en-US" sz="3600" b="1" dirty="0"/>
              <a:t>when the output is categorical</a:t>
            </a:r>
            <a:r>
              <a:rPr lang="en-US" sz="3600" dirty="0"/>
              <a:t> and decisions are made based on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02720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</a:t>
            </a:r>
            <a:r>
              <a:rPr lang="en-US" sz="4000" b="1" dirty="0" smtClean="0"/>
              <a:t>. </a:t>
            </a:r>
            <a:r>
              <a:rPr lang="en-US" sz="4000" b="1" dirty="0"/>
              <a:t>Why it is Used</a:t>
            </a:r>
          </a:p>
          <a:p>
            <a:pPr marL="457200" lvl="1" indent="0">
              <a:buNone/>
            </a:pPr>
            <a:r>
              <a:rPr lang="en-US" sz="3600" dirty="0"/>
              <a:t>Logistic Regression is used because it:</a:t>
            </a:r>
          </a:p>
          <a:p>
            <a:pPr lvl="1"/>
            <a:r>
              <a:rPr lang="en-US" sz="3600" dirty="0"/>
              <a:t>Predicts </a:t>
            </a:r>
            <a:r>
              <a:rPr lang="en-US" sz="3600" b="1" dirty="0"/>
              <a:t>probabilities</a:t>
            </a:r>
            <a:endParaRPr lang="en-US" sz="3600" dirty="0"/>
          </a:p>
          <a:p>
            <a:pPr lvl="1"/>
            <a:r>
              <a:rPr lang="en-US" sz="3600" dirty="0"/>
              <a:t>Performs </a:t>
            </a:r>
            <a:r>
              <a:rPr lang="en-US" sz="3600" b="1" dirty="0"/>
              <a:t>binary and multiclass classification</a:t>
            </a:r>
            <a:endParaRPr lang="en-US" sz="3600" dirty="0"/>
          </a:p>
          <a:p>
            <a:pPr lvl="1"/>
            <a:r>
              <a:rPr lang="en-US" sz="3600" dirty="0"/>
              <a:t>Is </a:t>
            </a:r>
            <a:r>
              <a:rPr lang="en-US" sz="3600" b="1" dirty="0"/>
              <a:t>simple, fast, and interpretable</a:t>
            </a:r>
            <a:endParaRPr lang="en-US" sz="3600" dirty="0"/>
          </a:p>
          <a:p>
            <a:pPr lvl="1"/>
            <a:r>
              <a:rPr lang="en-US" sz="3600" dirty="0"/>
              <a:t>Works well when the relationship between features and log-odds is linear</a:t>
            </a:r>
          </a:p>
          <a:p>
            <a:pPr lvl="1"/>
            <a:r>
              <a:rPr lang="en-US" sz="3600" dirty="0"/>
              <a:t>Provides clear decision boundaries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4</a:t>
            </a:r>
            <a:r>
              <a:rPr lang="en-US" sz="4000" b="1" dirty="0" smtClean="0"/>
              <a:t>. </a:t>
            </a:r>
            <a:r>
              <a:rPr lang="en-US" sz="4000" b="1" dirty="0"/>
              <a:t>How Logistic Regression Works</a:t>
            </a:r>
          </a:p>
          <a:p>
            <a:pPr lvl="1"/>
            <a:r>
              <a:rPr lang="en-US" sz="3600" dirty="0" smtClean="0"/>
              <a:t>Takes input features X</a:t>
            </a:r>
          </a:p>
          <a:p>
            <a:pPr lvl="1"/>
            <a:r>
              <a:rPr lang="en-US" sz="3600" dirty="0" smtClean="0"/>
              <a:t>Computes a </a:t>
            </a:r>
            <a:r>
              <a:rPr lang="en-US" sz="3600" b="1" dirty="0" smtClean="0"/>
              <a:t>linear combination</a:t>
            </a:r>
            <a:r>
              <a:rPr lang="en-US" sz="3600" dirty="0" smtClean="0"/>
              <a:t> of inputs</a:t>
            </a:r>
          </a:p>
          <a:p>
            <a:pPr lvl="1"/>
            <a:r>
              <a:rPr lang="en-US" sz="3600" dirty="0" smtClean="0"/>
              <a:t>Applies the </a:t>
            </a:r>
            <a:r>
              <a:rPr lang="en-US" sz="3600" b="1" dirty="0" smtClean="0"/>
              <a:t>sigmoid (logistic) function</a:t>
            </a:r>
            <a:endParaRPr lang="en-US" sz="3600" dirty="0" smtClean="0"/>
          </a:p>
          <a:p>
            <a:pPr lvl="1"/>
            <a:r>
              <a:rPr lang="en-US" sz="3600" dirty="0" smtClean="0"/>
              <a:t>Converts output into a probability (0 to 1)</a:t>
            </a:r>
          </a:p>
          <a:p>
            <a:pPr lvl="1"/>
            <a:r>
              <a:rPr lang="en-US" sz="3600" dirty="0" smtClean="0"/>
              <a:t>Uses a </a:t>
            </a:r>
            <a:r>
              <a:rPr lang="en-US" sz="3600" b="1" dirty="0" smtClean="0"/>
              <a:t>threshold</a:t>
            </a:r>
            <a:r>
              <a:rPr lang="en-US" sz="3600" dirty="0" smtClean="0"/>
              <a:t> (e.g., 0.5) to assign class labels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5</a:t>
            </a:r>
            <a:r>
              <a:rPr lang="en-US" sz="4000" b="1" dirty="0" smtClean="0"/>
              <a:t>. </a:t>
            </a:r>
            <a:r>
              <a:rPr lang="en-US" sz="4000" b="1" dirty="0"/>
              <a:t>Where it is Used</a:t>
            </a:r>
          </a:p>
          <a:p>
            <a:pPr marL="457200" lvl="1" indent="0">
              <a:buNone/>
            </a:pPr>
            <a:r>
              <a:rPr lang="en-US" sz="3600" dirty="0"/>
              <a:t>Logistic Regression is used in:</a:t>
            </a:r>
          </a:p>
          <a:p>
            <a:pPr lvl="1"/>
            <a:r>
              <a:rPr lang="en-US" sz="3600" dirty="0"/>
              <a:t>Machine Learning</a:t>
            </a:r>
          </a:p>
          <a:p>
            <a:pPr lvl="1"/>
            <a:r>
              <a:rPr lang="en-US" sz="3600" dirty="0"/>
              <a:t>Data Science</a:t>
            </a:r>
          </a:p>
          <a:p>
            <a:pPr lvl="1"/>
            <a:r>
              <a:rPr lang="en-US" sz="3600" dirty="0"/>
              <a:t>Healthcare analytics</a:t>
            </a:r>
          </a:p>
          <a:p>
            <a:pPr lvl="1"/>
            <a:r>
              <a:rPr lang="en-US" sz="3600" dirty="0"/>
              <a:t>Finance &amp; banking</a:t>
            </a:r>
          </a:p>
          <a:p>
            <a:pPr lvl="1"/>
            <a:r>
              <a:rPr lang="en-US" sz="3600" dirty="0"/>
              <a:t>Marketing analytics</a:t>
            </a:r>
          </a:p>
          <a:p>
            <a:pPr lvl="1"/>
            <a:r>
              <a:rPr lang="en-US" sz="3600" dirty="0"/>
              <a:t>Social science research</a:t>
            </a:r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6</a:t>
            </a:r>
            <a:r>
              <a:rPr lang="en-IN" sz="3600" b="1" dirty="0" smtClean="0"/>
              <a:t>. </a:t>
            </a:r>
            <a:r>
              <a:rPr lang="en-IN" sz="3600" b="1" dirty="0"/>
              <a:t>Formula</a:t>
            </a:r>
          </a:p>
          <a:p>
            <a:pPr marL="457200" lvl="1" indent="0">
              <a:buNone/>
            </a:pPr>
            <a:r>
              <a:rPr lang="en-IN" sz="3200" b="1" dirty="0"/>
              <a:t>Linear </a:t>
            </a:r>
            <a:r>
              <a:rPr lang="en-IN" sz="3200" b="1" dirty="0" smtClean="0"/>
              <a:t>Combination: </a:t>
            </a:r>
          </a:p>
          <a:p>
            <a:pPr marL="914400" lvl="2" indent="0">
              <a:buNone/>
            </a:pPr>
            <a:r>
              <a:rPr lang="en-IN" sz="2800" dirty="0" smtClean="0"/>
              <a:t>z = </a:t>
            </a:r>
            <a:r>
              <a:rPr lang="el-GR" sz="2800" dirty="0" smtClean="0"/>
              <a:t>β0+β1</a:t>
            </a:r>
            <a:r>
              <a:rPr lang="en-IN" sz="2800" dirty="0"/>
              <a:t>x1+</a:t>
            </a:r>
            <a:r>
              <a:rPr lang="el-GR" sz="2800" dirty="0"/>
              <a:t>β2</a:t>
            </a:r>
            <a:r>
              <a:rPr lang="en-IN" sz="2800" dirty="0"/>
              <a:t>x2+⋯+</a:t>
            </a:r>
            <a:r>
              <a:rPr lang="el-GR" sz="2800" dirty="0"/>
              <a:t>β</a:t>
            </a:r>
            <a:r>
              <a:rPr lang="en-IN" sz="2800" dirty="0" err="1" smtClean="0"/>
              <a:t>nxn</a:t>
            </a:r>
            <a:r>
              <a:rPr lang="en-IN" sz="2800" dirty="0" smtClean="0"/>
              <a:t> </a:t>
            </a:r>
          </a:p>
          <a:p>
            <a:pPr marL="914400" lvl="2" indent="0">
              <a:buNone/>
            </a:pPr>
            <a:endParaRPr lang="en-IN" sz="2800" dirty="0" smtClean="0"/>
          </a:p>
          <a:p>
            <a:pPr marL="457200" lvl="1" indent="0">
              <a:buNone/>
            </a:pPr>
            <a:r>
              <a:rPr lang="en-IN" sz="3200" b="1" dirty="0" smtClean="0"/>
              <a:t>Sigmoid Function: </a:t>
            </a:r>
          </a:p>
          <a:p>
            <a:pPr marL="914400" lvl="2" indent="0">
              <a:buNone/>
            </a:pPr>
            <a:r>
              <a:rPr lang="el-GR" sz="2800" dirty="0" smtClean="0"/>
              <a:t>σ(</a:t>
            </a:r>
            <a:r>
              <a:rPr lang="en-IN" sz="2800" dirty="0"/>
              <a:t>z</a:t>
            </a:r>
            <a:r>
              <a:rPr lang="en-IN" sz="2800" dirty="0" smtClean="0"/>
              <a:t>) = 1/1+e^−z</a:t>
            </a:r>
          </a:p>
          <a:p>
            <a:pPr marL="914400" lvl="2" indent="0">
              <a:buNone/>
            </a:pPr>
            <a:endParaRPr lang="en-IN" sz="2800" dirty="0" smtClean="0"/>
          </a:p>
          <a:p>
            <a:pPr marL="457200" lvl="1" indent="0">
              <a:buNone/>
            </a:pPr>
            <a:r>
              <a:rPr lang="en-IN" sz="3200" b="1" dirty="0" smtClean="0"/>
              <a:t>Logistic </a:t>
            </a:r>
            <a:r>
              <a:rPr lang="en-IN" sz="3200" b="1" dirty="0"/>
              <a:t>Regression </a:t>
            </a:r>
            <a:r>
              <a:rPr lang="en-IN" sz="3200" b="1" dirty="0" smtClean="0"/>
              <a:t>Model: </a:t>
            </a:r>
          </a:p>
          <a:p>
            <a:pPr marL="914400" lvl="2" indent="0">
              <a:buNone/>
            </a:pPr>
            <a:r>
              <a:rPr lang="en-IN" sz="2800" dirty="0" smtClean="0"/>
              <a:t>P(y=1</a:t>
            </a:r>
            <a:r>
              <a:rPr lang="en-IN" sz="2800" dirty="0"/>
              <a:t>∣X</a:t>
            </a:r>
            <a:r>
              <a:rPr lang="en-IN" sz="2800" dirty="0" smtClean="0"/>
              <a:t>) = 1/1+e</a:t>
            </a:r>
            <a:r>
              <a:rPr lang="en-IN" sz="2800" dirty="0"/>
              <a:t>^</a:t>
            </a:r>
            <a:r>
              <a:rPr lang="en-IN" sz="2800" dirty="0" smtClean="0"/>
              <a:t>− (</a:t>
            </a:r>
            <a:r>
              <a:rPr lang="el-GR" sz="2800" dirty="0"/>
              <a:t>β0+β1</a:t>
            </a:r>
            <a:r>
              <a:rPr lang="en-IN" sz="2800" dirty="0"/>
              <a:t>x1+⋯+</a:t>
            </a:r>
            <a:r>
              <a:rPr lang="el-GR" sz="2800" dirty="0"/>
              <a:t>β</a:t>
            </a:r>
            <a:r>
              <a:rPr lang="en-IN" sz="2800" dirty="0" err="1"/>
              <a:t>nxn</a:t>
            </a:r>
            <a:r>
              <a:rPr lang="en-IN" sz="2800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3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5357884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7</a:t>
            </a:r>
            <a:r>
              <a:rPr lang="en-IN" sz="3200" b="1" dirty="0" smtClean="0"/>
              <a:t>. </a:t>
            </a:r>
            <a:r>
              <a:rPr lang="en-IN" sz="3200" b="1" dirty="0"/>
              <a:t>Technical Details</a:t>
            </a:r>
          </a:p>
          <a:p>
            <a:pPr marL="457200" lvl="1" indent="0">
              <a:buNone/>
            </a:pPr>
            <a:r>
              <a:rPr lang="en-IN" b="1" dirty="0"/>
              <a:t>Types:</a:t>
            </a:r>
          </a:p>
          <a:p>
            <a:pPr lvl="1"/>
            <a:r>
              <a:rPr lang="en-IN" dirty="0"/>
              <a:t>Binary Logistic Regression</a:t>
            </a:r>
          </a:p>
          <a:p>
            <a:pPr lvl="1"/>
            <a:r>
              <a:rPr lang="en-IN" dirty="0"/>
              <a:t>Multinomial Logistic Regression</a:t>
            </a:r>
          </a:p>
          <a:p>
            <a:pPr lvl="1"/>
            <a:r>
              <a:rPr lang="en-IN" dirty="0"/>
              <a:t>Ordinal Logistic Regression</a:t>
            </a:r>
          </a:p>
          <a:p>
            <a:pPr marL="457200" lvl="1" indent="0">
              <a:buNone/>
            </a:pPr>
            <a:r>
              <a:rPr lang="en-IN" b="1" dirty="0"/>
              <a:t>Assumptions:</a:t>
            </a:r>
          </a:p>
          <a:p>
            <a:pPr lvl="1"/>
            <a:r>
              <a:rPr lang="en-IN" dirty="0"/>
              <a:t>Binary dependent variable</a:t>
            </a:r>
          </a:p>
          <a:p>
            <a:pPr lvl="1"/>
            <a:r>
              <a:rPr lang="en-IN" dirty="0"/>
              <a:t>Independent observations</a:t>
            </a:r>
          </a:p>
          <a:p>
            <a:pPr lvl="1"/>
            <a:r>
              <a:rPr lang="en-IN" dirty="0"/>
              <a:t>Little or no multicollinearity</a:t>
            </a:r>
          </a:p>
          <a:p>
            <a:pPr lvl="1"/>
            <a:r>
              <a:rPr lang="en-IN" dirty="0"/>
              <a:t>Linear relationship between predictors and </a:t>
            </a:r>
            <a:r>
              <a:rPr lang="en-IN" b="1" dirty="0"/>
              <a:t>log-odds</a:t>
            </a:r>
            <a:endParaRPr lang="en-IN" dirty="0"/>
          </a:p>
          <a:p>
            <a:pPr lvl="1"/>
            <a:r>
              <a:rPr lang="en-IN" dirty="0"/>
              <a:t>Large sample size </a:t>
            </a:r>
            <a:r>
              <a:rPr lang="en-IN" dirty="0" smtClean="0"/>
              <a:t>preferred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96084" y="764275"/>
            <a:ext cx="5357884" cy="5535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IN" b="1" dirty="0" smtClean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IN" b="1" dirty="0" smtClean="0"/>
              <a:t>Cost Function (Log Loss / Binary Cross-Entropy):</a:t>
            </a:r>
          </a:p>
          <a:p>
            <a:pPr lvl="1"/>
            <a:r>
              <a:rPr lang="en-IN" dirty="0" smtClean="0"/>
              <a:t>J(</a:t>
            </a:r>
            <a:r>
              <a:rPr lang="el-GR" dirty="0" smtClean="0"/>
              <a:t>θ)=−1</a:t>
            </a:r>
            <a:r>
              <a:rPr lang="en-US" dirty="0" smtClean="0"/>
              <a:t>/</a:t>
            </a:r>
            <a:r>
              <a:rPr lang="en-IN" dirty="0" err="1" smtClean="0"/>
              <a:t>n∑i</a:t>
            </a:r>
            <a:r>
              <a:rPr lang="en-IN" dirty="0" smtClean="0"/>
              <a:t>=1n[</a:t>
            </a:r>
            <a:r>
              <a:rPr lang="en-IN" dirty="0" err="1" smtClean="0"/>
              <a:t>yilog</a:t>
            </a:r>
            <a:r>
              <a:rPr lang="en-IN" dirty="0" smtClean="0"/>
              <a:t>⁡(</a:t>
            </a:r>
            <a:r>
              <a:rPr lang="en-IN" dirty="0" err="1" smtClean="0"/>
              <a:t>y^i</a:t>
            </a:r>
            <a:r>
              <a:rPr lang="en-IN" dirty="0" smtClean="0"/>
              <a:t>)+(1−yi)log⁡(1−y^i)] </a:t>
            </a:r>
          </a:p>
          <a:p>
            <a:pPr lvl="1"/>
            <a:r>
              <a:rPr lang="en-IN" b="1" dirty="0" smtClean="0"/>
              <a:t>Optimization:</a:t>
            </a:r>
          </a:p>
          <a:p>
            <a:pPr lvl="1"/>
            <a:r>
              <a:rPr lang="en-IN" dirty="0" smtClean="0"/>
              <a:t>Gradient Descent</a:t>
            </a:r>
          </a:p>
          <a:p>
            <a:pPr lvl="1"/>
            <a:r>
              <a:rPr lang="en-IN" dirty="0" smtClean="0"/>
              <a:t>Maximum Likelihood Estimation (MLE)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IN" b="1" dirty="0" smtClean="0"/>
              <a:t>Evaluation Metrics:</a:t>
            </a:r>
          </a:p>
          <a:p>
            <a:pPr lvl="1"/>
            <a:r>
              <a:rPr lang="en-IN" dirty="0" smtClean="0"/>
              <a:t>Accuracy</a:t>
            </a:r>
          </a:p>
          <a:p>
            <a:pPr lvl="1"/>
            <a:r>
              <a:rPr lang="en-IN" dirty="0" smtClean="0"/>
              <a:t>Precision, Recall</a:t>
            </a:r>
          </a:p>
          <a:p>
            <a:pPr lvl="1"/>
            <a:r>
              <a:rPr lang="en-IN" dirty="0" smtClean="0"/>
              <a:t>F1-Score</a:t>
            </a:r>
          </a:p>
          <a:p>
            <a:pPr lvl="1"/>
            <a:r>
              <a:rPr lang="en-IN" dirty="0" smtClean="0"/>
              <a:t>ROC-AUC</a:t>
            </a:r>
          </a:p>
          <a:p>
            <a:pPr lvl="1"/>
            <a:r>
              <a:rPr lang="en-IN" dirty="0" smtClean="0"/>
              <a:t>Confusion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4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i.ytimg.com/vi/dbDrfOM0D6w/maxresdefaul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6" t="12245" r="5342" b="17984"/>
          <a:stretch/>
        </p:blipFill>
        <p:spPr bwMode="auto">
          <a:xfrm>
            <a:off x="1094096" y="856444"/>
            <a:ext cx="10003808" cy="478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8</a:t>
            </a:r>
            <a:r>
              <a:rPr lang="en-US" sz="4000" b="1" dirty="0" smtClean="0"/>
              <a:t>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Outputs probabilities, not just classes</a:t>
            </a:r>
          </a:p>
          <a:p>
            <a:pPr lvl="1"/>
            <a:r>
              <a:rPr lang="en-US" sz="3600" dirty="0"/>
              <a:t>Easy to interpret coefficients</a:t>
            </a:r>
          </a:p>
          <a:p>
            <a:pPr lvl="1"/>
            <a:r>
              <a:rPr lang="en-US" sz="3600" dirty="0"/>
              <a:t>Computationally efficient</a:t>
            </a:r>
          </a:p>
          <a:p>
            <a:pPr lvl="1"/>
            <a:r>
              <a:rPr lang="en-US" sz="3600" dirty="0"/>
              <a:t>Works well with linearly separable data</a:t>
            </a:r>
          </a:p>
          <a:p>
            <a:pPr lvl="1"/>
            <a:r>
              <a:rPr lang="en-US" sz="3600" dirty="0"/>
              <a:t>Less prone to overfitting than complex models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Assumes linear decision boundary</a:t>
            </a:r>
          </a:p>
          <a:p>
            <a:pPr lvl="1"/>
            <a:r>
              <a:rPr lang="en-US" sz="3600" dirty="0"/>
              <a:t>Cannot capture complex non-linear relationships</a:t>
            </a:r>
          </a:p>
          <a:p>
            <a:pPr lvl="1"/>
            <a:r>
              <a:rPr lang="en-US" sz="3600" dirty="0"/>
              <a:t>Sensitive to outliers</a:t>
            </a:r>
          </a:p>
          <a:p>
            <a:pPr lvl="1"/>
            <a:r>
              <a:rPr lang="en-US" sz="3600" dirty="0"/>
              <a:t>Requires feature scaling for faster convergence</a:t>
            </a:r>
          </a:p>
          <a:p>
            <a:pPr lvl="1"/>
            <a:r>
              <a:rPr lang="en-US" sz="3600" dirty="0"/>
              <a:t>Performance drops with highly imbalanced data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/>
              <a:t>10. </a:t>
            </a:r>
            <a:r>
              <a:rPr lang="en-IN" sz="2400" b="1" dirty="0"/>
              <a:t>Real-World Applications</a:t>
            </a:r>
          </a:p>
          <a:p>
            <a:pPr marL="457200" lvl="1" indent="0">
              <a:buNone/>
            </a:pPr>
            <a:r>
              <a:rPr lang="en-IN" sz="2000" b="1" dirty="0"/>
              <a:t>Healthcare:</a:t>
            </a:r>
          </a:p>
          <a:p>
            <a:pPr lvl="1"/>
            <a:r>
              <a:rPr lang="en-IN" sz="2000" dirty="0"/>
              <a:t>Disease diagnosis (Yes/No)</a:t>
            </a:r>
          </a:p>
          <a:p>
            <a:pPr lvl="1"/>
            <a:r>
              <a:rPr lang="en-IN" sz="2000" dirty="0"/>
              <a:t>Patient risk prediction</a:t>
            </a:r>
          </a:p>
          <a:p>
            <a:pPr marL="457200" lvl="1" indent="0">
              <a:buNone/>
            </a:pPr>
            <a:r>
              <a:rPr lang="en-IN" sz="2000" b="1" dirty="0"/>
              <a:t>Finance:</a:t>
            </a:r>
          </a:p>
          <a:p>
            <a:pPr lvl="1"/>
            <a:r>
              <a:rPr lang="en-IN" sz="2000" dirty="0"/>
              <a:t>Credit default prediction</a:t>
            </a:r>
          </a:p>
          <a:p>
            <a:pPr lvl="1"/>
            <a:r>
              <a:rPr lang="en-IN" sz="2000" dirty="0"/>
              <a:t>Fraud detection</a:t>
            </a:r>
          </a:p>
          <a:p>
            <a:pPr marL="457200" lvl="1" indent="0">
              <a:buNone/>
            </a:pPr>
            <a:r>
              <a:rPr lang="en-IN" sz="2000" b="1" dirty="0"/>
              <a:t>Marketing:</a:t>
            </a:r>
          </a:p>
          <a:p>
            <a:pPr lvl="1"/>
            <a:r>
              <a:rPr lang="en-IN" sz="2000" dirty="0"/>
              <a:t>Customer churn prediction</a:t>
            </a:r>
          </a:p>
          <a:p>
            <a:pPr lvl="1"/>
            <a:r>
              <a:rPr lang="en-IN" sz="2000" dirty="0"/>
              <a:t>Ad click prediction</a:t>
            </a:r>
          </a:p>
          <a:p>
            <a:pPr marL="457200" lvl="1" indent="0">
              <a:buNone/>
            </a:pPr>
            <a:r>
              <a:rPr lang="en-IN" sz="2000" b="1" dirty="0"/>
              <a:t>HR Analytics:</a:t>
            </a:r>
          </a:p>
          <a:p>
            <a:pPr lvl="1"/>
            <a:r>
              <a:rPr lang="en-IN" sz="2000" dirty="0"/>
              <a:t>Employee attrition prediction</a:t>
            </a:r>
          </a:p>
          <a:p>
            <a:pPr marL="457200" lvl="1" indent="0">
              <a:buNone/>
            </a:pPr>
            <a:r>
              <a:rPr lang="en-IN" sz="2000" b="1" dirty="0"/>
              <a:t>Cybersecurity:</a:t>
            </a:r>
          </a:p>
          <a:p>
            <a:pPr lvl="1"/>
            <a:r>
              <a:rPr lang="en-IN" sz="2000" dirty="0"/>
              <a:t>Spam detection</a:t>
            </a:r>
          </a:p>
          <a:p>
            <a:pPr lvl="1"/>
            <a:r>
              <a:rPr lang="en-IN" sz="2000" dirty="0"/>
              <a:t>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/>
              <a:t>Key Difference from Linear Regression</a:t>
            </a:r>
            <a:endParaRPr lang="en-IN" sz="4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27357"/>
              </p:ext>
            </p:extLst>
          </p:nvPr>
        </p:nvGraphicFramePr>
        <p:xfrm>
          <a:off x="838200" y="1580404"/>
          <a:ext cx="10515600" cy="4110710"/>
        </p:xfrm>
        <a:graphic>
          <a:graphicData uri="http://schemas.openxmlformats.org/drawingml/2006/table">
            <a:tbl>
              <a:tblPr/>
              <a:tblGrid>
                <a:gridCol w="3297072"/>
                <a:gridCol w="3597449"/>
                <a:gridCol w="3621079"/>
              </a:tblGrid>
              <a:tr h="822142">
                <a:tc>
                  <a:txBody>
                    <a:bodyPr/>
                    <a:lstStyle/>
                    <a:p>
                      <a:r>
                        <a:rPr lang="en-IN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142">
                <a:tc>
                  <a:txBody>
                    <a:bodyPr/>
                    <a:lstStyle/>
                    <a:p>
                      <a:r>
                        <a:rPr lang="en-IN" b="1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Probability (0–1)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142">
                <a:tc>
                  <a:txBody>
                    <a:bodyPr/>
                    <a:lstStyle/>
                    <a:p>
                      <a:r>
                        <a:rPr lang="en-IN" b="1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142">
                <a:tc>
                  <a:txBody>
                    <a:bodyPr/>
                    <a:lstStyle/>
                    <a:p>
                      <a:r>
                        <a:rPr lang="en-IN" b="1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Sigmoid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142">
                <a:tc>
                  <a:txBody>
                    <a:bodyPr/>
                    <a:lstStyle/>
                    <a:p>
                      <a:r>
                        <a:rPr lang="en-IN" b="1" dirty="0"/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15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Logistic Regression is a </a:t>
            </a:r>
            <a:r>
              <a:rPr lang="en-US" sz="3200" b="1" dirty="0"/>
              <a:t>probability-based, interpretable, and efficient classification algorithm</a:t>
            </a:r>
            <a:r>
              <a:rPr lang="en-US" sz="3200" dirty="0"/>
              <a:t> that models the relationship between features and </a:t>
            </a:r>
            <a:r>
              <a:rPr lang="en-US" sz="3200" b="1" dirty="0"/>
              <a:t>log-odds</a:t>
            </a:r>
            <a:r>
              <a:rPr lang="en-US" sz="3200" dirty="0"/>
              <a:t>, making it a cornerstone technique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518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46</cp:revision>
  <dcterms:created xsi:type="dcterms:W3CDTF">2026-02-13T06:25:49Z</dcterms:created>
  <dcterms:modified xsi:type="dcterms:W3CDTF">2026-02-20T08:03:32Z</dcterms:modified>
</cp:coreProperties>
</file>