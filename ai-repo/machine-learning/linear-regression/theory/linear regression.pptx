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7" r:id="rId3"/>
    <p:sldId id="378" r:id="rId4"/>
    <p:sldId id="369" r:id="rId5"/>
    <p:sldId id="368" r:id="rId6"/>
    <p:sldId id="370" r:id="rId7"/>
    <p:sldId id="371" r:id="rId8"/>
    <p:sldId id="372" r:id="rId9"/>
    <p:sldId id="377" r:id="rId10"/>
    <p:sldId id="373" r:id="rId11"/>
    <p:sldId id="374" r:id="rId12"/>
    <p:sldId id="375" r:id="rId13"/>
    <p:sldId id="3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LINEAR REGRESSION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1. What is Linear Regression</a:t>
            </a:r>
          </a:p>
          <a:p>
            <a:pPr lvl="1"/>
            <a:r>
              <a:rPr lang="en-US" sz="3600" dirty="0"/>
              <a:t>Linear Regression is a </a:t>
            </a:r>
            <a:r>
              <a:rPr lang="en-US" sz="3600" b="1" dirty="0"/>
              <a:t>supervised machine learning algorithm</a:t>
            </a:r>
            <a:r>
              <a:rPr lang="en-US" sz="3600" dirty="0"/>
              <a:t> and a </a:t>
            </a:r>
            <a:r>
              <a:rPr lang="en-US" sz="3600" b="1" dirty="0"/>
              <a:t>statistical method</a:t>
            </a:r>
            <a:r>
              <a:rPr lang="en-US" sz="3600" dirty="0"/>
              <a:t> used to model the relationship between a </a:t>
            </a:r>
            <a:r>
              <a:rPr lang="en-US" sz="3600" b="1" dirty="0"/>
              <a:t>dependent variable (target)</a:t>
            </a:r>
            <a:r>
              <a:rPr lang="en-US" sz="3600" dirty="0"/>
              <a:t> and one or more </a:t>
            </a:r>
            <a:r>
              <a:rPr lang="en-US" sz="3600" b="1" dirty="0"/>
              <a:t>independent variables (features)</a:t>
            </a:r>
            <a:r>
              <a:rPr lang="en-US" sz="3600" dirty="0"/>
              <a:t> by fitting a </a:t>
            </a:r>
            <a:r>
              <a:rPr lang="en-US" sz="3600" b="1" dirty="0"/>
              <a:t>linear equation</a:t>
            </a:r>
            <a:r>
              <a:rPr lang="en-US" sz="3600" dirty="0"/>
              <a:t> to observed data.</a:t>
            </a:r>
          </a:p>
          <a:p>
            <a:pPr lvl="1"/>
            <a:r>
              <a:rPr lang="en-US" sz="3600" dirty="0"/>
              <a:t>It assumes that the relationship between variables can be represented by a straight line.</a:t>
            </a:r>
          </a:p>
        </p:txBody>
      </p:sp>
    </p:spTree>
    <p:extLst>
      <p:ext uri="{BB962C8B-B14F-4D97-AF65-F5344CB8AC3E}">
        <p14:creationId xmlns:p14="http://schemas.microsoft.com/office/powerpoint/2010/main" val="3839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000" b="1" dirty="0"/>
              <a:t>2</a:t>
            </a:r>
            <a:r>
              <a:rPr lang="en-US" sz="4000" b="1" dirty="0" smtClean="0"/>
              <a:t>. Purpose </a:t>
            </a:r>
            <a:r>
              <a:rPr lang="en-US" sz="4000" b="1" dirty="0"/>
              <a:t>of Linear Regression</a:t>
            </a:r>
          </a:p>
          <a:p>
            <a:pPr marL="457200" lvl="1" indent="0">
              <a:buNone/>
            </a:pPr>
            <a:r>
              <a:rPr lang="en-US" sz="3600" dirty="0"/>
              <a:t>The purpose of </a:t>
            </a:r>
            <a:r>
              <a:rPr lang="en-US" sz="3600" b="1" dirty="0"/>
              <a:t>Linear Regression</a:t>
            </a:r>
            <a:r>
              <a:rPr lang="en-US" sz="3600" dirty="0"/>
              <a:t> is to:</a:t>
            </a:r>
          </a:p>
          <a:p>
            <a:pPr lvl="1"/>
            <a:r>
              <a:rPr lang="en-US" sz="3600" b="1" dirty="0"/>
              <a:t>Predict a continuous numerical value</a:t>
            </a:r>
            <a:r>
              <a:rPr lang="en-US" sz="3600" dirty="0"/>
              <a:t> based on one or more input features</a:t>
            </a:r>
          </a:p>
          <a:p>
            <a:pPr lvl="1"/>
            <a:r>
              <a:rPr lang="en-US" sz="3600" b="1" dirty="0"/>
              <a:t>Model and quantify the relationship</a:t>
            </a:r>
            <a:r>
              <a:rPr lang="en-US" sz="3600" dirty="0"/>
              <a:t> between independent variables and a dependent variable</a:t>
            </a:r>
          </a:p>
          <a:p>
            <a:pPr lvl="1"/>
            <a:r>
              <a:rPr lang="en-US" sz="3600" b="1" dirty="0"/>
              <a:t>Estimate how changes in input variables affect the output</a:t>
            </a:r>
            <a:endParaRPr lang="en-US" sz="3600" dirty="0"/>
          </a:p>
          <a:p>
            <a:pPr lvl="1"/>
            <a:r>
              <a:rPr lang="en-US" sz="3600" b="1" dirty="0"/>
              <a:t>Provide interpretable insights</a:t>
            </a:r>
            <a:r>
              <a:rPr lang="en-US" sz="3600" dirty="0"/>
              <a:t> through coefficients (slope and intercept)</a:t>
            </a:r>
          </a:p>
          <a:p>
            <a:pPr lvl="1"/>
            <a:r>
              <a:rPr lang="en-US" sz="3600" dirty="0"/>
              <a:t>Serve as a </a:t>
            </a:r>
            <a:r>
              <a:rPr lang="en-US" sz="3600" b="1" dirty="0"/>
              <a:t>baseline predictive model</a:t>
            </a:r>
            <a:r>
              <a:rPr lang="en-US" sz="3600" dirty="0"/>
              <a:t> in regression </a:t>
            </a:r>
            <a:r>
              <a:rPr lang="en-US" sz="3600" dirty="0" smtClean="0"/>
              <a:t>problems</a:t>
            </a:r>
            <a:endParaRPr lang="en-US" sz="3600" dirty="0"/>
          </a:p>
          <a:p>
            <a:pPr marL="457200" lvl="1" indent="0">
              <a:buNone/>
            </a:pPr>
            <a:r>
              <a:rPr lang="en-US" sz="3600" i="1" dirty="0" smtClean="0"/>
              <a:t>In </a:t>
            </a:r>
            <a:r>
              <a:rPr lang="en-US" sz="3600" i="1" dirty="0"/>
              <a:t>simple terms: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Linear Regression is used </a:t>
            </a:r>
            <a:r>
              <a:rPr lang="en-US" sz="3600" b="1" dirty="0"/>
              <a:t>when the output is a real number</a:t>
            </a:r>
            <a:r>
              <a:rPr lang="en-US" sz="3600" dirty="0"/>
              <a:t> and the relationship between variables is assumed to be linear.</a:t>
            </a:r>
          </a:p>
        </p:txBody>
      </p:sp>
    </p:spTree>
    <p:extLst>
      <p:ext uri="{BB962C8B-B14F-4D97-AF65-F5344CB8AC3E}">
        <p14:creationId xmlns:p14="http://schemas.microsoft.com/office/powerpoint/2010/main" val="227276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3</a:t>
            </a:r>
            <a:r>
              <a:rPr lang="en-US" sz="4000" b="1" dirty="0" smtClean="0"/>
              <a:t>. </a:t>
            </a:r>
            <a:r>
              <a:rPr lang="en-US" sz="4000" b="1" dirty="0"/>
              <a:t>Why it is Used</a:t>
            </a:r>
          </a:p>
          <a:p>
            <a:pPr lvl="1"/>
            <a:r>
              <a:rPr lang="en-US" sz="3600" dirty="0"/>
              <a:t>Linear Regression is used because it:</a:t>
            </a:r>
          </a:p>
          <a:p>
            <a:pPr lvl="1"/>
            <a:r>
              <a:rPr lang="en-US" sz="3600" dirty="0"/>
              <a:t>Predicts </a:t>
            </a:r>
            <a:r>
              <a:rPr lang="en-US" sz="3600" b="1" dirty="0"/>
              <a:t>continuous numerical values</a:t>
            </a:r>
            <a:endParaRPr lang="en-US" sz="3600" dirty="0"/>
          </a:p>
          <a:p>
            <a:pPr lvl="1"/>
            <a:r>
              <a:rPr lang="en-US" sz="3600" dirty="0"/>
              <a:t>Quantifies the </a:t>
            </a:r>
            <a:r>
              <a:rPr lang="en-US" sz="3600" b="1" dirty="0"/>
              <a:t>strength and direction</a:t>
            </a:r>
            <a:r>
              <a:rPr lang="en-US" sz="3600" dirty="0"/>
              <a:t> of relationships</a:t>
            </a:r>
          </a:p>
          <a:p>
            <a:pPr lvl="1"/>
            <a:r>
              <a:rPr lang="en-US" sz="3600" dirty="0"/>
              <a:t>Is </a:t>
            </a:r>
            <a:r>
              <a:rPr lang="en-US" sz="3600" b="1" dirty="0"/>
              <a:t>simple, interpretable, and fast</a:t>
            </a:r>
            <a:endParaRPr lang="en-US" sz="3600" dirty="0"/>
          </a:p>
          <a:p>
            <a:pPr lvl="1"/>
            <a:r>
              <a:rPr lang="en-US" sz="3600" dirty="0"/>
              <a:t>Serves as a </a:t>
            </a:r>
            <a:r>
              <a:rPr lang="en-US" sz="3600" b="1" dirty="0"/>
              <a:t>baseline model</a:t>
            </a:r>
            <a:r>
              <a:rPr lang="en-US" sz="3600" dirty="0"/>
              <a:t> for more complex algorithms</a:t>
            </a:r>
          </a:p>
        </p:txBody>
      </p:sp>
    </p:spTree>
    <p:extLst>
      <p:ext uri="{BB962C8B-B14F-4D97-AF65-F5344CB8AC3E}">
        <p14:creationId xmlns:p14="http://schemas.microsoft.com/office/powerpoint/2010/main" val="7521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4</a:t>
            </a:r>
            <a:r>
              <a:rPr lang="en-US" sz="4000" b="1" dirty="0" smtClean="0"/>
              <a:t>. </a:t>
            </a:r>
            <a:r>
              <a:rPr lang="en-US" sz="4000" b="1" dirty="0"/>
              <a:t>How Linear Regression Works</a:t>
            </a:r>
          </a:p>
          <a:p>
            <a:pPr lvl="1"/>
            <a:r>
              <a:rPr lang="en-US" sz="3600" dirty="0"/>
              <a:t>Takes input features </a:t>
            </a:r>
            <a:r>
              <a:rPr lang="en-US" sz="3600" dirty="0" smtClean="0"/>
              <a:t>X </a:t>
            </a:r>
            <a:r>
              <a:rPr lang="en-US" sz="3600" dirty="0"/>
              <a:t>and output </a:t>
            </a:r>
            <a:r>
              <a:rPr lang="en-US" sz="3600" dirty="0" smtClean="0"/>
              <a:t>y</a:t>
            </a:r>
            <a:endParaRPr lang="en-US" sz="3600" dirty="0"/>
          </a:p>
          <a:p>
            <a:pPr lvl="1"/>
            <a:r>
              <a:rPr lang="en-US" sz="3600" dirty="0"/>
              <a:t>Assumes a linear relationship between them</a:t>
            </a:r>
          </a:p>
          <a:p>
            <a:pPr lvl="1"/>
            <a:r>
              <a:rPr lang="en-US" sz="3600" dirty="0"/>
              <a:t>Fits a line that </a:t>
            </a:r>
            <a:r>
              <a:rPr lang="en-US" sz="3600" b="1" dirty="0"/>
              <a:t>minimizes the error</a:t>
            </a:r>
            <a:r>
              <a:rPr lang="en-US" sz="3600" dirty="0"/>
              <a:t> between predicted and actual values</a:t>
            </a:r>
          </a:p>
          <a:p>
            <a:pPr lvl="1"/>
            <a:r>
              <a:rPr lang="en-US" sz="3600" dirty="0"/>
              <a:t>Uses optimization techniques (like </a:t>
            </a:r>
            <a:r>
              <a:rPr lang="en-US" sz="3600" b="1" dirty="0"/>
              <a:t>Least Squares</a:t>
            </a:r>
            <a:r>
              <a:rPr lang="en-US" sz="3600" dirty="0"/>
              <a:t> or </a:t>
            </a:r>
            <a:r>
              <a:rPr lang="en-US" sz="3600" b="1" dirty="0"/>
              <a:t>Gradient Descent</a:t>
            </a:r>
            <a:r>
              <a:rPr lang="en-US" sz="3600" dirty="0"/>
              <a:t>) to find best parameters</a:t>
            </a:r>
          </a:p>
          <a:p>
            <a:pPr lvl="1"/>
            <a:r>
              <a:rPr lang="en-US" sz="3600" dirty="0"/>
              <a:t>Produces predictions for new unseen data</a:t>
            </a:r>
          </a:p>
        </p:txBody>
      </p:sp>
    </p:spTree>
    <p:extLst>
      <p:ext uri="{BB962C8B-B14F-4D97-AF65-F5344CB8AC3E}">
        <p14:creationId xmlns:p14="http://schemas.microsoft.com/office/powerpoint/2010/main" val="426510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5</a:t>
            </a:r>
            <a:r>
              <a:rPr lang="en-US" sz="4000" b="1" dirty="0" smtClean="0"/>
              <a:t>. </a:t>
            </a:r>
            <a:r>
              <a:rPr lang="en-US" sz="4000" b="1" dirty="0"/>
              <a:t>Where it is Used</a:t>
            </a:r>
          </a:p>
          <a:p>
            <a:pPr marL="457200" lvl="1" indent="0">
              <a:buNone/>
            </a:pPr>
            <a:r>
              <a:rPr lang="en-US" sz="3600" dirty="0"/>
              <a:t>Linear Regression is used in:</a:t>
            </a:r>
          </a:p>
          <a:p>
            <a:pPr lvl="1"/>
            <a:r>
              <a:rPr lang="en-US" sz="3600" dirty="0"/>
              <a:t>Data Science</a:t>
            </a:r>
          </a:p>
          <a:p>
            <a:pPr lvl="1"/>
            <a:r>
              <a:rPr lang="en-US" sz="3600" dirty="0"/>
              <a:t>Machine Learning</a:t>
            </a:r>
          </a:p>
          <a:p>
            <a:pPr lvl="1"/>
            <a:r>
              <a:rPr lang="en-US" sz="3600" dirty="0"/>
              <a:t>Economics</a:t>
            </a:r>
          </a:p>
          <a:p>
            <a:pPr lvl="1"/>
            <a:r>
              <a:rPr lang="en-US" sz="3600" dirty="0"/>
              <a:t>Engineering</a:t>
            </a:r>
          </a:p>
          <a:p>
            <a:pPr lvl="1"/>
            <a:r>
              <a:rPr lang="en-US" sz="3600" dirty="0"/>
              <a:t>Business Analytics</a:t>
            </a:r>
          </a:p>
          <a:p>
            <a:pPr lvl="1"/>
            <a:r>
              <a:rPr lang="en-US" sz="3600" dirty="0"/>
              <a:t>Scientific Research</a:t>
            </a:r>
          </a:p>
        </p:txBody>
      </p:sp>
    </p:spTree>
    <p:extLst>
      <p:ext uri="{BB962C8B-B14F-4D97-AF65-F5344CB8AC3E}">
        <p14:creationId xmlns:p14="http://schemas.microsoft.com/office/powerpoint/2010/main" val="38992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 dirty="0"/>
              <a:t>6</a:t>
            </a:r>
            <a:r>
              <a:rPr lang="en-IN" sz="3600" b="1" dirty="0" smtClean="0"/>
              <a:t>. </a:t>
            </a:r>
            <a:r>
              <a:rPr lang="en-IN" sz="3600" b="1" dirty="0"/>
              <a:t>Formula</a:t>
            </a:r>
          </a:p>
          <a:p>
            <a:pPr marL="457200" lvl="1" indent="0">
              <a:buNone/>
            </a:pPr>
            <a:r>
              <a:rPr lang="en-IN" sz="3200" b="1" dirty="0"/>
              <a:t>Simple Linear </a:t>
            </a:r>
            <a:r>
              <a:rPr lang="en-IN" sz="3200" b="1" dirty="0" smtClean="0"/>
              <a:t>Regression: </a:t>
            </a:r>
            <a:r>
              <a:rPr lang="en-IN" sz="3200" dirty="0" smtClean="0"/>
              <a:t>y = </a:t>
            </a:r>
            <a:r>
              <a:rPr lang="en-IN" sz="3200" dirty="0" err="1" smtClean="0"/>
              <a:t>mx+c</a:t>
            </a:r>
            <a:r>
              <a:rPr lang="en-IN" sz="3200" dirty="0" smtClean="0"/>
              <a:t> </a:t>
            </a:r>
          </a:p>
          <a:p>
            <a:pPr marL="457200" lvl="1" indent="0">
              <a:buNone/>
            </a:pPr>
            <a:r>
              <a:rPr lang="en-IN" sz="3200" b="1" dirty="0" smtClean="0"/>
              <a:t>Multiple </a:t>
            </a:r>
            <a:r>
              <a:rPr lang="en-IN" sz="3200" b="1" dirty="0"/>
              <a:t>Linear </a:t>
            </a:r>
            <a:r>
              <a:rPr lang="en-IN" sz="3200" b="1" dirty="0" smtClean="0"/>
              <a:t>Regression: </a:t>
            </a:r>
            <a:r>
              <a:rPr lang="en-IN" sz="3200" dirty="0" smtClean="0"/>
              <a:t>y = </a:t>
            </a:r>
            <a:r>
              <a:rPr lang="el-GR" sz="3200" dirty="0" smtClean="0"/>
              <a:t>β0+β1</a:t>
            </a:r>
            <a:r>
              <a:rPr lang="en-IN" sz="3200" dirty="0"/>
              <a:t>x1+</a:t>
            </a:r>
            <a:r>
              <a:rPr lang="el-GR" sz="3200" dirty="0"/>
              <a:t>β2</a:t>
            </a:r>
            <a:r>
              <a:rPr lang="en-IN" sz="3200" dirty="0"/>
              <a:t>x2+⋯+</a:t>
            </a:r>
            <a:r>
              <a:rPr lang="el-GR" sz="3200" dirty="0"/>
              <a:t>β</a:t>
            </a:r>
            <a:r>
              <a:rPr lang="en-IN" sz="3200" dirty="0" err="1" smtClean="0"/>
              <a:t>nxn</a:t>
            </a:r>
            <a:endParaRPr lang="en-IN" sz="3200" dirty="0" smtClean="0"/>
          </a:p>
          <a:p>
            <a:pPr marL="457200" lvl="1" indent="0">
              <a:buNone/>
            </a:pPr>
            <a:r>
              <a:rPr lang="en-IN" sz="3200" dirty="0" smtClean="0"/>
              <a:t>Where</a:t>
            </a:r>
            <a:r>
              <a:rPr lang="en-IN" sz="3200" dirty="0"/>
              <a:t>:</a:t>
            </a:r>
          </a:p>
          <a:p>
            <a:pPr lvl="1"/>
            <a:r>
              <a:rPr lang="en-IN" sz="3200" dirty="0" smtClean="0"/>
              <a:t>y </a:t>
            </a:r>
            <a:r>
              <a:rPr lang="en-IN" sz="3200" dirty="0"/>
              <a:t>= dependent variable</a:t>
            </a:r>
          </a:p>
          <a:p>
            <a:pPr lvl="1"/>
            <a:r>
              <a:rPr lang="en-IN" sz="3200" dirty="0" smtClean="0"/>
              <a:t>x </a:t>
            </a:r>
            <a:r>
              <a:rPr lang="en-IN" sz="3200" dirty="0"/>
              <a:t>= independent variable(s)</a:t>
            </a:r>
          </a:p>
          <a:p>
            <a:pPr lvl="1"/>
            <a:r>
              <a:rPr lang="el-GR" sz="3200" dirty="0" smtClean="0"/>
              <a:t>β0 </a:t>
            </a:r>
            <a:r>
              <a:rPr lang="el-GR" sz="3200" dirty="0"/>
              <a:t>= </a:t>
            </a:r>
            <a:r>
              <a:rPr lang="en-IN" sz="3200" dirty="0"/>
              <a:t>intercept</a:t>
            </a:r>
          </a:p>
          <a:p>
            <a:pPr lvl="1"/>
            <a:r>
              <a:rPr lang="el-GR" sz="3200" dirty="0"/>
              <a:t>β1,β2</a:t>
            </a:r>
            <a:r>
              <a:rPr lang="el-GR" sz="3200" dirty="0" smtClean="0"/>
              <a:t>,… </a:t>
            </a:r>
            <a:r>
              <a:rPr lang="el-GR" sz="3200" dirty="0"/>
              <a:t>= </a:t>
            </a:r>
            <a:r>
              <a:rPr lang="en-IN" sz="3200" dirty="0"/>
              <a:t>coefficients</a:t>
            </a:r>
          </a:p>
          <a:p>
            <a:pPr lvl="1"/>
            <a:r>
              <a:rPr lang="en-IN" sz="3200" dirty="0" smtClean="0"/>
              <a:t>m </a:t>
            </a:r>
            <a:r>
              <a:rPr lang="en-IN" sz="3200" dirty="0"/>
              <a:t>= slope</a:t>
            </a:r>
          </a:p>
          <a:p>
            <a:pPr lvl="1"/>
            <a:r>
              <a:rPr lang="en-IN" sz="3200" dirty="0" smtClean="0"/>
              <a:t>c </a:t>
            </a:r>
            <a:r>
              <a:rPr lang="en-IN" sz="3200" dirty="0"/>
              <a:t>= intercept</a:t>
            </a:r>
          </a:p>
        </p:txBody>
      </p:sp>
    </p:spTree>
    <p:extLst>
      <p:ext uri="{BB962C8B-B14F-4D97-AF65-F5344CB8AC3E}">
        <p14:creationId xmlns:p14="http://schemas.microsoft.com/office/powerpoint/2010/main" val="3402637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610851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 dirty="0"/>
              <a:t>7</a:t>
            </a:r>
            <a:r>
              <a:rPr lang="en-IN" sz="3600" b="1" dirty="0" smtClean="0"/>
              <a:t>. </a:t>
            </a:r>
            <a:r>
              <a:rPr lang="en-IN" sz="3600" b="1" dirty="0"/>
              <a:t>Technical Details</a:t>
            </a:r>
          </a:p>
          <a:p>
            <a:pPr marL="457200" lvl="1" indent="0">
              <a:buNone/>
            </a:pPr>
            <a:r>
              <a:rPr lang="en-IN" sz="2800" b="1" dirty="0"/>
              <a:t>Assumptions:</a:t>
            </a:r>
          </a:p>
          <a:p>
            <a:pPr lvl="1"/>
            <a:r>
              <a:rPr lang="en-IN" sz="2800" dirty="0"/>
              <a:t>Linearity</a:t>
            </a:r>
          </a:p>
          <a:p>
            <a:pPr lvl="1"/>
            <a:r>
              <a:rPr lang="en-IN" sz="2800" dirty="0"/>
              <a:t>Independence of errors</a:t>
            </a:r>
          </a:p>
          <a:p>
            <a:pPr lvl="1"/>
            <a:r>
              <a:rPr lang="en-IN" sz="2800" dirty="0"/>
              <a:t>Homoscedasticity (constant variance)</a:t>
            </a:r>
          </a:p>
          <a:p>
            <a:pPr lvl="1"/>
            <a:r>
              <a:rPr lang="en-IN" sz="2800" dirty="0"/>
              <a:t>No multicollinearity</a:t>
            </a:r>
          </a:p>
          <a:p>
            <a:pPr lvl="1"/>
            <a:r>
              <a:rPr lang="en-IN" sz="2800" dirty="0"/>
              <a:t>Normally distributed errors</a:t>
            </a:r>
          </a:p>
          <a:p>
            <a:pPr marL="457200" lvl="1" indent="0">
              <a:buNone/>
            </a:pPr>
            <a:r>
              <a:rPr lang="en-IN" sz="2800" b="1" dirty="0"/>
              <a:t>Cost Function (Mean Squared Error):</a:t>
            </a:r>
          </a:p>
          <a:p>
            <a:pPr lvl="1"/>
            <a:r>
              <a:rPr lang="en-IN" sz="2800" dirty="0"/>
              <a:t>J(</a:t>
            </a:r>
            <a:r>
              <a:rPr lang="el-GR" sz="2800" dirty="0"/>
              <a:t>θ</a:t>
            </a:r>
            <a:r>
              <a:rPr lang="el-GR" sz="2800" dirty="0" smtClean="0"/>
              <a:t>)</a:t>
            </a:r>
            <a:r>
              <a:rPr lang="en-US" sz="2800" dirty="0" smtClean="0"/>
              <a:t> </a:t>
            </a:r>
            <a:r>
              <a:rPr lang="el-GR" sz="2800" dirty="0" smtClean="0"/>
              <a:t>=</a:t>
            </a:r>
            <a:r>
              <a:rPr lang="en-US" sz="2800" dirty="0" smtClean="0"/>
              <a:t> </a:t>
            </a:r>
            <a:r>
              <a:rPr lang="el-GR" sz="2800" dirty="0" smtClean="0"/>
              <a:t>1</a:t>
            </a:r>
            <a:r>
              <a:rPr lang="en-US" sz="2800" dirty="0" smtClean="0"/>
              <a:t>/</a:t>
            </a:r>
            <a:r>
              <a:rPr lang="en-IN" sz="2800" dirty="0" err="1" smtClean="0"/>
              <a:t>n</a:t>
            </a:r>
            <a:r>
              <a:rPr lang="en-IN" sz="2800" dirty="0" err="1"/>
              <a:t>∑i</a:t>
            </a:r>
            <a:r>
              <a:rPr lang="en-IN" sz="2800" dirty="0"/>
              <a:t>=1n(</a:t>
            </a:r>
            <a:r>
              <a:rPr lang="en-IN" sz="2800" dirty="0" err="1"/>
              <a:t>yi−y^i</a:t>
            </a:r>
            <a:r>
              <a:rPr lang="en-IN" sz="2800" dirty="0" smtClean="0"/>
              <a:t>)^2 </a:t>
            </a:r>
          </a:p>
          <a:p>
            <a:pPr lvl="1"/>
            <a:endParaRPr lang="en-IN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714699" y="791570"/>
            <a:ext cx="5199797" cy="5535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IN" sz="2800" b="1" dirty="0" smtClean="0"/>
          </a:p>
          <a:p>
            <a:pPr marL="457200" lvl="1" indent="0">
              <a:buNone/>
            </a:pPr>
            <a:r>
              <a:rPr lang="en-IN" sz="2800" b="1" dirty="0" smtClean="0"/>
              <a:t>Optimization </a:t>
            </a:r>
            <a:r>
              <a:rPr lang="en-IN" sz="2800" b="1" dirty="0"/>
              <a:t>Methods:</a:t>
            </a:r>
          </a:p>
          <a:p>
            <a:pPr lvl="1"/>
            <a:r>
              <a:rPr lang="en-IN" sz="2800" dirty="0"/>
              <a:t>Normal Equation</a:t>
            </a:r>
          </a:p>
          <a:p>
            <a:pPr lvl="1"/>
            <a:r>
              <a:rPr lang="en-IN" sz="2800" dirty="0"/>
              <a:t>Gradient </a:t>
            </a:r>
            <a:r>
              <a:rPr lang="en-IN" sz="2800" dirty="0" smtClean="0"/>
              <a:t>Descent</a:t>
            </a:r>
            <a:endParaRPr lang="en-IN" sz="2800" b="1" dirty="0" smtClean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IN" sz="2800" b="1" dirty="0" smtClean="0"/>
              <a:t>Evaluation Metrics:</a:t>
            </a:r>
          </a:p>
          <a:p>
            <a:pPr lvl="1"/>
            <a:r>
              <a:rPr lang="en-IN" sz="2800" dirty="0" smtClean="0"/>
              <a:t>R² Score</a:t>
            </a:r>
          </a:p>
          <a:p>
            <a:pPr lvl="1"/>
            <a:r>
              <a:rPr lang="en-IN" sz="2800" dirty="0" smtClean="0"/>
              <a:t>Mean Squared Error (MSE)</a:t>
            </a:r>
          </a:p>
          <a:p>
            <a:pPr lvl="1"/>
            <a:r>
              <a:rPr lang="en-IN" sz="2800" dirty="0" smtClean="0"/>
              <a:t>Root Mean Squared Error (RMSE)</a:t>
            </a:r>
          </a:p>
          <a:p>
            <a:pPr lvl="1"/>
            <a:r>
              <a:rPr lang="en-IN" sz="2800" dirty="0" smtClean="0"/>
              <a:t>Mean Absolute Error (MAE)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1448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geeksforgeeks.org/wp-content/uploads/20231129130431/111111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423116"/>
            <a:ext cx="9525000" cy="597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192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8</a:t>
            </a:r>
            <a:r>
              <a:rPr lang="en-US" sz="4000" b="1" dirty="0" smtClean="0"/>
              <a:t>. </a:t>
            </a:r>
            <a:r>
              <a:rPr lang="en-US" sz="4000" b="1" dirty="0"/>
              <a:t>Pros</a:t>
            </a:r>
          </a:p>
          <a:p>
            <a:pPr lvl="1"/>
            <a:r>
              <a:rPr lang="en-US" sz="3600" dirty="0"/>
              <a:t>Easy to understand and implement</a:t>
            </a:r>
          </a:p>
          <a:p>
            <a:pPr lvl="1"/>
            <a:r>
              <a:rPr lang="en-US" sz="3600" dirty="0"/>
              <a:t>Highly interpretable results</a:t>
            </a:r>
          </a:p>
          <a:p>
            <a:pPr lvl="1"/>
            <a:r>
              <a:rPr lang="en-US" sz="3600" dirty="0"/>
              <a:t>Computationally efficient</a:t>
            </a:r>
          </a:p>
          <a:p>
            <a:pPr lvl="1"/>
            <a:r>
              <a:rPr lang="en-US" sz="3600" dirty="0"/>
              <a:t>Works well with small datasets</a:t>
            </a:r>
          </a:p>
          <a:p>
            <a:pPr lvl="1"/>
            <a:r>
              <a:rPr lang="en-US" sz="3600" dirty="0"/>
              <a:t>Useful for feature importance analysis</a:t>
            </a:r>
          </a:p>
        </p:txBody>
      </p:sp>
    </p:spTree>
    <p:extLst>
      <p:ext uri="{BB962C8B-B14F-4D97-AF65-F5344CB8AC3E}">
        <p14:creationId xmlns:p14="http://schemas.microsoft.com/office/powerpoint/2010/main" val="156396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9</a:t>
            </a:r>
            <a:r>
              <a:rPr lang="en-US" sz="4000" b="1" dirty="0" smtClean="0"/>
              <a:t>. </a:t>
            </a:r>
            <a:r>
              <a:rPr lang="en-US" sz="4000" b="1" dirty="0"/>
              <a:t>Cons</a:t>
            </a:r>
          </a:p>
          <a:p>
            <a:pPr lvl="1"/>
            <a:r>
              <a:rPr lang="en-US" sz="3600" dirty="0"/>
              <a:t>Assumes linear relationship</a:t>
            </a:r>
          </a:p>
          <a:p>
            <a:pPr lvl="1"/>
            <a:r>
              <a:rPr lang="en-US" sz="3600" dirty="0"/>
              <a:t>Sensitive to outliers</a:t>
            </a:r>
          </a:p>
          <a:p>
            <a:pPr lvl="1"/>
            <a:r>
              <a:rPr lang="en-US" sz="3600" dirty="0"/>
              <a:t>Poor performance with non-linear data</a:t>
            </a:r>
          </a:p>
          <a:p>
            <a:pPr lvl="1"/>
            <a:r>
              <a:rPr lang="en-US" sz="3600" dirty="0"/>
              <a:t>Requires assumptions to be satisfied</a:t>
            </a:r>
          </a:p>
          <a:p>
            <a:pPr lvl="1"/>
            <a:r>
              <a:rPr lang="en-US" sz="3600" dirty="0"/>
              <a:t>Multicollinearity affects stability</a:t>
            </a:r>
          </a:p>
        </p:txBody>
      </p:sp>
    </p:spTree>
    <p:extLst>
      <p:ext uri="{BB962C8B-B14F-4D97-AF65-F5344CB8AC3E}">
        <p14:creationId xmlns:p14="http://schemas.microsoft.com/office/powerpoint/2010/main" val="41499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501669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 smtClean="0"/>
              <a:t>10. </a:t>
            </a:r>
            <a:r>
              <a:rPr lang="en-US" sz="3200" b="1" dirty="0"/>
              <a:t>Real-World Applications</a:t>
            </a:r>
          </a:p>
          <a:p>
            <a:pPr marL="457200" lvl="1" indent="0">
              <a:buNone/>
            </a:pPr>
            <a:r>
              <a:rPr lang="en-US" sz="2800" b="1" dirty="0"/>
              <a:t>Business &amp; Economics:</a:t>
            </a:r>
          </a:p>
          <a:p>
            <a:pPr lvl="1"/>
            <a:r>
              <a:rPr lang="en-US" sz="2800" dirty="0"/>
              <a:t>Sales forecasting</a:t>
            </a:r>
          </a:p>
          <a:p>
            <a:pPr lvl="1"/>
            <a:r>
              <a:rPr lang="en-US" sz="2800" dirty="0"/>
              <a:t>Price prediction</a:t>
            </a:r>
          </a:p>
          <a:p>
            <a:pPr lvl="1"/>
            <a:r>
              <a:rPr lang="en-US" sz="2800" dirty="0"/>
              <a:t>Demand analysis</a:t>
            </a:r>
          </a:p>
          <a:p>
            <a:pPr marL="457200" lvl="1" indent="0">
              <a:buNone/>
            </a:pPr>
            <a:r>
              <a:rPr lang="en-US" sz="2800" b="1" dirty="0"/>
              <a:t>Healthcare:</a:t>
            </a:r>
          </a:p>
          <a:p>
            <a:pPr lvl="1"/>
            <a:r>
              <a:rPr lang="en-US" sz="2800" dirty="0"/>
              <a:t>Predicting patient recovery time</a:t>
            </a:r>
          </a:p>
          <a:p>
            <a:pPr lvl="1"/>
            <a:r>
              <a:rPr lang="en-US" sz="2800" dirty="0"/>
              <a:t>Medical cost </a:t>
            </a:r>
            <a:r>
              <a:rPr lang="en-US" sz="2800" dirty="0" smtClean="0"/>
              <a:t>estimation</a:t>
            </a:r>
            <a:endParaRPr lang="en-US" sz="2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854890" y="477672"/>
            <a:ext cx="5691116" cy="5535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2000" b="1" dirty="0" smtClean="0"/>
          </a:p>
          <a:p>
            <a:pPr marL="457200" lvl="1" indent="0">
              <a:buNone/>
            </a:pPr>
            <a:endParaRPr lang="en-US" sz="2000" b="1" dirty="0" smtClean="0"/>
          </a:p>
          <a:p>
            <a:pPr marL="457200" lvl="1" indent="0">
              <a:buNone/>
            </a:pPr>
            <a:r>
              <a:rPr lang="en-US" sz="2800" b="1" dirty="0" smtClean="0"/>
              <a:t>Finance:</a:t>
            </a:r>
          </a:p>
          <a:p>
            <a:pPr lvl="1"/>
            <a:r>
              <a:rPr lang="en-US" sz="2800" dirty="0" smtClean="0"/>
              <a:t>Stock price trends</a:t>
            </a:r>
          </a:p>
          <a:p>
            <a:pPr lvl="1"/>
            <a:r>
              <a:rPr lang="en-US" sz="2800" dirty="0" smtClean="0"/>
              <a:t>Risk assessment</a:t>
            </a:r>
          </a:p>
          <a:p>
            <a:pPr lvl="1"/>
            <a:r>
              <a:rPr lang="en-US" sz="2800" dirty="0" smtClean="0"/>
              <a:t>Credit scoring</a:t>
            </a:r>
          </a:p>
          <a:p>
            <a:pPr marL="457200" lvl="1" indent="0">
              <a:buNone/>
            </a:pPr>
            <a:r>
              <a:rPr lang="en-US" sz="2800" b="1" dirty="0" smtClean="0"/>
              <a:t>Engineering</a:t>
            </a:r>
            <a:r>
              <a:rPr lang="en-US" sz="2800" b="1" dirty="0"/>
              <a:t>:</a:t>
            </a:r>
          </a:p>
          <a:p>
            <a:pPr lvl="1"/>
            <a:r>
              <a:rPr lang="en-US" sz="2800" dirty="0"/>
              <a:t>System performance prediction</a:t>
            </a:r>
          </a:p>
          <a:p>
            <a:pPr lvl="1"/>
            <a:r>
              <a:rPr lang="en-US" sz="2800" dirty="0"/>
              <a:t>Load and stress </a:t>
            </a:r>
            <a:r>
              <a:rPr lang="en-US" sz="2800" dirty="0" smtClean="0"/>
              <a:t>analysis</a:t>
            </a:r>
            <a:endParaRPr lang="en-US" sz="2800" b="1" dirty="0" smtClean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800" b="1" dirty="0" smtClean="0"/>
              <a:t>Social Sciences:</a:t>
            </a:r>
          </a:p>
          <a:p>
            <a:pPr lvl="1"/>
            <a:r>
              <a:rPr lang="en-US" sz="2800" dirty="0" smtClean="0"/>
              <a:t>Population growth modeling</a:t>
            </a:r>
          </a:p>
          <a:p>
            <a:pPr lvl="1"/>
            <a:r>
              <a:rPr lang="en-US" sz="2800" dirty="0" smtClean="0"/>
              <a:t>Income vs education studies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2684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Summary</a:t>
            </a:r>
          </a:p>
          <a:p>
            <a:pPr lvl="1"/>
            <a:r>
              <a:rPr lang="en-US" sz="3200" dirty="0"/>
              <a:t>Linear Regression is a </a:t>
            </a:r>
            <a:r>
              <a:rPr lang="en-US" sz="3200" b="1" dirty="0"/>
              <a:t>fundamental, interpretable, and powerful predictive model</a:t>
            </a:r>
            <a:r>
              <a:rPr lang="en-US" sz="3200" dirty="0"/>
              <a:t> best suited for </a:t>
            </a:r>
            <a:r>
              <a:rPr lang="en-US" sz="3200" b="1" dirty="0"/>
              <a:t>understanding relationships and making numeric predictions</a:t>
            </a:r>
            <a:r>
              <a:rPr lang="en-US" sz="3200" dirty="0"/>
              <a:t> when data follows a linear pattern.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11"/>
          <a:stretch/>
        </p:blipFill>
        <p:spPr>
          <a:xfrm>
            <a:off x="3428206" y="3545682"/>
            <a:ext cx="5335588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6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4520</TotalTime>
  <Words>494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46</cp:revision>
  <dcterms:created xsi:type="dcterms:W3CDTF">2026-02-13T06:25:49Z</dcterms:created>
  <dcterms:modified xsi:type="dcterms:W3CDTF">2026-02-20T08:03:25Z</dcterms:modified>
</cp:coreProperties>
</file>