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2193D"/>
          </a:solidFill>
          <a:ln w="12700">
            <a:solidFill>
              <a:srgbClr val="12193D"/>
            </a:solidFill>
            <a:prstDash val="solid"/>
          </a:ln>
        </p:spPr>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1300" b="1" spc="600" kern="0" dirty="0">
                <a:solidFill>
                  <a:srgbClr val="7A8CC0"/>
                </a:solidFill>
                <a:latin typeface="Calibri" pitchFamily="34" charset="0"/>
                <a:ea typeface="Calibri" pitchFamily="34" charset="-122"/>
                <a:cs typeface="Calibri" pitchFamily="34" charset="-120"/>
              </a:rPr>
              <a:t>COMPUTER VISION</a:t>
            </a:r>
            <a:endParaRPr lang="en-US" sz="1300" dirty="0"/>
          </a:p>
        </p:txBody>
      </p:sp>
      <p:sp>
        <p:nvSpPr>
          <p:cNvPr id="4" name="Text 2"/>
          <p:cNvSpPr/>
          <p:nvPr/>
        </p:nvSpPr>
        <p:spPr>
          <a:xfrm>
            <a:off x="457200" y="1188720"/>
            <a:ext cx="8229600" cy="109728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Section D</a:t>
            </a:r>
            <a:endParaRPr lang="en-US" sz="5200" dirty="0"/>
          </a:p>
        </p:txBody>
      </p:sp>
      <p:sp>
        <p:nvSpPr>
          <p:cNvPr id="5" name="Text 3"/>
          <p:cNvSpPr/>
          <p:nvPr/>
        </p:nvSpPr>
        <p:spPr>
          <a:xfrm>
            <a:off x="457200" y="2331720"/>
            <a:ext cx="8229600" cy="548640"/>
          </a:xfrm>
          <a:prstGeom prst="rect">
            <a:avLst/>
          </a:prstGeom>
          <a:noFill/>
          <a:ln/>
        </p:spPr>
        <p:txBody>
          <a:bodyPr wrap="square" rtlCol="0" anchor="ctr"/>
          <a:lstStyle/>
          <a:p>
            <a:pPr indent="0" marL="0">
              <a:buNone/>
            </a:pPr>
            <a:r>
              <a:rPr lang="en-US" sz="2000" dirty="0">
                <a:solidFill>
                  <a:srgbClr val="7A8CC0"/>
                </a:solidFill>
                <a:latin typeface="Calibri" pitchFamily="34" charset="0"/>
                <a:ea typeface="Calibri" pitchFamily="34" charset="-122"/>
                <a:cs typeface="Calibri" pitchFamily="34" charset="-120"/>
              </a:rPr>
              <a:t>Classical Object Detection</a:t>
            </a:r>
            <a:endParaRPr lang="en-US" sz="2000" dirty="0"/>
          </a:p>
        </p:txBody>
      </p:sp>
      <p:sp>
        <p:nvSpPr>
          <p:cNvPr id="6" name="Text 4"/>
          <p:cNvSpPr/>
          <p:nvPr/>
        </p:nvSpPr>
        <p:spPr>
          <a:xfrm>
            <a:off x="457200" y="3611880"/>
            <a:ext cx="8229600" cy="457200"/>
          </a:xfrm>
          <a:prstGeom prst="rect">
            <a:avLst/>
          </a:prstGeom>
          <a:noFill/>
          <a:ln/>
        </p:spPr>
        <p:txBody>
          <a:bodyPr wrap="square" rtlCol="0" anchor="ctr"/>
          <a:lstStyle/>
          <a:p>
            <a:pPr indent="0" marL="0">
              <a:buNone/>
            </a:pPr>
            <a:r>
              <a:rPr lang="en-US" sz="1100" dirty="0">
                <a:solidFill>
                  <a:srgbClr val="8899CC"/>
                </a:solidFill>
                <a:latin typeface="Calibri" pitchFamily="34" charset="0"/>
                <a:ea typeface="Calibri" pitchFamily="34" charset="-122"/>
                <a:cs typeface="Calibri" pitchFamily="34" charset="-120"/>
              </a:rPr>
              <a:t>Topics: Template Matching · Sliding Window · HOG+SVM · Viola-Jones · NMS · SIFT · Harris</a:t>
            </a:r>
            <a:endParaRPr lang="en-US" sz="1100" dirty="0"/>
          </a:p>
        </p:txBody>
      </p:sp>
      <p:sp>
        <p:nvSpPr>
          <p:cNvPr id="7" name="Text 5"/>
          <p:cNvSpPr/>
          <p:nvPr/>
        </p:nvSpPr>
        <p:spPr>
          <a:xfrm>
            <a:off x="457200" y="4160520"/>
            <a:ext cx="8229600" cy="365760"/>
          </a:xfrm>
          <a:prstGeom prst="rect">
            <a:avLst/>
          </a:prstGeom>
          <a:noFill/>
          <a:ln/>
        </p:spPr>
        <p:txBody>
          <a:bodyPr wrap="square" rtlCol="0" anchor="ctr"/>
          <a:lstStyle/>
          <a:p>
            <a:pPr indent="0" marL="0">
              <a:buNone/>
            </a:pPr>
            <a:r>
              <a:rPr lang="en-US" sz="1100" i="1" dirty="0">
                <a:solidFill>
                  <a:srgbClr val="6677AA"/>
                </a:solidFill>
                <a:latin typeface="Calibri" pitchFamily="34" charset="0"/>
                <a:ea typeface="Calibri" pitchFamily="34" charset="-122"/>
                <a:cs typeface="Calibri" pitchFamily="34" charset="-120"/>
              </a:rPr>
              <a:t>For Absolute Beginners — No Prior Knowledge Required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8229600" cy="658368"/>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What We Will Cover in Section D</a:t>
            </a:r>
            <a:endParaRPr lang="en-US" sz="2000" dirty="0"/>
          </a:p>
        </p:txBody>
      </p:sp>
      <p:sp>
        <p:nvSpPr>
          <p:cNvPr id="4" name="Shape 2"/>
          <p:cNvSpPr/>
          <p:nvPr/>
        </p:nvSpPr>
        <p:spPr>
          <a:xfrm>
            <a:off x="320040" y="822960"/>
            <a:ext cx="502920" cy="502920"/>
          </a:xfrm>
          <a:prstGeom prst="rect">
            <a:avLst/>
          </a:prstGeom>
          <a:solidFill>
            <a:srgbClr val="1E2761"/>
          </a:solidFill>
          <a:ln w="12700">
            <a:solidFill>
              <a:srgbClr val="1E2761"/>
            </a:solidFill>
            <a:prstDash val="solid"/>
          </a:ln>
        </p:spPr>
      </p:sp>
      <p:sp>
        <p:nvSpPr>
          <p:cNvPr id="5" name="Text 3"/>
          <p:cNvSpPr/>
          <p:nvPr/>
        </p:nvSpPr>
        <p:spPr>
          <a:xfrm>
            <a:off x="320040" y="822960"/>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a:t>
            </a:r>
            <a:endParaRPr lang="en-US" sz="1000" dirty="0"/>
          </a:p>
        </p:txBody>
      </p:sp>
      <p:sp>
        <p:nvSpPr>
          <p:cNvPr id="6" name="Text 4"/>
          <p:cNvSpPr/>
          <p:nvPr/>
        </p:nvSpPr>
        <p:spPr>
          <a:xfrm>
            <a:off x="960120" y="822960"/>
            <a:ext cx="256032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Template Matching</a:t>
            </a:r>
            <a:endParaRPr lang="en-US" sz="1300" dirty="0"/>
          </a:p>
        </p:txBody>
      </p:sp>
      <p:sp>
        <p:nvSpPr>
          <p:cNvPr id="7" name="Text 5"/>
          <p:cNvSpPr/>
          <p:nvPr/>
        </p:nvSpPr>
        <p:spPr>
          <a:xfrm>
            <a:off x="960120" y="1069848"/>
            <a:ext cx="786384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Sliding a template over an image to find where it best fits; NCC, SSD</a:t>
            </a:r>
            <a:endParaRPr lang="en-US" sz="1050" dirty="0"/>
          </a:p>
        </p:txBody>
      </p:sp>
      <p:sp>
        <p:nvSpPr>
          <p:cNvPr id="8" name="Shape 6"/>
          <p:cNvSpPr/>
          <p:nvPr/>
        </p:nvSpPr>
        <p:spPr>
          <a:xfrm>
            <a:off x="320040" y="1499616"/>
            <a:ext cx="502920" cy="502920"/>
          </a:xfrm>
          <a:prstGeom prst="rect">
            <a:avLst/>
          </a:prstGeom>
          <a:solidFill>
            <a:srgbClr val="1E2761"/>
          </a:solidFill>
          <a:ln w="12700">
            <a:solidFill>
              <a:srgbClr val="1E2761"/>
            </a:solidFill>
            <a:prstDash val="solid"/>
          </a:ln>
        </p:spPr>
      </p:sp>
      <p:sp>
        <p:nvSpPr>
          <p:cNvPr id="9" name="Text 7"/>
          <p:cNvSpPr/>
          <p:nvPr/>
        </p:nvSpPr>
        <p:spPr>
          <a:xfrm>
            <a:off x="320040" y="1499616"/>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D2</a:t>
            </a:r>
            <a:endParaRPr lang="en-US" sz="1000" dirty="0"/>
          </a:p>
        </p:txBody>
      </p:sp>
      <p:sp>
        <p:nvSpPr>
          <p:cNvPr id="10" name="Text 8"/>
          <p:cNvSpPr/>
          <p:nvPr/>
        </p:nvSpPr>
        <p:spPr>
          <a:xfrm>
            <a:off x="960120" y="1499616"/>
            <a:ext cx="256032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Sliding Window</a:t>
            </a:r>
            <a:endParaRPr lang="en-US" sz="1300" dirty="0"/>
          </a:p>
        </p:txBody>
      </p:sp>
      <p:sp>
        <p:nvSpPr>
          <p:cNvPr id="11" name="Text 9"/>
          <p:cNvSpPr/>
          <p:nvPr/>
        </p:nvSpPr>
        <p:spPr>
          <a:xfrm>
            <a:off x="960120" y="1746504"/>
            <a:ext cx="786384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Exhaustive multi-scale search; image pyramids; NMS post-processing</a:t>
            </a:r>
            <a:endParaRPr lang="en-US" sz="1050" dirty="0"/>
          </a:p>
        </p:txBody>
      </p:sp>
      <p:sp>
        <p:nvSpPr>
          <p:cNvPr id="12" name="Shape 10"/>
          <p:cNvSpPr/>
          <p:nvPr/>
        </p:nvSpPr>
        <p:spPr>
          <a:xfrm>
            <a:off x="320040" y="2176272"/>
            <a:ext cx="502920" cy="502920"/>
          </a:xfrm>
          <a:prstGeom prst="rect">
            <a:avLst/>
          </a:prstGeom>
          <a:solidFill>
            <a:srgbClr val="1E2761"/>
          </a:solidFill>
          <a:ln w="12700">
            <a:solidFill>
              <a:srgbClr val="1E2761"/>
            </a:solidFill>
            <a:prstDash val="solid"/>
          </a:ln>
        </p:spPr>
      </p:sp>
      <p:sp>
        <p:nvSpPr>
          <p:cNvPr id="13" name="Text 11"/>
          <p:cNvSpPr/>
          <p:nvPr/>
        </p:nvSpPr>
        <p:spPr>
          <a:xfrm>
            <a:off x="320040" y="2176272"/>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D3</a:t>
            </a:r>
            <a:endParaRPr lang="en-US" sz="1000" dirty="0"/>
          </a:p>
        </p:txBody>
      </p:sp>
      <p:sp>
        <p:nvSpPr>
          <p:cNvPr id="14" name="Text 12"/>
          <p:cNvSpPr/>
          <p:nvPr/>
        </p:nvSpPr>
        <p:spPr>
          <a:xfrm>
            <a:off x="960120" y="2176272"/>
            <a:ext cx="256032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HOG + SVM</a:t>
            </a:r>
            <a:endParaRPr lang="en-US" sz="1300" dirty="0"/>
          </a:p>
        </p:txBody>
      </p:sp>
      <p:sp>
        <p:nvSpPr>
          <p:cNvPr id="15" name="Text 13"/>
          <p:cNvSpPr/>
          <p:nvPr/>
        </p:nvSpPr>
        <p:spPr>
          <a:xfrm>
            <a:off x="960120" y="2423160"/>
            <a:ext cx="786384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Histogram of Oriented Gradients descriptor + Support Vector Machine classifier</a:t>
            </a:r>
            <a:endParaRPr lang="en-US" sz="1050" dirty="0"/>
          </a:p>
        </p:txBody>
      </p:sp>
      <p:sp>
        <p:nvSpPr>
          <p:cNvPr id="16" name="Shape 14"/>
          <p:cNvSpPr/>
          <p:nvPr/>
        </p:nvSpPr>
        <p:spPr>
          <a:xfrm>
            <a:off x="320040" y="2852928"/>
            <a:ext cx="502920" cy="502920"/>
          </a:xfrm>
          <a:prstGeom prst="rect">
            <a:avLst/>
          </a:prstGeom>
          <a:solidFill>
            <a:srgbClr val="1E2761"/>
          </a:solidFill>
          <a:ln w="12700">
            <a:solidFill>
              <a:srgbClr val="1E2761"/>
            </a:solidFill>
            <a:prstDash val="solid"/>
          </a:ln>
        </p:spPr>
      </p:sp>
      <p:sp>
        <p:nvSpPr>
          <p:cNvPr id="17" name="Text 15"/>
          <p:cNvSpPr/>
          <p:nvPr/>
        </p:nvSpPr>
        <p:spPr>
          <a:xfrm>
            <a:off x="320040" y="2852928"/>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D4</a:t>
            </a:r>
            <a:endParaRPr lang="en-US" sz="1000" dirty="0"/>
          </a:p>
        </p:txBody>
      </p:sp>
      <p:sp>
        <p:nvSpPr>
          <p:cNvPr id="18" name="Text 16"/>
          <p:cNvSpPr/>
          <p:nvPr/>
        </p:nvSpPr>
        <p:spPr>
          <a:xfrm>
            <a:off x="960120" y="2852928"/>
            <a:ext cx="256032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Viola-Jones Detector</a:t>
            </a:r>
            <a:endParaRPr lang="en-US" sz="1300" dirty="0"/>
          </a:p>
        </p:txBody>
      </p:sp>
      <p:sp>
        <p:nvSpPr>
          <p:cNvPr id="19" name="Text 17"/>
          <p:cNvSpPr/>
          <p:nvPr/>
        </p:nvSpPr>
        <p:spPr>
          <a:xfrm>
            <a:off x="960120" y="3099816"/>
            <a:ext cx="786384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Haar features, integral image, AdaBoost cascade — real-time face detection (2001)</a:t>
            </a:r>
            <a:endParaRPr lang="en-US" sz="1050" dirty="0"/>
          </a:p>
        </p:txBody>
      </p:sp>
      <p:sp>
        <p:nvSpPr>
          <p:cNvPr id="20" name="Shape 18"/>
          <p:cNvSpPr/>
          <p:nvPr/>
        </p:nvSpPr>
        <p:spPr>
          <a:xfrm>
            <a:off x="320040" y="3529584"/>
            <a:ext cx="502920" cy="502920"/>
          </a:xfrm>
          <a:prstGeom prst="rect">
            <a:avLst/>
          </a:prstGeom>
          <a:solidFill>
            <a:srgbClr val="1E2761"/>
          </a:solidFill>
          <a:ln w="12700">
            <a:solidFill>
              <a:srgbClr val="1E2761"/>
            </a:solidFill>
            <a:prstDash val="solid"/>
          </a:ln>
        </p:spPr>
      </p:sp>
      <p:sp>
        <p:nvSpPr>
          <p:cNvPr id="21" name="Text 19"/>
          <p:cNvSpPr/>
          <p:nvPr/>
        </p:nvSpPr>
        <p:spPr>
          <a:xfrm>
            <a:off x="320040" y="3529584"/>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D5</a:t>
            </a:r>
            <a:endParaRPr lang="en-US" sz="1000" dirty="0"/>
          </a:p>
        </p:txBody>
      </p:sp>
      <p:sp>
        <p:nvSpPr>
          <p:cNvPr id="22" name="Text 20"/>
          <p:cNvSpPr/>
          <p:nvPr/>
        </p:nvSpPr>
        <p:spPr>
          <a:xfrm>
            <a:off x="960120" y="3529584"/>
            <a:ext cx="256032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Harris Corner Detector</a:t>
            </a:r>
            <a:endParaRPr lang="en-US" sz="1300" dirty="0"/>
          </a:p>
        </p:txBody>
      </p:sp>
      <p:sp>
        <p:nvSpPr>
          <p:cNvPr id="23" name="Text 21"/>
          <p:cNvSpPr/>
          <p:nvPr/>
        </p:nvSpPr>
        <p:spPr>
          <a:xfrm>
            <a:off x="960120" y="3776472"/>
            <a:ext cx="786384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Detecting corners using eigenvalues of the structure tensor</a:t>
            </a:r>
            <a:endParaRPr lang="en-US" sz="1050" dirty="0"/>
          </a:p>
        </p:txBody>
      </p:sp>
      <p:sp>
        <p:nvSpPr>
          <p:cNvPr id="24" name="Shape 22"/>
          <p:cNvSpPr/>
          <p:nvPr/>
        </p:nvSpPr>
        <p:spPr>
          <a:xfrm>
            <a:off x="320040" y="4206240"/>
            <a:ext cx="502920" cy="502920"/>
          </a:xfrm>
          <a:prstGeom prst="rect">
            <a:avLst/>
          </a:prstGeom>
          <a:solidFill>
            <a:srgbClr val="1E2761"/>
          </a:solidFill>
          <a:ln w="12700">
            <a:solidFill>
              <a:srgbClr val="1E2761"/>
            </a:solidFill>
            <a:prstDash val="solid"/>
          </a:ln>
        </p:spPr>
      </p:sp>
      <p:sp>
        <p:nvSpPr>
          <p:cNvPr id="25" name="Text 23"/>
          <p:cNvSpPr/>
          <p:nvPr/>
        </p:nvSpPr>
        <p:spPr>
          <a:xfrm>
            <a:off x="320040" y="4206240"/>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D6</a:t>
            </a:r>
            <a:endParaRPr lang="en-US" sz="1000" dirty="0"/>
          </a:p>
        </p:txBody>
      </p:sp>
      <p:sp>
        <p:nvSpPr>
          <p:cNvPr id="26" name="Text 24"/>
          <p:cNvSpPr/>
          <p:nvPr/>
        </p:nvSpPr>
        <p:spPr>
          <a:xfrm>
            <a:off x="960120" y="4206240"/>
            <a:ext cx="256032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SIFT &amp; ORB</a:t>
            </a:r>
            <a:endParaRPr lang="en-US" sz="1300" dirty="0"/>
          </a:p>
        </p:txBody>
      </p:sp>
      <p:sp>
        <p:nvSpPr>
          <p:cNvPr id="27" name="Text 25"/>
          <p:cNvSpPr/>
          <p:nvPr/>
        </p:nvSpPr>
        <p:spPr>
          <a:xfrm>
            <a:off x="960120" y="4453128"/>
            <a:ext cx="786384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Scale and rotation invariant keypoint detection and description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D1</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Template Matching</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Finding a known pattern inside a larger image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What Is Template Matching?</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D1</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Template matching is the simplest object detection method: take a small image patch (the template) and slide it over every position in a larger image. At each position, compute a similarity score. The position with the highest score is where the template is located.</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Template T: a small reference image (e.g., 50×50 pixels of a logo or face).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Search image I: the large image to search in (e.g., 1920×1080 pixels).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Response map: a 2D array of similarity scores, one per (x, y) position. Shape: (H-h+1) × (W-w+1) where h,w = template size.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Detection: find the (x, y) with maximum score → bounding box = [x, y, x+w, y+h].</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When to use: finding a fixed known pattern in images (logos, icons, stamps, bolts in industrial inspection).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Limitation: only works if the object appears at the SAME scale and rotation. Any scaling or rotation breaks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Template Matching — NCC and SSD Formulas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D1</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Two main similarity measures for template matching:</a:t>
            </a:r>
            <a:endParaRPr lang="en-US" sz="1250" dirty="0"/>
          </a:p>
        </p:txBody>
      </p:sp>
      <p:sp>
        <p:nvSpPr>
          <p:cNvPr id="6" name="Shape 4"/>
          <p:cNvSpPr/>
          <p:nvPr/>
        </p:nvSpPr>
        <p:spPr>
          <a:xfrm>
            <a:off x="320040" y="1234440"/>
            <a:ext cx="8503920" cy="2011680"/>
          </a:xfrm>
          <a:prstGeom prst="rect">
            <a:avLst/>
          </a:prstGeom>
          <a:solidFill>
            <a:srgbClr val="1E1E2E"/>
          </a:solidFill>
          <a:ln w="12700">
            <a:solidFill>
              <a:srgbClr val="1E1E2E"/>
            </a:solidFill>
            <a:prstDash val="solid"/>
          </a:ln>
        </p:spPr>
      </p:sp>
      <p:sp>
        <p:nvSpPr>
          <p:cNvPr id="7" name="Text 5"/>
          <p:cNvSpPr/>
          <p:nvPr/>
        </p:nvSpPr>
        <p:spPr>
          <a:xfrm>
            <a:off x="502920" y="1298448"/>
            <a:ext cx="8138160" cy="1874520"/>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Sum of Squared Differences (SSD) — lower is better:</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SSD(x,y) = Σᵢ Σⱼ  [ I(x+i, y+j) - T(i,j) ]²</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Normalized Cross-Correlation (NCC) — higher is better (range -1 to +1):</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NCC(x,y) = Σᵢ Σⱼ [ (I(x+i,y+j) - μ_I) · (T(i,j) - μ_T) ]</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sqrt( Σ(I-μ_I)² ) · sqrt( Σ(T-μ_T)² )</a:t>
            </a:r>
            <a:endParaRPr lang="en-US" sz="1150" dirty="0"/>
          </a:p>
        </p:txBody>
      </p:sp>
      <p:sp>
        <p:nvSpPr>
          <p:cNvPr id="8" name="Text 6"/>
          <p:cNvSpPr/>
          <p:nvPr/>
        </p:nvSpPr>
        <p:spPr>
          <a:xfrm>
            <a:off x="320040" y="3401568"/>
            <a:ext cx="8503920" cy="1623060"/>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SSD: simple and fast. Sensitive to illumination changes — if the image is brighter/darker, SSD fails badly.</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NCC: subtracts the mean (μ_I, μ_T) and divides by std deviation — makes it invariant to overall brightness changes. NCC=1.0 = perfect match. NCC=0 = no correlation.</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OpenCV provides: cv2.matchTemplate(image, template, method) where method can be cv2.TM_CCORR_NORMED (NCC), cv2.TM_SQDIFF, etc.</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Best practice: always use NCC (TM_CCORR_NORMED) — it handles illumination variation and gives scores in [-1, 1] that are easy to threshold.</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Finding the match: cv2.minMaxLoc(result) gives the location of max/min response.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Template Matching — Response Map</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D1</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Search Image (large)          Template (small)         Response Map</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0.1  0.2  0.1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....background...  │      │  ◉   ◉  │   slide     │  0.2  0.3  0.2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template   │  0.3  ████  0.2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over →   │  0.2  0.3  0.2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target│                               │  0.1  0.2  0.1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....background...  │                               Peak at (4,3)</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detected location!</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NCC response map: bright = high match, dark = low match</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The bright peak in the response map tells us exactly where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the template was found.</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Multiple peaks → multiple instances of the template in the image.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Set a threshold: NCC &gt; 0.8 → report detection.</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Template matching output is a heatmap. Peaks in the heatmap directly locate the object.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Template Matching — Limitations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D1</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Template matching is powerful for fixed patterns but breaks down in many real-world scenarios: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Scale change: if the object appears smaller or larger than the template, the match fails completely.</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Rotation: a tilted version of the template scores poorly even at the right location.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Partial occlusion: if part of the object is hidden, the score drops below threshold.</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Illumination extremes: NCC handles mild brightness changes but fails under spotlight/shadow/overexposure.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Non-rigid deformation: a slightly bent logo will not match the straight template.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Workarounds (limited): try multiple templates at different scales and rotations (exhaustive and slow). Use edge-based templates instead of raw pixel values (more robust to illumination).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Where it still works well: industrial inspection (same part, same camera, same lighting), OCR alignment (fixed font characters), medical image registration (align scan slices), UI automation (finding fixed buttons).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D2</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Sliding Window Detection</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Exhaustively searching every position and scale for objects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The Sliding Window Approach</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D2</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Sliding window detection works by extracting every possible image patch (window) at every position and scale, running a classifier on each patch, and collecting detections. It is the foundation of all pre-deep-learning object detection systems.</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1: Define a window size (e.g., 64×128 pixels for pedestrians).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2: Slide this window across the image at stride s (e.g., every 8 pixels) — horizontal and vertical.</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3: For each window position, extract the patch and run a classifier (HOG+SVM, for example).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4: Classifier outputs: object / not-object (binary) + confidence score.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5: Repeat at multiple scales (image pyramid) to detect objects of different sizes.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6: Apply Non-Maximum Suppression (NMS) to remove duplicate detections.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Complexity: O(scales × positions × classifier_cost) — extremely expensive for complex classifiers.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Image Pyramid — Detecting Objects at Multiple Scales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D2</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Problem: a pedestrian close to camera is 300px tall; far away is 50px tall.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The classifier window is fixed (64×128). So we must resize the IMAGE.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Image Pyramid: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Full Resolution      │   │  Scale 0.75  │   │ ×0.5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1920 × 1080          │   │  1440 × 810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slide 64×128 window →     ← slide window →  ← slide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detects far objects at       detects medium     detects close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original image scale         scale objects      large objects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Typical pyramid: scale factor = 0.75 or 0.85 per level, 5–8 levels.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After all levels: hundreds or thousands of detections.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Many boxes will overlap on the same real object.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Need NMS to merge overlapping detections into one.</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The image pyramid is essential — a fixed-size window can only detect objects at one size without it.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Non-Maximum Suppression (NMS) — Algorithm</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D2</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NMS removes duplicate detections by keeping only the most confident box in each cluster of overlapping boxes.</a:t>
            </a:r>
            <a:endParaRPr lang="en-US" sz="1250" dirty="0"/>
          </a:p>
        </p:txBody>
      </p:sp>
      <p:sp>
        <p:nvSpPr>
          <p:cNvPr id="6" name="Shape 4"/>
          <p:cNvSpPr/>
          <p:nvPr/>
        </p:nvSpPr>
        <p:spPr>
          <a:xfrm>
            <a:off x="320040" y="1234440"/>
            <a:ext cx="8503920" cy="2011680"/>
          </a:xfrm>
          <a:prstGeom prst="rect">
            <a:avLst/>
          </a:prstGeom>
          <a:solidFill>
            <a:srgbClr val="1E1E2E"/>
          </a:solidFill>
          <a:ln w="12700">
            <a:solidFill>
              <a:srgbClr val="1E1E2E"/>
            </a:solidFill>
            <a:prstDash val="solid"/>
          </a:ln>
        </p:spPr>
      </p:sp>
      <p:sp>
        <p:nvSpPr>
          <p:cNvPr id="7" name="Text 5"/>
          <p:cNvSpPr/>
          <p:nvPr/>
        </p:nvSpPr>
        <p:spPr>
          <a:xfrm>
            <a:off x="502920" y="1298448"/>
            <a:ext cx="8138160" cy="1874520"/>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Input: list of boxes B with confidence scores S, threshold τ</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Output: filtered list of boxes</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Algorithm (Greedy NMS):</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1. Sort all boxes by score S (highest first)</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2. Take the top box b_max → add to output list</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3. Compute IoU(b_max, bᵢ) for all remaining boxes bᵢ</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4. Remove any box bᵢ where IoU &gt; τ (e.g., τ = 0.5)</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5. Repeat from step 2 with remaining boxes</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6. Stop when list is empty</a:t>
            </a:r>
            <a:endParaRPr lang="en-US" sz="1150" dirty="0"/>
          </a:p>
        </p:txBody>
      </p:sp>
      <p:sp>
        <p:nvSpPr>
          <p:cNvPr id="8" name="Text 6"/>
          <p:cNvSpPr/>
          <p:nvPr/>
        </p:nvSpPr>
        <p:spPr>
          <a:xfrm>
            <a:off x="320040" y="3401568"/>
            <a:ext cx="8503920" cy="1623060"/>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IoU (Intersection over Union): measures how much two boxes overlap. IoU = Area(A∩B) / Area(A∪B). Range: 0 (no overlap) to 1 (perfect overlap).</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τ threshold: lower τ (e.g., 0.3) → aggressively removes overlapping boxes (may miss nearby objects). Higher τ (e.g., 0.7) → keeps more boxes (may leave duplicates).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Soft-NMS alternative: instead of removing boxes, reduce their score by e^(-IoU²/σ). Better for crowded scenes.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NMS failure case: two people standing very close together — their boxes have high IoU, and NMS may eliminate one real detection. Solution: use Soft-NMS or anchor-based detectors.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NMS — Before and After</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D2</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BEFORE NMS: 5 overlapping boxes around one person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conf=0.95  ← keep this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conf=0.87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conf=0.72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PERSON │ │ │  conf=0.68  ← IoU&gt;0.5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conf=0.45  ← suppress!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AFTER NMS: 1 clean detection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conf=0.95  ← final box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PERSON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Result: clean single bounding box per object</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NMS is applied after every detection pipeline — from classical to YOLO. Without it, every object gets dozens of boxes.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D3</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HOG + SVM</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Histogram of Oriented Gradients — the feature that enabled pedestrian detection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HOG — What It Is and Why It Works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D3</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HOG (Histogram of Oriented Gradients, Dalal &amp; Triggs 2005) describes local image appearance by counting how often gradient orientations (edge directions) occur in small local regions. Shape = distribution of edge directions.</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Key insight: the shape of an object is captured by which way its edges point. A pedestrian's silhouette has vertical edges on the sides, horizontal edges at the shoulders — this distribution is distinctive.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Advantage over raw pixels: HOG is much more robust to illumination changes and small spatial shifts than comparing raw pixel values.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This was the breakthrough that made reliable pedestrian detection possible before deep learning.</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HOG + SVM was the standard for pedestrian detection from 2005 to ~2012, when deep learning took over.</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Still used today: in embedded systems where speed and memory matter more than peak accuracy.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HOG Computation — Step by Step</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D3</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Input patch (e.g., 64×128 pixels)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1] Compute gradients at every pixel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Gx = I(x+1,y) - I(x-1,y)     Gy = I(x,y+1) - I(x,y-1)</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Magnitude: |G| = sqrt(Gx²+Gy²)   Direction: θ = arctan(Gy/Gx)</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2] Divide patch into 8×8 pixel CELLS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64×128 patch → 8×16 = 128 cells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3] Build orientation histogram per cell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9 bins: 0°–20°, 20°–40°, 40°–60°, ..., 160°–180° (unsigned)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Each pixel votes into its bin weighted by its magnitude |G|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Result: 9-bin histogram per cell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4] Group cells into 2×2 BLOCKS (with overlap)</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Each block = 4 cells × 9 bins = 36 values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L2-normalize each block vector → robust to illumination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5] Concatenate all block descriptors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Final HOG vector for 64×128 patch: 3780 dimensions</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HOG captures shape via edge direction distributions. The block normalization step is what makes it illumination-robust.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HOG — Cell Grid and Orientation Bins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D3</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Patch divided into 8×8 cells. Each cell computes a 9-bin gradient histogram.</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  \  │  ← each mini-box = one 8×8 cell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   \ │  ← arrows show dominant gradient direction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_  │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One cell's 9-bin histogram (unsigned orientations 0°–180°):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Bins:  0° 20° 40° 60° 80° 100° 120° 140° 160°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This histogram says: most gradients in this cell point ~60°</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2×2 block of cells → 4×9 = 36 values → L2 normalize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Blocks overlap: stride = 1 cell, so most cells appear in 4 blocks.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More spatial coverage, better robustness.</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Each cell's histogram encodes local edge orientation. Normalization across blocks handles contrast variation.</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SVM — The Classifier That Uses HOG Features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D3</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 Support Vector Machine (SVM) finds the hyperplane that best separates HOG feature vectors of 'person' examples from 'not person' examples, with maximum margin between the two classes.</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Training: collect ~10,000 positive examples (person patches) and ~100,000 negative examples (background patches). Extract HOG for each. Train linear SVM on these 3780-dimensional vectors.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Decision boundary: a hyperplane in 3780D space. w·x + b = 0 where w is the learned weight vector (same shape as HOG descriptor).</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Classification: sign(w·x + b) → positive = person, negative = background.</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The inner product w·x is extremely fast — just one dot product at test time.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Hard negative mining: after initial training, run the detector on negative images. Collect any false positives (background patches the SVM incorrectly classifies as person). Add these to training set and retrain. Repeat 2–3 times. This dramatically reduces false positives.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Why hard negatives? The hardest negatives (the ones the SVM gets wrong) are the most informative training examples.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HOG + SVM — Pros, Cons, and Legacy</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D3</a:t>
            </a:r>
            <a:endParaRPr lang="en-US" sz="1000" dirty="0"/>
          </a:p>
        </p:txBody>
      </p:sp>
      <p:sp>
        <p:nvSpPr>
          <p:cNvPr id="5" name="Shape 3"/>
          <p:cNvSpPr/>
          <p:nvPr/>
        </p:nvSpPr>
        <p:spPr>
          <a:xfrm>
            <a:off x="4617720" y="804672"/>
            <a:ext cx="0" cy="4114800"/>
          </a:xfrm>
          <a:prstGeom prst="line">
            <a:avLst/>
          </a:prstGeom>
          <a:noFill/>
          <a:ln w="12700">
            <a:solidFill>
              <a:srgbClr val="D1D5DB"/>
            </a:solidFill>
            <a:prstDash val="solid"/>
          </a:ln>
        </p:spPr>
      </p:sp>
      <p:sp>
        <p:nvSpPr>
          <p:cNvPr id="6" name="Text 4"/>
          <p:cNvSpPr/>
          <p:nvPr/>
        </p:nvSpPr>
        <p:spPr>
          <a:xfrm>
            <a:off x="32004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Strengths</a:t>
            </a:r>
            <a:endParaRPr lang="en-US" sz="1100" dirty="0"/>
          </a:p>
        </p:txBody>
      </p:sp>
      <p:sp>
        <p:nvSpPr>
          <p:cNvPr id="7" name="Text 5"/>
          <p:cNvSpPr/>
          <p:nvPr/>
        </p:nvSpPr>
        <p:spPr>
          <a:xfrm>
            <a:off x="475488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Weaknesses</a:t>
            </a:r>
            <a:endParaRPr lang="en-US" sz="1100" dirty="0"/>
          </a:p>
        </p:txBody>
      </p:sp>
      <p:sp>
        <p:nvSpPr>
          <p:cNvPr id="8" name="Text 6"/>
          <p:cNvSpPr/>
          <p:nvPr/>
        </p:nvSpPr>
        <p:spPr>
          <a:xfrm>
            <a:off x="32004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STRENGTHS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Fast at test time (HOG + dot product)</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Interpretable: visualize w as a HOG image to see what the detector 'looks for'</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Works with very few training examples (~1000 positives)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No GPU required — runs on any hardware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Robust to mild illumination changes via block normalization</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REAL-WORLD USE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Original Dalal &amp; Triggs: INRIA pedestrian dataset, ~90% detection rate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Used in early autonomous vehicles, surveillance cameras, retail analytics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Still used: embedded systems, MCUs, when DL is too expensive</a:t>
            </a:r>
            <a:endParaRPr lang="en-US" sz="1200" dirty="0"/>
          </a:p>
        </p:txBody>
      </p:sp>
      <p:sp>
        <p:nvSpPr>
          <p:cNvPr id="9" name="Text 7"/>
          <p:cNvSpPr/>
          <p:nvPr/>
        </p:nvSpPr>
        <p:spPr>
          <a:xfrm>
            <a:off x="475488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WEAKNESSES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Fails with significant scale/pose/appearance variation</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Fixed window size — must run pyramid for multi-scale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HOG misses fine-grained details (texture, color)</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Slow at training — hard negative mining takes hours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Cannot handle severe occlusion</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Max accuracy ~90% on pedestrians — deep learning reaches ~99%</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REPLACED BY</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Deep learning (CNN features) replaced HOG in ~2012–2014</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DPM (Deformable Parts Model) extended HOG with spatial part models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YOLOv1 (2016) runs faster AND more accurately than any HOG pipeline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D4</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Viola-Jones Face Detector</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The algorithm that brought real-time face detection to consumer cameras (2001)</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Why Viola-Jones Was Revolutionary</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D4</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Before Viola-Jones (2001), face detection was too slow for real-time use. Viola and Jones combined three innovations — Haar features, integral image, and AdaBoost cascade — to achieve the first real-time face detector at 15 fps on a 700 MHz processor.</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Problem before 2001: evaluating even a simple feature over a 24×24 window required thousands of operations. A 640×480 image has ~100,000 possible window positions. Way too slow.</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Three key innovations working together:</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1. Haar-like features: simple rectangle sums — computable in O(1) using integral image.</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2. Integral image: precompute cumulative sums so any rectangle sum = 4 array lookups.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3. Cascade of classifiers: reject 99%+ of non-face windows at the first stage — never evaluate expensive later stages.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Impact: built into every digital camera and webcam from 2003 onward. Still used today in low-power IoT devices.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Haar-Like Features — The Building Blocks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D4</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Haar features = difference between sum of white rectangle pixels and sum of black rectangle pixels.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Feature value = Σ(white pixels) - Σ(black pixels)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Type 1: Edge feature          Type 2: Line feature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white  │  black  │         │░░░░░│white│░░░░░│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Detects: vertical edges       Detects: vertical bars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Type 3: Four-rectangle        Type 4: Diagonal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Detects: diagonal changes     Detects: diagonal edges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In a 24×24 detection window: ~160,000 possible Haar features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(different sizes + positions). AdaBoost selects the ~6000 most useful.</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Haar features are extremely fast to compute but surprisingly informative. Eyes are darker than forehead → type 1 feature fires.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Integral Image — O(1) Rectangle Sum</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D4</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INTEGRAL IMAGE construction: II(x,y) = Σ_{i≤x, j≤y} I(i,j)</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Each cell = sum of all pixels above and to the left.</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Original image:    Integral image: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1 │ 2 │ 3 │      │  1 │  3 │  6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4 │ 5 │ 6 │      │  5 │ 12 │ 21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7 │ 8 │ 9 │      │ 12 │ 27 │ 45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Sum of ANY rectangle using just 4 lookups: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Sum(A,B,C,D) = II(D) - II(B) - II(C) + II(A)</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where A=top-left, B=top-right, C=bottom-left, D=bottom-right corners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Example: sum of entire 3×3 above = II(9) - II(0) - II(0) + II(0) = 45</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Any sized rectangle: ALWAYS just 4 operations regardless of size!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This makes Haar feature computation O(1) — the key speedup.</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The integral image is precomputed once. After that, any rectangle sum — no matter how large — costs exactly 4 lookups.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AdaBoost + Cascade — How the Speed Comes From</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D4</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AdaBoost selects the most discriminative Haar features from 160,000 candidates. The cascade then arranges classifiers in stages — easy rejections happen first, expensive checks only for promising windows.</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AdaBoost: trains a sequence of weak classifiers (each just one Haar feature threshold). Combines them into a strong classifier by weighted majority vote. Only 6,000 of 160,000 features are selected.</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Cascade structure: instead of one big classifier, use a sequence of stages. Each stage is a small AdaBoost classifier.</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Stage 1: 2 features, rejects 50% of non-faces instantly. Passes all faces (high recall).</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Stage 2: 10 features, rejects more non-faces. Still passes all faces.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Stage 3: 25 features, rejects even more. ...</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Stage 20+: hundreds of features, only runs on the tiny % of windows that passed all prior stages.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Result: 99.9% of background windows are rejected by stage 1–3 (fast). Only face-like windows reach the expensive later stages.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Speed: the average window is evaluated with only ~10 features instead of 6000!</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Viola-Jones Cascade — The Funnel</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D4</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All detection windows in a 640×480 image: ~100,000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Stage 1:  2 Haar features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Passes: ~50,000 windows  Rejects: ~50,000 (50%)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Stage 2:  10 Haar features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Passes: ~5,000 windows   Rejects: ~45,000 (90%)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Stage 3:  25 Haar features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Passes: ~500 windows     Rejects: ~4,500 (90%)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more stages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Stage 20+:  200+ features — only ~10 windows reach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here!  Final face/non-face classification.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Final detections: ~2–5 face windows (after NMS)</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The cascade is a computational funnel. Almost all work happens in the early cheap stages. Late stages almost never run.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D5</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Harris Corner Detector</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Detecting corners using the structure tensor (1988)</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What Makes a Good Keypoint?</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D5</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 keypoint is a specific pixel location that can be reliably found in multiple images of the same scene (under different viewpoints, lighting, slight scale changes). Good keypoints are repeatable, distinctive, and localizable.</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Bad keypoints — flat regions: if you shift the window slightly in any direction, the patch looks the same. No way to say 'this exact pixel' — the patch gives no positional information.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Bad keypoints — edges: if you shift ALONG the edge, the patch looks the same. You can find the position perpendicular to the edge but not along it (the aperture problem again).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Good keypoints — corners: shifting in ANY direction changes the patch significantly. A corner can be located precisely in 2D.</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Harris corner detector (1988): detects corners by analyzing the local gradient structure. Still widely used as a foundation for SIFT and ORB.</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Harris Corner Detector — Math</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D5</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Harris detector analyzes how the image changes when a window is shifted by (u, v):</a:t>
            </a:r>
            <a:endParaRPr lang="en-US" sz="1250" dirty="0"/>
          </a:p>
        </p:txBody>
      </p:sp>
      <p:sp>
        <p:nvSpPr>
          <p:cNvPr id="6" name="Shape 4"/>
          <p:cNvSpPr/>
          <p:nvPr/>
        </p:nvSpPr>
        <p:spPr>
          <a:xfrm>
            <a:off x="320040" y="1234440"/>
            <a:ext cx="8503920" cy="2011680"/>
          </a:xfrm>
          <a:prstGeom prst="rect">
            <a:avLst/>
          </a:prstGeom>
          <a:solidFill>
            <a:srgbClr val="1E1E2E"/>
          </a:solidFill>
          <a:ln w="12700">
            <a:solidFill>
              <a:srgbClr val="1E1E2E"/>
            </a:solidFill>
            <a:prstDash val="solid"/>
          </a:ln>
        </p:spPr>
      </p:sp>
      <p:sp>
        <p:nvSpPr>
          <p:cNvPr id="7" name="Text 5"/>
          <p:cNvSpPr/>
          <p:nvPr/>
        </p:nvSpPr>
        <p:spPr>
          <a:xfrm>
            <a:off x="502920" y="1298448"/>
            <a:ext cx="8138160" cy="1874520"/>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E(u,v) = Σ_{x,y} w(x,y) [ I(x+u, y+v) - I(x,y) ]²</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First-order Taylor approximation gives the structure tensor M:</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M = Σ w(x,y) · [ Ix²    Ix·Iy ]  =  [ A  B ]</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 Ix·Iy   Iy²  ]     [ B  C ]</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Harris response: R = det(M) - k · trace(M)²</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det(M) = AC - B²  =  λ₁ · λ₂</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trace(M) = A + C  =  λ₁ + λ₂</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k = 0.04 to 0.06  (sensitivity parameter)</a:t>
            </a:r>
            <a:endParaRPr lang="en-US" sz="1150" dirty="0"/>
          </a:p>
        </p:txBody>
      </p:sp>
      <p:sp>
        <p:nvSpPr>
          <p:cNvPr id="8" name="Text 6"/>
          <p:cNvSpPr/>
          <p:nvPr/>
        </p:nvSpPr>
        <p:spPr>
          <a:xfrm>
            <a:off x="320040" y="3401568"/>
            <a:ext cx="8503920" cy="1623060"/>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λ₁, λ₂ = eigenvalues of M. They tell us about gradient directions:</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Both λ small → flat region → no edge, no corner. R ≈ 0.</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One λ large, one small → edge. R &lt; 0 (negative).</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Both λ large → corner! R &gt;&gt; 0 (large positive). → KEYPOINT!</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Detection: threshold R &gt; T_corner. Apply non-max suppression to keep only local maxima.</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Advantage: no need to compute eigenvalues — R uses det and trace which are simple sums.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Limitation: not scale-invariant. A corner at scale 1 may not be detected at scale 2. SIFT extends Harris to be scale-invariant.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Harris — Flat, Edge, Corner in Gradient Space</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D5</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Each pixel has gradients (Ix, Iy). Plot them as points in 2D gradient space: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FLAT REGION            EDGE                  CORNER</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Iy ↑                  Iy ↑                  Iy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Ix       └──────────→ Ix        └──────────→ Ix</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Points near origin.   Points along one axis.  Points spread in 2D.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λ₁ ≈ 0, λ₂ ≈ 0        λ₁ &gt;&gt; 0, λ₂ ≈ 0       λ₁ &gt;&gt; 0, λ₂ &gt;&gt; 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 ≈ 0                 R &lt; 0 (negative)        R &gt;&gt; 0 (large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NOT a keypoint        NOT a keypoint          CORNER → KEYPOINT!</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Visual interpretation: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Flat: pushing the window anywhere → patch looks the same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Edge: push along edge → same. Push across → different.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Corner: push ANY direction → patch changes → precisely locatable!</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The eigenvalue analysis tells us everything. Two large eigenvalues = gradients in all directions = corner = good keypoint.</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D6</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SIFT &amp; ORB</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Scale and rotation invariant keypoint detection and description</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SIFT — Scale Invariant Feature Transform (Lowe, 2004)</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D6</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SIFT detects keypoints that are stable across scale changes and rotations, then describes each keypoint with a 128-dimensional vector that is invariant to illumination, scale, and rotation. SIFT matches are used for object recognition, panorama stitching, and 3D reconstruction.</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Key problem SIFT solves: Harris corners are NOT scale-invariant. A corner at 100×100 pixels may disappear if the image is scaled down. SIFT finds keypoints that are stable at a specific scale.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Part 1 — Detection: Find keypoints as local extrema in scale-space (DoG pyramid).</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Part 2 — Description: For each keypoint, compute a 128-D gradient histogram descriptor that encodes the local appearance in a rotation-normalized way.</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Result: two images of the same scene → extract SIFT keypoints → match by descriptor distance → find corresponding points.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Applications: panorama stitching (iPhone panorama mode), 3D reconstruction, image retrieval, AR marker detection.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Limitation: patented until 2020. This is why ORB was developed as a free alternative.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SIFT — Scale Space and DoG Pyramid</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D6</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Scale-space pyramid: blur image at increasing σ values.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DoG = Difference of Gaussians ≈ Laplacian of Gaussian (efficient approximation)</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OCTAVE 1 (original size):         OCTAVE 2 (half size):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σ=1.0: G₁  ─┐                    σ=2.0: G₁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σ=1.4: G₂  ─┼─ DoG₁ = G₁-G₂     σ=2.8: G₂  ─┼─ DoG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σ=2.0: G₃  ─┼─ DoG₂ = G₂-G₃     σ=4.0: G₃  ─┼─ DoG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σ=2.8: G₄  ─┘─ DoG₃ = G₃-G₄     ...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Find keypoints: DoG local extrema in 3D (x, y, scale)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 point is a keypoint if it is max/min compared to all 26 neighbors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(8 in same scale + 9 in scale above + 9 in scale below)</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Scale ↑   DoG values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σ_k+1 │   │  │  │  │   ← 9 neighbors in scale above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σ_k   │   │  │★ │  │   ← ★ is a keypoint candidate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(check if max/min vs all 26)</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σ_k-1 │   │  │  │  │   ← 9 neighbors in scale below</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DoG approximates the scale-normalized Laplacian. Extrema in this 3D space are stable, scale-selected keypoints.</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SIFT — 128-D Descriptor Construction</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D6</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For each detected keypoint:</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1] Assign orientation: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Compute gradient histogram (36 bins, 0°–360°) in a patch around keypoint.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Peak direction → canonical orientation θ_key.</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Rotate the patch by -θ_key → rotation normalized coordinate frame.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2] Build the descriptor:</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Take a 16×16 pixel region around the keypoint (rotation normalized).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Divide into 4×4 = 16 sub-regions (4×4 pixels each).</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h₁ │ h₂ │ h₃ │ h₄ │  ← each sub-region = 8-bin gradient histogram</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h₅ │ h₆ │ h₇ │ h₈ │  16 sub-regions × 8 bins = 128 values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h₉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│h₁₆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Normalize the 128-D vector → clip values &gt; 0.2 → renormalize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Result: 128-D descriptor robust to illumination and rotation.</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The 128-D SIFT descriptor encodes gradient orientation in 16 spatial regions. Two patches that look similar will have nearby descriptors.</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ORB — Oriented FAST and Rotated BRIEF</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D6</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ORB (Rublee, 2011) was designed to be a free, fast alternative to SIFT that works in real-time on mobile devices. It combines a fast keypoint detector (FAST) with a binary descriptor (BRIEF) and adds rotation invariance.</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FAST keypoint detector: a pixel p is a corner if there exist 12+ consecutive pixels on a circle of radius 3 that are all brighter or all darker than p by a threshold. Much faster than Harris or DoG.</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BRIEF descriptor: instead of a 128-D float vector like SIFT, BRIEF produces a 256-bit binary string by comparing 256 pairs of pixel intensities (if pair[i][0] &gt; pair[i][1] → bit=1, else bit=0).</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Rotation invariance: ORB computes the patch orientation using the intensity centroid moment, then rotates BRIEF pairs accordingly — hence 'Rotated BRIEF'.</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Matching: compare two ORB descriptors using Hamming distance (count different bits) — this is just XOR + popcount, extremely fast on modern CPUs.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ORB vs SIFT: ORB is ~100× faster and free. SIFT is more distinctive and robust to large scale/viewpoint changes. For real-time AR and SLAM, ORB is standard.</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SIFT vs ORB — When to Use Each</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D6</a:t>
            </a:r>
            <a:endParaRPr lang="en-US" sz="1000" dirty="0"/>
          </a:p>
        </p:txBody>
      </p:sp>
      <p:sp>
        <p:nvSpPr>
          <p:cNvPr id="5" name="Shape 3"/>
          <p:cNvSpPr/>
          <p:nvPr/>
        </p:nvSpPr>
        <p:spPr>
          <a:xfrm>
            <a:off x="4617720" y="804672"/>
            <a:ext cx="0" cy="4114800"/>
          </a:xfrm>
          <a:prstGeom prst="line">
            <a:avLst/>
          </a:prstGeom>
          <a:noFill/>
          <a:ln w="12700">
            <a:solidFill>
              <a:srgbClr val="D1D5DB"/>
            </a:solidFill>
            <a:prstDash val="solid"/>
          </a:ln>
        </p:spPr>
      </p:sp>
      <p:sp>
        <p:nvSpPr>
          <p:cNvPr id="6" name="Text 4"/>
          <p:cNvSpPr/>
          <p:nvPr/>
        </p:nvSpPr>
        <p:spPr>
          <a:xfrm>
            <a:off x="32004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SIFT</a:t>
            </a:r>
            <a:endParaRPr lang="en-US" sz="1100" dirty="0"/>
          </a:p>
        </p:txBody>
      </p:sp>
      <p:sp>
        <p:nvSpPr>
          <p:cNvPr id="7" name="Text 5"/>
          <p:cNvSpPr/>
          <p:nvPr/>
        </p:nvSpPr>
        <p:spPr>
          <a:xfrm>
            <a:off x="475488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ORB</a:t>
            </a:r>
            <a:endParaRPr lang="en-US" sz="1100" dirty="0"/>
          </a:p>
        </p:txBody>
      </p:sp>
      <p:sp>
        <p:nvSpPr>
          <p:cNvPr id="8" name="Text 6"/>
          <p:cNvSpPr/>
          <p:nvPr/>
        </p:nvSpPr>
        <p:spPr>
          <a:xfrm>
            <a:off x="32004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SIFT</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Descriptor: 128-D float vector</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Matching: L2 Euclidean distance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Scale invariant: Yes (DoG pyramid)</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Rotation invariant: Yes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Speed: slow (~500ms for 1MP image)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Memory: 128 × 4 bytes = 512B per keypoint</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Best for:</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Offline 3D reconstruction (COLMAP)</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Panorama stitching (large parallax)</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Image retrieval systems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When quality matters more than speed</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OpenCV: cv2.SIFT_create()</a:t>
            </a:r>
            <a:endParaRPr lang="en-US" sz="1200" dirty="0"/>
          </a:p>
        </p:txBody>
      </p:sp>
      <p:sp>
        <p:nvSpPr>
          <p:cNvPr id="9" name="Text 7"/>
          <p:cNvSpPr/>
          <p:nvPr/>
        </p:nvSpPr>
        <p:spPr>
          <a:xfrm>
            <a:off x="475488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ORB</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Descriptor: 256-bit binary string</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Matching: Hamming distance (XOR + popcount)</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Scale invariant: Partial (image pyramid)</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Rotation invariant: Yes (intensity centroid)</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Speed: fast (~10ms for 1MP image)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Memory: 256/8 = 32B per keypoint</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Best for:</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Real-time SLAM and AR (ORB-SLAM2)</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Mobile devices (fast, low memory)</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Robotics and embedded systems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When speed matters most</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OpenCV: cv2.ORB_create()</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Section D — Key Takeaways</a:t>
            </a:r>
            <a:endParaRPr lang="en-US" sz="2800" dirty="0"/>
          </a:p>
        </p:txBody>
      </p:sp>
      <p:sp>
        <p:nvSpPr>
          <p:cNvPr id="3" name="Shape 1"/>
          <p:cNvSpPr/>
          <p:nvPr/>
        </p:nvSpPr>
        <p:spPr>
          <a:xfrm>
            <a:off x="457200" y="1051560"/>
            <a:ext cx="1920240" cy="502920"/>
          </a:xfrm>
          <a:prstGeom prst="rect">
            <a:avLst/>
          </a:prstGeom>
          <a:solidFill>
            <a:srgbClr val="7A8CC0"/>
          </a:solidFill>
          <a:ln w="12700">
            <a:solidFill>
              <a:srgbClr val="7A8CC0"/>
            </a:solidFill>
            <a:prstDash val="solid"/>
          </a:ln>
        </p:spPr>
      </p:sp>
      <p:sp>
        <p:nvSpPr>
          <p:cNvPr id="4" name="Text 2"/>
          <p:cNvSpPr/>
          <p:nvPr/>
        </p:nvSpPr>
        <p:spPr>
          <a:xfrm>
            <a:off x="457200" y="1051560"/>
            <a:ext cx="19202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 Template</a:t>
            </a:r>
            <a:endParaRPr lang="en-US" sz="1000" dirty="0"/>
          </a:p>
        </p:txBody>
      </p:sp>
      <p:sp>
        <p:nvSpPr>
          <p:cNvPr id="5" name="Text 3"/>
          <p:cNvSpPr/>
          <p:nvPr/>
        </p:nvSpPr>
        <p:spPr>
          <a:xfrm>
            <a:off x="2514600" y="1088136"/>
            <a:ext cx="6309360" cy="45720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Slide template over image → NCC response map → peak = detection. Fast and simple but breaks with scale/rotation changes.</a:t>
            </a:r>
            <a:endParaRPr lang="en-US" sz="1100" dirty="0"/>
          </a:p>
        </p:txBody>
      </p:sp>
      <p:sp>
        <p:nvSpPr>
          <p:cNvPr id="6" name="Shape 4"/>
          <p:cNvSpPr/>
          <p:nvPr/>
        </p:nvSpPr>
        <p:spPr>
          <a:xfrm>
            <a:off x="457200" y="1709928"/>
            <a:ext cx="1920240" cy="502920"/>
          </a:xfrm>
          <a:prstGeom prst="rect">
            <a:avLst/>
          </a:prstGeom>
          <a:solidFill>
            <a:srgbClr val="7A8CC0"/>
          </a:solidFill>
          <a:ln w="12700">
            <a:solidFill>
              <a:srgbClr val="7A8CC0"/>
            </a:solidFill>
            <a:prstDash val="solid"/>
          </a:ln>
        </p:spPr>
      </p:sp>
      <p:sp>
        <p:nvSpPr>
          <p:cNvPr id="7" name="Text 5"/>
          <p:cNvSpPr/>
          <p:nvPr/>
        </p:nvSpPr>
        <p:spPr>
          <a:xfrm>
            <a:off x="457200" y="1709928"/>
            <a:ext cx="19202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D2 Sliding Window</a:t>
            </a:r>
            <a:endParaRPr lang="en-US" sz="1000" dirty="0"/>
          </a:p>
        </p:txBody>
      </p:sp>
      <p:sp>
        <p:nvSpPr>
          <p:cNvPr id="8" name="Text 6"/>
          <p:cNvSpPr/>
          <p:nvPr/>
        </p:nvSpPr>
        <p:spPr>
          <a:xfrm>
            <a:off x="2514600" y="1746504"/>
            <a:ext cx="6309360" cy="45720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Run classifier at every position and scale (image pyramid). Must use NMS to merge duplicate detections. Foundation of all pre-DL detectors.</a:t>
            </a:r>
            <a:endParaRPr lang="en-US" sz="1100" dirty="0"/>
          </a:p>
        </p:txBody>
      </p:sp>
      <p:sp>
        <p:nvSpPr>
          <p:cNvPr id="9" name="Shape 7"/>
          <p:cNvSpPr/>
          <p:nvPr/>
        </p:nvSpPr>
        <p:spPr>
          <a:xfrm>
            <a:off x="457200" y="2368296"/>
            <a:ext cx="1920240" cy="502920"/>
          </a:xfrm>
          <a:prstGeom prst="rect">
            <a:avLst/>
          </a:prstGeom>
          <a:solidFill>
            <a:srgbClr val="7A8CC0"/>
          </a:solidFill>
          <a:ln w="12700">
            <a:solidFill>
              <a:srgbClr val="7A8CC0"/>
            </a:solidFill>
            <a:prstDash val="solid"/>
          </a:ln>
        </p:spPr>
      </p:sp>
      <p:sp>
        <p:nvSpPr>
          <p:cNvPr id="10" name="Text 8"/>
          <p:cNvSpPr/>
          <p:nvPr/>
        </p:nvSpPr>
        <p:spPr>
          <a:xfrm>
            <a:off x="457200" y="2368296"/>
            <a:ext cx="19202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D3 HOG + SVM</a:t>
            </a:r>
            <a:endParaRPr lang="en-US" sz="1000" dirty="0"/>
          </a:p>
        </p:txBody>
      </p:sp>
      <p:sp>
        <p:nvSpPr>
          <p:cNvPr id="11" name="Text 9"/>
          <p:cNvSpPr/>
          <p:nvPr/>
        </p:nvSpPr>
        <p:spPr>
          <a:xfrm>
            <a:off x="2514600" y="2404872"/>
            <a:ext cx="6309360" cy="45720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HOG = edge direction histograms in 8×8 cells, normalized in 2×2 blocks. SVM finds hyperplane in 3780D space. Hard negative mining is essential.</a:t>
            </a:r>
            <a:endParaRPr lang="en-US" sz="1100" dirty="0"/>
          </a:p>
        </p:txBody>
      </p:sp>
      <p:sp>
        <p:nvSpPr>
          <p:cNvPr id="12" name="Shape 10"/>
          <p:cNvSpPr/>
          <p:nvPr/>
        </p:nvSpPr>
        <p:spPr>
          <a:xfrm>
            <a:off x="457200" y="3026664"/>
            <a:ext cx="1920240" cy="502920"/>
          </a:xfrm>
          <a:prstGeom prst="rect">
            <a:avLst/>
          </a:prstGeom>
          <a:solidFill>
            <a:srgbClr val="7A8CC0"/>
          </a:solidFill>
          <a:ln w="12700">
            <a:solidFill>
              <a:srgbClr val="7A8CC0"/>
            </a:solidFill>
            <a:prstDash val="solid"/>
          </a:ln>
        </p:spPr>
      </p:sp>
      <p:sp>
        <p:nvSpPr>
          <p:cNvPr id="13" name="Text 11"/>
          <p:cNvSpPr/>
          <p:nvPr/>
        </p:nvSpPr>
        <p:spPr>
          <a:xfrm>
            <a:off x="457200" y="3026664"/>
            <a:ext cx="19202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D4 Viola-Jones</a:t>
            </a:r>
            <a:endParaRPr lang="en-US" sz="1000" dirty="0"/>
          </a:p>
        </p:txBody>
      </p:sp>
      <p:sp>
        <p:nvSpPr>
          <p:cNvPr id="14" name="Text 12"/>
          <p:cNvSpPr/>
          <p:nvPr/>
        </p:nvSpPr>
        <p:spPr>
          <a:xfrm>
            <a:off x="2514600" y="3063240"/>
            <a:ext cx="6309360" cy="45720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Haar features (rectangle differences) + integral image (O(1) lookup) + AdaBoost cascade (funnel rejects 99.9% windows early). First real-time face detector.</a:t>
            </a:r>
            <a:endParaRPr lang="en-US" sz="1100" dirty="0"/>
          </a:p>
        </p:txBody>
      </p:sp>
      <p:sp>
        <p:nvSpPr>
          <p:cNvPr id="15" name="Shape 13"/>
          <p:cNvSpPr/>
          <p:nvPr/>
        </p:nvSpPr>
        <p:spPr>
          <a:xfrm>
            <a:off x="457200" y="3685032"/>
            <a:ext cx="1920240" cy="502920"/>
          </a:xfrm>
          <a:prstGeom prst="rect">
            <a:avLst/>
          </a:prstGeom>
          <a:solidFill>
            <a:srgbClr val="7A8CC0"/>
          </a:solidFill>
          <a:ln w="12700">
            <a:solidFill>
              <a:srgbClr val="7A8CC0"/>
            </a:solidFill>
            <a:prstDash val="solid"/>
          </a:ln>
        </p:spPr>
      </p:sp>
      <p:sp>
        <p:nvSpPr>
          <p:cNvPr id="16" name="Text 14"/>
          <p:cNvSpPr/>
          <p:nvPr/>
        </p:nvSpPr>
        <p:spPr>
          <a:xfrm>
            <a:off x="457200" y="3685032"/>
            <a:ext cx="19202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D5 Harris</a:t>
            </a:r>
            <a:endParaRPr lang="en-US" sz="1000" dirty="0"/>
          </a:p>
        </p:txBody>
      </p:sp>
      <p:sp>
        <p:nvSpPr>
          <p:cNvPr id="17" name="Text 15"/>
          <p:cNvSpPr/>
          <p:nvPr/>
        </p:nvSpPr>
        <p:spPr>
          <a:xfrm>
            <a:off x="2514600" y="3721608"/>
            <a:ext cx="6309360" cy="45720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Structure tensor M eigenvalues: both large = corner = keypoint. R = det(M) - k·trace(M)². Not scale invariant — SIFT extends it.</a:t>
            </a:r>
            <a:endParaRPr lang="en-US" sz="1100" dirty="0"/>
          </a:p>
        </p:txBody>
      </p:sp>
      <p:sp>
        <p:nvSpPr>
          <p:cNvPr id="18" name="Shape 16"/>
          <p:cNvSpPr/>
          <p:nvPr/>
        </p:nvSpPr>
        <p:spPr>
          <a:xfrm>
            <a:off x="457200" y="4343400"/>
            <a:ext cx="1920240" cy="502920"/>
          </a:xfrm>
          <a:prstGeom prst="rect">
            <a:avLst/>
          </a:prstGeom>
          <a:solidFill>
            <a:srgbClr val="7A8CC0"/>
          </a:solidFill>
          <a:ln w="12700">
            <a:solidFill>
              <a:srgbClr val="7A8CC0"/>
            </a:solidFill>
            <a:prstDash val="solid"/>
          </a:ln>
        </p:spPr>
      </p:sp>
      <p:sp>
        <p:nvSpPr>
          <p:cNvPr id="19" name="Text 17"/>
          <p:cNvSpPr/>
          <p:nvPr/>
        </p:nvSpPr>
        <p:spPr>
          <a:xfrm>
            <a:off x="457200" y="4343400"/>
            <a:ext cx="19202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D6 SIFT &amp; ORB</a:t>
            </a:r>
            <a:endParaRPr lang="en-US" sz="1000" dirty="0"/>
          </a:p>
        </p:txBody>
      </p:sp>
      <p:sp>
        <p:nvSpPr>
          <p:cNvPr id="20" name="Text 18"/>
          <p:cNvSpPr/>
          <p:nvPr/>
        </p:nvSpPr>
        <p:spPr>
          <a:xfrm>
            <a:off x="2514600" y="4379976"/>
            <a:ext cx="6309360" cy="45720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SIFT: DoG scale-space extrema + 128D gradient histogram descriptor. ORB: FAST detector + 256-bit BRIEF binary descriptor. 100× faster than SIFT.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Section D — Classical Object Detection</dc:title>
  <dc:subject>PptxGenJS Presentation</dc:subject>
  <dc:creator>PptxGenJS</dc:creator>
  <cp:lastModifiedBy>PptxGenJS</cp:lastModifiedBy>
  <cp:revision>1</cp:revision>
  <dcterms:created xsi:type="dcterms:W3CDTF">2026-03-09T17:24:33Z</dcterms:created>
  <dcterms:modified xsi:type="dcterms:W3CDTF">2026-03-09T17:24:33Z</dcterms:modified>
</cp:coreProperties>
</file>