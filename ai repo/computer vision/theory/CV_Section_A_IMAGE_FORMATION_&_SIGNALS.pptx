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3474720"/>
            <a:ext cx="9144000" cy="1668780"/>
          </a:xfrm>
          <a:prstGeom prst="rect">
            <a:avLst/>
          </a:prstGeom>
          <a:solidFill>
            <a:srgbClr val="12193D"/>
          </a:solidFill>
          <a:ln w="12700">
            <a:solidFill>
              <a:srgbClr val="12193D"/>
            </a:solidFill>
            <a:prstDash val="solid"/>
          </a:ln>
        </p:spPr>
      </p:sp>
      <p:sp>
        <p:nvSpPr>
          <p:cNvPr id="3" name="Text 1"/>
          <p:cNvSpPr/>
          <p:nvPr/>
        </p:nvSpPr>
        <p:spPr>
          <a:xfrm>
            <a:off x="457200" y="640080"/>
            <a:ext cx="8229600" cy="640080"/>
          </a:xfrm>
          <a:prstGeom prst="rect">
            <a:avLst/>
          </a:prstGeom>
          <a:noFill/>
          <a:ln/>
        </p:spPr>
        <p:txBody>
          <a:bodyPr wrap="square" rtlCol="0" anchor="ctr"/>
          <a:lstStyle/>
          <a:p>
            <a:pPr indent="0" marL="0">
              <a:buNone/>
            </a:pPr>
            <a:r>
              <a:rPr lang="en-US" sz="1300" b="1" spc="600" kern="0" dirty="0">
                <a:solidFill>
                  <a:srgbClr val="7A8CC0"/>
                </a:solidFill>
                <a:latin typeface="Calibri" pitchFamily="34" charset="0"/>
                <a:ea typeface="Calibri" pitchFamily="34" charset="-122"/>
                <a:cs typeface="Calibri" pitchFamily="34" charset="-120"/>
              </a:rPr>
              <a:t>COMPUTER VISION</a:t>
            </a:r>
            <a:endParaRPr lang="en-US" sz="1300" dirty="0"/>
          </a:p>
        </p:txBody>
      </p:sp>
      <p:sp>
        <p:nvSpPr>
          <p:cNvPr id="4" name="Text 2"/>
          <p:cNvSpPr/>
          <p:nvPr/>
        </p:nvSpPr>
        <p:spPr>
          <a:xfrm>
            <a:off x="457200" y="1234440"/>
            <a:ext cx="8229600" cy="1097280"/>
          </a:xfrm>
          <a:prstGeom prst="rect">
            <a:avLst/>
          </a:prstGeom>
          <a:noFill/>
          <a:ln/>
        </p:spPr>
        <p:txBody>
          <a:bodyPr wrap="square" rtlCol="0" anchor="ctr"/>
          <a:lstStyle/>
          <a:p>
            <a:pPr indent="0" marL="0">
              <a:buNone/>
            </a:pPr>
            <a:r>
              <a:rPr lang="en-US" sz="5200" b="1" dirty="0">
                <a:solidFill>
                  <a:srgbClr val="FFFFFF"/>
                </a:solidFill>
                <a:latin typeface="Georgia" pitchFamily="34" charset="0"/>
                <a:ea typeface="Georgia" pitchFamily="34" charset="-122"/>
                <a:cs typeface="Georgia" pitchFamily="34" charset="-120"/>
              </a:rPr>
              <a:t>Section A</a:t>
            </a:r>
            <a:endParaRPr lang="en-US" sz="5200" dirty="0"/>
          </a:p>
        </p:txBody>
      </p:sp>
      <p:sp>
        <p:nvSpPr>
          <p:cNvPr id="5" name="Text 3"/>
          <p:cNvSpPr/>
          <p:nvPr/>
        </p:nvSpPr>
        <p:spPr>
          <a:xfrm>
            <a:off x="457200" y="2331720"/>
            <a:ext cx="8229600" cy="548640"/>
          </a:xfrm>
          <a:prstGeom prst="rect">
            <a:avLst/>
          </a:prstGeom>
          <a:noFill/>
          <a:ln/>
        </p:spPr>
        <p:txBody>
          <a:bodyPr wrap="square" rtlCol="0" anchor="ctr"/>
          <a:lstStyle/>
          <a:p>
            <a:pPr indent="0" marL="0">
              <a:buNone/>
            </a:pPr>
            <a:r>
              <a:rPr lang="en-US" sz="2000" dirty="0">
                <a:solidFill>
                  <a:srgbClr val="7A8CC0"/>
                </a:solidFill>
                <a:latin typeface="Calibri" pitchFamily="34" charset="0"/>
                <a:ea typeface="Calibri" pitchFamily="34" charset="-122"/>
                <a:cs typeface="Calibri" pitchFamily="34" charset="-120"/>
              </a:rPr>
              <a:t>Image Formation, Signals &amp; Annotations</a:t>
            </a:r>
            <a:endParaRPr lang="en-US" sz="2000" dirty="0"/>
          </a:p>
        </p:txBody>
      </p:sp>
      <p:sp>
        <p:nvSpPr>
          <p:cNvPr id="6" name="Text 4"/>
          <p:cNvSpPr/>
          <p:nvPr/>
        </p:nvSpPr>
        <p:spPr>
          <a:xfrm>
            <a:off x="457200" y="3611880"/>
            <a:ext cx="8229600" cy="457200"/>
          </a:xfrm>
          <a:prstGeom prst="rect">
            <a:avLst/>
          </a:prstGeom>
          <a:noFill/>
          <a:ln/>
        </p:spPr>
        <p:txBody>
          <a:bodyPr wrap="square" rtlCol="0" anchor="ctr"/>
          <a:lstStyle/>
          <a:p>
            <a:pPr indent="0" marL="0">
              <a:buNone/>
            </a:pPr>
            <a:r>
              <a:rPr lang="en-US" sz="1100" dirty="0">
                <a:solidFill>
                  <a:srgbClr val="8899CC"/>
                </a:solidFill>
                <a:latin typeface="Calibri" pitchFamily="34" charset="0"/>
                <a:ea typeface="Calibri" pitchFamily="34" charset="-122"/>
                <a:cs typeface="Calibri" pitchFamily="34" charset="-120"/>
              </a:rPr>
              <a:t>Topics: Digital Images · Color Spaces · Sampling · Quantization · Noise · Annotations</a:t>
            </a:r>
            <a:endParaRPr lang="en-US" sz="1100" dirty="0"/>
          </a:p>
        </p:txBody>
      </p:sp>
      <p:sp>
        <p:nvSpPr>
          <p:cNvPr id="7" name="Text 5"/>
          <p:cNvSpPr/>
          <p:nvPr/>
        </p:nvSpPr>
        <p:spPr>
          <a:xfrm>
            <a:off x="457200" y="4160520"/>
            <a:ext cx="8229600" cy="365760"/>
          </a:xfrm>
          <a:prstGeom prst="rect">
            <a:avLst/>
          </a:prstGeom>
          <a:noFill/>
          <a:ln/>
        </p:spPr>
        <p:txBody>
          <a:bodyPr wrap="square" rtlCol="0" anchor="ctr"/>
          <a:lstStyle/>
          <a:p>
            <a:pPr indent="0" marL="0">
              <a:buNone/>
            </a:pPr>
            <a:r>
              <a:rPr lang="en-US" sz="1100" i="1" dirty="0">
                <a:solidFill>
                  <a:srgbClr val="6677AA"/>
                </a:solidFill>
                <a:latin typeface="Calibri" pitchFamily="34" charset="0"/>
                <a:ea typeface="Calibri" pitchFamily="34" charset="-122"/>
                <a:cs typeface="Calibri" pitchFamily="34" charset="-120"/>
              </a:rPr>
              <a:t>For Absolute Beginners — No Prior Knowledge Required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8229600" cy="658368"/>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What We Will Cover</a:t>
            </a:r>
            <a:endParaRPr lang="en-US" sz="2000" dirty="0"/>
          </a:p>
        </p:txBody>
      </p:sp>
      <p:sp>
        <p:nvSpPr>
          <p:cNvPr id="4" name="Shape 2"/>
          <p:cNvSpPr/>
          <p:nvPr/>
        </p:nvSpPr>
        <p:spPr>
          <a:xfrm>
            <a:off x="320040" y="822960"/>
            <a:ext cx="502920" cy="502920"/>
          </a:xfrm>
          <a:prstGeom prst="rect">
            <a:avLst/>
          </a:prstGeom>
          <a:solidFill>
            <a:srgbClr val="1E2761"/>
          </a:solidFill>
          <a:ln w="12700">
            <a:solidFill>
              <a:srgbClr val="1E2761"/>
            </a:solidFill>
            <a:prstDash val="solid"/>
          </a:ln>
        </p:spPr>
      </p:sp>
      <p:sp>
        <p:nvSpPr>
          <p:cNvPr id="5" name="Text 3"/>
          <p:cNvSpPr/>
          <p:nvPr/>
        </p:nvSpPr>
        <p:spPr>
          <a:xfrm>
            <a:off x="320040" y="822960"/>
            <a:ext cx="502920"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A1</a:t>
            </a:r>
            <a:endParaRPr lang="en-US" sz="1000" dirty="0"/>
          </a:p>
        </p:txBody>
      </p:sp>
      <p:sp>
        <p:nvSpPr>
          <p:cNvPr id="6" name="Text 4"/>
          <p:cNvSpPr/>
          <p:nvPr/>
        </p:nvSpPr>
        <p:spPr>
          <a:xfrm>
            <a:off x="960120" y="822960"/>
            <a:ext cx="2286000" cy="256032"/>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Digital Images</a:t>
            </a:r>
            <a:endParaRPr lang="en-US" sz="1300" dirty="0"/>
          </a:p>
        </p:txBody>
      </p:sp>
      <p:sp>
        <p:nvSpPr>
          <p:cNvPr id="7" name="Text 5"/>
          <p:cNvSpPr/>
          <p:nvPr/>
        </p:nvSpPr>
        <p:spPr>
          <a:xfrm>
            <a:off x="960120" y="1069848"/>
            <a:ext cx="7772400" cy="256032"/>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What is an image? Pixels, arrays, bit depth, memory layout</a:t>
            </a:r>
            <a:endParaRPr lang="en-US" sz="1050" dirty="0"/>
          </a:p>
        </p:txBody>
      </p:sp>
      <p:sp>
        <p:nvSpPr>
          <p:cNvPr id="8" name="Shape 6"/>
          <p:cNvSpPr/>
          <p:nvPr/>
        </p:nvSpPr>
        <p:spPr>
          <a:xfrm>
            <a:off x="320040" y="1499616"/>
            <a:ext cx="502920" cy="502920"/>
          </a:xfrm>
          <a:prstGeom prst="rect">
            <a:avLst/>
          </a:prstGeom>
          <a:solidFill>
            <a:srgbClr val="1E2761"/>
          </a:solidFill>
          <a:ln w="12700">
            <a:solidFill>
              <a:srgbClr val="1E2761"/>
            </a:solidFill>
            <a:prstDash val="solid"/>
          </a:ln>
        </p:spPr>
      </p:sp>
      <p:sp>
        <p:nvSpPr>
          <p:cNvPr id="9" name="Text 7"/>
          <p:cNvSpPr/>
          <p:nvPr/>
        </p:nvSpPr>
        <p:spPr>
          <a:xfrm>
            <a:off x="320040" y="1499616"/>
            <a:ext cx="502920"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A2</a:t>
            </a:r>
            <a:endParaRPr lang="en-US" sz="1000" dirty="0"/>
          </a:p>
        </p:txBody>
      </p:sp>
      <p:sp>
        <p:nvSpPr>
          <p:cNvPr id="10" name="Text 8"/>
          <p:cNvSpPr/>
          <p:nvPr/>
        </p:nvSpPr>
        <p:spPr>
          <a:xfrm>
            <a:off x="960120" y="1499616"/>
            <a:ext cx="2286000" cy="256032"/>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Color Spaces</a:t>
            </a:r>
            <a:endParaRPr lang="en-US" sz="1300" dirty="0"/>
          </a:p>
        </p:txBody>
      </p:sp>
      <p:sp>
        <p:nvSpPr>
          <p:cNvPr id="11" name="Text 9"/>
          <p:cNvSpPr/>
          <p:nvPr/>
        </p:nvSpPr>
        <p:spPr>
          <a:xfrm>
            <a:off x="960120" y="1746504"/>
            <a:ext cx="7772400" cy="256032"/>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RGB, HSV, YUV, Grayscale, LAB, HSL — what they are and when to use each</a:t>
            </a:r>
            <a:endParaRPr lang="en-US" sz="1050" dirty="0"/>
          </a:p>
        </p:txBody>
      </p:sp>
      <p:sp>
        <p:nvSpPr>
          <p:cNvPr id="12" name="Shape 10"/>
          <p:cNvSpPr/>
          <p:nvPr/>
        </p:nvSpPr>
        <p:spPr>
          <a:xfrm>
            <a:off x="320040" y="2176272"/>
            <a:ext cx="502920" cy="502920"/>
          </a:xfrm>
          <a:prstGeom prst="rect">
            <a:avLst/>
          </a:prstGeom>
          <a:solidFill>
            <a:srgbClr val="1E2761"/>
          </a:solidFill>
          <a:ln w="12700">
            <a:solidFill>
              <a:srgbClr val="1E2761"/>
            </a:solidFill>
            <a:prstDash val="solid"/>
          </a:ln>
        </p:spPr>
      </p:sp>
      <p:sp>
        <p:nvSpPr>
          <p:cNvPr id="13" name="Text 11"/>
          <p:cNvSpPr/>
          <p:nvPr/>
        </p:nvSpPr>
        <p:spPr>
          <a:xfrm>
            <a:off x="320040" y="2176272"/>
            <a:ext cx="502920"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A3</a:t>
            </a:r>
            <a:endParaRPr lang="en-US" sz="1000" dirty="0"/>
          </a:p>
        </p:txBody>
      </p:sp>
      <p:sp>
        <p:nvSpPr>
          <p:cNvPr id="14" name="Text 12"/>
          <p:cNvSpPr/>
          <p:nvPr/>
        </p:nvSpPr>
        <p:spPr>
          <a:xfrm>
            <a:off x="960120" y="2176272"/>
            <a:ext cx="2286000" cy="256032"/>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Sampling</a:t>
            </a:r>
            <a:endParaRPr lang="en-US" sz="1300" dirty="0"/>
          </a:p>
        </p:txBody>
      </p:sp>
      <p:sp>
        <p:nvSpPr>
          <p:cNvPr id="15" name="Text 13"/>
          <p:cNvSpPr/>
          <p:nvPr/>
        </p:nvSpPr>
        <p:spPr>
          <a:xfrm>
            <a:off x="960120" y="2423160"/>
            <a:ext cx="7772400" cy="256032"/>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How the real world becomes a grid of numbers; aliasing; Nyquist theorem</a:t>
            </a:r>
            <a:endParaRPr lang="en-US" sz="1050" dirty="0"/>
          </a:p>
        </p:txBody>
      </p:sp>
      <p:sp>
        <p:nvSpPr>
          <p:cNvPr id="16" name="Shape 14"/>
          <p:cNvSpPr/>
          <p:nvPr/>
        </p:nvSpPr>
        <p:spPr>
          <a:xfrm>
            <a:off x="320040" y="2852928"/>
            <a:ext cx="502920" cy="502920"/>
          </a:xfrm>
          <a:prstGeom prst="rect">
            <a:avLst/>
          </a:prstGeom>
          <a:solidFill>
            <a:srgbClr val="1E2761"/>
          </a:solidFill>
          <a:ln w="12700">
            <a:solidFill>
              <a:srgbClr val="1E2761"/>
            </a:solidFill>
            <a:prstDash val="solid"/>
          </a:ln>
        </p:spPr>
      </p:sp>
      <p:sp>
        <p:nvSpPr>
          <p:cNvPr id="17" name="Text 15"/>
          <p:cNvSpPr/>
          <p:nvPr/>
        </p:nvSpPr>
        <p:spPr>
          <a:xfrm>
            <a:off x="320040" y="2852928"/>
            <a:ext cx="502920"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A4</a:t>
            </a:r>
            <a:endParaRPr lang="en-US" sz="1000" dirty="0"/>
          </a:p>
        </p:txBody>
      </p:sp>
      <p:sp>
        <p:nvSpPr>
          <p:cNvPr id="18" name="Text 16"/>
          <p:cNvSpPr/>
          <p:nvPr/>
        </p:nvSpPr>
        <p:spPr>
          <a:xfrm>
            <a:off x="960120" y="2852928"/>
            <a:ext cx="2286000" cy="256032"/>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Quantization</a:t>
            </a:r>
            <a:endParaRPr lang="en-US" sz="1300" dirty="0"/>
          </a:p>
        </p:txBody>
      </p:sp>
      <p:sp>
        <p:nvSpPr>
          <p:cNvPr id="19" name="Text 17"/>
          <p:cNvSpPr/>
          <p:nvPr/>
        </p:nvSpPr>
        <p:spPr>
          <a:xfrm>
            <a:off x="960120" y="3099816"/>
            <a:ext cx="7772400" cy="256032"/>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How brightness levels are rounded; 8-bit vs 16-bit; quantization error</a:t>
            </a:r>
            <a:endParaRPr lang="en-US" sz="1050" dirty="0"/>
          </a:p>
        </p:txBody>
      </p:sp>
      <p:sp>
        <p:nvSpPr>
          <p:cNvPr id="20" name="Shape 18"/>
          <p:cNvSpPr/>
          <p:nvPr/>
        </p:nvSpPr>
        <p:spPr>
          <a:xfrm>
            <a:off x="320040" y="3529584"/>
            <a:ext cx="502920" cy="502920"/>
          </a:xfrm>
          <a:prstGeom prst="rect">
            <a:avLst/>
          </a:prstGeom>
          <a:solidFill>
            <a:srgbClr val="1E2761"/>
          </a:solidFill>
          <a:ln w="12700">
            <a:solidFill>
              <a:srgbClr val="1E2761"/>
            </a:solidFill>
            <a:prstDash val="solid"/>
          </a:ln>
        </p:spPr>
      </p:sp>
      <p:sp>
        <p:nvSpPr>
          <p:cNvPr id="21" name="Text 19"/>
          <p:cNvSpPr/>
          <p:nvPr/>
        </p:nvSpPr>
        <p:spPr>
          <a:xfrm>
            <a:off x="320040" y="3529584"/>
            <a:ext cx="502920"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A5</a:t>
            </a:r>
            <a:endParaRPr lang="en-US" sz="1000" dirty="0"/>
          </a:p>
        </p:txBody>
      </p:sp>
      <p:sp>
        <p:nvSpPr>
          <p:cNvPr id="22" name="Text 20"/>
          <p:cNvSpPr/>
          <p:nvPr/>
        </p:nvSpPr>
        <p:spPr>
          <a:xfrm>
            <a:off x="960120" y="3529584"/>
            <a:ext cx="2286000" cy="256032"/>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Noise Models</a:t>
            </a:r>
            <a:endParaRPr lang="en-US" sz="1300" dirty="0"/>
          </a:p>
        </p:txBody>
      </p:sp>
      <p:sp>
        <p:nvSpPr>
          <p:cNvPr id="23" name="Text 21"/>
          <p:cNvSpPr/>
          <p:nvPr/>
        </p:nvSpPr>
        <p:spPr>
          <a:xfrm>
            <a:off x="960120" y="3776472"/>
            <a:ext cx="7772400" cy="256032"/>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Gaussian, salt-and-pepper, Poisson, speckle — how images get corrupted</a:t>
            </a:r>
            <a:endParaRPr lang="en-US" sz="1050" dirty="0"/>
          </a:p>
        </p:txBody>
      </p:sp>
      <p:sp>
        <p:nvSpPr>
          <p:cNvPr id="24" name="Shape 22"/>
          <p:cNvSpPr/>
          <p:nvPr/>
        </p:nvSpPr>
        <p:spPr>
          <a:xfrm>
            <a:off x="320040" y="4206240"/>
            <a:ext cx="502920" cy="502920"/>
          </a:xfrm>
          <a:prstGeom prst="rect">
            <a:avLst/>
          </a:prstGeom>
          <a:solidFill>
            <a:srgbClr val="1E2761"/>
          </a:solidFill>
          <a:ln w="12700">
            <a:solidFill>
              <a:srgbClr val="1E2761"/>
            </a:solidFill>
            <a:prstDash val="solid"/>
          </a:ln>
        </p:spPr>
      </p:sp>
      <p:sp>
        <p:nvSpPr>
          <p:cNvPr id="25" name="Text 23"/>
          <p:cNvSpPr/>
          <p:nvPr/>
        </p:nvSpPr>
        <p:spPr>
          <a:xfrm>
            <a:off x="320040" y="4206240"/>
            <a:ext cx="502920"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A6</a:t>
            </a:r>
            <a:endParaRPr lang="en-US" sz="1000" dirty="0"/>
          </a:p>
        </p:txBody>
      </p:sp>
      <p:sp>
        <p:nvSpPr>
          <p:cNvPr id="26" name="Text 24"/>
          <p:cNvSpPr/>
          <p:nvPr/>
        </p:nvSpPr>
        <p:spPr>
          <a:xfrm>
            <a:off x="960120" y="4206240"/>
            <a:ext cx="2286000" cy="256032"/>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Annotations</a:t>
            </a:r>
            <a:endParaRPr lang="en-US" sz="1300" dirty="0"/>
          </a:p>
        </p:txBody>
      </p:sp>
      <p:sp>
        <p:nvSpPr>
          <p:cNvPr id="27" name="Text 25"/>
          <p:cNvSpPr/>
          <p:nvPr/>
        </p:nvSpPr>
        <p:spPr>
          <a:xfrm>
            <a:off x="960120" y="4453128"/>
            <a:ext cx="7772400" cy="256032"/>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Bounding boxes, polygons, masks, keypoints; COCO, YOLO, VOC formats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E2761"/>
          </a:solidFill>
          <a:ln w="12700">
            <a:solidFill>
              <a:srgbClr val="1E2761"/>
            </a:solidFill>
            <a:prstDash val="solid"/>
          </a:ln>
        </p:spPr>
      </p:sp>
      <p:sp>
        <p:nvSpPr>
          <p:cNvPr id="3" name="Text 1"/>
          <p:cNvSpPr/>
          <p:nvPr/>
        </p:nvSpPr>
        <p:spPr>
          <a:xfrm>
            <a:off x="365760" y="457200"/>
            <a:ext cx="1371600" cy="1371600"/>
          </a:xfrm>
          <a:prstGeom prst="rect">
            <a:avLst/>
          </a:prstGeom>
          <a:noFill/>
          <a:ln/>
        </p:spPr>
        <p:txBody>
          <a:bodyPr wrap="square" rtlCol="0" anchor="ctr"/>
          <a:lstStyle/>
          <a:p>
            <a:pPr indent="0" marL="0">
              <a:buNone/>
            </a:pPr>
            <a:r>
              <a:rPr lang="en-US" sz="7200" b="1" dirty="0">
                <a:solidFill>
                  <a:srgbClr val="E8ECF4"/>
                </a:solidFill>
                <a:latin typeface="Georgia" pitchFamily="34" charset="0"/>
                <a:ea typeface="Georgia" pitchFamily="34" charset="-122"/>
                <a:cs typeface="Georgia" pitchFamily="34" charset="-120"/>
              </a:rPr>
              <a:t>A1</a:t>
            </a:r>
            <a:endParaRPr lang="en-US" sz="7200" dirty="0"/>
          </a:p>
        </p:txBody>
      </p:sp>
      <p:sp>
        <p:nvSpPr>
          <p:cNvPr id="4" name="Text 2"/>
          <p:cNvSpPr/>
          <p:nvPr/>
        </p:nvSpPr>
        <p:spPr>
          <a:xfrm>
            <a:off x="365760" y="1554480"/>
            <a:ext cx="8412480" cy="914400"/>
          </a:xfrm>
          <a:prstGeom prst="rect">
            <a:avLst/>
          </a:prstGeom>
          <a:noFill/>
          <a:ln/>
        </p:spPr>
        <p:txBody>
          <a:bodyPr wrap="square" rtlCol="0" anchor="ctr"/>
          <a:lstStyle/>
          <a:p>
            <a:pPr indent="0" marL="0">
              <a:buNone/>
            </a:pPr>
            <a:r>
              <a:rPr lang="en-US" sz="3600" b="1" dirty="0">
                <a:solidFill>
                  <a:srgbClr val="1E2761"/>
                </a:solidFill>
                <a:latin typeface="Georgia" pitchFamily="34" charset="0"/>
                <a:ea typeface="Georgia" pitchFamily="34" charset="-122"/>
                <a:cs typeface="Georgia" pitchFamily="34" charset="-120"/>
              </a:rPr>
              <a:t>Digital Images</a:t>
            </a:r>
            <a:endParaRPr lang="en-US" sz="3600" dirty="0"/>
          </a:p>
        </p:txBody>
      </p:sp>
      <p:sp>
        <p:nvSpPr>
          <p:cNvPr id="5" name="Text 3"/>
          <p:cNvSpPr/>
          <p:nvPr/>
        </p:nvSpPr>
        <p:spPr>
          <a:xfrm>
            <a:off x="365760" y="2514600"/>
            <a:ext cx="8412480" cy="548640"/>
          </a:xfrm>
          <a:prstGeom prst="rect">
            <a:avLst/>
          </a:prstGeom>
          <a:noFill/>
          <a:ln/>
        </p:spPr>
        <p:txBody>
          <a:bodyPr wrap="square" rtlCol="0" anchor="ctr"/>
          <a:lstStyle/>
          <a:p>
            <a:pPr indent="0" marL="0">
              <a:buNone/>
            </a:pPr>
            <a:r>
              <a:rPr lang="en-US" sz="1500" dirty="0">
                <a:solidFill>
                  <a:srgbClr val="6B7280"/>
                </a:solidFill>
                <a:latin typeface="Calibri" pitchFamily="34" charset="0"/>
                <a:ea typeface="Calibri" pitchFamily="34" charset="-122"/>
                <a:cs typeface="Calibri" pitchFamily="34" charset="-120"/>
              </a:rPr>
              <a:t>What a computer sees when it looks at a photo</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What Is a Digital Image?</a:t>
            </a:r>
            <a:endParaRPr lang="en-US" sz="1700" dirty="0"/>
          </a:p>
        </p:txBody>
      </p:sp>
      <p:sp>
        <p:nvSpPr>
          <p:cNvPr id="4" name="Text 2"/>
          <p:cNvSpPr/>
          <p:nvPr/>
        </p:nvSpPr>
        <p:spPr>
          <a:xfrm>
            <a:off x="7589520" y="0"/>
            <a:ext cx="137160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A1</a:t>
            </a:r>
            <a:endParaRPr lang="en-US" sz="1000" dirty="0"/>
          </a:p>
        </p:txBody>
      </p:sp>
      <p:sp>
        <p:nvSpPr>
          <p:cNvPr id="5" name="Shape 3"/>
          <p:cNvSpPr/>
          <p:nvPr/>
        </p:nvSpPr>
        <p:spPr>
          <a:xfrm>
            <a:off x="320040" y="804672"/>
            <a:ext cx="8503920" cy="914400"/>
          </a:xfrm>
          <a:prstGeom prst="rect">
            <a:avLst/>
          </a:prstGeom>
          <a:solidFill>
            <a:srgbClr val="DBEAFE"/>
          </a:solidFill>
          <a:ln w="12700">
            <a:solidFill>
              <a:srgbClr val="93C5FD"/>
            </a:solidFill>
            <a:prstDash val="solid"/>
          </a:ln>
        </p:spPr>
      </p:sp>
      <p:sp>
        <p:nvSpPr>
          <p:cNvPr id="6" name="Text 4"/>
          <p:cNvSpPr/>
          <p:nvPr/>
        </p:nvSpPr>
        <p:spPr>
          <a:xfrm>
            <a:off x="502920" y="841248"/>
            <a:ext cx="8229600" cy="804672"/>
          </a:xfrm>
          <a:prstGeom prst="rect">
            <a:avLst/>
          </a:prstGeom>
          <a:noFill/>
          <a:ln/>
        </p:spPr>
        <p:txBody>
          <a:bodyPr wrap="square" rtlCol="0" anchor="ctr"/>
          <a:lstStyle/>
          <a:p>
            <a:pPr indent="0" marL="0">
              <a:buNone/>
            </a:pPr>
            <a:r>
              <a:rPr lang="en-US" sz="1250" i="1" dirty="0">
                <a:solidFill>
                  <a:srgbClr val="1E40AF"/>
                </a:solidFill>
                <a:latin typeface="Calibri" pitchFamily="34" charset="0"/>
                <a:ea typeface="Calibri" pitchFamily="34" charset="-122"/>
                <a:cs typeface="Calibri" pitchFamily="34" charset="-120"/>
              </a:rPr>
              <a:t>A digital image is a rectangular grid of tiny colored squares called pixels. Every pixel stores a number (or a few numbers) that tells the computer how bright or what color that point is.</a:t>
            </a:r>
            <a:endParaRPr lang="en-US" sz="1250" dirty="0"/>
          </a:p>
        </p:txBody>
      </p:sp>
      <p:sp>
        <p:nvSpPr>
          <p:cNvPr id="7" name="Text 5"/>
          <p:cNvSpPr/>
          <p:nvPr/>
        </p:nvSpPr>
        <p:spPr>
          <a:xfrm>
            <a:off x="320040" y="1874520"/>
            <a:ext cx="8503920" cy="3063240"/>
          </a:xfrm>
          <a:prstGeom prst="rect">
            <a:avLst/>
          </a:prstGeom>
          <a:noFill/>
          <a:ln/>
        </p:spPr>
        <p:txBody>
          <a:bodyPr wrap="square" rtlCol="0" anchor="t"/>
          <a:lstStyle/>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Think of it like graph paper: each small square is one pixel.</a:t>
            </a:r>
            <a:endParaRPr lang="en-US" sz="1250" dirty="0"/>
          </a:p>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A 1920×1080 image means 1920 columns and 1080 rows = 2,073,600 pixels.</a:t>
            </a:r>
            <a:endParaRPr lang="en-US" sz="1250" dirty="0"/>
          </a:p>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Each pixel is just a number (or group of 3 numbers for color).</a:t>
            </a:r>
            <a:endParaRPr lang="en-US" sz="1250" dirty="0"/>
          </a:p>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The computer stores these numbers in memory as a big array (matrix).</a:t>
            </a:r>
            <a:endParaRPr lang="en-US" sz="1250" dirty="0"/>
          </a:p>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Image ≡ 2D (grayscale) or 3D (color) array of numbers.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Image = Array of Numbers</a:t>
            </a:r>
            <a:endParaRPr lang="en-US" sz="1700" dirty="0"/>
          </a:p>
        </p:txBody>
      </p:sp>
      <p:sp>
        <p:nvSpPr>
          <p:cNvPr id="4" name="Text 2"/>
          <p:cNvSpPr/>
          <p:nvPr/>
        </p:nvSpPr>
        <p:spPr>
          <a:xfrm>
            <a:off x="7589520" y="0"/>
            <a:ext cx="137160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A1</a:t>
            </a:r>
            <a:endParaRPr lang="en-US" sz="1000" dirty="0"/>
          </a:p>
        </p:txBody>
      </p:sp>
      <p:sp>
        <p:nvSpPr>
          <p:cNvPr id="5" name="Shape 3"/>
          <p:cNvSpPr/>
          <p:nvPr/>
        </p:nvSpPr>
        <p:spPr>
          <a:xfrm>
            <a:off x="320040" y="777240"/>
            <a:ext cx="8503920" cy="3840480"/>
          </a:xfrm>
          <a:prstGeom prst="rect">
            <a:avLst/>
          </a:prstGeom>
          <a:solidFill>
            <a:srgbClr val="1A1A2E"/>
          </a:solidFill>
          <a:ln w="12700">
            <a:solidFill>
              <a:srgbClr val="1A1A2E"/>
            </a:solidFill>
            <a:prstDash val="solid"/>
          </a:ln>
        </p:spPr>
      </p:sp>
      <p:sp>
        <p:nvSpPr>
          <p:cNvPr id="6" name="Text 4"/>
          <p:cNvSpPr/>
          <p:nvPr/>
        </p:nvSpPr>
        <p:spPr>
          <a:xfrm>
            <a:off x="457200" y="841248"/>
            <a:ext cx="8229600" cy="3730752"/>
          </a:xfrm>
          <a:prstGeom prst="rect">
            <a:avLst/>
          </a:prstGeom>
          <a:noFill/>
          <a:ln/>
        </p:spPr>
        <p:txBody>
          <a:bodyPr wrap="square" rtlCol="0" anchor="t"/>
          <a:lstStyle/>
          <a:p>
            <a:pPr indent="0" marL="0">
              <a:buNone/>
            </a:pPr>
            <a:r>
              <a:rPr lang="en-US" sz="1050" dirty="0">
                <a:solidFill>
                  <a:srgbClr val="B0C4DE"/>
                </a:solidFill>
                <a:latin typeface="Consolas" pitchFamily="34" charset="0"/>
                <a:ea typeface="Consolas" pitchFamily="34" charset="-122"/>
                <a:cs typeface="Consolas" pitchFamily="34" charset="-120"/>
              </a:rPr>
              <a:t>  GRAYSCALE IMAGE (2D array — Height × Width)</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Row 0:  [ 23,  45, 200, 255, 180 ]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Row 1:  [ 12,  67, 190, 240, 170 ]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Row 2:  [  5,  30, 150, 210, 160 ]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Row 3:  [  0,  10, 100, 180, 140 ]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Each number = brightness, 0 (black) → 255 (white)</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COLOR IMAGE (3D array — Height × Width × 3 channels)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R plane ────────┐  ┌── G plane ──┐  ┌── B plane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[255, 0, 0]  ...        │  │ [0,128,0].. │  │ [0, 0,200]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Stores RED intensity    │  │ GREEN       │  │ BLUE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Pixel color = (R=255, G=0, B=0)  →  pure red</a:t>
            </a:r>
            <a:endParaRPr lang="en-US" sz="1050" dirty="0"/>
          </a:p>
        </p:txBody>
      </p:sp>
      <p:sp>
        <p:nvSpPr>
          <p:cNvPr id="7" name="Text 5"/>
          <p:cNvSpPr/>
          <p:nvPr/>
        </p:nvSpPr>
        <p:spPr>
          <a:xfrm>
            <a:off x="320040" y="4709160"/>
            <a:ext cx="8503920" cy="32004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Caption: Every image is just numbers. Grayscale = one number per pixel. Color = three numbers per pixel (R, G, B).</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Bit Depth — How Many Values Can a Pixel Hold?</a:t>
            </a:r>
            <a:endParaRPr lang="en-US" sz="1700" dirty="0"/>
          </a:p>
        </p:txBody>
      </p:sp>
      <p:sp>
        <p:nvSpPr>
          <p:cNvPr id="4" name="Text 2"/>
          <p:cNvSpPr/>
          <p:nvPr/>
        </p:nvSpPr>
        <p:spPr>
          <a:xfrm>
            <a:off x="7589520" y="0"/>
            <a:ext cx="137160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A1</a:t>
            </a:r>
            <a:endParaRPr lang="en-US" sz="1000" dirty="0"/>
          </a:p>
        </p:txBody>
      </p:sp>
      <p:sp>
        <p:nvSpPr>
          <p:cNvPr id="5" name="Text 3"/>
          <p:cNvSpPr/>
          <p:nvPr/>
        </p:nvSpPr>
        <p:spPr>
          <a:xfrm>
            <a:off x="320040" y="804672"/>
            <a:ext cx="8503920" cy="4160520"/>
          </a:xfrm>
          <a:prstGeom prst="rect">
            <a:avLst/>
          </a:prstGeom>
          <a:noFill/>
          <a:ln/>
        </p:spPr>
        <p:txBody>
          <a:bodyPr wrap="square" rtlCol="0" anchor="t"/>
          <a:lstStyle/>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Bit depth tells us how many possible values one channel can store.</a:t>
            </a:r>
            <a:endParaRPr lang="en-US" sz="1300" dirty="0"/>
          </a:p>
          <a:p>
            <a:pPr marL="342900" indent="-342900">
              <a:spcAft>
                <a:spcPts val="400"/>
              </a:spcAft>
              <a:buSzPct val="100000"/>
              <a:buChar char="•"/>
            </a:pPr>
            <a:r>
              <a:rPr lang="en-US" sz="1300" dirty="0">
                <a:solidFill>
                  <a:srgbClr val="12193D"/>
                </a:solidFill>
                <a:latin typeface="Calibri" pitchFamily="34" charset="0"/>
                <a:ea typeface="Calibri" pitchFamily="34" charset="-122"/>
                <a:cs typeface="Calibri" pitchFamily="34" charset="-120"/>
              </a:rPr>
              <a:t>8-bit (most common): 2⁸ = 256 values per channel (0–255). Standard photos, webcams, most deep learning.</a:t>
            </a:r>
            <a:endParaRPr lang="en-US" sz="1300" dirty="0"/>
          </a:p>
          <a:p>
            <a:pPr lvl="1" marL="508000" indent="-254000">
              <a:spcAft>
                <a:spcPts val="400"/>
              </a:spcAft>
              <a:buSzPct val="100000"/>
              <a:buChar char="•"/>
            </a:pPr>
            <a:r>
              <a:rPr lang="en-US" sz="1200" dirty="0">
                <a:solidFill>
                  <a:srgbClr val="6B7280"/>
                </a:solidFill>
                <a:latin typeface="Calibri" pitchFamily="34" charset="0"/>
                <a:ea typeface="Calibri" pitchFamily="34" charset="-122"/>
                <a:cs typeface="Calibri" pitchFamily="34" charset="-120"/>
              </a:rPr>
              <a:t>Why 256? It's the max value that fits in one byte (8 binary digits).</a:t>
            </a:r>
            <a:endParaRPr lang="en-US" sz="1300" dirty="0"/>
          </a:p>
          <a:p>
            <a:pPr marL="342900" indent="-342900">
              <a:spcAft>
                <a:spcPts val="400"/>
              </a:spcAft>
              <a:buSzPct val="100000"/>
              <a:buChar char="•"/>
            </a:pPr>
            <a:r>
              <a:rPr lang="en-US" sz="1300" dirty="0">
                <a:solidFill>
                  <a:srgbClr val="12193D"/>
                </a:solidFill>
                <a:latin typeface="Calibri" pitchFamily="34" charset="0"/>
                <a:ea typeface="Calibri" pitchFamily="34" charset="-122"/>
                <a:cs typeface="Calibri" pitchFamily="34" charset="-120"/>
              </a:rPr>
              <a:t>16-bit: 2¹⁶ = 65,536 values. Used in medical imaging (CT, MRI) and astronomy where subtle differences matter.</a:t>
            </a:r>
            <a:endParaRPr lang="en-US" sz="1300" dirty="0"/>
          </a:p>
          <a:p>
            <a:pPr marL="342900" indent="-342900">
              <a:spcAft>
                <a:spcPts val="400"/>
              </a:spcAft>
              <a:buSzPct val="100000"/>
              <a:buChar char="•"/>
            </a:pPr>
            <a:r>
              <a:rPr lang="en-US" sz="1300" dirty="0">
                <a:solidFill>
                  <a:srgbClr val="12193D"/>
                </a:solidFill>
                <a:latin typeface="Calibri" pitchFamily="34" charset="0"/>
                <a:ea typeface="Calibri" pitchFamily="34" charset="-122"/>
                <a:cs typeface="Calibri" pitchFamily="34" charset="-120"/>
              </a:rPr>
              <a:t>32-bit float: any real number. Used inside neural networks during computation — not for storage.</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Higher bit depth = more subtle shades visible = much larger file size.</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Most deep learning models normalize pixel values: divide by 255 so values go from 0.0 to 1.0.</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HWC vs CHW — Two Ways to Store a Color Image in Memory</a:t>
            </a:r>
            <a:endParaRPr lang="en-US" sz="1700" dirty="0"/>
          </a:p>
        </p:txBody>
      </p:sp>
      <p:sp>
        <p:nvSpPr>
          <p:cNvPr id="4" name="Text 2"/>
          <p:cNvSpPr/>
          <p:nvPr/>
        </p:nvSpPr>
        <p:spPr>
          <a:xfrm>
            <a:off x="7589520" y="0"/>
            <a:ext cx="137160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A1</a:t>
            </a:r>
            <a:endParaRPr lang="en-US" sz="1000" dirty="0"/>
          </a:p>
        </p:txBody>
      </p:sp>
      <p:sp>
        <p:nvSpPr>
          <p:cNvPr id="5" name="Shape 3"/>
          <p:cNvSpPr/>
          <p:nvPr/>
        </p:nvSpPr>
        <p:spPr>
          <a:xfrm>
            <a:off x="320040" y="777240"/>
            <a:ext cx="8503920" cy="3840480"/>
          </a:xfrm>
          <a:prstGeom prst="rect">
            <a:avLst/>
          </a:prstGeom>
          <a:solidFill>
            <a:srgbClr val="1A1A2E"/>
          </a:solidFill>
          <a:ln w="12700">
            <a:solidFill>
              <a:srgbClr val="1A1A2E"/>
            </a:solidFill>
            <a:prstDash val="solid"/>
          </a:ln>
        </p:spPr>
      </p:sp>
      <p:sp>
        <p:nvSpPr>
          <p:cNvPr id="6" name="Text 4"/>
          <p:cNvSpPr/>
          <p:nvPr/>
        </p:nvSpPr>
        <p:spPr>
          <a:xfrm>
            <a:off x="457200" y="841248"/>
            <a:ext cx="8229600" cy="3730752"/>
          </a:xfrm>
          <a:prstGeom prst="rect">
            <a:avLst/>
          </a:prstGeom>
          <a:noFill/>
          <a:ln/>
        </p:spPr>
        <p:txBody>
          <a:bodyPr wrap="square" rtlCol="0" anchor="t"/>
          <a:lstStyle/>
          <a:p>
            <a:pPr indent="0" marL="0">
              <a:buNone/>
            </a:pPr>
            <a:r>
              <a:rPr lang="en-US" sz="1050" dirty="0">
                <a:solidFill>
                  <a:srgbClr val="B0C4DE"/>
                </a:solidFill>
                <a:latin typeface="Consolas" pitchFamily="34" charset="0"/>
                <a:ea typeface="Consolas" pitchFamily="34" charset="-122"/>
                <a:cs typeface="Consolas" pitchFamily="34" charset="-120"/>
              </a:rPr>
              <a:t>  Same image, two different array layouts in memory:</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HWC  (Height × Width × Channels)  — used by: OpenCV, PIL, NumPy</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pixel(0,0) = [R,G,B]  pixel(0,1) = [R,G,B]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Shape: (480, 640, 3)  — rows first, then columns,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then the 3 color channels LAST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CHW  (Channels × Height × Width)  — used by: PyTorch</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All RED values first, then all GREEN, then BLUE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Shape: (3, 480, 640)  — channels FIRST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Convert HWC → CHW in NumPy:  img.transpose(2, 0, 1)</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Convert CHW → HWC in NumPy:  img.transpose(1, 2, 0)</a:t>
            </a:r>
            <a:endParaRPr lang="en-US" sz="1050" dirty="0"/>
          </a:p>
        </p:txBody>
      </p:sp>
      <p:sp>
        <p:nvSpPr>
          <p:cNvPr id="7" name="Text 5"/>
          <p:cNvSpPr/>
          <p:nvPr/>
        </p:nvSpPr>
        <p:spPr>
          <a:xfrm>
            <a:off x="320040" y="4709160"/>
            <a:ext cx="8503920" cy="32004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Caption: PyTorch expects CHW. OpenCV gives you HWC. Getting this wrong silently corrupts your data.</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Coordinate Systems — How to Address a Pixel</a:t>
            </a:r>
            <a:endParaRPr lang="en-US" sz="1700" dirty="0"/>
          </a:p>
        </p:txBody>
      </p:sp>
      <p:sp>
        <p:nvSpPr>
          <p:cNvPr id="4" name="Text 2"/>
          <p:cNvSpPr/>
          <p:nvPr/>
        </p:nvSpPr>
        <p:spPr>
          <a:xfrm>
            <a:off x="7589520" y="0"/>
            <a:ext cx="137160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A1</a:t>
            </a:r>
            <a:endParaRPr lang="en-US" sz="1000" dirty="0"/>
          </a:p>
        </p:txBody>
      </p:sp>
      <p:sp>
        <p:nvSpPr>
          <p:cNvPr id="5" name="Text 3"/>
          <p:cNvSpPr/>
          <p:nvPr/>
        </p:nvSpPr>
        <p:spPr>
          <a:xfrm>
            <a:off x="320040" y="804672"/>
            <a:ext cx="8503920" cy="4160520"/>
          </a:xfrm>
          <a:prstGeom prst="rect">
            <a:avLst/>
          </a:prstGeom>
          <a:noFill/>
          <a:ln/>
        </p:spPr>
        <p:txBody>
          <a:bodyPr wrap="square" rtlCol="0" anchor="t"/>
          <a:lstStyle/>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Two conventions exist — know both or you will get confused:</a:t>
            </a:r>
            <a:endParaRPr lang="en-US" sz="1300" dirty="0"/>
          </a:p>
          <a:p>
            <a:pPr marL="342900" indent="-342900">
              <a:spcAft>
                <a:spcPts val="400"/>
              </a:spcAft>
              <a:buSzPct val="100000"/>
              <a:buChar char="•"/>
            </a:pPr>
            <a:r>
              <a:rPr lang="en-US" sz="1300" dirty="0">
                <a:solidFill>
                  <a:srgbClr val="12193D"/>
                </a:solidFill>
                <a:latin typeface="Calibri" pitchFamily="34" charset="0"/>
                <a:ea typeface="Calibri" pitchFamily="34" charset="-122"/>
                <a:cs typeface="Calibri" pitchFamily="34" charset="-120"/>
              </a:rPr>
              <a:t>Matrix notation (NumPy, arrays): img[row, col]  —  row 0 is at the TOP, col 0 is on the LEFT.</a:t>
            </a:r>
            <a:endParaRPr lang="en-US" sz="1300" dirty="0"/>
          </a:p>
          <a:p>
            <a:pPr marL="342900" indent="-342900">
              <a:spcAft>
                <a:spcPts val="400"/>
              </a:spcAft>
              <a:buSzPct val="100000"/>
              <a:buChar char="•"/>
            </a:pPr>
            <a:r>
              <a:rPr lang="en-US" sz="1300" dirty="0">
                <a:solidFill>
                  <a:srgbClr val="12193D"/>
                </a:solidFill>
                <a:latin typeface="Calibri" pitchFamily="34" charset="0"/>
                <a:ea typeface="Calibri" pitchFamily="34" charset="-122"/>
                <a:cs typeface="Calibri" pitchFamily="34" charset="-120"/>
              </a:rPr>
              <a:t>Cartesian / image notation (OpenCV drawing functions): (x, y)  —  x goes RIGHT, y goes DOWN.</a:t>
            </a:r>
            <a:endParaRPr lang="en-US" sz="1300" dirty="0"/>
          </a:p>
          <a:p>
            <a:pPr lvl="1" marL="508000" indent="-254000">
              <a:spcAft>
                <a:spcPts val="400"/>
              </a:spcAft>
              <a:buSzPct val="100000"/>
              <a:buChar char="•"/>
            </a:pPr>
            <a:r>
              <a:rPr lang="en-US" sz="1200" dirty="0">
                <a:solidFill>
                  <a:srgbClr val="6B7280"/>
                </a:solidFill>
                <a:latin typeface="Calibri" pitchFamily="34" charset="0"/>
                <a:ea typeface="Calibri" pitchFamily="34" charset="-122"/>
                <a:cs typeface="Calibri" pitchFamily="34" charset="-120"/>
              </a:rPr>
              <a:t>Warning: img[y, x] in NumPy is the same pixel as point (x, y) in OpenCV. They are REVERSED!</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Example: pixel at column 100, row 50 →  img[50, 100]  in NumPy  or  (100, 50)  in OpenCV.</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Top-left corner is always (0, 0). x increases going right. y increases going DOWN (not up like in math class).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E2761"/>
          </a:solidFill>
          <a:ln w="12700">
            <a:solidFill>
              <a:srgbClr val="1E2761"/>
            </a:solidFill>
            <a:prstDash val="solid"/>
          </a:ln>
        </p:spPr>
      </p:sp>
      <p:sp>
        <p:nvSpPr>
          <p:cNvPr id="3" name="Text 1"/>
          <p:cNvSpPr/>
          <p:nvPr/>
        </p:nvSpPr>
        <p:spPr>
          <a:xfrm>
            <a:off x="365760" y="457200"/>
            <a:ext cx="1371600" cy="1371600"/>
          </a:xfrm>
          <a:prstGeom prst="rect">
            <a:avLst/>
          </a:prstGeom>
          <a:noFill/>
          <a:ln/>
        </p:spPr>
        <p:txBody>
          <a:bodyPr wrap="square" rtlCol="0" anchor="ctr"/>
          <a:lstStyle/>
          <a:p>
            <a:pPr indent="0" marL="0">
              <a:buNone/>
            </a:pPr>
            <a:r>
              <a:rPr lang="en-US" sz="7200" b="1" dirty="0">
                <a:solidFill>
                  <a:srgbClr val="E8ECF4"/>
                </a:solidFill>
                <a:latin typeface="Georgia" pitchFamily="34" charset="0"/>
                <a:ea typeface="Georgia" pitchFamily="34" charset="-122"/>
                <a:cs typeface="Georgia" pitchFamily="34" charset="-120"/>
              </a:rPr>
              <a:t>A2</a:t>
            </a:r>
            <a:endParaRPr lang="en-US" sz="7200" dirty="0"/>
          </a:p>
        </p:txBody>
      </p:sp>
      <p:sp>
        <p:nvSpPr>
          <p:cNvPr id="4" name="Text 2"/>
          <p:cNvSpPr/>
          <p:nvPr/>
        </p:nvSpPr>
        <p:spPr>
          <a:xfrm>
            <a:off x="365760" y="1554480"/>
            <a:ext cx="8412480" cy="914400"/>
          </a:xfrm>
          <a:prstGeom prst="rect">
            <a:avLst/>
          </a:prstGeom>
          <a:noFill/>
          <a:ln/>
        </p:spPr>
        <p:txBody>
          <a:bodyPr wrap="square" rtlCol="0" anchor="ctr"/>
          <a:lstStyle/>
          <a:p>
            <a:pPr indent="0" marL="0">
              <a:buNone/>
            </a:pPr>
            <a:r>
              <a:rPr lang="en-US" sz="3600" b="1" dirty="0">
                <a:solidFill>
                  <a:srgbClr val="1E2761"/>
                </a:solidFill>
                <a:latin typeface="Georgia" pitchFamily="34" charset="0"/>
                <a:ea typeface="Georgia" pitchFamily="34" charset="-122"/>
                <a:cs typeface="Georgia" pitchFamily="34" charset="-120"/>
              </a:rPr>
              <a:t>Color Spaces</a:t>
            </a:r>
            <a:endParaRPr lang="en-US" sz="3600" dirty="0"/>
          </a:p>
        </p:txBody>
      </p:sp>
      <p:sp>
        <p:nvSpPr>
          <p:cNvPr id="5" name="Text 3"/>
          <p:cNvSpPr/>
          <p:nvPr/>
        </p:nvSpPr>
        <p:spPr>
          <a:xfrm>
            <a:off x="365760" y="2514600"/>
            <a:ext cx="8412480" cy="548640"/>
          </a:xfrm>
          <a:prstGeom prst="rect">
            <a:avLst/>
          </a:prstGeom>
          <a:noFill/>
          <a:ln/>
        </p:spPr>
        <p:txBody>
          <a:bodyPr wrap="square" rtlCol="0" anchor="ctr"/>
          <a:lstStyle/>
          <a:p>
            <a:pPr indent="0" marL="0">
              <a:buNone/>
            </a:pPr>
            <a:r>
              <a:rPr lang="en-US" sz="1500" dirty="0">
                <a:solidFill>
                  <a:srgbClr val="6B7280"/>
                </a:solidFill>
                <a:latin typeface="Calibri" pitchFamily="34" charset="0"/>
                <a:ea typeface="Calibri" pitchFamily="34" charset="-122"/>
                <a:cs typeface="Calibri" pitchFamily="34" charset="-120"/>
              </a:rPr>
              <a:t>Different mathematical ways to describe the same color</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What Is a Color Space?</a:t>
            </a:r>
            <a:endParaRPr lang="en-US" sz="1700" dirty="0"/>
          </a:p>
        </p:txBody>
      </p:sp>
      <p:sp>
        <p:nvSpPr>
          <p:cNvPr id="4" name="Text 2"/>
          <p:cNvSpPr/>
          <p:nvPr/>
        </p:nvSpPr>
        <p:spPr>
          <a:xfrm>
            <a:off x="7589520" y="0"/>
            <a:ext cx="137160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A2</a:t>
            </a:r>
            <a:endParaRPr lang="en-US" sz="1000" dirty="0"/>
          </a:p>
        </p:txBody>
      </p:sp>
      <p:sp>
        <p:nvSpPr>
          <p:cNvPr id="5" name="Shape 3"/>
          <p:cNvSpPr/>
          <p:nvPr/>
        </p:nvSpPr>
        <p:spPr>
          <a:xfrm>
            <a:off x="320040" y="804672"/>
            <a:ext cx="8503920" cy="914400"/>
          </a:xfrm>
          <a:prstGeom prst="rect">
            <a:avLst/>
          </a:prstGeom>
          <a:solidFill>
            <a:srgbClr val="DBEAFE"/>
          </a:solidFill>
          <a:ln w="12700">
            <a:solidFill>
              <a:srgbClr val="93C5FD"/>
            </a:solidFill>
            <a:prstDash val="solid"/>
          </a:ln>
        </p:spPr>
      </p:sp>
      <p:sp>
        <p:nvSpPr>
          <p:cNvPr id="6" name="Text 4"/>
          <p:cNvSpPr/>
          <p:nvPr/>
        </p:nvSpPr>
        <p:spPr>
          <a:xfrm>
            <a:off x="502920" y="841248"/>
            <a:ext cx="8229600" cy="804672"/>
          </a:xfrm>
          <a:prstGeom prst="rect">
            <a:avLst/>
          </a:prstGeom>
          <a:noFill/>
          <a:ln/>
        </p:spPr>
        <p:txBody>
          <a:bodyPr wrap="square" rtlCol="0" anchor="ctr"/>
          <a:lstStyle/>
          <a:p>
            <a:pPr indent="0" marL="0">
              <a:buNone/>
            </a:pPr>
            <a:r>
              <a:rPr lang="en-US" sz="1250" i="1" dirty="0">
                <a:solidFill>
                  <a:srgbClr val="1E40AF"/>
                </a:solidFill>
                <a:latin typeface="Calibri" pitchFamily="34" charset="0"/>
                <a:ea typeface="Calibri" pitchFamily="34" charset="-122"/>
                <a:cs typeface="Calibri" pitchFamily="34" charset="-120"/>
              </a:rPr>
              <a:t>A color space is a coordinate system for describing color using numbers. The same physical color can be written differently in RGB, HSV, LAB, etc. — just like the same location can be described in (latitude, longitude) or (x, y).</a:t>
            </a:r>
            <a:endParaRPr lang="en-US" sz="1250" dirty="0"/>
          </a:p>
        </p:txBody>
      </p:sp>
      <p:sp>
        <p:nvSpPr>
          <p:cNvPr id="7" name="Text 5"/>
          <p:cNvSpPr/>
          <p:nvPr/>
        </p:nvSpPr>
        <p:spPr>
          <a:xfrm>
            <a:off x="320040" y="1874520"/>
            <a:ext cx="8503920" cy="3063240"/>
          </a:xfrm>
          <a:prstGeom prst="rect">
            <a:avLst/>
          </a:prstGeom>
          <a:noFill/>
          <a:ln/>
        </p:spPr>
        <p:txBody>
          <a:bodyPr wrap="square" rtlCol="0" anchor="t"/>
          <a:lstStyle/>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Computers need numbers to represent color. A color space defines what those numbers mean.</a:t>
            </a:r>
            <a:endParaRPr lang="en-US" sz="1250" dirty="0"/>
          </a:p>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RGB is most natural for screens. HSV is most natural for color-based filtering. LAB is most natural for measuring color difference.</a:t>
            </a:r>
            <a:endParaRPr lang="en-US" sz="1250" dirty="0"/>
          </a:p>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Converting between color spaces does NOT change the color — just the coordinate system.</a:t>
            </a:r>
            <a:endParaRPr lang="en-US" sz="1250" dirty="0"/>
          </a:p>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Choosing the right color space for your task can dramatically simplify your code.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RGB — Red, Green, Blue</a:t>
            </a:r>
            <a:endParaRPr lang="en-US" sz="1700" dirty="0"/>
          </a:p>
        </p:txBody>
      </p:sp>
      <p:sp>
        <p:nvSpPr>
          <p:cNvPr id="4" name="Text 2"/>
          <p:cNvSpPr/>
          <p:nvPr/>
        </p:nvSpPr>
        <p:spPr>
          <a:xfrm>
            <a:off x="7589520" y="0"/>
            <a:ext cx="137160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A2</a:t>
            </a:r>
            <a:endParaRPr lang="en-US" sz="1000" dirty="0"/>
          </a:p>
        </p:txBody>
      </p:sp>
      <p:sp>
        <p:nvSpPr>
          <p:cNvPr id="5" name="Shape 3"/>
          <p:cNvSpPr/>
          <p:nvPr/>
        </p:nvSpPr>
        <p:spPr>
          <a:xfrm>
            <a:off x="320040" y="804672"/>
            <a:ext cx="8503920" cy="914400"/>
          </a:xfrm>
          <a:prstGeom prst="rect">
            <a:avLst/>
          </a:prstGeom>
          <a:solidFill>
            <a:srgbClr val="DBEAFE"/>
          </a:solidFill>
          <a:ln w="12700">
            <a:solidFill>
              <a:srgbClr val="93C5FD"/>
            </a:solidFill>
            <a:prstDash val="solid"/>
          </a:ln>
        </p:spPr>
      </p:sp>
      <p:sp>
        <p:nvSpPr>
          <p:cNvPr id="6" name="Text 4"/>
          <p:cNvSpPr/>
          <p:nvPr/>
        </p:nvSpPr>
        <p:spPr>
          <a:xfrm>
            <a:off x="502920" y="841248"/>
            <a:ext cx="8229600" cy="804672"/>
          </a:xfrm>
          <a:prstGeom prst="rect">
            <a:avLst/>
          </a:prstGeom>
          <a:noFill/>
          <a:ln/>
        </p:spPr>
        <p:txBody>
          <a:bodyPr wrap="square" rtlCol="0" anchor="ctr"/>
          <a:lstStyle/>
          <a:p>
            <a:pPr indent="0" marL="0">
              <a:buNone/>
            </a:pPr>
            <a:r>
              <a:rPr lang="en-US" sz="1250" i="1" dirty="0">
                <a:solidFill>
                  <a:srgbClr val="1E40AF"/>
                </a:solidFill>
                <a:latin typeface="Calibri" pitchFamily="34" charset="0"/>
                <a:ea typeface="Calibri" pitchFamily="34" charset="-122"/>
                <a:cs typeface="Calibri" pitchFamily="34" charset="-120"/>
              </a:rPr>
              <a:t>RGB is an additive color model. Every color is made by mixing three light sources: Red, Green, and Blue. When all three are at maximum (255, 255, 255), you get white. When all are zero, you get black.</a:t>
            </a:r>
            <a:endParaRPr lang="en-US" sz="1250" dirty="0"/>
          </a:p>
        </p:txBody>
      </p:sp>
      <p:sp>
        <p:nvSpPr>
          <p:cNvPr id="7" name="Text 5"/>
          <p:cNvSpPr/>
          <p:nvPr/>
        </p:nvSpPr>
        <p:spPr>
          <a:xfrm>
            <a:off x="320040" y="1874520"/>
            <a:ext cx="8503920" cy="3063240"/>
          </a:xfrm>
          <a:prstGeom prst="rect">
            <a:avLst/>
          </a:prstGeom>
          <a:noFill/>
          <a:ln/>
        </p:spPr>
        <p:txBody>
          <a:bodyPr wrap="square" rtlCol="0" anchor="t"/>
          <a:lstStyle/>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Each channel (R, G, B) holds a value from 0 to 255 (8-bit).</a:t>
            </a:r>
            <a:endParaRPr lang="en-US" sz="1250" dirty="0"/>
          </a:p>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Monitors use RGB because they physically have red, green, blue sub-pixels.</a:t>
            </a:r>
            <a:endParaRPr lang="en-US" sz="1250" dirty="0"/>
          </a:p>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Pure red = (255, 0, 0)   Pure green = (0, 255, 0)   Pure blue = (0, 0, 255)</a:t>
            </a:r>
            <a:endParaRPr lang="en-US" sz="1250" dirty="0"/>
          </a:p>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Yellow = Red + Green = (255, 255, 0)   Cyan = Green + Blue = (0, 255, 255)</a:t>
            </a:r>
            <a:endParaRPr lang="en-US" sz="1250" dirty="0"/>
          </a:p>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Limitation: RGB mixes color and brightness together. (200, 0, 0) vs (100, 0, 0) differ in brightness but both are 'red'. This makes color-based filtering hard.</a:t>
            </a:r>
            <a:endParaRPr lang="en-US" sz="1250" dirty="0"/>
          </a:p>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OpenCV stores images in BGR order (Blue first), not RGB — a historic decision you must remember!</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RGB Color Cube</a:t>
            </a:r>
            <a:endParaRPr lang="en-US" sz="1700" dirty="0"/>
          </a:p>
        </p:txBody>
      </p:sp>
      <p:sp>
        <p:nvSpPr>
          <p:cNvPr id="4" name="Text 2"/>
          <p:cNvSpPr/>
          <p:nvPr/>
        </p:nvSpPr>
        <p:spPr>
          <a:xfrm>
            <a:off x="7589520" y="0"/>
            <a:ext cx="137160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A2</a:t>
            </a:r>
            <a:endParaRPr lang="en-US" sz="1000" dirty="0"/>
          </a:p>
        </p:txBody>
      </p:sp>
      <p:sp>
        <p:nvSpPr>
          <p:cNvPr id="5" name="Shape 3"/>
          <p:cNvSpPr/>
          <p:nvPr/>
        </p:nvSpPr>
        <p:spPr>
          <a:xfrm>
            <a:off x="320040" y="777240"/>
            <a:ext cx="8503920" cy="3840480"/>
          </a:xfrm>
          <a:prstGeom prst="rect">
            <a:avLst/>
          </a:prstGeom>
          <a:solidFill>
            <a:srgbClr val="1A1A2E"/>
          </a:solidFill>
          <a:ln w="12700">
            <a:solidFill>
              <a:srgbClr val="1A1A2E"/>
            </a:solidFill>
            <a:prstDash val="solid"/>
          </a:ln>
        </p:spPr>
      </p:sp>
      <p:sp>
        <p:nvSpPr>
          <p:cNvPr id="6" name="Text 4"/>
          <p:cNvSpPr/>
          <p:nvPr/>
        </p:nvSpPr>
        <p:spPr>
          <a:xfrm>
            <a:off x="457200" y="841248"/>
            <a:ext cx="8229600" cy="3730752"/>
          </a:xfrm>
          <a:prstGeom prst="rect">
            <a:avLst/>
          </a:prstGeom>
          <a:noFill/>
          <a:ln/>
        </p:spPr>
        <p:txBody>
          <a:bodyPr wrap="square" rtlCol="0" anchor="t"/>
          <a:lstStyle/>
          <a:p>
            <a:pPr indent="0" marL="0">
              <a:buNone/>
            </a:pPr>
            <a:r>
              <a:rPr lang="en-US" sz="1050" dirty="0">
                <a:solidFill>
                  <a:srgbClr val="B0C4DE"/>
                </a:solidFill>
                <a:latin typeface="Consolas" pitchFamily="34" charset="0"/>
                <a:ea typeface="Consolas" pitchFamily="34" charset="-122"/>
                <a:cs typeface="Consolas" pitchFamily="34" charset="-120"/>
              </a:rPr>
              <a:t>  Each axis = one color channel (0 to 255)</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White (255,255,255)</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Cyan ────╱ |──── Yellow</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(0,255,255) ╱|   (255,255,0)</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Magenta   ╱  |          G (Green)</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(255,0,255)╱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Blue ────╱─────────── Green  →  R (Red)</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(0,0,255) │    ╱     (0,255,0)</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 Red (255,0,0)</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Black ─╱  ↗ B (Blue)</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(0,0,0)</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Corners = pure primary/secondary colors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Diagonal from Black(0,0,0) to White(255,255,255) = grays</a:t>
            </a:r>
            <a:endParaRPr lang="en-US" sz="1050" dirty="0"/>
          </a:p>
        </p:txBody>
      </p:sp>
      <p:sp>
        <p:nvSpPr>
          <p:cNvPr id="7" name="Text 5"/>
          <p:cNvSpPr/>
          <p:nvPr/>
        </p:nvSpPr>
        <p:spPr>
          <a:xfrm>
            <a:off x="320040" y="4709160"/>
            <a:ext cx="8503920" cy="32004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Caption: RGB as a 3D cube. Every color is a point inside this cube. The main diagonal is all the gray shades.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HSV — Hue, Saturation, Value</a:t>
            </a:r>
            <a:endParaRPr lang="en-US" sz="1700" dirty="0"/>
          </a:p>
        </p:txBody>
      </p:sp>
      <p:sp>
        <p:nvSpPr>
          <p:cNvPr id="4" name="Text 2"/>
          <p:cNvSpPr/>
          <p:nvPr/>
        </p:nvSpPr>
        <p:spPr>
          <a:xfrm>
            <a:off x="7589520" y="0"/>
            <a:ext cx="137160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A2</a:t>
            </a:r>
            <a:endParaRPr lang="en-US" sz="1000" dirty="0"/>
          </a:p>
        </p:txBody>
      </p:sp>
      <p:sp>
        <p:nvSpPr>
          <p:cNvPr id="5" name="Shape 3"/>
          <p:cNvSpPr/>
          <p:nvPr/>
        </p:nvSpPr>
        <p:spPr>
          <a:xfrm>
            <a:off x="320040" y="804672"/>
            <a:ext cx="8503920" cy="914400"/>
          </a:xfrm>
          <a:prstGeom prst="rect">
            <a:avLst/>
          </a:prstGeom>
          <a:solidFill>
            <a:srgbClr val="DBEAFE"/>
          </a:solidFill>
          <a:ln w="12700">
            <a:solidFill>
              <a:srgbClr val="93C5FD"/>
            </a:solidFill>
            <a:prstDash val="solid"/>
          </a:ln>
        </p:spPr>
      </p:sp>
      <p:sp>
        <p:nvSpPr>
          <p:cNvPr id="6" name="Text 4"/>
          <p:cNvSpPr/>
          <p:nvPr/>
        </p:nvSpPr>
        <p:spPr>
          <a:xfrm>
            <a:off x="502920" y="841248"/>
            <a:ext cx="8229600" cy="804672"/>
          </a:xfrm>
          <a:prstGeom prst="rect">
            <a:avLst/>
          </a:prstGeom>
          <a:noFill/>
          <a:ln/>
        </p:spPr>
        <p:txBody>
          <a:bodyPr wrap="square" rtlCol="0" anchor="ctr"/>
          <a:lstStyle/>
          <a:p>
            <a:pPr indent="0" marL="0">
              <a:buNone/>
            </a:pPr>
            <a:r>
              <a:rPr lang="en-US" sz="1250" i="1" dirty="0">
                <a:solidFill>
                  <a:srgbClr val="1E40AF"/>
                </a:solidFill>
                <a:latin typeface="Calibri" pitchFamily="34" charset="0"/>
                <a:ea typeface="Calibri" pitchFamily="34" charset="-122"/>
                <a:cs typeface="Calibri" pitchFamily="34" charset="-120"/>
              </a:rPr>
              <a:t>HSV separates the 'what color' (Hue) from 'how vivid' (Saturation) and 'how bright' (Value). This makes color-based image segmentation much easier than with RGB.</a:t>
            </a:r>
            <a:endParaRPr lang="en-US" sz="1250" dirty="0"/>
          </a:p>
        </p:txBody>
      </p:sp>
      <p:sp>
        <p:nvSpPr>
          <p:cNvPr id="7" name="Text 5"/>
          <p:cNvSpPr/>
          <p:nvPr/>
        </p:nvSpPr>
        <p:spPr>
          <a:xfrm>
            <a:off x="320040" y="1874520"/>
            <a:ext cx="8503920" cy="3063240"/>
          </a:xfrm>
          <a:prstGeom prst="rect">
            <a:avLst/>
          </a:prstGeom>
          <a:noFill/>
          <a:ln/>
        </p:spPr>
        <p:txBody>
          <a:bodyPr wrap="square" rtlCol="0" anchor="t"/>
          <a:lstStyle/>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Hue (H): The pure color — a number from 0° to 360°. Red=0°, Green=120°, Blue=240°.</a:t>
            </a:r>
            <a:endParaRPr lang="en-US" sz="1250" dirty="0"/>
          </a:p>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Saturation (S): How vivid/pure the color is. 0 = gray, 1 = fully vivid color.</a:t>
            </a:r>
            <a:endParaRPr lang="en-US" sz="1250" dirty="0"/>
          </a:p>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Value (V): How bright the color is. 0 = black, 1 = maximum brightness.</a:t>
            </a:r>
            <a:endParaRPr lang="en-US" sz="1250" dirty="0"/>
          </a:p>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OpenCV uses H: 0–179 (halved from 360°), S: 0–255, V: 0–255.</a:t>
            </a:r>
            <a:endParaRPr lang="en-US" sz="1250" dirty="0"/>
          </a:p>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Use case: 'Find all red objects in this image.' In RGB, red pixels span many (R,G,B) triples. In HSV, red objects cluster near H=0 and H=179 — just threshold on Hue.</a:t>
            </a:r>
            <a:endParaRPr lang="en-US" sz="1250" dirty="0"/>
          </a:p>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Weakness: Hue is undefined for pure grays (S=0), and 'red' wraps around at 0°/360°.</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HSV Cylinder — Top View and Side View</a:t>
            </a:r>
            <a:endParaRPr lang="en-US" sz="1700" dirty="0"/>
          </a:p>
        </p:txBody>
      </p:sp>
      <p:sp>
        <p:nvSpPr>
          <p:cNvPr id="4" name="Text 2"/>
          <p:cNvSpPr/>
          <p:nvPr/>
        </p:nvSpPr>
        <p:spPr>
          <a:xfrm>
            <a:off x="7589520" y="0"/>
            <a:ext cx="137160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A2</a:t>
            </a:r>
            <a:endParaRPr lang="en-US" sz="1000" dirty="0"/>
          </a:p>
        </p:txBody>
      </p:sp>
      <p:sp>
        <p:nvSpPr>
          <p:cNvPr id="5" name="Shape 3"/>
          <p:cNvSpPr/>
          <p:nvPr/>
        </p:nvSpPr>
        <p:spPr>
          <a:xfrm>
            <a:off x="320040" y="777240"/>
            <a:ext cx="8503920" cy="3840480"/>
          </a:xfrm>
          <a:prstGeom prst="rect">
            <a:avLst/>
          </a:prstGeom>
          <a:solidFill>
            <a:srgbClr val="1A1A2E"/>
          </a:solidFill>
          <a:ln w="12700">
            <a:solidFill>
              <a:srgbClr val="1A1A2E"/>
            </a:solidFill>
            <a:prstDash val="solid"/>
          </a:ln>
        </p:spPr>
      </p:sp>
      <p:sp>
        <p:nvSpPr>
          <p:cNvPr id="6" name="Text 4"/>
          <p:cNvSpPr/>
          <p:nvPr/>
        </p:nvSpPr>
        <p:spPr>
          <a:xfrm>
            <a:off x="457200" y="841248"/>
            <a:ext cx="8229600" cy="3730752"/>
          </a:xfrm>
          <a:prstGeom prst="rect">
            <a:avLst/>
          </a:prstGeom>
          <a:noFill/>
          <a:ln/>
        </p:spPr>
        <p:txBody>
          <a:bodyPr wrap="square" rtlCol="0" anchor="t"/>
          <a:lstStyle/>
          <a:p>
            <a:pPr indent="0" marL="0">
              <a:buNone/>
            </a:pPr>
            <a:r>
              <a:rPr lang="en-US" sz="1050" dirty="0">
                <a:solidFill>
                  <a:srgbClr val="B0C4DE"/>
                </a:solidFill>
                <a:latin typeface="Consolas" pitchFamily="34" charset="0"/>
                <a:ea typeface="Consolas" pitchFamily="34" charset="-122"/>
                <a:cs typeface="Consolas" pitchFamily="34" charset="-120"/>
              </a:rPr>
              <a:t>  TOP VIEW (looking down the Value axis):</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Green (120°)</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Cyan ────────┼──────── Yellow</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(180°)       │         (60°)</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S=1.0</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Blue ──────────┼──────── Red</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(240°)    ←────┤────→   (0° = 360°)</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S=0 = gray center</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Magenta ─────┼──────── Orange</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(300°)       │         (30°)</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Red wrap (360°=0°)</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SIDE VIEW (cylinder from the side):</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V=1 ▓▓▓▓▓▓▓▓▓ top = fully bright colors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V=0.5 ▒▒▒▒▒▒▒ middle = darker colors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V=0 ░░░░░░░░░ bottom = all black (no color visible)</a:t>
            </a:r>
            <a:endParaRPr lang="en-US" sz="1050" dirty="0"/>
          </a:p>
        </p:txBody>
      </p:sp>
      <p:sp>
        <p:nvSpPr>
          <p:cNvPr id="7" name="Text 5"/>
          <p:cNvSpPr/>
          <p:nvPr/>
        </p:nvSpPr>
        <p:spPr>
          <a:xfrm>
            <a:off x="320040" y="4709160"/>
            <a:ext cx="8503920" cy="32004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Caption: Hue = angle around the cylinder. Saturation = distance from center axis. Value = height up the cylinder.</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YUV / YCbCr — Luma and Chroma Separation</a:t>
            </a:r>
            <a:endParaRPr lang="en-US" sz="1700" dirty="0"/>
          </a:p>
        </p:txBody>
      </p:sp>
      <p:sp>
        <p:nvSpPr>
          <p:cNvPr id="4" name="Text 2"/>
          <p:cNvSpPr/>
          <p:nvPr/>
        </p:nvSpPr>
        <p:spPr>
          <a:xfrm>
            <a:off x="7589520" y="0"/>
            <a:ext cx="137160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A2</a:t>
            </a:r>
            <a:endParaRPr lang="en-US" sz="1000" dirty="0"/>
          </a:p>
        </p:txBody>
      </p:sp>
      <p:sp>
        <p:nvSpPr>
          <p:cNvPr id="5" name="Shape 3"/>
          <p:cNvSpPr/>
          <p:nvPr/>
        </p:nvSpPr>
        <p:spPr>
          <a:xfrm>
            <a:off x="320040" y="804672"/>
            <a:ext cx="8503920" cy="914400"/>
          </a:xfrm>
          <a:prstGeom prst="rect">
            <a:avLst/>
          </a:prstGeom>
          <a:solidFill>
            <a:srgbClr val="DBEAFE"/>
          </a:solidFill>
          <a:ln w="12700">
            <a:solidFill>
              <a:srgbClr val="93C5FD"/>
            </a:solidFill>
            <a:prstDash val="solid"/>
          </a:ln>
        </p:spPr>
      </p:sp>
      <p:sp>
        <p:nvSpPr>
          <p:cNvPr id="6" name="Text 4"/>
          <p:cNvSpPr/>
          <p:nvPr/>
        </p:nvSpPr>
        <p:spPr>
          <a:xfrm>
            <a:off x="502920" y="841248"/>
            <a:ext cx="8229600" cy="804672"/>
          </a:xfrm>
          <a:prstGeom prst="rect">
            <a:avLst/>
          </a:prstGeom>
          <a:noFill/>
          <a:ln/>
        </p:spPr>
        <p:txBody>
          <a:bodyPr wrap="square" rtlCol="0" anchor="ctr"/>
          <a:lstStyle/>
          <a:p>
            <a:pPr indent="0" marL="0">
              <a:buNone/>
            </a:pPr>
            <a:r>
              <a:rPr lang="en-US" sz="1250" i="1" dirty="0">
                <a:solidFill>
                  <a:srgbClr val="1E40AF"/>
                </a:solidFill>
                <a:latin typeface="Calibri" pitchFamily="34" charset="0"/>
                <a:ea typeface="Calibri" pitchFamily="34" charset="-122"/>
                <a:cs typeface="Calibri" pitchFamily="34" charset="-120"/>
              </a:rPr>
              <a:t>YCbCr separates an image into one brightness channel (Y = luma) and two color channels (Cb = blue shift, Cr = red shift). Human vision is much more sensitive to brightness than color, so this is exploited for compression.</a:t>
            </a:r>
            <a:endParaRPr lang="en-US" sz="1250" dirty="0"/>
          </a:p>
        </p:txBody>
      </p:sp>
      <p:sp>
        <p:nvSpPr>
          <p:cNvPr id="7" name="Text 5"/>
          <p:cNvSpPr/>
          <p:nvPr/>
        </p:nvSpPr>
        <p:spPr>
          <a:xfrm>
            <a:off x="320040" y="1874520"/>
            <a:ext cx="8503920" cy="3063240"/>
          </a:xfrm>
          <a:prstGeom prst="rect">
            <a:avLst/>
          </a:prstGeom>
          <a:noFill/>
          <a:ln/>
        </p:spPr>
        <p:txBody>
          <a:bodyPr wrap="square" rtlCol="0" anchor="t"/>
          <a:lstStyle/>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Y (Luma): Brightness. Contains most of the detail we perceive. Kept at full resolution.</a:t>
            </a:r>
            <a:endParaRPr lang="en-US" sz="1250" dirty="0"/>
          </a:p>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Cb (Blue chroma): How blue or yellow the color is relative to gray.</a:t>
            </a:r>
            <a:endParaRPr lang="en-US" sz="1250" dirty="0"/>
          </a:p>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Cr (Red chroma): How red or green the color is relative to gray.</a:t>
            </a:r>
            <a:endParaRPr lang="en-US" sz="1250" dirty="0"/>
          </a:p>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Critical use: JPEG and all video codecs (H.264, HEVC) work in YCbCr. They store Y at full resolution but Cb/Cr at half resolution — saving ~50% space with barely visible quality loss.</a:t>
            </a:r>
            <a:endParaRPr lang="en-US" sz="1250" dirty="0"/>
          </a:p>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This works because our eyes have ~20× more brightness-sensing (rod) cells than color-sensing (cone) cells.</a:t>
            </a:r>
            <a:endParaRPr lang="en-US" sz="1250" dirty="0"/>
          </a:p>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Conversion: Y = 0.299·R + 0.587·G + 0.114·B  (weighted sum — green contributes most to brightness)</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Grayscale — Single Channel Brightness</a:t>
            </a:r>
            <a:endParaRPr lang="en-US" sz="1700" dirty="0"/>
          </a:p>
        </p:txBody>
      </p:sp>
      <p:sp>
        <p:nvSpPr>
          <p:cNvPr id="4" name="Text 2"/>
          <p:cNvSpPr/>
          <p:nvPr/>
        </p:nvSpPr>
        <p:spPr>
          <a:xfrm>
            <a:off x="7589520" y="0"/>
            <a:ext cx="137160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A2</a:t>
            </a:r>
            <a:endParaRPr lang="en-US" sz="1000" dirty="0"/>
          </a:p>
        </p:txBody>
      </p:sp>
      <p:sp>
        <p:nvSpPr>
          <p:cNvPr id="5" name="Text 3"/>
          <p:cNvSpPr/>
          <p:nvPr/>
        </p:nvSpPr>
        <p:spPr>
          <a:xfrm>
            <a:off x="320040" y="804672"/>
            <a:ext cx="8503920" cy="4160520"/>
          </a:xfrm>
          <a:prstGeom prst="rect">
            <a:avLst/>
          </a:prstGeom>
          <a:noFill/>
          <a:ln/>
        </p:spPr>
        <p:txBody>
          <a:bodyPr wrap="square" rtlCol="0" anchor="t"/>
          <a:lstStyle/>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A grayscale image has only one channel per pixel — a single brightness value from 0 (black) to 255 (white).</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To convert a color image to grayscale, we do NOT simply average R, G, B. We use a weighted sum that matches human perception:</a:t>
            </a:r>
            <a:endParaRPr lang="en-US" sz="1300" dirty="0"/>
          </a:p>
          <a:p>
            <a:pPr marL="342900" indent="-342900">
              <a:spcAft>
                <a:spcPts val="400"/>
              </a:spcAft>
              <a:buSzPct val="100000"/>
              <a:buChar char="•"/>
            </a:pPr>
            <a:r>
              <a:rPr lang="en-US" sz="1300" dirty="0">
                <a:solidFill>
                  <a:srgbClr val="12193D"/>
                </a:solidFill>
                <a:latin typeface="Calibri" pitchFamily="34" charset="0"/>
                <a:ea typeface="Calibri" pitchFamily="34" charset="-122"/>
                <a:cs typeface="Calibri" pitchFamily="34" charset="-120"/>
              </a:rPr>
              <a:t>Gray = 0.299 × R + 0.587 × G + 0.114 × B</a:t>
            </a:r>
            <a:endParaRPr lang="en-US" sz="1300" dirty="0"/>
          </a:p>
          <a:p>
            <a:pPr lvl="1" marL="508000" indent="-254000">
              <a:spcAft>
                <a:spcPts val="400"/>
              </a:spcAft>
              <a:buSzPct val="100000"/>
              <a:buChar char="•"/>
            </a:pPr>
            <a:r>
              <a:rPr lang="en-US" sz="1200" dirty="0">
                <a:solidFill>
                  <a:srgbClr val="6B7280"/>
                </a:solidFill>
                <a:latin typeface="Calibri" pitchFamily="34" charset="0"/>
                <a:ea typeface="Calibri" pitchFamily="34" charset="-122"/>
                <a:cs typeface="Calibri" pitchFamily="34" charset="-120"/>
              </a:rPr>
              <a:t>Why these weights? Our eyes are most sensitive to green, less to red, least to blue.</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When to use grayscale:</a:t>
            </a:r>
            <a:endParaRPr lang="en-US" sz="1300" dirty="0"/>
          </a:p>
          <a:p>
            <a:pPr lvl="1" marL="508000" indent="-254000">
              <a:spcAft>
                <a:spcPts val="400"/>
              </a:spcAft>
              <a:buSzPct val="100000"/>
              <a:buChar char="•"/>
            </a:pPr>
            <a:r>
              <a:rPr lang="en-US" sz="1200" dirty="0">
                <a:solidFill>
                  <a:srgbClr val="6B7280"/>
                </a:solidFill>
                <a:latin typeface="Calibri" pitchFamily="34" charset="0"/>
                <a:ea typeface="Calibri" pitchFamily="34" charset="-122"/>
                <a:cs typeface="Calibri" pitchFamily="34" charset="-120"/>
              </a:rPr>
              <a:t>When color is irrelevant (edge detection, texture analysis, gradient-based features).</a:t>
            </a:r>
            <a:endParaRPr lang="en-US" sz="1300" dirty="0"/>
          </a:p>
          <a:p>
            <a:pPr lvl="1" marL="508000" indent="-254000">
              <a:spcAft>
                <a:spcPts val="400"/>
              </a:spcAft>
              <a:buSzPct val="100000"/>
              <a:buChar char="•"/>
            </a:pPr>
            <a:r>
              <a:rPr lang="en-US" sz="1200" dirty="0">
                <a:solidFill>
                  <a:srgbClr val="6B7280"/>
                </a:solidFill>
                <a:latin typeface="Calibri" pitchFamily="34" charset="0"/>
                <a:ea typeface="Calibri" pitchFamily="34" charset="-122"/>
                <a:cs typeface="Calibri" pitchFamily="34" charset="-120"/>
              </a:rPr>
              <a:t>To cut computation in half — processing one channel instead of three.</a:t>
            </a:r>
            <a:endParaRPr lang="en-US" sz="1300" dirty="0"/>
          </a:p>
          <a:p>
            <a:pPr lvl="1" marL="508000" indent="-254000">
              <a:spcAft>
                <a:spcPts val="400"/>
              </a:spcAft>
              <a:buSzPct val="100000"/>
              <a:buChar char="•"/>
            </a:pPr>
            <a:r>
              <a:rPr lang="en-US" sz="1200" dirty="0">
                <a:solidFill>
                  <a:srgbClr val="6B7280"/>
                </a:solidFill>
                <a:latin typeface="Calibri" pitchFamily="34" charset="0"/>
                <a:ea typeface="Calibri" pitchFamily="34" charset="-122"/>
                <a:cs typeface="Calibri" pitchFamily="34" charset="-120"/>
              </a:rPr>
              <a:t>Classical algorithms like Canny edge detection, HOG, optical flow work on grayscale.</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Medical images (X-ray, CT, MRI) are natively grayscale.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LAB (CIELAB) — Perceptually Uniform Color Space</a:t>
            </a:r>
            <a:endParaRPr lang="en-US" sz="1700" dirty="0"/>
          </a:p>
        </p:txBody>
      </p:sp>
      <p:sp>
        <p:nvSpPr>
          <p:cNvPr id="4" name="Text 2"/>
          <p:cNvSpPr/>
          <p:nvPr/>
        </p:nvSpPr>
        <p:spPr>
          <a:xfrm>
            <a:off x="7589520" y="0"/>
            <a:ext cx="137160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A2</a:t>
            </a:r>
            <a:endParaRPr lang="en-US" sz="1000" dirty="0"/>
          </a:p>
        </p:txBody>
      </p:sp>
      <p:sp>
        <p:nvSpPr>
          <p:cNvPr id="5" name="Shape 3"/>
          <p:cNvSpPr/>
          <p:nvPr/>
        </p:nvSpPr>
        <p:spPr>
          <a:xfrm>
            <a:off x="320040" y="804672"/>
            <a:ext cx="8503920" cy="914400"/>
          </a:xfrm>
          <a:prstGeom prst="rect">
            <a:avLst/>
          </a:prstGeom>
          <a:solidFill>
            <a:srgbClr val="DBEAFE"/>
          </a:solidFill>
          <a:ln w="12700">
            <a:solidFill>
              <a:srgbClr val="93C5FD"/>
            </a:solidFill>
            <a:prstDash val="solid"/>
          </a:ln>
        </p:spPr>
      </p:sp>
      <p:sp>
        <p:nvSpPr>
          <p:cNvPr id="6" name="Text 4"/>
          <p:cNvSpPr/>
          <p:nvPr/>
        </p:nvSpPr>
        <p:spPr>
          <a:xfrm>
            <a:off x="502920" y="841248"/>
            <a:ext cx="8229600" cy="804672"/>
          </a:xfrm>
          <a:prstGeom prst="rect">
            <a:avLst/>
          </a:prstGeom>
          <a:noFill/>
          <a:ln/>
        </p:spPr>
        <p:txBody>
          <a:bodyPr wrap="square" rtlCol="0" anchor="ctr"/>
          <a:lstStyle/>
          <a:p>
            <a:pPr indent="0" marL="0">
              <a:buNone/>
            </a:pPr>
            <a:r>
              <a:rPr lang="en-US" sz="1250" i="1" dirty="0">
                <a:solidFill>
                  <a:srgbClr val="1E40AF"/>
                </a:solidFill>
                <a:latin typeface="Calibri" pitchFamily="34" charset="0"/>
                <a:ea typeface="Calibri" pitchFamily="34" charset="-122"/>
                <a:cs typeface="Calibri" pitchFamily="34" charset="-120"/>
              </a:rPr>
              <a:t>LAB was designed so that equal numerical distances between two LAB colors correspond to equal perceived color differences by a human eye. This is called 'perceptual uniformity' — something RGB does not have.</a:t>
            </a:r>
            <a:endParaRPr lang="en-US" sz="1250" dirty="0"/>
          </a:p>
        </p:txBody>
      </p:sp>
      <p:sp>
        <p:nvSpPr>
          <p:cNvPr id="7" name="Text 5"/>
          <p:cNvSpPr/>
          <p:nvPr/>
        </p:nvSpPr>
        <p:spPr>
          <a:xfrm>
            <a:off x="320040" y="1874520"/>
            <a:ext cx="8503920" cy="3063240"/>
          </a:xfrm>
          <a:prstGeom prst="rect">
            <a:avLst/>
          </a:prstGeom>
          <a:noFill/>
          <a:ln/>
        </p:spPr>
        <p:txBody>
          <a:bodyPr wrap="square" rtlCol="0" anchor="t"/>
          <a:lstStyle/>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L (Lightness): 0 = black, 100 = white. Similar to HSV's Value.</a:t>
            </a:r>
            <a:endParaRPr lang="en-US" sz="1250" dirty="0"/>
          </a:p>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a: Green (negative) ←→ Red (positive). Range approximately -128 to +127.</a:t>
            </a:r>
            <a:endParaRPr lang="en-US" sz="1250" dirty="0"/>
          </a:p>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b: Blue (negative) ←→ Yellow (positive). Range approximately -128 to +127.</a:t>
            </a:r>
            <a:endParaRPr lang="en-US" sz="1250" dirty="0"/>
          </a:p>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Perceptual uniformity: if ΔE (distance in LAB space) = 2.0, a human just barely notices the difference. In RGB, you can't easily predict what distance is just-noticeable.</a:t>
            </a:r>
            <a:endParaRPr lang="en-US" sz="1250" dirty="0"/>
          </a:p>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Use case: comparing whether two colors 'look similar' to a human. Color-based image retrieval. Style transfer quality. Skin tone detection.</a:t>
            </a:r>
            <a:endParaRPr lang="en-US" sz="1250" dirty="0"/>
          </a:p>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Converting from RGB requires going through XYZ color space first — a non-linear transformation.</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HSL vs HSV — Two Cylindrical Models</a:t>
            </a:r>
            <a:endParaRPr lang="en-US" sz="1700" dirty="0"/>
          </a:p>
        </p:txBody>
      </p:sp>
      <p:sp>
        <p:nvSpPr>
          <p:cNvPr id="4" name="Text 2"/>
          <p:cNvSpPr/>
          <p:nvPr/>
        </p:nvSpPr>
        <p:spPr>
          <a:xfrm>
            <a:off x="7589520" y="0"/>
            <a:ext cx="137160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A2</a:t>
            </a:r>
            <a:endParaRPr lang="en-US" sz="1000" dirty="0"/>
          </a:p>
        </p:txBody>
      </p:sp>
      <p:sp>
        <p:nvSpPr>
          <p:cNvPr id="5" name="Shape 3"/>
          <p:cNvSpPr/>
          <p:nvPr/>
        </p:nvSpPr>
        <p:spPr>
          <a:xfrm>
            <a:off x="4617720" y="804672"/>
            <a:ext cx="0" cy="4114800"/>
          </a:xfrm>
          <a:prstGeom prst="line">
            <a:avLst/>
          </a:prstGeom>
          <a:noFill/>
          <a:ln w="12700">
            <a:solidFill>
              <a:srgbClr val="D1D5DB"/>
            </a:solidFill>
            <a:prstDash val="solid"/>
          </a:ln>
        </p:spPr>
      </p:sp>
      <p:sp>
        <p:nvSpPr>
          <p:cNvPr id="6" name="Text 4"/>
          <p:cNvSpPr/>
          <p:nvPr/>
        </p:nvSpPr>
        <p:spPr>
          <a:xfrm>
            <a:off x="320040" y="777240"/>
            <a:ext cx="4114800" cy="32004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HSL</a:t>
            </a:r>
            <a:endParaRPr lang="en-US" sz="1100" dirty="0"/>
          </a:p>
        </p:txBody>
      </p:sp>
      <p:sp>
        <p:nvSpPr>
          <p:cNvPr id="7" name="Text 5"/>
          <p:cNvSpPr/>
          <p:nvPr/>
        </p:nvSpPr>
        <p:spPr>
          <a:xfrm>
            <a:off x="4754880" y="777240"/>
            <a:ext cx="4114800" cy="32004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HSV</a:t>
            </a:r>
            <a:endParaRPr lang="en-US" sz="1100" dirty="0"/>
          </a:p>
        </p:txBody>
      </p:sp>
      <p:sp>
        <p:nvSpPr>
          <p:cNvPr id="8" name="Text 6"/>
          <p:cNvSpPr/>
          <p:nvPr/>
        </p:nvSpPr>
        <p:spPr>
          <a:xfrm>
            <a:off x="320040" y="1143000"/>
            <a:ext cx="4160520" cy="3749040"/>
          </a:xfrm>
          <a:prstGeom prst="rect">
            <a:avLst/>
          </a:prstGeom>
          <a:noFill/>
          <a:ln/>
        </p:spPr>
        <p:txBody>
          <a:bodyPr wrap="square" rtlCol="0" anchor="t"/>
          <a:lstStyle/>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HSL = Hue, Saturation, Lightness</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L=0 is always black, L=1 is always white</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L=0.5 gives the 'purest' full-color hue</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Shape: double cone (top and bottom pointed)</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White at top (L=1), black at bottom (L=0)</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S=1 at equator gives the most vivid colors</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Used in CSS, web design, graphic editors</a:t>
            </a:r>
            <a:endParaRPr lang="en-US" sz="1200" dirty="0"/>
          </a:p>
        </p:txBody>
      </p:sp>
      <p:sp>
        <p:nvSpPr>
          <p:cNvPr id="9" name="Text 7"/>
          <p:cNvSpPr/>
          <p:nvPr/>
        </p:nvSpPr>
        <p:spPr>
          <a:xfrm>
            <a:off x="4754880" y="1143000"/>
            <a:ext cx="4160520" cy="3749040"/>
          </a:xfrm>
          <a:prstGeom prst="rect">
            <a:avLst/>
          </a:prstGeom>
          <a:noFill/>
          <a:ln/>
        </p:spPr>
        <p:txBody>
          <a:bodyPr wrap="square" rtlCol="0" anchor="t"/>
          <a:lstStyle/>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HSV = Hue, Saturation, Value</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V=0 is always black, V=1 is max brightness</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Pure colors live at V=1, S=1</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Shape: single cone (only bottom pointed)</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White does NOT have a unique position</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White = any H, S=0, V=1 (top flat surface)</a:t>
            </a:r>
            <a:endParaRPr lang="en-US" sz="1200" dirty="0"/>
          </a:p>
          <a:p>
            <a:pPr marL="342900" indent="-342900">
              <a:spcAft>
                <a:spcPts val="500"/>
              </a:spcAft>
              <a:buSzPct val="100000"/>
              <a:buChar char="•"/>
            </a:pPr>
            <a:r>
              <a:rPr lang="en-US" sz="1200" dirty="0">
                <a:solidFill>
                  <a:srgbClr val="12193D"/>
                </a:solidFill>
                <a:latin typeface="Calibri" pitchFamily="34" charset="0"/>
                <a:ea typeface="Calibri" pitchFamily="34" charset="-122"/>
                <a:cs typeface="Calibri" pitchFamily="34" charset="-120"/>
              </a:rPr>
              <a:t>Used in OpenCV, computer vision tasks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E2761"/>
          </a:solidFill>
          <a:ln w="12700">
            <a:solidFill>
              <a:srgbClr val="1E2761"/>
            </a:solidFill>
            <a:prstDash val="solid"/>
          </a:ln>
        </p:spPr>
      </p:sp>
      <p:sp>
        <p:nvSpPr>
          <p:cNvPr id="3" name="Text 1"/>
          <p:cNvSpPr/>
          <p:nvPr/>
        </p:nvSpPr>
        <p:spPr>
          <a:xfrm>
            <a:off x="365760" y="457200"/>
            <a:ext cx="1371600" cy="1371600"/>
          </a:xfrm>
          <a:prstGeom prst="rect">
            <a:avLst/>
          </a:prstGeom>
          <a:noFill/>
          <a:ln/>
        </p:spPr>
        <p:txBody>
          <a:bodyPr wrap="square" rtlCol="0" anchor="ctr"/>
          <a:lstStyle/>
          <a:p>
            <a:pPr indent="0" marL="0">
              <a:buNone/>
            </a:pPr>
            <a:r>
              <a:rPr lang="en-US" sz="7200" b="1" dirty="0">
                <a:solidFill>
                  <a:srgbClr val="E8ECF4"/>
                </a:solidFill>
                <a:latin typeface="Georgia" pitchFamily="34" charset="0"/>
                <a:ea typeface="Georgia" pitchFamily="34" charset="-122"/>
                <a:cs typeface="Georgia" pitchFamily="34" charset="-120"/>
              </a:rPr>
              <a:t>A3</a:t>
            </a:r>
            <a:endParaRPr lang="en-US" sz="7200" dirty="0"/>
          </a:p>
        </p:txBody>
      </p:sp>
      <p:sp>
        <p:nvSpPr>
          <p:cNvPr id="4" name="Text 2"/>
          <p:cNvSpPr/>
          <p:nvPr/>
        </p:nvSpPr>
        <p:spPr>
          <a:xfrm>
            <a:off x="365760" y="1554480"/>
            <a:ext cx="8412480" cy="914400"/>
          </a:xfrm>
          <a:prstGeom prst="rect">
            <a:avLst/>
          </a:prstGeom>
          <a:noFill/>
          <a:ln/>
        </p:spPr>
        <p:txBody>
          <a:bodyPr wrap="square" rtlCol="0" anchor="ctr"/>
          <a:lstStyle/>
          <a:p>
            <a:pPr indent="0" marL="0">
              <a:buNone/>
            </a:pPr>
            <a:r>
              <a:rPr lang="en-US" sz="3600" b="1" dirty="0">
                <a:solidFill>
                  <a:srgbClr val="1E2761"/>
                </a:solidFill>
                <a:latin typeface="Georgia" pitchFamily="34" charset="0"/>
                <a:ea typeface="Georgia" pitchFamily="34" charset="-122"/>
                <a:cs typeface="Georgia" pitchFamily="34" charset="-120"/>
              </a:rPr>
              <a:t>Sampling</a:t>
            </a:r>
            <a:endParaRPr lang="en-US" sz="3600" dirty="0"/>
          </a:p>
        </p:txBody>
      </p:sp>
      <p:sp>
        <p:nvSpPr>
          <p:cNvPr id="5" name="Text 3"/>
          <p:cNvSpPr/>
          <p:nvPr/>
        </p:nvSpPr>
        <p:spPr>
          <a:xfrm>
            <a:off x="365760" y="2514600"/>
            <a:ext cx="8412480" cy="548640"/>
          </a:xfrm>
          <a:prstGeom prst="rect">
            <a:avLst/>
          </a:prstGeom>
          <a:noFill/>
          <a:ln/>
        </p:spPr>
        <p:txBody>
          <a:bodyPr wrap="square" rtlCol="0" anchor="ctr"/>
          <a:lstStyle/>
          <a:p>
            <a:pPr indent="0" marL="0">
              <a:buNone/>
            </a:pPr>
            <a:r>
              <a:rPr lang="en-US" sz="1500" dirty="0">
                <a:solidFill>
                  <a:srgbClr val="6B7280"/>
                </a:solidFill>
                <a:latin typeface="Calibri" pitchFamily="34" charset="0"/>
                <a:ea typeface="Calibri" pitchFamily="34" charset="-122"/>
                <a:cs typeface="Calibri" pitchFamily="34" charset="-120"/>
              </a:rPr>
              <a:t>How a continuous real-world scene becomes a discrete grid of pixels</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Continuous vs Discrete Signals</a:t>
            </a:r>
            <a:endParaRPr lang="en-US" sz="1700" dirty="0"/>
          </a:p>
        </p:txBody>
      </p:sp>
      <p:sp>
        <p:nvSpPr>
          <p:cNvPr id="4" name="Text 2"/>
          <p:cNvSpPr/>
          <p:nvPr/>
        </p:nvSpPr>
        <p:spPr>
          <a:xfrm>
            <a:off x="7589520" y="0"/>
            <a:ext cx="137160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A3</a:t>
            </a:r>
            <a:endParaRPr lang="en-US" sz="1000" dirty="0"/>
          </a:p>
        </p:txBody>
      </p:sp>
      <p:sp>
        <p:nvSpPr>
          <p:cNvPr id="5" name="Shape 3"/>
          <p:cNvSpPr/>
          <p:nvPr/>
        </p:nvSpPr>
        <p:spPr>
          <a:xfrm>
            <a:off x="320040" y="804672"/>
            <a:ext cx="8503920" cy="914400"/>
          </a:xfrm>
          <a:prstGeom prst="rect">
            <a:avLst/>
          </a:prstGeom>
          <a:solidFill>
            <a:srgbClr val="DBEAFE"/>
          </a:solidFill>
          <a:ln w="12700">
            <a:solidFill>
              <a:srgbClr val="93C5FD"/>
            </a:solidFill>
            <a:prstDash val="solid"/>
          </a:ln>
        </p:spPr>
      </p:sp>
      <p:sp>
        <p:nvSpPr>
          <p:cNvPr id="6" name="Text 4"/>
          <p:cNvSpPr/>
          <p:nvPr/>
        </p:nvSpPr>
        <p:spPr>
          <a:xfrm>
            <a:off x="502920" y="841248"/>
            <a:ext cx="8229600" cy="804672"/>
          </a:xfrm>
          <a:prstGeom prst="rect">
            <a:avLst/>
          </a:prstGeom>
          <a:noFill/>
          <a:ln/>
        </p:spPr>
        <p:txBody>
          <a:bodyPr wrap="square" rtlCol="0" anchor="ctr"/>
          <a:lstStyle/>
          <a:p>
            <a:pPr indent="0" marL="0">
              <a:buNone/>
            </a:pPr>
            <a:r>
              <a:rPr lang="en-US" sz="1250" i="1" dirty="0">
                <a:solidFill>
                  <a:srgbClr val="1E40AF"/>
                </a:solidFill>
                <a:latin typeface="Calibri" pitchFamily="34" charset="0"/>
                <a:ea typeface="Calibri" pitchFamily="34" charset="-122"/>
                <a:cs typeface="Calibri" pitchFamily="34" charset="-120"/>
              </a:rPr>
              <a:t>The real world is continuous — light intensity varies smoothly at every point. A camera samples this into a finite grid. Sampling is the act of measuring the signal at regular intervals to create that grid.</a:t>
            </a:r>
            <a:endParaRPr lang="en-US" sz="1250" dirty="0"/>
          </a:p>
        </p:txBody>
      </p:sp>
      <p:sp>
        <p:nvSpPr>
          <p:cNvPr id="7" name="Text 5"/>
          <p:cNvSpPr/>
          <p:nvPr/>
        </p:nvSpPr>
        <p:spPr>
          <a:xfrm>
            <a:off x="320040" y="1874520"/>
            <a:ext cx="8503920" cy="3063240"/>
          </a:xfrm>
          <a:prstGeom prst="rect">
            <a:avLst/>
          </a:prstGeom>
          <a:noFill/>
          <a:ln/>
        </p:spPr>
        <p:txBody>
          <a:bodyPr wrap="square" rtlCol="0" anchor="t"/>
          <a:lstStyle/>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Continuous: Light intensity at every (x, y) point in space — infinite information.</a:t>
            </a:r>
            <a:endParaRPr lang="en-US" sz="1250" dirty="0"/>
          </a:p>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Discrete (sampled): We measure only at a finite grid of pixel positions. Information between pixels is lost.</a:t>
            </a:r>
            <a:endParaRPr lang="en-US" sz="1250" dirty="0"/>
          </a:p>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Analogy: A ruler with markings every 1 cm can only measure lengths in 1 cm steps — anything smaller is lost.</a:t>
            </a:r>
            <a:endParaRPr lang="en-US" sz="1250" dirty="0"/>
          </a:p>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Higher resolution (more samples) = less information lost = better image quality.</a:t>
            </a:r>
            <a:endParaRPr lang="en-US" sz="1250" dirty="0"/>
          </a:p>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The process of going from continuous → discrete is called sampling. Going back (estimating the original from samples) is called reconstruction.</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Nyquist-Shannon Sampling Theorem</a:t>
            </a:r>
            <a:endParaRPr lang="en-US" sz="1700" dirty="0"/>
          </a:p>
        </p:txBody>
      </p:sp>
      <p:sp>
        <p:nvSpPr>
          <p:cNvPr id="4" name="Text 2"/>
          <p:cNvSpPr/>
          <p:nvPr/>
        </p:nvSpPr>
        <p:spPr>
          <a:xfrm>
            <a:off x="7589520" y="0"/>
            <a:ext cx="137160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A3</a:t>
            </a:r>
            <a:endParaRPr lang="en-US" sz="1000" dirty="0"/>
          </a:p>
        </p:txBody>
      </p:sp>
      <p:sp>
        <p:nvSpPr>
          <p:cNvPr id="5" name="Shape 3"/>
          <p:cNvSpPr/>
          <p:nvPr/>
        </p:nvSpPr>
        <p:spPr>
          <a:xfrm>
            <a:off x="320040" y="804672"/>
            <a:ext cx="8503920" cy="914400"/>
          </a:xfrm>
          <a:prstGeom prst="rect">
            <a:avLst/>
          </a:prstGeom>
          <a:solidFill>
            <a:srgbClr val="DBEAFE"/>
          </a:solidFill>
          <a:ln w="12700">
            <a:solidFill>
              <a:srgbClr val="93C5FD"/>
            </a:solidFill>
            <a:prstDash val="solid"/>
          </a:ln>
        </p:spPr>
      </p:sp>
      <p:sp>
        <p:nvSpPr>
          <p:cNvPr id="6" name="Text 4"/>
          <p:cNvSpPr/>
          <p:nvPr/>
        </p:nvSpPr>
        <p:spPr>
          <a:xfrm>
            <a:off x="502920" y="841248"/>
            <a:ext cx="8229600" cy="804672"/>
          </a:xfrm>
          <a:prstGeom prst="rect">
            <a:avLst/>
          </a:prstGeom>
          <a:noFill/>
          <a:ln/>
        </p:spPr>
        <p:txBody>
          <a:bodyPr wrap="square" rtlCol="0" anchor="ctr"/>
          <a:lstStyle/>
          <a:p>
            <a:pPr indent="0" marL="0">
              <a:buNone/>
            </a:pPr>
            <a:r>
              <a:rPr lang="en-US" sz="1250" i="1" dirty="0">
                <a:solidFill>
                  <a:srgbClr val="1E40AF"/>
                </a:solidFill>
                <a:latin typeface="Calibri" pitchFamily="34" charset="0"/>
                <a:ea typeface="Calibri" pitchFamily="34" charset="-122"/>
                <a:cs typeface="Calibri" pitchFamily="34" charset="-120"/>
              </a:rPr>
              <a:t>To perfectly reconstruct a signal from discrete samples, you must sample at LEAST TWICE the highest frequency present in the signal. This minimum rate is called the Nyquist rate.</a:t>
            </a:r>
            <a:endParaRPr lang="en-US" sz="1250" dirty="0"/>
          </a:p>
        </p:txBody>
      </p:sp>
      <p:sp>
        <p:nvSpPr>
          <p:cNvPr id="7" name="Text 5"/>
          <p:cNvSpPr/>
          <p:nvPr/>
        </p:nvSpPr>
        <p:spPr>
          <a:xfrm>
            <a:off x="320040" y="1874520"/>
            <a:ext cx="8503920" cy="3063240"/>
          </a:xfrm>
          <a:prstGeom prst="rect">
            <a:avLst/>
          </a:prstGeom>
          <a:noFill/>
          <a:ln/>
        </p:spPr>
        <p:txBody>
          <a:bodyPr wrap="square" rtlCol="0" anchor="t"/>
          <a:lstStyle/>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Frequency in images: high frequency = fine detail, sharp edges. Low frequency = smooth regions, gentle gradients.</a:t>
            </a:r>
            <a:endParaRPr lang="en-US" sz="1250" dirty="0"/>
          </a:p>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If your image has details as fine as 1 pixel apart (1 cycle per pixel), you need at least 2 pixels per cycle to capture it.</a:t>
            </a:r>
            <a:endParaRPr lang="en-US" sz="1250" dirty="0"/>
          </a:p>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Nyquist rate f_nyquist = 2 × f_max</a:t>
            </a:r>
            <a:endParaRPr lang="en-US" sz="1250" dirty="0"/>
          </a:p>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Sampling below the Nyquist rate causes ALIASING — the signal folds back on itself and appears as a lower-frequency artifact.</a:t>
            </a:r>
            <a:endParaRPr lang="en-US" sz="1250" dirty="0"/>
          </a:p>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Real camera example: tiny repeating textures (fabric, brickwork) that are finer than the pixel grid create Moiré patterns — a visible aliasing artifact.</a:t>
            </a:r>
            <a:endParaRPr lang="en-US" sz="1250" dirty="0"/>
          </a:p>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Solution: apply a low-pass filter (blur) BEFORE sampling to remove all frequencies above f_nyquist/2.</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Good Sampling vs Aliasing</a:t>
            </a:r>
            <a:endParaRPr lang="en-US" sz="1700" dirty="0"/>
          </a:p>
        </p:txBody>
      </p:sp>
      <p:sp>
        <p:nvSpPr>
          <p:cNvPr id="4" name="Text 2"/>
          <p:cNvSpPr/>
          <p:nvPr/>
        </p:nvSpPr>
        <p:spPr>
          <a:xfrm>
            <a:off x="7589520" y="0"/>
            <a:ext cx="137160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A3</a:t>
            </a:r>
            <a:endParaRPr lang="en-US" sz="1000" dirty="0"/>
          </a:p>
        </p:txBody>
      </p:sp>
      <p:sp>
        <p:nvSpPr>
          <p:cNvPr id="5" name="Shape 3"/>
          <p:cNvSpPr/>
          <p:nvPr/>
        </p:nvSpPr>
        <p:spPr>
          <a:xfrm>
            <a:off x="320040" y="777240"/>
            <a:ext cx="8503920" cy="3840480"/>
          </a:xfrm>
          <a:prstGeom prst="rect">
            <a:avLst/>
          </a:prstGeom>
          <a:solidFill>
            <a:srgbClr val="1A1A2E"/>
          </a:solidFill>
          <a:ln w="12700">
            <a:solidFill>
              <a:srgbClr val="1A1A2E"/>
            </a:solidFill>
            <a:prstDash val="solid"/>
          </a:ln>
        </p:spPr>
      </p:sp>
      <p:sp>
        <p:nvSpPr>
          <p:cNvPr id="6" name="Text 4"/>
          <p:cNvSpPr/>
          <p:nvPr/>
        </p:nvSpPr>
        <p:spPr>
          <a:xfrm>
            <a:off x="457200" y="841248"/>
            <a:ext cx="8229600" cy="3730752"/>
          </a:xfrm>
          <a:prstGeom prst="rect">
            <a:avLst/>
          </a:prstGeom>
          <a:noFill/>
          <a:ln/>
        </p:spPr>
        <p:txBody>
          <a:bodyPr wrap="square" rtlCol="0" anchor="t"/>
          <a:lstStyle/>
          <a:p>
            <a:pPr indent="0" marL="0">
              <a:buNone/>
            </a:pPr>
            <a:r>
              <a:rPr lang="en-US" sz="1050" dirty="0">
                <a:solidFill>
                  <a:srgbClr val="B0C4DE"/>
                </a:solidFill>
                <a:latin typeface="Consolas" pitchFamily="34" charset="0"/>
                <a:ea typeface="Consolas" pitchFamily="34" charset="-122"/>
                <a:cs typeface="Consolas" pitchFamily="34" charset="-120"/>
              </a:rPr>
              <a:t>  Good sampling: sample rate &gt; 2 × signal frequency</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Signal: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Samples:  ↑   ↑   ↑   ↑   ↑   ↑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Reconstructed: ~~~~~~~~~~~~~~~~~~~~ (matches original ✓)</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Bad sampling (ALIASING): sample rate &lt; 2 × signal frequency</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Signal: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Samples:      ↑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Reconstructed: ~~~~~  (WRONG — lower frequency ghost!  ✗)</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In images: fine striped pattern + low-resolution camera</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Real fabric: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Captured:     ████░░░░████░░░░████░░░░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Result: Moiré pattern — thick bands appear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p:txBody>
      </p:sp>
      <p:sp>
        <p:nvSpPr>
          <p:cNvPr id="7" name="Text 5"/>
          <p:cNvSpPr/>
          <p:nvPr/>
        </p:nvSpPr>
        <p:spPr>
          <a:xfrm>
            <a:off x="320040" y="4709160"/>
            <a:ext cx="8503920" cy="32004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Caption: When samples are too sparse, the signal appears at the wrong frequency — this is aliasing.</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Interpolation — Estimating Values Between Samples</a:t>
            </a:r>
            <a:endParaRPr lang="en-US" sz="1700" dirty="0"/>
          </a:p>
        </p:txBody>
      </p:sp>
      <p:sp>
        <p:nvSpPr>
          <p:cNvPr id="4" name="Text 2"/>
          <p:cNvSpPr/>
          <p:nvPr/>
        </p:nvSpPr>
        <p:spPr>
          <a:xfrm>
            <a:off x="7589520" y="0"/>
            <a:ext cx="137160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A3</a:t>
            </a:r>
            <a:endParaRPr lang="en-US" sz="1000" dirty="0"/>
          </a:p>
        </p:txBody>
      </p:sp>
      <p:sp>
        <p:nvSpPr>
          <p:cNvPr id="5" name="Text 3"/>
          <p:cNvSpPr/>
          <p:nvPr/>
        </p:nvSpPr>
        <p:spPr>
          <a:xfrm>
            <a:off x="320040" y="804672"/>
            <a:ext cx="8503920" cy="4160520"/>
          </a:xfrm>
          <a:prstGeom prst="rect">
            <a:avLst/>
          </a:prstGeom>
          <a:noFill/>
          <a:ln/>
        </p:spPr>
        <p:txBody>
          <a:bodyPr wrap="square" rtlCol="0" anchor="t"/>
          <a:lstStyle/>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When we resize an image (zoom in or zoom out), we need to estimate pixel values at non-integer positions. This is called interpolation.</a:t>
            </a:r>
            <a:endParaRPr lang="en-US" sz="1300" dirty="0"/>
          </a:p>
          <a:p>
            <a:pPr marL="342900" indent="-342900">
              <a:spcAft>
                <a:spcPts val="400"/>
              </a:spcAft>
              <a:buSzPct val="100000"/>
              <a:buChar char="•"/>
            </a:pPr>
            <a:r>
              <a:rPr lang="en-US" sz="1300" dirty="0">
                <a:solidFill>
                  <a:srgbClr val="12193D"/>
                </a:solidFill>
                <a:latin typeface="Calibri" pitchFamily="34" charset="0"/>
                <a:ea typeface="Calibri" pitchFamily="34" charset="-122"/>
                <a:cs typeface="Calibri" pitchFamily="34" charset="-120"/>
              </a:rPr>
              <a:t>Nearest-Neighbor: just copy the closest pixel. Fast, pixelated result. Used in fast preview, pixel art.</a:t>
            </a:r>
            <a:endParaRPr lang="en-US" sz="1300" dirty="0"/>
          </a:p>
          <a:p>
            <a:pPr lvl="1" marL="508000" indent="-254000">
              <a:spcAft>
                <a:spcPts val="400"/>
              </a:spcAft>
              <a:buSzPct val="100000"/>
              <a:buChar char="•"/>
            </a:pPr>
            <a:r>
              <a:rPr lang="en-US" sz="1200" dirty="0">
                <a:solidFill>
                  <a:srgbClr val="6B7280"/>
                </a:solidFill>
                <a:latin typeface="Calibri" pitchFamily="34" charset="0"/>
                <a:ea typeface="Calibri" pitchFamily="34" charset="-122"/>
                <a:cs typeface="Calibri" pitchFamily="34" charset="-120"/>
              </a:rPr>
              <a:t>Formula: output(x,y) = input(round(x), round(y))</a:t>
            </a:r>
            <a:endParaRPr lang="en-US" sz="1300" dirty="0"/>
          </a:p>
          <a:p>
            <a:pPr marL="342900" indent="-342900">
              <a:spcAft>
                <a:spcPts val="400"/>
              </a:spcAft>
              <a:buSzPct val="100000"/>
              <a:buChar char="•"/>
            </a:pPr>
            <a:r>
              <a:rPr lang="en-US" sz="1300" dirty="0">
                <a:solidFill>
                  <a:srgbClr val="12193D"/>
                </a:solidFill>
                <a:latin typeface="Calibri" pitchFamily="34" charset="0"/>
                <a:ea typeface="Calibri" pitchFamily="34" charset="-122"/>
                <a:cs typeface="Calibri" pitchFamily="34" charset="-120"/>
              </a:rPr>
              <a:t>Bilinear: weighted average of the 4 surrounding pixels. Smooth result. Standard default. Slightly blurry.</a:t>
            </a:r>
            <a:endParaRPr lang="en-US" sz="1300" dirty="0"/>
          </a:p>
          <a:p>
            <a:pPr lvl="1" marL="508000" indent="-254000">
              <a:spcAft>
                <a:spcPts val="400"/>
              </a:spcAft>
              <a:buSzPct val="100000"/>
              <a:buChar char="•"/>
            </a:pPr>
            <a:r>
              <a:rPr lang="en-US" sz="1200" dirty="0">
                <a:solidFill>
                  <a:srgbClr val="6B7280"/>
                </a:solidFill>
                <a:latin typeface="Calibri" pitchFamily="34" charset="0"/>
                <a:ea typeface="Calibri" pitchFamily="34" charset="-122"/>
                <a:cs typeface="Calibri" pitchFamily="34" charset="-120"/>
              </a:rPr>
              <a:t>Formula: weighted blend of top-left, top-right, bottom-left, bottom-right based on fractional distance.</a:t>
            </a:r>
            <a:endParaRPr lang="en-US" sz="1300" dirty="0"/>
          </a:p>
          <a:p>
            <a:pPr marL="342900" indent="-342900">
              <a:spcAft>
                <a:spcPts val="400"/>
              </a:spcAft>
              <a:buSzPct val="100000"/>
              <a:buChar char="•"/>
            </a:pPr>
            <a:r>
              <a:rPr lang="en-US" sz="1300" dirty="0">
                <a:solidFill>
                  <a:srgbClr val="12193D"/>
                </a:solidFill>
                <a:latin typeface="Calibri" pitchFamily="34" charset="0"/>
                <a:ea typeface="Calibri" pitchFamily="34" charset="-122"/>
                <a:cs typeface="Calibri" pitchFamily="34" charset="-120"/>
              </a:rPr>
              <a:t>Bicubic: uses 16 surrounding pixels. Sharper than bilinear but slower. Used in high-quality resizing.</a:t>
            </a:r>
            <a:endParaRPr lang="en-US" sz="1300" dirty="0"/>
          </a:p>
          <a:p>
            <a:pPr marL="342900" indent="-342900">
              <a:spcAft>
                <a:spcPts val="400"/>
              </a:spcAft>
              <a:buSzPct val="100000"/>
              <a:buChar char="•"/>
            </a:pPr>
            <a:r>
              <a:rPr lang="en-US" sz="1300" dirty="0">
                <a:solidFill>
                  <a:srgbClr val="12193D"/>
                </a:solidFill>
                <a:latin typeface="Calibri" pitchFamily="34" charset="0"/>
                <a:ea typeface="Calibri" pitchFamily="34" charset="-122"/>
                <a:cs typeface="Calibri" pitchFamily="34" charset="-120"/>
              </a:rPr>
              <a:t>Lanczos: uses a sinc-based kernel. Best quality for downsampling. Slowest. Used in professional software.</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Rule of thumb: for deep learning preprocessing, bilinear is the standard choice for speed/quality balance.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E2761"/>
          </a:solidFill>
          <a:ln w="12700">
            <a:solidFill>
              <a:srgbClr val="1E2761"/>
            </a:solidFill>
            <a:prstDash val="solid"/>
          </a:ln>
        </p:spPr>
      </p:sp>
      <p:sp>
        <p:nvSpPr>
          <p:cNvPr id="3" name="Text 1"/>
          <p:cNvSpPr/>
          <p:nvPr/>
        </p:nvSpPr>
        <p:spPr>
          <a:xfrm>
            <a:off x="365760" y="457200"/>
            <a:ext cx="1371600" cy="1371600"/>
          </a:xfrm>
          <a:prstGeom prst="rect">
            <a:avLst/>
          </a:prstGeom>
          <a:noFill/>
          <a:ln/>
        </p:spPr>
        <p:txBody>
          <a:bodyPr wrap="square" rtlCol="0" anchor="ctr"/>
          <a:lstStyle/>
          <a:p>
            <a:pPr indent="0" marL="0">
              <a:buNone/>
            </a:pPr>
            <a:r>
              <a:rPr lang="en-US" sz="7200" b="1" dirty="0">
                <a:solidFill>
                  <a:srgbClr val="E8ECF4"/>
                </a:solidFill>
                <a:latin typeface="Georgia" pitchFamily="34" charset="0"/>
                <a:ea typeface="Georgia" pitchFamily="34" charset="-122"/>
                <a:cs typeface="Georgia" pitchFamily="34" charset="-120"/>
              </a:rPr>
              <a:t>A4</a:t>
            </a:r>
            <a:endParaRPr lang="en-US" sz="7200" dirty="0"/>
          </a:p>
        </p:txBody>
      </p:sp>
      <p:sp>
        <p:nvSpPr>
          <p:cNvPr id="4" name="Text 2"/>
          <p:cNvSpPr/>
          <p:nvPr/>
        </p:nvSpPr>
        <p:spPr>
          <a:xfrm>
            <a:off x="365760" y="1554480"/>
            <a:ext cx="8412480" cy="914400"/>
          </a:xfrm>
          <a:prstGeom prst="rect">
            <a:avLst/>
          </a:prstGeom>
          <a:noFill/>
          <a:ln/>
        </p:spPr>
        <p:txBody>
          <a:bodyPr wrap="square" rtlCol="0" anchor="ctr"/>
          <a:lstStyle/>
          <a:p>
            <a:pPr indent="0" marL="0">
              <a:buNone/>
            </a:pPr>
            <a:r>
              <a:rPr lang="en-US" sz="3600" b="1" dirty="0">
                <a:solidFill>
                  <a:srgbClr val="1E2761"/>
                </a:solidFill>
                <a:latin typeface="Georgia" pitchFamily="34" charset="0"/>
                <a:ea typeface="Georgia" pitchFamily="34" charset="-122"/>
                <a:cs typeface="Georgia" pitchFamily="34" charset="-120"/>
              </a:rPr>
              <a:t>Quantization</a:t>
            </a:r>
            <a:endParaRPr lang="en-US" sz="3600" dirty="0"/>
          </a:p>
        </p:txBody>
      </p:sp>
      <p:sp>
        <p:nvSpPr>
          <p:cNvPr id="5" name="Text 3"/>
          <p:cNvSpPr/>
          <p:nvPr/>
        </p:nvSpPr>
        <p:spPr>
          <a:xfrm>
            <a:off x="365760" y="2514600"/>
            <a:ext cx="8412480" cy="548640"/>
          </a:xfrm>
          <a:prstGeom prst="rect">
            <a:avLst/>
          </a:prstGeom>
          <a:noFill/>
          <a:ln/>
        </p:spPr>
        <p:txBody>
          <a:bodyPr wrap="square" rtlCol="0" anchor="ctr"/>
          <a:lstStyle/>
          <a:p>
            <a:pPr indent="0" marL="0">
              <a:buNone/>
            </a:pPr>
            <a:r>
              <a:rPr lang="en-US" sz="1500" dirty="0">
                <a:solidFill>
                  <a:srgbClr val="6B7280"/>
                </a:solidFill>
                <a:latin typeface="Calibri" pitchFamily="34" charset="0"/>
                <a:ea typeface="Calibri" pitchFamily="34" charset="-122"/>
                <a:cs typeface="Calibri" pitchFamily="34" charset="-120"/>
              </a:rPr>
              <a:t>How continuous brightness values become discrete numbers</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What Is Quantization?</a:t>
            </a:r>
            <a:endParaRPr lang="en-US" sz="1700" dirty="0"/>
          </a:p>
        </p:txBody>
      </p:sp>
      <p:sp>
        <p:nvSpPr>
          <p:cNvPr id="4" name="Text 2"/>
          <p:cNvSpPr/>
          <p:nvPr/>
        </p:nvSpPr>
        <p:spPr>
          <a:xfrm>
            <a:off x="7589520" y="0"/>
            <a:ext cx="137160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A4</a:t>
            </a:r>
            <a:endParaRPr lang="en-US" sz="1000" dirty="0"/>
          </a:p>
        </p:txBody>
      </p:sp>
      <p:sp>
        <p:nvSpPr>
          <p:cNvPr id="5" name="Shape 3"/>
          <p:cNvSpPr/>
          <p:nvPr/>
        </p:nvSpPr>
        <p:spPr>
          <a:xfrm>
            <a:off x="320040" y="804672"/>
            <a:ext cx="8503920" cy="914400"/>
          </a:xfrm>
          <a:prstGeom prst="rect">
            <a:avLst/>
          </a:prstGeom>
          <a:solidFill>
            <a:srgbClr val="DBEAFE"/>
          </a:solidFill>
          <a:ln w="12700">
            <a:solidFill>
              <a:srgbClr val="93C5FD"/>
            </a:solidFill>
            <a:prstDash val="solid"/>
          </a:ln>
        </p:spPr>
      </p:sp>
      <p:sp>
        <p:nvSpPr>
          <p:cNvPr id="6" name="Text 4"/>
          <p:cNvSpPr/>
          <p:nvPr/>
        </p:nvSpPr>
        <p:spPr>
          <a:xfrm>
            <a:off x="502920" y="841248"/>
            <a:ext cx="8229600" cy="804672"/>
          </a:xfrm>
          <a:prstGeom prst="rect">
            <a:avLst/>
          </a:prstGeom>
          <a:noFill/>
          <a:ln/>
        </p:spPr>
        <p:txBody>
          <a:bodyPr wrap="square" rtlCol="0" anchor="ctr"/>
          <a:lstStyle/>
          <a:p>
            <a:pPr indent="0" marL="0">
              <a:buNone/>
            </a:pPr>
            <a:r>
              <a:rPr lang="en-US" sz="1250" i="1" dirty="0">
                <a:solidFill>
                  <a:srgbClr val="1E40AF"/>
                </a:solidFill>
                <a:latin typeface="Calibri" pitchFamily="34" charset="0"/>
                <a:ea typeface="Calibri" pitchFamily="34" charset="-122"/>
                <a:cs typeface="Calibri" pitchFamily="34" charset="-120"/>
              </a:rPr>
              <a:t>After sampling gives us pixel positions, quantization converts the measured light intensity (a continuous value) into a discrete integer. Think of it as 'rounding to the nearest step on a staircase.'</a:t>
            </a:r>
            <a:endParaRPr lang="en-US" sz="1250" dirty="0"/>
          </a:p>
        </p:txBody>
      </p:sp>
      <p:sp>
        <p:nvSpPr>
          <p:cNvPr id="7" name="Text 5"/>
          <p:cNvSpPr/>
          <p:nvPr/>
        </p:nvSpPr>
        <p:spPr>
          <a:xfrm>
            <a:off x="320040" y="1874520"/>
            <a:ext cx="8503920" cy="3063240"/>
          </a:xfrm>
          <a:prstGeom prst="rect">
            <a:avLst/>
          </a:prstGeom>
          <a:noFill/>
          <a:ln/>
        </p:spPr>
        <p:txBody>
          <a:bodyPr wrap="square" rtlCol="0" anchor="t"/>
          <a:lstStyle/>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Analog intensity: any real number (e.g., 127.342... or 89.9987...)</a:t>
            </a:r>
            <a:endParaRPr lang="en-US" sz="1250" dirty="0"/>
          </a:p>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After 8-bit quantization: nearest integer from 0 to 255 (e.g., 127 or 90)</a:t>
            </a:r>
            <a:endParaRPr lang="en-US" sz="1250" dirty="0"/>
          </a:p>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Quantization error (ε): the difference between the true value and the quantized value. Max error = ±0.5 step.</a:t>
            </a:r>
            <a:endParaRPr lang="en-US" sz="1250" dirty="0"/>
          </a:p>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More bits = smaller steps = smaller error = smoother gradients in the image.</a:t>
            </a:r>
            <a:endParaRPr lang="en-US" sz="1250" dirty="0"/>
          </a:p>
          <a:p>
            <a:pPr lvl="1" marL="685800" indent="-342900">
              <a:spcAft>
                <a:spcPts val="500"/>
              </a:spcAft>
              <a:buSzPct val="100000"/>
              <a:buChar char="•"/>
            </a:pPr>
            <a:r>
              <a:rPr lang="en-US" sz="1250" dirty="0">
                <a:solidFill>
                  <a:srgbClr val="6B7280"/>
                </a:solidFill>
                <a:latin typeface="Calibri" pitchFamily="34" charset="0"/>
                <a:ea typeface="Calibri" pitchFamily="34" charset="-122"/>
                <a:cs typeface="Calibri" pitchFamily="34" charset="-120"/>
              </a:rPr>
              <a:t>3-bit quantization: 8 levels (0–7). Extremely visible banding in smooth gradients.</a:t>
            </a:r>
            <a:endParaRPr lang="en-US" sz="1250" dirty="0"/>
          </a:p>
          <a:p>
            <a:pPr lvl="1" marL="685800" indent="-342900">
              <a:spcAft>
                <a:spcPts val="500"/>
              </a:spcAft>
              <a:buSzPct val="100000"/>
              <a:buChar char="•"/>
            </a:pPr>
            <a:r>
              <a:rPr lang="en-US" sz="1250" dirty="0">
                <a:solidFill>
                  <a:srgbClr val="6B7280"/>
                </a:solidFill>
                <a:latin typeface="Calibri" pitchFamily="34" charset="0"/>
                <a:ea typeface="Calibri" pitchFamily="34" charset="-122"/>
                <a:cs typeface="Calibri" pitchFamily="34" charset="-120"/>
              </a:rPr>
              <a:t>8-bit quantization: 256 levels. Standard — barely any visible banding.</a:t>
            </a:r>
            <a:endParaRPr lang="en-US" sz="1250" dirty="0"/>
          </a:p>
          <a:p>
            <a:pPr lvl="1" marL="685800" indent="-342900">
              <a:spcAft>
                <a:spcPts val="500"/>
              </a:spcAft>
              <a:buSzPct val="100000"/>
              <a:buChar char="•"/>
            </a:pPr>
            <a:r>
              <a:rPr lang="en-US" sz="1250" dirty="0">
                <a:solidFill>
                  <a:srgbClr val="6B7280"/>
                </a:solidFill>
                <a:latin typeface="Calibri" pitchFamily="34" charset="0"/>
                <a:ea typeface="Calibri" pitchFamily="34" charset="-122"/>
                <a:cs typeface="Calibri" pitchFamily="34" charset="-120"/>
              </a:rPr>
              <a:t>10-bit / 12-bit: used in professional cameras and medical imaging.</a:t>
            </a:r>
            <a:endParaRPr lang="en-US" sz="1250" dirty="0"/>
          </a:p>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Banding: the visible staircase artifact in smooth color gradients when bit depth is too low.</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Quantization Staircase — 3-bit vs 8-bit</a:t>
            </a:r>
            <a:endParaRPr lang="en-US" sz="1700" dirty="0"/>
          </a:p>
        </p:txBody>
      </p:sp>
      <p:sp>
        <p:nvSpPr>
          <p:cNvPr id="4" name="Text 2"/>
          <p:cNvSpPr/>
          <p:nvPr/>
        </p:nvSpPr>
        <p:spPr>
          <a:xfrm>
            <a:off x="7589520" y="0"/>
            <a:ext cx="137160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A4</a:t>
            </a:r>
            <a:endParaRPr lang="en-US" sz="1000" dirty="0"/>
          </a:p>
        </p:txBody>
      </p:sp>
      <p:sp>
        <p:nvSpPr>
          <p:cNvPr id="5" name="Shape 3"/>
          <p:cNvSpPr/>
          <p:nvPr/>
        </p:nvSpPr>
        <p:spPr>
          <a:xfrm>
            <a:off x="320040" y="777240"/>
            <a:ext cx="8503920" cy="3840480"/>
          </a:xfrm>
          <a:prstGeom prst="rect">
            <a:avLst/>
          </a:prstGeom>
          <a:solidFill>
            <a:srgbClr val="1A1A2E"/>
          </a:solidFill>
          <a:ln w="12700">
            <a:solidFill>
              <a:srgbClr val="1A1A2E"/>
            </a:solidFill>
            <a:prstDash val="solid"/>
          </a:ln>
        </p:spPr>
      </p:sp>
      <p:sp>
        <p:nvSpPr>
          <p:cNvPr id="6" name="Text 4"/>
          <p:cNvSpPr/>
          <p:nvPr/>
        </p:nvSpPr>
        <p:spPr>
          <a:xfrm>
            <a:off x="457200" y="841248"/>
            <a:ext cx="8229600" cy="3730752"/>
          </a:xfrm>
          <a:prstGeom prst="rect">
            <a:avLst/>
          </a:prstGeom>
          <a:noFill/>
          <a:ln/>
        </p:spPr>
        <p:txBody>
          <a:bodyPr wrap="square" rtlCol="0" anchor="t"/>
          <a:lstStyle/>
          <a:p>
            <a:pPr indent="0" marL="0">
              <a:buNone/>
            </a:pPr>
            <a:r>
              <a:rPr lang="en-US" sz="1050" dirty="0">
                <a:solidFill>
                  <a:srgbClr val="B0C4DE"/>
                </a:solidFill>
                <a:latin typeface="Consolas" pitchFamily="34" charset="0"/>
                <a:ea typeface="Consolas" pitchFamily="34" charset="-122"/>
                <a:cs typeface="Consolas" pitchFamily="34" charset="-120"/>
              </a:rPr>
              <a:t>  3-bit (8 levels):           8-bit (256 levels):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Output ↑                    Output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7  ████                     255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6  ████                      ..  (256 tiny steps,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5  ████      ← staircase     ..   nearly a smooth</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4  ████        visible       ..   diagonal line)</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3  ████                       0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2  ████     Input →                    Input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1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0  ────────────────</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Quantization error ε = true_value - quantized_value</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True: 127.6  →  Quantized: 128  →  ε = -0.4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True:  89.1  →  Quantized:  89  →  ε = +0.1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  Max possible ε = ±0.5 × (255 / num_levels)       │</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t>
            </a:r>
            <a:endParaRPr lang="en-US" sz="1050" dirty="0"/>
          </a:p>
        </p:txBody>
      </p:sp>
      <p:sp>
        <p:nvSpPr>
          <p:cNvPr id="7" name="Text 5"/>
          <p:cNvSpPr/>
          <p:nvPr/>
        </p:nvSpPr>
        <p:spPr>
          <a:xfrm>
            <a:off x="320040" y="4709160"/>
            <a:ext cx="8503920" cy="32004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Caption: 3-bit images have visible color banding. 8-bit images look smooth. More bits = smaller error steps.</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E2761"/>
          </a:solidFill>
          <a:ln w="12700">
            <a:solidFill>
              <a:srgbClr val="1E2761"/>
            </a:solidFill>
            <a:prstDash val="solid"/>
          </a:ln>
        </p:spPr>
      </p:sp>
      <p:sp>
        <p:nvSpPr>
          <p:cNvPr id="3" name="Text 1"/>
          <p:cNvSpPr/>
          <p:nvPr/>
        </p:nvSpPr>
        <p:spPr>
          <a:xfrm>
            <a:off x="365760" y="457200"/>
            <a:ext cx="1371600" cy="1371600"/>
          </a:xfrm>
          <a:prstGeom prst="rect">
            <a:avLst/>
          </a:prstGeom>
          <a:noFill/>
          <a:ln/>
        </p:spPr>
        <p:txBody>
          <a:bodyPr wrap="square" rtlCol="0" anchor="ctr"/>
          <a:lstStyle/>
          <a:p>
            <a:pPr indent="0" marL="0">
              <a:buNone/>
            </a:pPr>
            <a:r>
              <a:rPr lang="en-US" sz="7200" b="1" dirty="0">
                <a:solidFill>
                  <a:srgbClr val="E8ECF4"/>
                </a:solidFill>
                <a:latin typeface="Georgia" pitchFamily="34" charset="0"/>
                <a:ea typeface="Georgia" pitchFamily="34" charset="-122"/>
                <a:cs typeface="Georgia" pitchFamily="34" charset="-120"/>
              </a:rPr>
              <a:t>A5</a:t>
            </a:r>
            <a:endParaRPr lang="en-US" sz="7200" dirty="0"/>
          </a:p>
        </p:txBody>
      </p:sp>
      <p:sp>
        <p:nvSpPr>
          <p:cNvPr id="4" name="Text 2"/>
          <p:cNvSpPr/>
          <p:nvPr/>
        </p:nvSpPr>
        <p:spPr>
          <a:xfrm>
            <a:off x="365760" y="1554480"/>
            <a:ext cx="8412480" cy="914400"/>
          </a:xfrm>
          <a:prstGeom prst="rect">
            <a:avLst/>
          </a:prstGeom>
          <a:noFill/>
          <a:ln/>
        </p:spPr>
        <p:txBody>
          <a:bodyPr wrap="square" rtlCol="0" anchor="ctr"/>
          <a:lstStyle/>
          <a:p>
            <a:pPr indent="0" marL="0">
              <a:buNone/>
            </a:pPr>
            <a:r>
              <a:rPr lang="en-US" sz="3600" b="1" dirty="0">
                <a:solidFill>
                  <a:srgbClr val="1E2761"/>
                </a:solidFill>
                <a:latin typeface="Georgia" pitchFamily="34" charset="0"/>
                <a:ea typeface="Georgia" pitchFamily="34" charset="-122"/>
                <a:cs typeface="Georgia" pitchFamily="34" charset="-120"/>
              </a:rPr>
              <a:t>Noise Models</a:t>
            </a:r>
            <a:endParaRPr lang="en-US" sz="3600" dirty="0"/>
          </a:p>
        </p:txBody>
      </p:sp>
      <p:sp>
        <p:nvSpPr>
          <p:cNvPr id="5" name="Text 3"/>
          <p:cNvSpPr/>
          <p:nvPr/>
        </p:nvSpPr>
        <p:spPr>
          <a:xfrm>
            <a:off x="365760" y="2514600"/>
            <a:ext cx="8412480" cy="548640"/>
          </a:xfrm>
          <a:prstGeom prst="rect">
            <a:avLst/>
          </a:prstGeom>
          <a:noFill/>
          <a:ln/>
        </p:spPr>
        <p:txBody>
          <a:bodyPr wrap="square" rtlCol="0" anchor="ctr"/>
          <a:lstStyle/>
          <a:p>
            <a:pPr indent="0" marL="0">
              <a:buNone/>
            </a:pPr>
            <a:r>
              <a:rPr lang="en-US" sz="1500" dirty="0">
                <a:solidFill>
                  <a:srgbClr val="6B7280"/>
                </a:solidFill>
                <a:latin typeface="Calibri" pitchFamily="34" charset="0"/>
                <a:ea typeface="Calibri" pitchFamily="34" charset="-122"/>
                <a:cs typeface="Calibri" pitchFamily="34" charset="-120"/>
              </a:rPr>
              <a:t>The different ways images get corrupted — and what to do about it</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What Is Image Noise?</a:t>
            </a:r>
            <a:endParaRPr lang="en-US" sz="1700" dirty="0"/>
          </a:p>
        </p:txBody>
      </p:sp>
      <p:sp>
        <p:nvSpPr>
          <p:cNvPr id="4" name="Text 2"/>
          <p:cNvSpPr/>
          <p:nvPr/>
        </p:nvSpPr>
        <p:spPr>
          <a:xfrm>
            <a:off x="7589520" y="0"/>
            <a:ext cx="137160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A5</a:t>
            </a:r>
            <a:endParaRPr lang="en-US" sz="1000" dirty="0"/>
          </a:p>
        </p:txBody>
      </p:sp>
      <p:sp>
        <p:nvSpPr>
          <p:cNvPr id="5" name="Shape 3"/>
          <p:cNvSpPr/>
          <p:nvPr/>
        </p:nvSpPr>
        <p:spPr>
          <a:xfrm>
            <a:off x="320040" y="804672"/>
            <a:ext cx="8503920" cy="914400"/>
          </a:xfrm>
          <a:prstGeom prst="rect">
            <a:avLst/>
          </a:prstGeom>
          <a:solidFill>
            <a:srgbClr val="DBEAFE"/>
          </a:solidFill>
          <a:ln w="12700">
            <a:solidFill>
              <a:srgbClr val="93C5FD"/>
            </a:solidFill>
            <a:prstDash val="solid"/>
          </a:ln>
        </p:spPr>
      </p:sp>
      <p:sp>
        <p:nvSpPr>
          <p:cNvPr id="6" name="Text 4"/>
          <p:cNvSpPr/>
          <p:nvPr/>
        </p:nvSpPr>
        <p:spPr>
          <a:xfrm>
            <a:off x="502920" y="841248"/>
            <a:ext cx="8229600" cy="804672"/>
          </a:xfrm>
          <a:prstGeom prst="rect">
            <a:avLst/>
          </a:prstGeom>
          <a:noFill/>
          <a:ln/>
        </p:spPr>
        <p:txBody>
          <a:bodyPr wrap="square" rtlCol="0" anchor="ctr"/>
          <a:lstStyle/>
          <a:p>
            <a:pPr indent="0" marL="0">
              <a:buNone/>
            </a:pPr>
            <a:r>
              <a:rPr lang="en-US" sz="1250" i="1" dirty="0">
                <a:solidFill>
                  <a:srgbClr val="1E40AF"/>
                </a:solidFill>
                <a:latin typeface="Calibri" pitchFamily="34" charset="0"/>
                <a:ea typeface="Calibri" pitchFamily="34" charset="-122"/>
                <a:cs typeface="Calibri" pitchFamily="34" charset="-120"/>
              </a:rPr>
              <a:t>Noise is any unwanted random variation added to pixel values that was not present in the original scene. Every camera introduces some noise — understanding the TYPE of noise tells you how to remove it.</a:t>
            </a:r>
            <a:endParaRPr lang="en-US" sz="1250" dirty="0"/>
          </a:p>
        </p:txBody>
      </p:sp>
      <p:sp>
        <p:nvSpPr>
          <p:cNvPr id="7" name="Text 5"/>
          <p:cNvSpPr/>
          <p:nvPr/>
        </p:nvSpPr>
        <p:spPr>
          <a:xfrm>
            <a:off x="320040" y="1874520"/>
            <a:ext cx="8503920" cy="3063240"/>
          </a:xfrm>
          <a:prstGeom prst="rect">
            <a:avLst/>
          </a:prstGeom>
          <a:noFill/>
          <a:ln/>
        </p:spPr>
        <p:txBody>
          <a:bodyPr wrap="square" rtlCol="0" anchor="t"/>
          <a:lstStyle/>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Noise comes from physics: heat in sensor electronics, random photon arrivals, electrical interference.</a:t>
            </a:r>
            <a:endParaRPr lang="en-US" sz="1250" dirty="0"/>
          </a:p>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Low light = more noise (camera must amplify weak signal, amplifying noise too).</a:t>
            </a:r>
            <a:endParaRPr lang="en-US" sz="1250" dirty="0"/>
          </a:p>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High ISO setting = more noise.</a:t>
            </a:r>
            <a:endParaRPr lang="en-US" sz="1250" dirty="0"/>
          </a:p>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Different noise types need different filters — using the wrong filter makes things worse.</a:t>
            </a:r>
            <a:endParaRPr lang="en-US" sz="1250" dirty="0"/>
          </a:p>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Mathematical model: observed = true_signal + noise   or   observed = true_signal × noise</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Four Main Noise Types</a:t>
            </a:r>
            <a:endParaRPr lang="en-US" sz="1700" dirty="0"/>
          </a:p>
        </p:txBody>
      </p:sp>
      <p:sp>
        <p:nvSpPr>
          <p:cNvPr id="4" name="Text 2"/>
          <p:cNvSpPr/>
          <p:nvPr/>
        </p:nvSpPr>
        <p:spPr>
          <a:xfrm>
            <a:off x="7589520" y="0"/>
            <a:ext cx="137160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A5</a:t>
            </a:r>
            <a:endParaRPr lang="en-US" sz="1000" dirty="0"/>
          </a:p>
        </p:txBody>
      </p:sp>
      <p:sp>
        <p:nvSpPr>
          <p:cNvPr id="5" name="Shape 3"/>
          <p:cNvSpPr/>
          <p:nvPr/>
        </p:nvSpPr>
        <p:spPr>
          <a:xfrm>
            <a:off x="320040" y="804672"/>
            <a:ext cx="4206240" cy="1920240"/>
          </a:xfrm>
          <a:prstGeom prst="rect">
            <a:avLst/>
          </a:prstGeom>
          <a:solidFill>
            <a:srgbClr val="F7F8FA"/>
          </a:solidFill>
          <a:ln w="12700">
            <a:solidFill>
              <a:srgbClr val="D1D5DB"/>
            </a:solidFill>
            <a:prstDash val="solid"/>
          </a:ln>
        </p:spPr>
      </p:sp>
      <p:sp>
        <p:nvSpPr>
          <p:cNvPr id="6" name="Shape 4"/>
          <p:cNvSpPr/>
          <p:nvPr/>
        </p:nvSpPr>
        <p:spPr>
          <a:xfrm>
            <a:off x="320040" y="804672"/>
            <a:ext cx="4206240" cy="329184"/>
          </a:xfrm>
          <a:prstGeom prst="rect">
            <a:avLst/>
          </a:prstGeom>
          <a:solidFill>
            <a:srgbClr val="1E2761"/>
          </a:solidFill>
          <a:ln w="12700">
            <a:solidFill>
              <a:srgbClr val="1E2761"/>
            </a:solidFill>
            <a:prstDash val="solid"/>
          </a:ln>
        </p:spPr>
      </p:sp>
      <p:sp>
        <p:nvSpPr>
          <p:cNvPr id="7" name="Text 5"/>
          <p:cNvSpPr/>
          <p:nvPr/>
        </p:nvSpPr>
        <p:spPr>
          <a:xfrm>
            <a:off x="393192" y="804672"/>
            <a:ext cx="4114800" cy="32918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Gaussian Noise</a:t>
            </a:r>
            <a:endParaRPr lang="en-US" sz="1100" dirty="0"/>
          </a:p>
        </p:txBody>
      </p:sp>
      <p:sp>
        <p:nvSpPr>
          <p:cNvPr id="8" name="Text 6"/>
          <p:cNvSpPr/>
          <p:nvPr/>
        </p:nvSpPr>
        <p:spPr>
          <a:xfrm>
            <a:off x="393192" y="1188720"/>
            <a:ext cx="4069080" cy="1463040"/>
          </a:xfrm>
          <a:prstGeom prst="rect">
            <a:avLst/>
          </a:prstGeom>
          <a:noFill/>
          <a:ln/>
        </p:spPr>
        <p:txBody>
          <a:bodyPr wrap="square" rtlCol="0" anchor="t"/>
          <a:lstStyle/>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Random offset added to every pixel</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Follows a bell curve (Normal distribution)</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Model: g(x,y) = f(x,y) + η, where η ~ N(0, σ²)</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Cause: sensor thermal noise, electronics, high ISO</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Looks like: uniform grain all over image</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Fix: Gaussian blur or Wiener filter</a:t>
            </a:r>
            <a:endParaRPr lang="en-US" sz="1050" dirty="0"/>
          </a:p>
        </p:txBody>
      </p:sp>
      <p:sp>
        <p:nvSpPr>
          <p:cNvPr id="9" name="Shape 7"/>
          <p:cNvSpPr/>
          <p:nvPr/>
        </p:nvSpPr>
        <p:spPr>
          <a:xfrm>
            <a:off x="4663440" y="804672"/>
            <a:ext cx="4206240" cy="1920240"/>
          </a:xfrm>
          <a:prstGeom prst="rect">
            <a:avLst/>
          </a:prstGeom>
          <a:solidFill>
            <a:srgbClr val="F7F8FA"/>
          </a:solidFill>
          <a:ln w="12700">
            <a:solidFill>
              <a:srgbClr val="D1D5DB"/>
            </a:solidFill>
            <a:prstDash val="solid"/>
          </a:ln>
        </p:spPr>
      </p:sp>
      <p:sp>
        <p:nvSpPr>
          <p:cNvPr id="10" name="Shape 8"/>
          <p:cNvSpPr/>
          <p:nvPr/>
        </p:nvSpPr>
        <p:spPr>
          <a:xfrm>
            <a:off x="4663440" y="804672"/>
            <a:ext cx="4206240" cy="329184"/>
          </a:xfrm>
          <a:prstGeom prst="rect">
            <a:avLst/>
          </a:prstGeom>
          <a:solidFill>
            <a:srgbClr val="166534"/>
          </a:solidFill>
          <a:ln w="12700">
            <a:solidFill>
              <a:srgbClr val="166534"/>
            </a:solidFill>
            <a:prstDash val="solid"/>
          </a:ln>
        </p:spPr>
      </p:sp>
      <p:sp>
        <p:nvSpPr>
          <p:cNvPr id="11" name="Text 9"/>
          <p:cNvSpPr/>
          <p:nvPr/>
        </p:nvSpPr>
        <p:spPr>
          <a:xfrm>
            <a:off x="4736592" y="804672"/>
            <a:ext cx="4114800" cy="32918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Salt &amp; Pepper Noise</a:t>
            </a:r>
            <a:endParaRPr lang="en-US" sz="1100" dirty="0"/>
          </a:p>
        </p:txBody>
      </p:sp>
      <p:sp>
        <p:nvSpPr>
          <p:cNvPr id="12" name="Text 10"/>
          <p:cNvSpPr/>
          <p:nvPr/>
        </p:nvSpPr>
        <p:spPr>
          <a:xfrm>
            <a:off x="4736592" y="1188720"/>
            <a:ext cx="4069080" cy="1463040"/>
          </a:xfrm>
          <a:prstGeom prst="rect">
            <a:avLst/>
          </a:prstGeom>
          <a:noFill/>
          <a:ln/>
        </p:spPr>
        <p:txBody>
          <a:bodyPr wrap="square" rtlCol="0" anchor="t"/>
          <a:lstStyle/>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Random pixels snapped to 0 (pepper) or 255 (salt)</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Model: probability p of being replaced</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Cause: sensor dead pixels, transmission errors</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Looks like: random white and black dots</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Fix: Median filter (best choice)</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Gaussian blur won't work — it just spreads the spots</a:t>
            </a:r>
            <a:endParaRPr lang="en-US" sz="1050" dirty="0"/>
          </a:p>
        </p:txBody>
      </p:sp>
      <p:sp>
        <p:nvSpPr>
          <p:cNvPr id="13" name="Shape 11"/>
          <p:cNvSpPr/>
          <p:nvPr/>
        </p:nvSpPr>
        <p:spPr>
          <a:xfrm>
            <a:off x="320040" y="2862072"/>
            <a:ext cx="4206240" cy="1920240"/>
          </a:xfrm>
          <a:prstGeom prst="rect">
            <a:avLst/>
          </a:prstGeom>
          <a:solidFill>
            <a:srgbClr val="F7F8FA"/>
          </a:solidFill>
          <a:ln w="12700">
            <a:solidFill>
              <a:srgbClr val="D1D5DB"/>
            </a:solidFill>
            <a:prstDash val="solid"/>
          </a:ln>
        </p:spPr>
      </p:sp>
      <p:sp>
        <p:nvSpPr>
          <p:cNvPr id="14" name="Shape 12"/>
          <p:cNvSpPr/>
          <p:nvPr/>
        </p:nvSpPr>
        <p:spPr>
          <a:xfrm>
            <a:off x="320040" y="2862072"/>
            <a:ext cx="4206240" cy="329184"/>
          </a:xfrm>
          <a:prstGeom prst="rect">
            <a:avLst/>
          </a:prstGeom>
          <a:solidFill>
            <a:srgbClr val="78350F"/>
          </a:solidFill>
          <a:ln w="12700">
            <a:solidFill>
              <a:srgbClr val="78350F"/>
            </a:solidFill>
            <a:prstDash val="solid"/>
          </a:ln>
        </p:spPr>
      </p:sp>
      <p:sp>
        <p:nvSpPr>
          <p:cNvPr id="15" name="Text 13"/>
          <p:cNvSpPr/>
          <p:nvPr/>
        </p:nvSpPr>
        <p:spPr>
          <a:xfrm>
            <a:off x="393192" y="2862072"/>
            <a:ext cx="4114800" cy="32918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Poisson (Shot) Noise</a:t>
            </a:r>
            <a:endParaRPr lang="en-US" sz="1100" dirty="0"/>
          </a:p>
        </p:txBody>
      </p:sp>
      <p:sp>
        <p:nvSpPr>
          <p:cNvPr id="16" name="Text 14"/>
          <p:cNvSpPr/>
          <p:nvPr/>
        </p:nvSpPr>
        <p:spPr>
          <a:xfrm>
            <a:off x="393192" y="3246120"/>
            <a:ext cx="4069080" cy="1463040"/>
          </a:xfrm>
          <a:prstGeom prst="rect">
            <a:avLst/>
          </a:prstGeom>
          <a:noFill/>
          <a:ln/>
        </p:spPr>
        <p:txBody>
          <a:bodyPr wrap="square" rtlCol="0" anchor="t"/>
          <a:lstStyle/>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Variance = mean signal level (signal-dependent!)</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Model: variance ∝ true pixel value</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Cause: random photon arrival (quantum effect)</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Worse in dark/shadow areas relative to signal</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Looks like: coarser grain in dark regions</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Fix: Anscombe transform then Gaussian denoising</a:t>
            </a:r>
            <a:endParaRPr lang="en-US" sz="1050" dirty="0"/>
          </a:p>
        </p:txBody>
      </p:sp>
      <p:sp>
        <p:nvSpPr>
          <p:cNvPr id="17" name="Shape 15"/>
          <p:cNvSpPr/>
          <p:nvPr/>
        </p:nvSpPr>
        <p:spPr>
          <a:xfrm>
            <a:off x="4663440" y="2862072"/>
            <a:ext cx="4206240" cy="1920240"/>
          </a:xfrm>
          <a:prstGeom prst="rect">
            <a:avLst/>
          </a:prstGeom>
          <a:solidFill>
            <a:srgbClr val="F7F8FA"/>
          </a:solidFill>
          <a:ln w="12700">
            <a:solidFill>
              <a:srgbClr val="D1D5DB"/>
            </a:solidFill>
            <a:prstDash val="solid"/>
          </a:ln>
        </p:spPr>
      </p:sp>
      <p:sp>
        <p:nvSpPr>
          <p:cNvPr id="18" name="Shape 16"/>
          <p:cNvSpPr/>
          <p:nvPr/>
        </p:nvSpPr>
        <p:spPr>
          <a:xfrm>
            <a:off x="4663440" y="2862072"/>
            <a:ext cx="4206240" cy="329184"/>
          </a:xfrm>
          <a:prstGeom prst="rect">
            <a:avLst/>
          </a:prstGeom>
          <a:solidFill>
            <a:srgbClr val="991B1B"/>
          </a:solidFill>
          <a:ln w="12700">
            <a:solidFill>
              <a:srgbClr val="991B1B"/>
            </a:solidFill>
            <a:prstDash val="solid"/>
          </a:ln>
        </p:spPr>
      </p:sp>
      <p:sp>
        <p:nvSpPr>
          <p:cNvPr id="19" name="Text 17"/>
          <p:cNvSpPr/>
          <p:nvPr/>
        </p:nvSpPr>
        <p:spPr>
          <a:xfrm>
            <a:off x="4736592" y="2862072"/>
            <a:ext cx="4114800" cy="32918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Speckle Noise</a:t>
            </a:r>
            <a:endParaRPr lang="en-US" sz="1100" dirty="0"/>
          </a:p>
        </p:txBody>
      </p:sp>
      <p:sp>
        <p:nvSpPr>
          <p:cNvPr id="20" name="Text 18"/>
          <p:cNvSpPr/>
          <p:nvPr/>
        </p:nvSpPr>
        <p:spPr>
          <a:xfrm>
            <a:off x="4736592" y="3246120"/>
            <a:ext cx="4069080" cy="1463040"/>
          </a:xfrm>
          <a:prstGeom prst="rect">
            <a:avLst/>
          </a:prstGeom>
          <a:noFill/>
          <a:ln/>
        </p:spPr>
        <p:txBody>
          <a:bodyPr wrap="square" rtlCol="0" anchor="t"/>
          <a:lstStyle/>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Multiplicative: g = f × (1 + n)</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Texture-like granular pattern</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Cause: coherent illumination (ultrasound, SAR radar, laser)</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Looks like: random bright/dark granules on texture</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Fix: Lee filter, or work in log domain</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Cannot be removed with standard additive filters</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Noise Models — Mathematical Summary</a:t>
            </a:r>
            <a:endParaRPr lang="en-US" sz="1700" dirty="0"/>
          </a:p>
        </p:txBody>
      </p:sp>
      <p:sp>
        <p:nvSpPr>
          <p:cNvPr id="4" name="Text 2"/>
          <p:cNvSpPr/>
          <p:nvPr/>
        </p:nvSpPr>
        <p:spPr>
          <a:xfrm>
            <a:off x="7589520" y="0"/>
            <a:ext cx="137160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A5</a:t>
            </a:r>
            <a:endParaRPr lang="en-US" sz="1000" dirty="0"/>
          </a:p>
        </p:txBody>
      </p:sp>
      <p:sp>
        <p:nvSpPr>
          <p:cNvPr id="5" name="Shape 3"/>
          <p:cNvSpPr/>
          <p:nvPr/>
        </p:nvSpPr>
        <p:spPr>
          <a:xfrm>
            <a:off x="320040" y="777240"/>
            <a:ext cx="8503920" cy="3840480"/>
          </a:xfrm>
          <a:prstGeom prst="rect">
            <a:avLst/>
          </a:prstGeom>
          <a:solidFill>
            <a:srgbClr val="1A1A2E"/>
          </a:solidFill>
          <a:ln w="12700">
            <a:solidFill>
              <a:srgbClr val="1A1A2E"/>
            </a:solidFill>
            <a:prstDash val="solid"/>
          </a:ln>
        </p:spPr>
      </p:sp>
      <p:sp>
        <p:nvSpPr>
          <p:cNvPr id="6" name="Text 4"/>
          <p:cNvSpPr/>
          <p:nvPr/>
        </p:nvSpPr>
        <p:spPr>
          <a:xfrm>
            <a:off x="457200" y="841248"/>
            <a:ext cx="8229600" cy="3730752"/>
          </a:xfrm>
          <a:prstGeom prst="rect">
            <a:avLst/>
          </a:prstGeom>
          <a:noFill/>
          <a:ln/>
        </p:spPr>
        <p:txBody>
          <a:bodyPr wrap="square" rtlCol="0" anchor="t"/>
          <a:lstStyle/>
          <a:p>
            <a:pPr indent="0" marL="0">
              <a:buNone/>
            </a:pPr>
            <a:r>
              <a:rPr lang="en-US" sz="1050" dirty="0">
                <a:solidFill>
                  <a:srgbClr val="B0C4DE"/>
                </a:solidFill>
                <a:latin typeface="Consolas" pitchFamily="34" charset="0"/>
                <a:ea typeface="Consolas" pitchFamily="34" charset="-122"/>
                <a:cs typeface="Consolas" pitchFamily="34" charset="-120"/>
              </a:rPr>
              <a:t>  ADDITIVE NOISE MODEL (Gaussian, Salt &amp; Pepper, Poisson):</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Observed(x,y) = TrueSignal(x,y)  +  Noise(x,y)</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MULTIPLICATIVE NOISE MODEL (Speckle):</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Observed(x,y) = TrueSignal(x,y)  ×  (1 + Noise(x,y))</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Gaussian:   Noise ~ Normal(mean=0, variance=σ²)</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Same σ everywhere — spatially uniform</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Poisson:    Noise variance = TrueSignal value</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Bright pixel 200 has more noise than dark pixel 10</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Salt&amp;Pepper: Noise = 0 (pepper) or 255 (salt) with prob p</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Unaffected pixels stay exactly correct</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Speckle:    Noise ~ Gamma distribution</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Log transform converts it to additive</a:t>
            </a:r>
            <a:endParaRPr lang="en-US" sz="1050" dirty="0"/>
          </a:p>
        </p:txBody>
      </p:sp>
      <p:sp>
        <p:nvSpPr>
          <p:cNvPr id="7" name="Text 5"/>
          <p:cNvSpPr/>
          <p:nvPr/>
        </p:nvSpPr>
        <p:spPr>
          <a:xfrm>
            <a:off x="320040" y="4709160"/>
            <a:ext cx="8503920" cy="32004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Caption: Matching the right noise model to the right filter is essential. Wrong filter choice can destroy image detail.</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E2761"/>
          </a:solidFill>
          <a:ln w="12700">
            <a:solidFill>
              <a:srgbClr val="1E2761"/>
            </a:solidFill>
            <a:prstDash val="solid"/>
          </a:ln>
        </p:spPr>
      </p:sp>
      <p:sp>
        <p:nvSpPr>
          <p:cNvPr id="3" name="Text 1"/>
          <p:cNvSpPr/>
          <p:nvPr/>
        </p:nvSpPr>
        <p:spPr>
          <a:xfrm>
            <a:off x="365760" y="457200"/>
            <a:ext cx="1371600" cy="1371600"/>
          </a:xfrm>
          <a:prstGeom prst="rect">
            <a:avLst/>
          </a:prstGeom>
          <a:noFill/>
          <a:ln/>
        </p:spPr>
        <p:txBody>
          <a:bodyPr wrap="square" rtlCol="0" anchor="ctr"/>
          <a:lstStyle/>
          <a:p>
            <a:pPr indent="0" marL="0">
              <a:buNone/>
            </a:pPr>
            <a:r>
              <a:rPr lang="en-US" sz="7200" b="1" dirty="0">
                <a:solidFill>
                  <a:srgbClr val="E8ECF4"/>
                </a:solidFill>
                <a:latin typeface="Georgia" pitchFamily="34" charset="0"/>
                <a:ea typeface="Georgia" pitchFamily="34" charset="-122"/>
                <a:cs typeface="Georgia" pitchFamily="34" charset="-120"/>
              </a:rPr>
              <a:t>A6</a:t>
            </a:r>
            <a:endParaRPr lang="en-US" sz="7200" dirty="0"/>
          </a:p>
        </p:txBody>
      </p:sp>
      <p:sp>
        <p:nvSpPr>
          <p:cNvPr id="4" name="Text 2"/>
          <p:cNvSpPr/>
          <p:nvPr/>
        </p:nvSpPr>
        <p:spPr>
          <a:xfrm>
            <a:off x="365760" y="1554480"/>
            <a:ext cx="8412480" cy="914400"/>
          </a:xfrm>
          <a:prstGeom prst="rect">
            <a:avLst/>
          </a:prstGeom>
          <a:noFill/>
          <a:ln/>
        </p:spPr>
        <p:txBody>
          <a:bodyPr wrap="square" rtlCol="0" anchor="ctr"/>
          <a:lstStyle/>
          <a:p>
            <a:pPr indent="0" marL="0">
              <a:buNone/>
            </a:pPr>
            <a:r>
              <a:rPr lang="en-US" sz="3600" b="1" dirty="0">
                <a:solidFill>
                  <a:srgbClr val="1E2761"/>
                </a:solidFill>
                <a:latin typeface="Georgia" pitchFamily="34" charset="0"/>
                <a:ea typeface="Georgia" pitchFamily="34" charset="-122"/>
                <a:cs typeface="Georgia" pitchFamily="34" charset="-120"/>
              </a:rPr>
              <a:t>Annotations</a:t>
            </a:r>
            <a:endParaRPr lang="en-US" sz="3600" dirty="0"/>
          </a:p>
        </p:txBody>
      </p:sp>
      <p:sp>
        <p:nvSpPr>
          <p:cNvPr id="5" name="Text 3"/>
          <p:cNvSpPr/>
          <p:nvPr/>
        </p:nvSpPr>
        <p:spPr>
          <a:xfrm>
            <a:off x="365760" y="2514600"/>
            <a:ext cx="8412480" cy="548640"/>
          </a:xfrm>
          <a:prstGeom prst="rect">
            <a:avLst/>
          </a:prstGeom>
          <a:noFill/>
          <a:ln/>
        </p:spPr>
        <p:txBody>
          <a:bodyPr wrap="square" rtlCol="0" anchor="ctr"/>
          <a:lstStyle/>
          <a:p>
            <a:pPr indent="0" marL="0">
              <a:buNone/>
            </a:pPr>
            <a:r>
              <a:rPr lang="en-US" sz="1500" dirty="0">
                <a:solidFill>
                  <a:srgbClr val="6B7280"/>
                </a:solidFill>
                <a:latin typeface="Calibri" pitchFamily="34" charset="0"/>
                <a:ea typeface="Calibri" pitchFamily="34" charset="-122"/>
                <a:cs typeface="Calibri" pitchFamily="34" charset="-120"/>
              </a:rPr>
              <a:t>How humans label images to teach computers what they contain</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What Are Annotations?</a:t>
            </a:r>
            <a:endParaRPr lang="en-US" sz="1700" dirty="0"/>
          </a:p>
        </p:txBody>
      </p:sp>
      <p:sp>
        <p:nvSpPr>
          <p:cNvPr id="4" name="Text 2"/>
          <p:cNvSpPr/>
          <p:nvPr/>
        </p:nvSpPr>
        <p:spPr>
          <a:xfrm>
            <a:off x="7589520" y="0"/>
            <a:ext cx="137160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A6</a:t>
            </a:r>
            <a:endParaRPr lang="en-US" sz="1000" dirty="0"/>
          </a:p>
        </p:txBody>
      </p:sp>
      <p:sp>
        <p:nvSpPr>
          <p:cNvPr id="5" name="Shape 3"/>
          <p:cNvSpPr/>
          <p:nvPr/>
        </p:nvSpPr>
        <p:spPr>
          <a:xfrm>
            <a:off x="320040" y="804672"/>
            <a:ext cx="8503920" cy="914400"/>
          </a:xfrm>
          <a:prstGeom prst="rect">
            <a:avLst/>
          </a:prstGeom>
          <a:solidFill>
            <a:srgbClr val="DBEAFE"/>
          </a:solidFill>
          <a:ln w="12700">
            <a:solidFill>
              <a:srgbClr val="93C5FD"/>
            </a:solidFill>
            <a:prstDash val="solid"/>
          </a:ln>
        </p:spPr>
      </p:sp>
      <p:sp>
        <p:nvSpPr>
          <p:cNvPr id="6" name="Text 4"/>
          <p:cNvSpPr/>
          <p:nvPr/>
        </p:nvSpPr>
        <p:spPr>
          <a:xfrm>
            <a:off x="502920" y="841248"/>
            <a:ext cx="8229600" cy="804672"/>
          </a:xfrm>
          <a:prstGeom prst="rect">
            <a:avLst/>
          </a:prstGeom>
          <a:noFill/>
          <a:ln/>
        </p:spPr>
        <p:txBody>
          <a:bodyPr wrap="square" rtlCol="0" anchor="ctr"/>
          <a:lstStyle/>
          <a:p>
            <a:pPr indent="0" marL="0">
              <a:buNone/>
            </a:pPr>
            <a:r>
              <a:rPr lang="en-US" sz="1250" i="1" dirty="0">
                <a:solidFill>
                  <a:srgbClr val="1E40AF"/>
                </a:solidFill>
                <a:latin typeface="Calibri" pitchFamily="34" charset="0"/>
                <a:ea typeface="Calibri" pitchFamily="34" charset="-122"/>
                <a:cs typeface="Calibri" pitchFamily="34" charset="-120"/>
              </a:rPr>
              <a:t>Annotations are human-created labels on images that describe what objects are present and where they are. They are the 'ground truth' that neural networks learn from. Without good annotations, there is no supervised learning.</a:t>
            </a:r>
            <a:endParaRPr lang="en-US" sz="1250" dirty="0"/>
          </a:p>
        </p:txBody>
      </p:sp>
      <p:sp>
        <p:nvSpPr>
          <p:cNvPr id="7" name="Text 5"/>
          <p:cNvSpPr/>
          <p:nvPr/>
        </p:nvSpPr>
        <p:spPr>
          <a:xfrm>
            <a:off x="320040" y="1874520"/>
            <a:ext cx="8503920" cy="3063240"/>
          </a:xfrm>
          <a:prstGeom prst="rect">
            <a:avLst/>
          </a:prstGeom>
          <a:noFill/>
          <a:ln/>
        </p:spPr>
        <p:txBody>
          <a:bodyPr wrap="square" rtlCol="0" anchor="t"/>
          <a:lstStyle/>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Every object detection, segmentation, and pose estimation model is trained on annotated data.</a:t>
            </a:r>
            <a:endParaRPr lang="en-US" sz="1250" dirty="0"/>
          </a:p>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Annotations take different forms depending on what information the model needs to learn.</a:t>
            </a:r>
            <a:endParaRPr lang="en-US" sz="1250" dirty="0"/>
          </a:p>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Creating annotations is expensive — one person can annotate ~500 bounding boxes per hour, but only ~50 detailed polygons.</a:t>
            </a:r>
            <a:endParaRPr lang="en-US" sz="1250" dirty="0"/>
          </a:p>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Tools: LabelImg (bounding boxes), LabelMe (polygons), CVAT (video), Roboflow (all types, web-based).</a:t>
            </a:r>
            <a:endParaRPr lang="en-US" sz="1250" dirty="0"/>
          </a:p>
          <a:p>
            <a:pPr marL="342900" indent="-342900">
              <a:spcAft>
                <a:spcPts val="500"/>
              </a:spcAft>
              <a:buSzPct val="100000"/>
              <a:buChar char="•"/>
            </a:pPr>
            <a:r>
              <a:rPr lang="en-US" sz="1250" dirty="0">
                <a:solidFill>
                  <a:srgbClr val="12193D"/>
                </a:solidFill>
                <a:latin typeface="Calibri" pitchFamily="34" charset="0"/>
                <a:ea typeface="Calibri" pitchFamily="34" charset="-122"/>
                <a:cs typeface="Calibri" pitchFamily="34" charset="-120"/>
              </a:rPr>
              <a:t>Quality control is critical — noisy labels hurt model performance badly.</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Annotation Types — Overview</a:t>
            </a:r>
            <a:endParaRPr lang="en-US" sz="1700" dirty="0"/>
          </a:p>
        </p:txBody>
      </p:sp>
      <p:sp>
        <p:nvSpPr>
          <p:cNvPr id="4" name="Text 2"/>
          <p:cNvSpPr/>
          <p:nvPr/>
        </p:nvSpPr>
        <p:spPr>
          <a:xfrm>
            <a:off x="7589520" y="0"/>
            <a:ext cx="137160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A6</a:t>
            </a:r>
            <a:endParaRPr lang="en-US" sz="1000" dirty="0"/>
          </a:p>
        </p:txBody>
      </p:sp>
      <p:sp>
        <p:nvSpPr>
          <p:cNvPr id="5" name="Shape 3"/>
          <p:cNvSpPr/>
          <p:nvPr/>
        </p:nvSpPr>
        <p:spPr>
          <a:xfrm>
            <a:off x="320040" y="804672"/>
            <a:ext cx="4206240" cy="1920240"/>
          </a:xfrm>
          <a:prstGeom prst="rect">
            <a:avLst/>
          </a:prstGeom>
          <a:solidFill>
            <a:srgbClr val="F7F8FA"/>
          </a:solidFill>
          <a:ln w="12700">
            <a:solidFill>
              <a:srgbClr val="D1D5DB"/>
            </a:solidFill>
            <a:prstDash val="solid"/>
          </a:ln>
        </p:spPr>
      </p:sp>
      <p:sp>
        <p:nvSpPr>
          <p:cNvPr id="6" name="Shape 4"/>
          <p:cNvSpPr/>
          <p:nvPr/>
        </p:nvSpPr>
        <p:spPr>
          <a:xfrm>
            <a:off x="320040" y="804672"/>
            <a:ext cx="4206240" cy="329184"/>
          </a:xfrm>
          <a:prstGeom prst="rect">
            <a:avLst/>
          </a:prstGeom>
          <a:solidFill>
            <a:srgbClr val="1E2761"/>
          </a:solidFill>
          <a:ln w="12700">
            <a:solidFill>
              <a:srgbClr val="1E2761"/>
            </a:solidFill>
            <a:prstDash val="solid"/>
          </a:ln>
        </p:spPr>
      </p:sp>
      <p:sp>
        <p:nvSpPr>
          <p:cNvPr id="7" name="Text 5"/>
          <p:cNvSpPr/>
          <p:nvPr/>
        </p:nvSpPr>
        <p:spPr>
          <a:xfrm>
            <a:off x="393192" y="804672"/>
            <a:ext cx="4114800" cy="32918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Bounding Box</a:t>
            </a:r>
            <a:endParaRPr lang="en-US" sz="1100" dirty="0"/>
          </a:p>
        </p:txBody>
      </p:sp>
      <p:sp>
        <p:nvSpPr>
          <p:cNvPr id="8" name="Text 6"/>
          <p:cNvSpPr/>
          <p:nvPr/>
        </p:nvSpPr>
        <p:spPr>
          <a:xfrm>
            <a:off x="393192" y="1188720"/>
            <a:ext cx="4069080" cy="1463040"/>
          </a:xfrm>
          <a:prstGeom prst="rect">
            <a:avLst/>
          </a:prstGeom>
          <a:noFill/>
          <a:ln/>
        </p:spPr>
        <p:txBody>
          <a:bodyPr wrap="square" rtlCol="0" anchor="t"/>
          <a:lstStyle/>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Rectangle drawn around an object</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Defines: top-left corner + width + height</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or: (x_min, y_min, x_max, y_max)</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Fastest to create</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Used by: YOLO, Faster R-CNN, SSD</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Limitation: imprecise for irregular shapes</a:t>
            </a:r>
            <a:endParaRPr lang="en-US" sz="1050" dirty="0"/>
          </a:p>
        </p:txBody>
      </p:sp>
      <p:sp>
        <p:nvSpPr>
          <p:cNvPr id="9" name="Shape 7"/>
          <p:cNvSpPr/>
          <p:nvPr/>
        </p:nvSpPr>
        <p:spPr>
          <a:xfrm>
            <a:off x="4663440" y="804672"/>
            <a:ext cx="4206240" cy="1920240"/>
          </a:xfrm>
          <a:prstGeom prst="rect">
            <a:avLst/>
          </a:prstGeom>
          <a:solidFill>
            <a:srgbClr val="F7F8FA"/>
          </a:solidFill>
          <a:ln w="12700">
            <a:solidFill>
              <a:srgbClr val="D1D5DB"/>
            </a:solidFill>
            <a:prstDash val="solid"/>
          </a:ln>
        </p:spPr>
      </p:sp>
      <p:sp>
        <p:nvSpPr>
          <p:cNvPr id="10" name="Shape 8"/>
          <p:cNvSpPr/>
          <p:nvPr/>
        </p:nvSpPr>
        <p:spPr>
          <a:xfrm>
            <a:off x="4663440" y="804672"/>
            <a:ext cx="4206240" cy="329184"/>
          </a:xfrm>
          <a:prstGeom prst="rect">
            <a:avLst/>
          </a:prstGeom>
          <a:solidFill>
            <a:srgbClr val="166534"/>
          </a:solidFill>
          <a:ln w="12700">
            <a:solidFill>
              <a:srgbClr val="166534"/>
            </a:solidFill>
            <a:prstDash val="solid"/>
          </a:ln>
        </p:spPr>
      </p:sp>
      <p:sp>
        <p:nvSpPr>
          <p:cNvPr id="11" name="Text 9"/>
          <p:cNvSpPr/>
          <p:nvPr/>
        </p:nvSpPr>
        <p:spPr>
          <a:xfrm>
            <a:off x="4736592" y="804672"/>
            <a:ext cx="4114800" cy="32918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Polygon / Segmentation</a:t>
            </a:r>
            <a:endParaRPr lang="en-US" sz="1100" dirty="0"/>
          </a:p>
        </p:txBody>
      </p:sp>
      <p:sp>
        <p:nvSpPr>
          <p:cNvPr id="12" name="Text 10"/>
          <p:cNvSpPr/>
          <p:nvPr/>
        </p:nvSpPr>
        <p:spPr>
          <a:xfrm>
            <a:off x="4736592" y="1188720"/>
            <a:ext cx="4069080" cy="1463040"/>
          </a:xfrm>
          <a:prstGeom prst="rect">
            <a:avLst/>
          </a:prstGeom>
          <a:noFill/>
          <a:ln/>
        </p:spPr>
        <p:txBody>
          <a:bodyPr wrap="square" rtlCol="0" anchor="t"/>
          <a:lstStyle/>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Series of points tracing the object outline</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Much more precise than bounding boxes</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Can be converted to binary mask</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Used by: Mask R-CNN, YOLO-seg</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5–10× slower to create than bounding boxes</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Required for instance segmentation tasks</a:t>
            </a:r>
            <a:endParaRPr lang="en-US" sz="1050" dirty="0"/>
          </a:p>
        </p:txBody>
      </p:sp>
      <p:sp>
        <p:nvSpPr>
          <p:cNvPr id="13" name="Shape 11"/>
          <p:cNvSpPr/>
          <p:nvPr/>
        </p:nvSpPr>
        <p:spPr>
          <a:xfrm>
            <a:off x="320040" y="2862072"/>
            <a:ext cx="4206240" cy="1920240"/>
          </a:xfrm>
          <a:prstGeom prst="rect">
            <a:avLst/>
          </a:prstGeom>
          <a:solidFill>
            <a:srgbClr val="F7F8FA"/>
          </a:solidFill>
          <a:ln w="12700">
            <a:solidFill>
              <a:srgbClr val="D1D5DB"/>
            </a:solidFill>
            <a:prstDash val="solid"/>
          </a:ln>
        </p:spPr>
      </p:sp>
      <p:sp>
        <p:nvSpPr>
          <p:cNvPr id="14" name="Shape 12"/>
          <p:cNvSpPr/>
          <p:nvPr/>
        </p:nvSpPr>
        <p:spPr>
          <a:xfrm>
            <a:off x="320040" y="2862072"/>
            <a:ext cx="4206240" cy="329184"/>
          </a:xfrm>
          <a:prstGeom prst="rect">
            <a:avLst/>
          </a:prstGeom>
          <a:solidFill>
            <a:srgbClr val="78350F"/>
          </a:solidFill>
          <a:ln w="12700">
            <a:solidFill>
              <a:srgbClr val="78350F"/>
            </a:solidFill>
            <a:prstDash val="solid"/>
          </a:ln>
        </p:spPr>
      </p:sp>
      <p:sp>
        <p:nvSpPr>
          <p:cNvPr id="15" name="Text 13"/>
          <p:cNvSpPr/>
          <p:nvPr/>
        </p:nvSpPr>
        <p:spPr>
          <a:xfrm>
            <a:off x="393192" y="2862072"/>
            <a:ext cx="4114800" cy="32918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Semantic Mask</a:t>
            </a:r>
            <a:endParaRPr lang="en-US" sz="1100" dirty="0"/>
          </a:p>
        </p:txBody>
      </p:sp>
      <p:sp>
        <p:nvSpPr>
          <p:cNvPr id="16" name="Text 14"/>
          <p:cNvSpPr/>
          <p:nvPr/>
        </p:nvSpPr>
        <p:spPr>
          <a:xfrm>
            <a:off x="393192" y="3246120"/>
            <a:ext cx="4069080" cy="1463040"/>
          </a:xfrm>
          <a:prstGeom prst="rect">
            <a:avLst/>
          </a:prstGeom>
          <a:noFill/>
          <a:ln/>
        </p:spPr>
        <p:txBody>
          <a:bodyPr wrap="square" rtlCol="0" anchor="t"/>
          <a:lstStyle/>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Every pixel labeled with a class ID</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Output: a 2D array same size as image</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No distinction between different instances</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Two cars = same color in the mask</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Used for: DeepLab, SegFormer, FCN</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Requires full pixel-by-pixel labeling</a:t>
            </a:r>
            <a:endParaRPr lang="en-US" sz="1050" dirty="0"/>
          </a:p>
        </p:txBody>
      </p:sp>
      <p:sp>
        <p:nvSpPr>
          <p:cNvPr id="17" name="Shape 15"/>
          <p:cNvSpPr/>
          <p:nvPr/>
        </p:nvSpPr>
        <p:spPr>
          <a:xfrm>
            <a:off x="4663440" y="2862072"/>
            <a:ext cx="4206240" cy="1920240"/>
          </a:xfrm>
          <a:prstGeom prst="rect">
            <a:avLst/>
          </a:prstGeom>
          <a:solidFill>
            <a:srgbClr val="F7F8FA"/>
          </a:solidFill>
          <a:ln w="12700">
            <a:solidFill>
              <a:srgbClr val="D1D5DB"/>
            </a:solidFill>
            <a:prstDash val="solid"/>
          </a:ln>
        </p:spPr>
      </p:sp>
      <p:sp>
        <p:nvSpPr>
          <p:cNvPr id="18" name="Shape 16"/>
          <p:cNvSpPr/>
          <p:nvPr/>
        </p:nvSpPr>
        <p:spPr>
          <a:xfrm>
            <a:off x="4663440" y="2862072"/>
            <a:ext cx="4206240" cy="329184"/>
          </a:xfrm>
          <a:prstGeom prst="rect">
            <a:avLst/>
          </a:prstGeom>
          <a:solidFill>
            <a:srgbClr val="991B1B"/>
          </a:solidFill>
          <a:ln w="12700">
            <a:solidFill>
              <a:srgbClr val="991B1B"/>
            </a:solidFill>
            <a:prstDash val="solid"/>
          </a:ln>
        </p:spPr>
      </p:sp>
      <p:sp>
        <p:nvSpPr>
          <p:cNvPr id="19" name="Text 17"/>
          <p:cNvSpPr/>
          <p:nvPr/>
        </p:nvSpPr>
        <p:spPr>
          <a:xfrm>
            <a:off x="4736592" y="2862072"/>
            <a:ext cx="4114800" cy="32918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Keypoints / Pose</a:t>
            </a:r>
            <a:endParaRPr lang="en-US" sz="1100" dirty="0"/>
          </a:p>
        </p:txBody>
      </p:sp>
      <p:sp>
        <p:nvSpPr>
          <p:cNvPr id="20" name="Text 18"/>
          <p:cNvSpPr/>
          <p:nvPr/>
        </p:nvSpPr>
        <p:spPr>
          <a:xfrm>
            <a:off x="4736592" y="3246120"/>
            <a:ext cx="4069080" cy="1463040"/>
          </a:xfrm>
          <a:prstGeom prst="rect">
            <a:avLst/>
          </a:prstGeom>
          <a:noFill/>
          <a:ln/>
        </p:spPr>
        <p:txBody>
          <a:bodyPr wrap="square" rtlCol="0" anchor="t"/>
          <a:lstStyle/>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Specific named points on an object</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Each keypoint: (x, y, visibility)</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visibility: 0=absent, 1=occluded, 2=visible</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17 COCO keypoints for human body</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21 keypoints for hands, 68 for faces</a:t>
            </a:r>
            <a:endParaRPr lang="en-US" sz="1050" dirty="0"/>
          </a:p>
          <a:p>
            <a:pPr marL="342900" indent="-342900">
              <a:spcAft>
                <a:spcPts val="300"/>
              </a:spcAft>
              <a:buSzPct val="100000"/>
              <a:buChar char="•"/>
            </a:pPr>
            <a:r>
              <a:rPr lang="en-US" sz="1050" dirty="0">
                <a:solidFill>
                  <a:srgbClr val="12193D"/>
                </a:solidFill>
                <a:latin typeface="Calibri" pitchFamily="34" charset="0"/>
                <a:ea typeface="Calibri" pitchFamily="34" charset="-122"/>
                <a:cs typeface="Calibri" pitchFamily="34" charset="-120"/>
              </a:rPr>
              <a:t>Used for: pose estimation, AR, sports analysis</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Bounding Box Formats — COCO vs YOLO vs Pascal VOC</a:t>
            </a:r>
            <a:endParaRPr lang="en-US" sz="1700" dirty="0"/>
          </a:p>
        </p:txBody>
      </p:sp>
      <p:sp>
        <p:nvSpPr>
          <p:cNvPr id="4" name="Text 2"/>
          <p:cNvSpPr/>
          <p:nvPr/>
        </p:nvSpPr>
        <p:spPr>
          <a:xfrm>
            <a:off x="7589520" y="0"/>
            <a:ext cx="137160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A6</a:t>
            </a:r>
            <a:endParaRPr lang="en-US" sz="1000" dirty="0"/>
          </a:p>
        </p:txBody>
      </p:sp>
      <p:sp>
        <p:nvSpPr>
          <p:cNvPr id="5" name="Text 3"/>
          <p:cNvSpPr/>
          <p:nvPr/>
        </p:nvSpPr>
        <p:spPr>
          <a:xfrm>
            <a:off x="320040" y="804672"/>
            <a:ext cx="8503920" cy="4160520"/>
          </a:xfrm>
          <a:prstGeom prst="rect">
            <a:avLst/>
          </a:prstGeom>
          <a:noFill/>
          <a:ln/>
        </p:spPr>
        <p:txBody>
          <a:bodyPr wrap="square" rtlCol="0" anchor="t"/>
          <a:lstStyle/>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The SAME bounding box is stored differently in each annotation format. Always check which format your tool uses!</a:t>
            </a:r>
            <a:endParaRPr lang="en-US" sz="1300" dirty="0"/>
          </a:p>
          <a:p>
            <a:pPr marL="342900" indent="-342900">
              <a:spcAft>
                <a:spcPts val="400"/>
              </a:spcAft>
              <a:buSzPct val="100000"/>
              <a:buChar char="•"/>
            </a:pPr>
            <a:r>
              <a:rPr lang="en-US" sz="1300" dirty="0">
                <a:solidFill>
                  <a:srgbClr val="12193D"/>
                </a:solidFill>
                <a:latin typeface="Calibri" pitchFamily="34" charset="0"/>
                <a:ea typeface="Calibri" pitchFamily="34" charset="-122"/>
                <a:cs typeface="Calibri" pitchFamily="34" charset="-120"/>
              </a:rPr>
              <a:t>Pascal VOC format (XML file, used by older datasets):</a:t>
            </a:r>
            <a:endParaRPr lang="en-US" sz="1300" dirty="0"/>
          </a:p>
          <a:p>
            <a:pPr lvl="1" marL="508000" indent="-254000">
              <a:spcAft>
                <a:spcPts val="400"/>
              </a:spcAft>
              <a:buSzPct val="100000"/>
              <a:buChar char="•"/>
            </a:pPr>
            <a:r>
              <a:rPr lang="en-US" sz="1200" dirty="0">
                <a:solidFill>
                  <a:srgbClr val="6B7280"/>
                </a:solidFill>
                <a:latin typeface="Calibri" pitchFamily="34" charset="0"/>
                <a:ea typeface="Calibri" pitchFamily="34" charset="-122"/>
                <a:cs typeface="Calibri" pitchFamily="34" charset="-120"/>
              </a:rPr>
              <a:t>&lt;xmin&gt;, &lt;ymin&gt;, &lt;xmax&gt;, &lt;ymax&gt;  — absolute pixel coordinates.</a:t>
            </a:r>
            <a:endParaRPr lang="en-US" sz="1300" dirty="0"/>
          </a:p>
          <a:p>
            <a:pPr lvl="1" marL="508000" indent="-254000">
              <a:spcAft>
                <a:spcPts val="400"/>
              </a:spcAft>
              <a:buSzPct val="100000"/>
              <a:buChar char="•"/>
            </a:pPr>
            <a:r>
              <a:rPr lang="en-US" sz="1200" dirty="0">
                <a:solidFill>
                  <a:srgbClr val="6B7280"/>
                </a:solidFill>
                <a:latin typeface="Calibri" pitchFamily="34" charset="0"/>
                <a:ea typeface="Calibri" pitchFamily="34" charset="-122"/>
                <a:cs typeface="Calibri" pitchFamily="34" charset="-120"/>
              </a:rPr>
              <a:t>Example: xmin=100, ymin=50, xmax=300, ymax=200  (box from pixel 100,50 to 300,200)</a:t>
            </a:r>
            <a:endParaRPr lang="en-US" sz="1300" dirty="0"/>
          </a:p>
          <a:p>
            <a:pPr marL="342900" indent="-342900">
              <a:spcAft>
                <a:spcPts val="400"/>
              </a:spcAft>
              <a:buSzPct val="100000"/>
              <a:buChar char="•"/>
            </a:pPr>
            <a:r>
              <a:rPr lang="en-US" sz="1300" dirty="0">
                <a:solidFill>
                  <a:srgbClr val="12193D"/>
                </a:solidFill>
                <a:latin typeface="Calibri" pitchFamily="34" charset="0"/>
                <a:ea typeface="Calibri" pitchFamily="34" charset="-122"/>
                <a:cs typeface="Calibri" pitchFamily="34" charset="-120"/>
              </a:rPr>
              <a:t>COCO format (JSON file, used by most research datasets):</a:t>
            </a:r>
            <a:endParaRPr lang="en-US" sz="1300" dirty="0"/>
          </a:p>
          <a:p>
            <a:pPr lvl="1" marL="508000" indent="-254000">
              <a:spcAft>
                <a:spcPts val="400"/>
              </a:spcAft>
              <a:buSzPct val="100000"/>
              <a:buChar char="•"/>
            </a:pPr>
            <a:r>
              <a:rPr lang="en-US" sz="1200" dirty="0">
                <a:solidFill>
                  <a:srgbClr val="6B7280"/>
                </a:solidFill>
                <a:latin typeface="Calibri" pitchFamily="34" charset="0"/>
                <a:ea typeface="Calibri" pitchFamily="34" charset="-122"/>
                <a:cs typeface="Calibri" pitchFamily="34" charset="-120"/>
              </a:rPr>
              <a:t>[x, y, width, height]  — x,y is the TOP-LEFT corner, then width and height in pixels.</a:t>
            </a:r>
            <a:endParaRPr lang="en-US" sz="1300" dirty="0"/>
          </a:p>
          <a:p>
            <a:pPr lvl="1" marL="508000" indent="-254000">
              <a:spcAft>
                <a:spcPts val="400"/>
              </a:spcAft>
              <a:buSzPct val="100000"/>
              <a:buChar char="•"/>
            </a:pPr>
            <a:r>
              <a:rPr lang="en-US" sz="1200" dirty="0">
                <a:solidFill>
                  <a:srgbClr val="6B7280"/>
                </a:solidFill>
                <a:latin typeface="Calibri" pitchFamily="34" charset="0"/>
                <a:ea typeface="Calibri" pitchFamily="34" charset="-122"/>
                <a:cs typeface="Calibri" pitchFamily="34" charset="-120"/>
              </a:rPr>
              <a:t>Example: [100, 50, 200, 150]  (top-left at 100,50, width 200, height 150)</a:t>
            </a:r>
            <a:endParaRPr lang="en-US" sz="1300" dirty="0"/>
          </a:p>
          <a:p>
            <a:pPr marL="342900" indent="-342900">
              <a:spcAft>
                <a:spcPts val="400"/>
              </a:spcAft>
              <a:buSzPct val="100000"/>
              <a:buChar char="•"/>
            </a:pPr>
            <a:r>
              <a:rPr lang="en-US" sz="1300" dirty="0">
                <a:solidFill>
                  <a:srgbClr val="12193D"/>
                </a:solidFill>
                <a:latin typeface="Calibri" pitchFamily="34" charset="0"/>
                <a:ea typeface="Calibri" pitchFamily="34" charset="-122"/>
                <a:cs typeface="Calibri" pitchFamily="34" charset="-120"/>
              </a:rPr>
              <a:t>YOLO format (one .txt file per image):</a:t>
            </a:r>
            <a:endParaRPr lang="en-US" sz="1300" dirty="0"/>
          </a:p>
          <a:p>
            <a:pPr lvl="1" marL="508000" indent="-254000">
              <a:spcAft>
                <a:spcPts val="400"/>
              </a:spcAft>
              <a:buSzPct val="100000"/>
              <a:buChar char="•"/>
            </a:pPr>
            <a:r>
              <a:rPr lang="en-US" sz="1200" dirty="0">
                <a:solidFill>
                  <a:srgbClr val="6B7280"/>
                </a:solidFill>
                <a:latin typeface="Calibri" pitchFamily="34" charset="0"/>
                <a:ea typeface="Calibri" pitchFamily="34" charset="-122"/>
                <a:cs typeface="Calibri" pitchFamily="34" charset="-120"/>
              </a:rPr>
              <a:t>class_id  cx  cy  w  h  — ALL values normalized to 0–1 (divided by image width/height).</a:t>
            </a:r>
            <a:endParaRPr lang="en-US" sz="1300" dirty="0"/>
          </a:p>
          <a:p>
            <a:pPr lvl="1" marL="508000" indent="-254000">
              <a:spcAft>
                <a:spcPts val="400"/>
              </a:spcAft>
              <a:buSzPct val="100000"/>
              <a:buChar char="•"/>
            </a:pPr>
            <a:r>
              <a:rPr lang="en-US" sz="1200" dirty="0">
                <a:solidFill>
                  <a:srgbClr val="6B7280"/>
                </a:solidFill>
                <a:latin typeface="Calibri" pitchFamily="34" charset="0"/>
                <a:ea typeface="Calibri" pitchFamily="34" charset="-122"/>
                <a:cs typeface="Calibri" pitchFamily="34" charset="-120"/>
              </a:rPr>
              <a:t>cx, cy = center x, center y.  Example: 0  0.5  0.4  0.3  0.2  (class 0, centered at 50%,40% of image)</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Bounding Box Format Comparison</a:t>
            </a:r>
            <a:endParaRPr lang="en-US" sz="1700" dirty="0"/>
          </a:p>
        </p:txBody>
      </p:sp>
      <p:sp>
        <p:nvSpPr>
          <p:cNvPr id="4" name="Text 2"/>
          <p:cNvSpPr/>
          <p:nvPr/>
        </p:nvSpPr>
        <p:spPr>
          <a:xfrm>
            <a:off x="7589520" y="0"/>
            <a:ext cx="137160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A6</a:t>
            </a:r>
            <a:endParaRPr lang="en-US" sz="1000" dirty="0"/>
          </a:p>
        </p:txBody>
      </p:sp>
      <p:sp>
        <p:nvSpPr>
          <p:cNvPr id="5" name="Shape 3"/>
          <p:cNvSpPr/>
          <p:nvPr/>
        </p:nvSpPr>
        <p:spPr>
          <a:xfrm>
            <a:off x="320040" y="777240"/>
            <a:ext cx="8503920" cy="3840480"/>
          </a:xfrm>
          <a:prstGeom prst="rect">
            <a:avLst/>
          </a:prstGeom>
          <a:solidFill>
            <a:srgbClr val="1A1A2E"/>
          </a:solidFill>
          <a:ln w="12700">
            <a:solidFill>
              <a:srgbClr val="1A1A2E"/>
            </a:solidFill>
            <a:prstDash val="solid"/>
          </a:ln>
        </p:spPr>
      </p:sp>
      <p:sp>
        <p:nvSpPr>
          <p:cNvPr id="6" name="Text 4"/>
          <p:cNvSpPr/>
          <p:nvPr/>
        </p:nvSpPr>
        <p:spPr>
          <a:xfrm>
            <a:off x="457200" y="841248"/>
            <a:ext cx="8229600" cy="3730752"/>
          </a:xfrm>
          <a:prstGeom prst="rect">
            <a:avLst/>
          </a:prstGeom>
          <a:noFill/>
          <a:ln/>
        </p:spPr>
        <p:txBody>
          <a:bodyPr wrap="square" rtlCol="0" anchor="t"/>
          <a:lstStyle/>
          <a:p>
            <a:pPr indent="0" marL="0">
              <a:buNone/>
            </a:pPr>
            <a:r>
              <a:rPr lang="en-US" sz="1050" dirty="0">
                <a:solidFill>
                  <a:srgbClr val="B0C4DE"/>
                </a:solidFill>
                <a:latin typeface="Consolas" pitchFamily="34" charset="0"/>
                <a:ea typeface="Consolas" pitchFamily="34" charset="-122"/>
                <a:cs typeface="Consolas" pitchFamily="34" charset="-120"/>
              </a:rPr>
              <a:t>  Same box on a 640×480 image (object at pixel 100,50 to 300,200):</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Pascal VOC:  xmin=100  ymin=50  xmax=300  ymax=200</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(absolute pixel values of two corners)</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COCO:        x=100  y=50  w=200  h=150</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(absolute pixel values of top-left corner + size)</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YOLO:        cx = (100+300)/2 / 640 = 0.3125</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cy = (50+200)/2  / 480 = 0.2604</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w  = 200/640           = 0.3125</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h  = 150/480           = 0.3125</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Line in .txt: 0  0.3125  0.2604  0.3125  0.3125</a:t>
            </a:r>
            <a:endParaRPr lang="en-US" sz="1050" dirty="0"/>
          </a:p>
          <a:p>
            <a:pPr indent="0" marL="0">
              <a:buNone/>
            </a:pP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CONVERSION TIPS:</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VOC → COCO:  w = xmax - xmin,  h = ymax - ymin</a:t>
            </a:r>
            <a:endParaRPr lang="en-US" sz="1050" dirty="0"/>
          </a:p>
          <a:p>
            <a:pPr indent="0" marL="0">
              <a:buNone/>
            </a:pPr>
            <a:r>
              <a:rPr lang="en-US" sz="1050" dirty="0">
                <a:solidFill>
                  <a:srgbClr val="B0C4DE"/>
                </a:solidFill>
                <a:latin typeface="Consolas" pitchFamily="34" charset="0"/>
                <a:ea typeface="Consolas" pitchFamily="34" charset="-122"/>
                <a:cs typeface="Consolas" pitchFamily="34" charset="-120"/>
              </a:rPr>
              <a:t>  COCO → YOLO: cx = (x + w/2)/img_w,  cy = (y + h/2)/img_h</a:t>
            </a:r>
            <a:endParaRPr lang="en-US" sz="1050" dirty="0"/>
          </a:p>
        </p:txBody>
      </p:sp>
      <p:sp>
        <p:nvSpPr>
          <p:cNvPr id="7" name="Text 5"/>
          <p:cNvSpPr/>
          <p:nvPr/>
        </p:nvSpPr>
        <p:spPr>
          <a:xfrm>
            <a:off x="320040" y="4709160"/>
            <a:ext cx="8503920" cy="32004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Caption: Always verify your format. Converting incorrectly shifts boxes by half-width or flips coordinates.</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Segmentation Annotations — Polygons and Masks</a:t>
            </a:r>
            <a:endParaRPr lang="en-US" sz="1700" dirty="0"/>
          </a:p>
        </p:txBody>
      </p:sp>
      <p:sp>
        <p:nvSpPr>
          <p:cNvPr id="4" name="Text 2"/>
          <p:cNvSpPr/>
          <p:nvPr/>
        </p:nvSpPr>
        <p:spPr>
          <a:xfrm>
            <a:off x="7589520" y="0"/>
            <a:ext cx="137160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A6</a:t>
            </a:r>
            <a:endParaRPr lang="en-US" sz="1000" dirty="0"/>
          </a:p>
        </p:txBody>
      </p:sp>
      <p:sp>
        <p:nvSpPr>
          <p:cNvPr id="5" name="Text 3"/>
          <p:cNvSpPr/>
          <p:nvPr/>
        </p:nvSpPr>
        <p:spPr>
          <a:xfrm>
            <a:off x="320040" y="804672"/>
            <a:ext cx="8503920" cy="4160520"/>
          </a:xfrm>
          <a:prstGeom prst="rect">
            <a:avLst/>
          </a:prstGeom>
          <a:noFill/>
          <a:ln/>
        </p:spPr>
        <p:txBody>
          <a:bodyPr wrap="square" rtlCol="0" anchor="t"/>
          <a:lstStyle/>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When bounding boxes are not precise enough (irregular objects, crowded scenes), we use polygon or mask annotations.</a:t>
            </a:r>
            <a:endParaRPr lang="en-US" sz="1300" dirty="0"/>
          </a:p>
          <a:p>
            <a:pPr marL="342900" indent="-342900">
              <a:spcAft>
                <a:spcPts val="400"/>
              </a:spcAft>
              <a:buSzPct val="100000"/>
              <a:buChar char="•"/>
            </a:pPr>
            <a:r>
              <a:rPr lang="en-US" sz="1300" dirty="0">
                <a:solidFill>
                  <a:srgbClr val="12193D"/>
                </a:solidFill>
                <a:latin typeface="Calibri" pitchFamily="34" charset="0"/>
                <a:ea typeface="Calibri" pitchFamily="34" charset="-122"/>
                <a:cs typeface="Calibri" pitchFamily="34" charset="-120"/>
              </a:rPr>
              <a:t>Polygon annotation: a list of (x, y) vertices tracing the object boundary.</a:t>
            </a:r>
            <a:endParaRPr lang="en-US" sz="1300" dirty="0"/>
          </a:p>
          <a:p>
            <a:pPr lvl="1" marL="508000" indent="-254000">
              <a:spcAft>
                <a:spcPts val="400"/>
              </a:spcAft>
              <a:buSzPct val="100000"/>
              <a:buChar char="•"/>
            </a:pPr>
            <a:r>
              <a:rPr lang="en-US" sz="1200" dirty="0">
                <a:solidFill>
                  <a:srgbClr val="6B7280"/>
                </a:solidFill>
                <a:latin typeface="Calibri" pitchFamily="34" charset="0"/>
                <a:ea typeface="Calibri" pitchFamily="34" charset="-122"/>
                <a:cs typeface="Calibri" pitchFamily="34" charset="-120"/>
              </a:rPr>
              <a:t>Example: [(120,50), (300,50), (310,200), (110,205)] for a car</a:t>
            </a:r>
            <a:endParaRPr lang="en-US" sz="1300" dirty="0"/>
          </a:p>
          <a:p>
            <a:pPr lvl="1" marL="508000" indent="-254000">
              <a:spcAft>
                <a:spcPts val="400"/>
              </a:spcAft>
              <a:buSzPct val="100000"/>
              <a:buChar char="•"/>
            </a:pPr>
            <a:r>
              <a:rPr lang="en-US" sz="1200" dirty="0">
                <a:solidFill>
                  <a:srgbClr val="6B7280"/>
                </a:solidFill>
                <a:latin typeface="Calibri" pitchFamily="34" charset="0"/>
                <a:ea typeface="Calibri" pitchFamily="34" charset="-122"/>
                <a:cs typeface="Calibri" pitchFamily="34" charset="-120"/>
              </a:rPr>
              <a:t>Stored in COCO as: 'segmentation': [[x1,y1, x2,y2, x3,y3, ...]] — flat list of coordinates</a:t>
            </a:r>
            <a:endParaRPr lang="en-US" sz="1300" dirty="0"/>
          </a:p>
          <a:p>
            <a:pPr marL="342900" indent="-342900">
              <a:spcAft>
                <a:spcPts val="400"/>
              </a:spcAft>
              <a:buSzPct val="100000"/>
              <a:buChar char="•"/>
            </a:pPr>
            <a:r>
              <a:rPr lang="en-US" sz="1300" dirty="0">
                <a:solidFill>
                  <a:srgbClr val="12193D"/>
                </a:solidFill>
                <a:latin typeface="Calibri" pitchFamily="34" charset="0"/>
                <a:ea typeface="Calibri" pitchFamily="34" charset="-122"/>
                <a:cs typeface="Calibri" pitchFamily="34" charset="-120"/>
              </a:rPr>
              <a:t>Binary mask: a 2D array of 0s and 1s, same size as the image. 1 = belongs to object, 0 = background.</a:t>
            </a:r>
            <a:endParaRPr lang="en-US" sz="1300" dirty="0"/>
          </a:p>
          <a:p>
            <a:pPr lvl="1" marL="508000" indent="-254000">
              <a:spcAft>
                <a:spcPts val="400"/>
              </a:spcAft>
              <a:buSzPct val="100000"/>
              <a:buChar char="•"/>
            </a:pPr>
            <a:r>
              <a:rPr lang="en-US" sz="1200" dirty="0">
                <a:solidFill>
                  <a:srgbClr val="6B7280"/>
                </a:solidFill>
                <a:latin typeface="Calibri" pitchFamily="34" charset="0"/>
                <a:ea typeface="Calibri" pitchFamily="34" charset="-122"/>
                <a:cs typeface="Calibri" pitchFamily="34" charset="-120"/>
              </a:rPr>
              <a:t>Polygons are easier to store (just vertex list). Masks are easier to use in code (direct array indexing).</a:t>
            </a:r>
            <a:endParaRPr lang="en-US" sz="1300" dirty="0"/>
          </a:p>
          <a:p>
            <a:pPr lvl="1" marL="508000" indent="-254000">
              <a:spcAft>
                <a:spcPts val="400"/>
              </a:spcAft>
              <a:buSzPct val="100000"/>
              <a:buChar char="•"/>
            </a:pPr>
            <a:r>
              <a:rPr lang="en-US" sz="1200" dirty="0">
                <a:solidFill>
                  <a:srgbClr val="6B7280"/>
                </a:solidFill>
                <a:latin typeface="Calibri" pitchFamily="34" charset="0"/>
                <a:ea typeface="Calibri" pitchFamily="34" charset="-122"/>
                <a:cs typeface="Calibri" pitchFamily="34" charset="-120"/>
              </a:rPr>
              <a:t>COCO uses RLE (Run-Length Encoding) to store binary masks compactly: e.g. '3 whites, 5 blacks, 8 whites...'</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Instance segmentation gives EACH object its own mask. Semantic segmentation gives each CLASS a single mask.</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Keypoint Annotations — Pose and Landmarks</a:t>
            </a:r>
            <a:endParaRPr lang="en-US" sz="1700" dirty="0"/>
          </a:p>
        </p:txBody>
      </p:sp>
      <p:sp>
        <p:nvSpPr>
          <p:cNvPr id="4" name="Text 2"/>
          <p:cNvSpPr/>
          <p:nvPr/>
        </p:nvSpPr>
        <p:spPr>
          <a:xfrm>
            <a:off x="7589520" y="0"/>
            <a:ext cx="137160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A6</a:t>
            </a:r>
            <a:endParaRPr lang="en-US" sz="1000" dirty="0"/>
          </a:p>
        </p:txBody>
      </p:sp>
      <p:sp>
        <p:nvSpPr>
          <p:cNvPr id="5" name="Text 3"/>
          <p:cNvSpPr/>
          <p:nvPr/>
        </p:nvSpPr>
        <p:spPr>
          <a:xfrm>
            <a:off x="320040" y="804672"/>
            <a:ext cx="8503920" cy="4160520"/>
          </a:xfrm>
          <a:prstGeom prst="rect">
            <a:avLst/>
          </a:prstGeom>
          <a:noFill/>
          <a:ln/>
        </p:spPr>
        <p:txBody>
          <a:bodyPr wrap="square" rtlCol="0" anchor="t"/>
          <a:lstStyle/>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Keypoint annotations mark specific named locations on objects — joints on a body, corners on a product, landmarks on a face.</a:t>
            </a:r>
            <a:endParaRPr lang="en-US" sz="1300" dirty="0"/>
          </a:p>
          <a:p>
            <a:pPr marL="342900" indent="-342900">
              <a:spcAft>
                <a:spcPts val="400"/>
              </a:spcAft>
              <a:buSzPct val="100000"/>
              <a:buChar char="•"/>
            </a:pPr>
            <a:r>
              <a:rPr lang="en-US" sz="1300" dirty="0">
                <a:solidFill>
                  <a:srgbClr val="12193D"/>
                </a:solidFill>
                <a:latin typeface="Calibri" pitchFamily="34" charset="0"/>
                <a:ea typeface="Calibri" pitchFamily="34" charset="-122"/>
                <a:cs typeface="Calibri" pitchFamily="34" charset="-120"/>
              </a:rPr>
              <a:t>Each keypoint: [x, y, visibility]   where v=0 (not labeled), v=1 (labeled but occluded), v=2 (labeled and visible)</a:t>
            </a:r>
            <a:endParaRPr lang="en-US" sz="1300" dirty="0"/>
          </a:p>
          <a:p>
            <a:pPr marL="342900" indent="-342900">
              <a:spcAft>
                <a:spcPts val="400"/>
              </a:spcAft>
              <a:buSzPct val="100000"/>
              <a:buChar char="•"/>
            </a:pPr>
            <a:r>
              <a:rPr lang="en-US" sz="1300" dirty="0">
                <a:solidFill>
                  <a:srgbClr val="12193D"/>
                </a:solidFill>
                <a:latin typeface="Calibri" pitchFamily="34" charset="0"/>
                <a:ea typeface="Calibri" pitchFamily="34" charset="-122"/>
                <a:cs typeface="Calibri" pitchFamily="34" charset="-120"/>
              </a:rPr>
              <a:t>COCO human body: 17 keypoints — nose, eyes, ears, shoulders, elbows, wrists, hips, knees, ankles.</a:t>
            </a:r>
            <a:endParaRPr lang="en-US" sz="1300" dirty="0"/>
          </a:p>
          <a:p>
            <a:pPr lvl="1" marL="508000" indent="-254000">
              <a:spcAft>
                <a:spcPts val="400"/>
              </a:spcAft>
              <a:buSzPct val="100000"/>
              <a:buChar char="•"/>
            </a:pPr>
            <a:r>
              <a:rPr lang="en-US" sz="1200" dirty="0">
                <a:solidFill>
                  <a:srgbClr val="6B7280"/>
                </a:solidFill>
                <a:latin typeface="Calibri" pitchFamily="34" charset="0"/>
                <a:ea typeface="Calibri" pitchFamily="34" charset="-122"/>
                <a:cs typeface="Calibri" pitchFamily="34" charset="-120"/>
              </a:rPr>
              <a:t>COCO keypoint format: flat list 'keypoints': [x1,y1,v1, x2,y2,v2, ..., x17,y17,v17] — 51 values total</a:t>
            </a:r>
            <a:endParaRPr lang="en-US" sz="1300" dirty="0"/>
          </a:p>
          <a:p>
            <a:pPr marL="342900" indent="-342900">
              <a:spcAft>
                <a:spcPts val="400"/>
              </a:spcAft>
              <a:buSzPct val="100000"/>
              <a:buChar char="•"/>
            </a:pPr>
            <a:r>
              <a:rPr lang="en-US" sz="1300" dirty="0">
                <a:solidFill>
                  <a:srgbClr val="12193D"/>
                </a:solidFill>
                <a:latin typeface="Calibri" pitchFamily="34" charset="0"/>
                <a:ea typeface="Calibri" pitchFamily="34" charset="-122"/>
                <a:cs typeface="Calibri" pitchFamily="34" charset="-120"/>
              </a:rPr>
              <a:t>Face: 68 landmark points (dlib), 5 points (fast alignment), or 468 points (MediaPipe Face Mesh)</a:t>
            </a:r>
            <a:endParaRPr lang="en-US" sz="1300" dirty="0"/>
          </a:p>
          <a:p>
            <a:pPr marL="342900" indent="-342900">
              <a:spcAft>
                <a:spcPts val="400"/>
              </a:spcAft>
              <a:buSzPct val="100000"/>
              <a:buChar char="•"/>
            </a:pPr>
            <a:r>
              <a:rPr lang="en-US" sz="1300" dirty="0">
                <a:solidFill>
                  <a:srgbClr val="12193D"/>
                </a:solidFill>
                <a:latin typeface="Calibri" pitchFamily="34" charset="0"/>
                <a:ea typeface="Calibri" pitchFamily="34" charset="-122"/>
                <a:cs typeface="Calibri" pitchFamily="34" charset="-120"/>
              </a:rPr>
              <a:t>Hand: 21 keypoints — wrist + 4 joints per finger (MCP, PIP, DIP, fingertip)</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Evaluation metric: OKS (Object Keypoint Similarity) — like IoU but for keypoints, weighted by joint difficulty.</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Other Annotation Types</a:t>
            </a:r>
            <a:endParaRPr lang="en-US" sz="1700" dirty="0"/>
          </a:p>
        </p:txBody>
      </p:sp>
      <p:sp>
        <p:nvSpPr>
          <p:cNvPr id="4" name="Text 2"/>
          <p:cNvSpPr/>
          <p:nvPr/>
        </p:nvSpPr>
        <p:spPr>
          <a:xfrm>
            <a:off x="7589520" y="0"/>
            <a:ext cx="137160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A6</a:t>
            </a:r>
            <a:endParaRPr lang="en-US" sz="1000" dirty="0"/>
          </a:p>
        </p:txBody>
      </p:sp>
      <p:sp>
        <p:nvSpPr>
          <p:cNvPr id="5" name="Text 3"/>
          <p:cNvSpPr/>
          <p:nvPr/>
        </p:nvSpPr>
        <p:spPr>
          <a:xfrm>
            <a:off x="320040" y="804672"/>
            <a:ext cx="8503920" cy="4160520"/>
          </a:xfrm>
          <a:prstGeom prst="rect">
            <a:avLst/>
          </a:prstGeom>
          <a:noFill/>
          <a:ln/>
        </p:spPr>
        <p:txBody>
          <a:bodyPr wrap="square" rtlCol="0" anchor="t"/>
          <a:lstStyle/>
          <a:p>
            <a:pPr marL="342900" indent="-342900">
              <a:spcAft>
                <a:spcPts val="400"/>
              </a:spcAft>
              <a:buSzPct val="100000"/>
              <a:buChar char="•"/>
            </a:pPr>
            <a:r>
              <a:rPr lang="en-US" sz="1300" dirty="0">
                <a:solidFill>
                  <a:srgbClr val="12193D"/>
                </a:solidFill>
                <a:latin typeface="Calibri" pitchFamily="34" charset="0"/>
                <a:ea typeface="Calibri" pitchFamily="34" charset="-122"/>
                <a:cs typeface="Calibri" pitchFamily="34" charset="-120"/>
              </a:rPr>
              <a:t>3D Bounding Box: defines an object's location and orientation in 3D space. Used in autonomous driving (LiDAR + camera).</a:t>
            </a:r>
            <a:endParaRPr lang="en-US" sz="1300" dirty="0"/>
          </a:p>
          <a:p>
            <a:pPr lvl="1" marL="508000" indent="-254000">
              <a:spcAft>
                <a:spcPts val="400"/>
              </a:spcAft>
              <a:buSzPct val="100000"/>
              <a:buChar char="•"/>
            </a:pPr>
            <a:r>
              <a:rPr lang="en-US" sz="1200" dirty="0">
                <a:solidFill>
                  <a:srgbClr val="6B7280"/>
                </a:solidFill>
                <a:latin typeface="Calibri" pitchFamily="34" charset="0"/>
                <a:ea typeface="Calibri" pitchFamily="34" charset="-122"/>
                <a:cs typeface="Calibri" pitchFamily="34" charset="-120"/>
              </a:rPr>
              <a:t>Format: (x, y, z, length, width, height, rotation) — seven numbers.</a:t>
            </a:r>
            <a:endParaRPr lang="en-US" sz="1300" dirty="0"/>
          </a:p>
          <a:p>
            <a:pPr marL="342900" indent="-342900">
              <a:spcAft>
                <a:spcPts val="400"/>
              </a:spcAft>
              <a:buSzPct val="100000"/>
              <a:buChar char="•"/>
            </a:pPr>
            <a:r>
              <a:rPr lang="en-US" sz="1300" dirty="0">
                <a:solidFill>
                  <a:srgbClr val="12193D"/>
                </a:solidFill>
                <a:latin typeface="Calibri" pitchFamily="34" charset="0"/>
                <a:ea typeface="Calibri" pitchFamily="34" charset="-122"/>
                <a:cs typeface="Calibri" pitchFamily="34" charset="-120"/>
              </a:rPr>
              <a:t>Oriented Bounding Box (OBB): a rotated rectangle. Used for aerial/satellite images where objects are not axis-aligned.</a:t>
            </a:r>
            <a:endParaRPr lang="en-US" sz="1300" dirty="0"/>
          </a:p>
          <a:p>
            <a:pPr lvl="1" marL="508000" indent="-254000">
              <a:spcAft>
                <a:spcPts val="400"/>
              </a:spcAft>
              <a:buSzPct val="100000"/>
              <a:buChar char="•"/>
            </a:pPr>
            <a:r>
              <a:rPr lang="en-US" sz="1200" dirty="0">
                <a:solidFill>
                  <a:srgbClr val="6B7280"/>
                </a:solidFill>
                <a:latin typeface="Calibri" pitchFamily="34" charset="0"/>
                <a:ea typeface="Calibri" pitchFamily="34" charset="-122"/>
                <a:cs typeface="Calibri" pitchFamily="34" charset="-120"/>
              </a:rPr>
              <a:t>Format: (cx, cy, w, h, angle). Supported in YOLO-OBB.</a:t>
            </a:r>
            <a:endParaRPr lang="en-US" sz="1300" dirty="0"/>
          </a:p>
          <a:p>
            <a:pPr marL="342900" indent="-342900">
              <a:spcAft>
                <a:spcPts val="400"/>
              </a:spcAft>
              <a:buSzPct val="100000"/>
              <a:buChar char="•"/>
            </a:pPr>
            <a:r>
              <a:rPr lang="en-US" sz="1300" dirty="0">
                <a:solidFill>
                  <a:srgbClr val="12193D"/>
                </a:solidFill>
                <a:latin typeface="Calibri" pitchFamily="34" charset="0"/>
                <a:ea typeface="Calibri" pitchFamily="34" charset="-122"/>
                <a:cs typeface="Calibri" pitchFamily="34" charset="-120"/>
              </a:rPr>
              <a:t>Line / Polyline: used for lane detection, cable detection, crack detection.</a:t>
            </a:r>
            <a:endParaRPr lang="en-US" sz="1300" dirty="0"/>
          </a:p>
          <a:p>
            <a:pPr marL="342900" indent="-342900">
              <a:spcAft>
                <a:spcPts val="400"/>
              </a:spcAft>
              <a:buSzPct val="100000"/>
              <a:buChar char="•"/>
            </a:pPr>
            <a:r>
              <a:rPr lang="en-US" sz="1300" dirty="0">
                <a:solidFill>
                  <a:srgbClr val="12193D"/>
                </a:solidFill>
                <a:latin typeface="Calibri" pitchFamily="34" charset="0"/>
                <a:ea typeface="Calibri" pitchFamily="34" charset="-122"/>
                <a:cs typeface="Calibri" pitchFamily="34" charset="-120"/>
              </a:rPr>
              <a:t>Point: single click to mark object center. Cheapest annotation — used in weakly supervised learning.</a:t>
            </a:r>
            <a:endParaRPr lang="en-US" sz="1300" dirty="0"/>
          </a:p>
          <a:p>
            <a:pPr marL="342900" indent="-342900">
              <a:spcAft>
                <a:spcPts val="400"/>
              </a:spcAft>
              <a:buSzPct val="100000"/>
              <a:buChar char="•"/>
            </a:pPr>
            <a:r>
              <a:rPr lang="en-US" sz="1300" dirty="0">
                <a:solidFill>
                  <a:srgbClr val="12193D"/>
                </a:solidFill>
                <a:latin typeface="Calibri" pitchFamily="34" charset="0"/>
                <a:ea typeface="Calibri" pitchFamily="34" charset="-122"/>
                <a:cs typeface="Calibri" pitchFamily="34" charset="-120"/>
              </a:rPr>
              <a:t>Caption / Tag: text description of the whole image. Used for image-text models (CLIP, BLIP). No spatial info.</a:t>
            </a:r>
            <a:endParaRPr lang="en-US" sz="1300" dirty="0"/>
          </a:p>
          <a:p>
            <a:pPr marL="342900" indent="-342900">
              <a:spcAft>
                <a:spcPts val="400"/>
              </a:spcAft>
              <a:buSzPct val="100000"/>
              <a:buChar char="•"/>
            </a:pPr>
            <a:r>
              <a:rPr lang="en-US" sz="1300" dirty="0">
                <a:solidFill>
                  <a:srgbClr val="12193D"/>
                </a:solidFill>
                <a:latin typeface="Calibri" pitchFamily="34" charset="0"/>
                <a:ea typeface="Calibri" pitchFamily="34" charset="-122"/>
                <a:cs typeface="Calibri" pitchFamily="34" charset="-120"/>
              </a:rPr>
              <a:t>Panoptic: combination of semantic (all background pixels labeled) + instance (each foreground object separately labeled).</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Annotation Quality and Best Practices</a:t>
            </a:r>
            <a:endParaRPr lang="en-US" sz="1700" dirty="0"/>
          </a:p>
        </p:txBody>
      </p:sp>
      <p:sp>
        <p:nvSpPr>
          <p:cNvPr id="4" name="Text 2"/>
          <p:cNvSpPr/>
          <p:nvPr/>
        </p:nvSpPr>
        <p:spPr>
          <a:xfrm>
            <a:off x="7589520" y="0"/>
            <a:ext cx="1371600" cy="658368"/>
          </a:xfrm>
          <a:prstGeom prst="rect">
            <a:avLst/>
          </a:prstGeom>
          <a:noFill/>
          <a:ln/>
        </p:spPr>
        <p:txBody>
          <a:bodyPr wrap="square" lIns="0" tIns="0" rIns="0" bIns="0" rtlCol="0" anchor="ctr"/>
          <a:lstStyle/>
          <a:p>
            <a:pPr algn="r" indent="0" marL="0">
              <a:buNone/>
            </a:pPr>
            <a:r>
              <a:rPr lang="en-US" sz="1000" dirty="0">
                <a:solidFill>
                  <a:srgbClr val="7A8CC0"/>
                </a:solidFill>
                <a:latin typeface="Calibri" pitchFamily="34" charset="0"/>
                <a:ea typeface="Calibri" pitchFamily="34" charset="-122"/>
                <a:cs typeface="Calibri" pitchFamily="34" charset="-120"/>
              </a:rPr>
              <a:t>A6</a:t>
            </a:r>
            <a:endParaRPr lang="en-US" sz="1000" dirty="0"/>
          </a:p>
        </p:txBody>
      </p:sp>
      <p:sp>
        <p:nvSpPr>
          <p:cNvPr id="5" name="Text 3"/>
          <p:cNvSpPr/>
          <p:nvPr/>
        </p:nvSpPr>
        <p:spPr>
          <a:xfrm>
            <a:off x="320040" y="804672"/>
            <a:ext cx="8503920" cy="4160520"/>
          </a:xfrm>
          <a:prstGeom prst="rect">
            <a:avLst/>
          </a:prstGeom>
          <a:noFill/>
          <a:ln/>
        </p:spPr>
        <p:txBody>
          <a:bodyPr wrap="square" rtlCol="0" anchor="t"/>
          <a:lstStyle/>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Bad annotations are often worse than fewer but correct annotations. Quality control is as important as volume.</a:t>
            </a:r>
            <a:endParaRPr lang="en-US" sz="1300" dirty="0"/>
          </a:p>
          <a:p>
            <a:pPr marL="342900" indent="-342900">
              <a:spcAft>
                <a:spcPts val="400"/>
              </a:spcAft>
              <a:buSzPct val="100000"/>
              <a:buChar char="•"/>
            </a:pPr>
            <a:r>
              <a:rPr lang="en-US" sz="1300" dirty="0">
                <a:solidFill>
                  <a:srgbClr val="12193D"/>
                </a:solidFill>
                <a:latin typeface="Calibri" pitchFamily="34" charset="0"/>
                <a:ea typeface="Calibri" pitchFamily="34" charset="-122"/>
                <a:cs typeface="Calibri" pitchFamily="34" charset="-120"/>
              </a:rPr>
              <a:t>Consistent guidelines: every annotator must use the same rules. 'Where does the car end — does the mirror count?'</a:t>
            </a:r>
            <a:endParaRPr lang="en-US" sz="1300" dirty="0"/>
          </a:p>
          <a:p>
            <a:pPr marL="342900" indent="-342900">
              <a:spcAft>
                <a:spcPts val="400"/>
              </a:spcAft>
              <a:buSzPct val="100000"/>
              <a:buChar char="•"/>
            </a:pPr>
            <a:r>
              <a:rPr lang="en-US" sz="1300" dirty="0">
                <a:solidFill>
                  <a:srgbClr val="12193D"/>
                </a:solidFill>
                <a:latin typeface="Calibri" pitchFamily="34" charset="0"/>
                <a:ea typeface="Calibri" pitchFamily="34" charset="-122"/>
                <a:cs typeface="Calibri" pitchFamily="34" charset="-120"/>
              </a:rPr>
              <a:t>Minimum visibility threshold: if less than X% of an object is visible, should it be labeled? Define this upfront.</a:t>
            </a:r>
            <a:endParaRPr lang="en-US" sz="1300" dirty="0"/>
          </a:p>
          <a:p>
            <a:pPr marL="342900" indent="-342900">
              <a:spcAft>
                <a:spcPts val="400"/>
              </a:spcAft>
              <a:buSzPct val="100000"/>
              <a:buChar char="•"/>
            </a:pPr>
            <a:r>
              <a:rPr lang="en-US" sz="1300" dirty="0">
                <a:solidFill>
                  <a:srgbClr val="12193D"/>
                </a:solidFill>
                <a:latin typeface="Calibri" pitchFamily="34" charset="0"/>
                <a:ea typeface="Calibri" pitchFamily="34" charset="-122"/>
                <a:cs typeface="Calibri" pitchFamily="34" charset="-120"/>
              </a:rPr>
              <a:t>Inter-annotator agreement: have 2 annotators label the same image and measure how much they agree (Cohen's Kappa).</a:t>
            </a:r>
            <a:endParaRPr lang="en-US" sz="1300" dirty="0"/>
          </a:p>
          <a:p>
            <a:pPr marL="342900" indent="-342900">
              <a:spcAft>
                <a:spcPts val="400"/>
              </a:spcAft>
              <a:buSzPct val="100000"/>
              <a:buChar char="•"/>
            </a:pPr>
            <a:r>
              <a:rPr lang="en-US" sz="1300" dirty="0">
                <a:solidFill>
                  <a:srgbClr val="12193D"/>
                </a:solidFill>
                <a:latin typeface="Calibri" pitchFamily="34" charset="0"/>
                <a:ea typeface="Calibri" pitchFamily="34" charset="-122"/>
                <a:cs typeface="Calibri" pitchFamily="34" charset="-120"/>
              </a:rPr>
              <a:t>Active learning: train a model on your labeled data, find the images it is most uncertain about, label those next.</a:t>
            </a:r>
            <a:endParaRPr lang="en-US" sz="1300" dirty="0"/>
          </a:p>
          <a:p>
            <a:pPr marL="342900" indent="-342900">
              <a:spcAft>
                <a:spcPts val="400"/>
              </a:spcAft>
              <a:buSzPct val="100000"/>
              <a:buChar char="•"/>
            </a:pPr>
            <a:r>
              <a:rPr lang="en-US" sz="1300" dirty="0">
                <a:solidFill>
                  <a:srgbClr val="12193D"/>
                </a:solidFill>
                <a:latin typeface="Calibri" pitchFamily="34" charset="0"/>
                <a:ea typeface="Calibri" pitchFamily="34" charset="-122"/>
                <a:cs typeface="Calibri" pitchFamily="34" charset="-120"/>
              </a:rPr>
              <a:t>Data augmentation: flip, rotate, crop annotated images to multiply your dataset size — boxes/masks must be transformed too.</a:t>
            </a:r>
            <a:endParaRPr lang="en-US" sz="1300" dirty="0"/>
          </a:p>
          <a:p>
            <a:pPr marL="342900" indent="-342900">
              <a:spcAft>
                <a:spcPts val="500"/>
              </a:spcAft>
              <a:buSzPct val="100000"/>
              <a:buChar char="•"/>
            </a:pPr>
            <a:r>
              <a:rPr lang="en-US" sz="1300" dirty="0">
                <a:solidFill>
                  <a:srgbClr val="12193D"/>
                </a:solidFill>
                <a:latin typeface="Calibri" pitchFamily="34" charset="0"/>
                <a:ea typeface="Calibri" pitchFamily="34" charset="-122"/>
                <a:cs typeface="Calibri" pitchFamily="34" charset="-120"/>
              </a:rPr>
              <a:t>Popular annotation platforms: Roboflow (web, supports all types), CVAT (open-source, video support), Scale AI (paid, high quality).</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Section A — Key Takeaways</a:t>
            </a:r>
            <a:endParaRPr lang="en-US" sz="2800" dirty="0"/>
          </a:p>
        </p:txBody>
      </p:sp>
      <p:sp>
        <p:nvSpPr>
          <p:cNvPr id="3" name="Shape 1"/>
          <p:cNvSpPr/>
          <p:nvPr/>
        </p:nvSpPr>
        <p:spPr>
          <a:xfrm>
            <a:off x="457200" y="1143000"/>
            <a:ext cx="1920240" cy="475488"/>
          </a:xfrm>
          <a:prstGeom prst="rect">
            <a:avLst/>
          </a:prstGeom>
          <a:solidFill>
            <a:srgbClr val="7A8CC0"/>
          </a:solidFill>
          <a:ln w="12700">
            <a:solidFill>
              <a:srgbClr val="7A8CC0"/>
            </a:solidFill>
            <a:prstDash val="solid"/>
          </a:ln>
        </p:spPr>
      </p:sp>
      <p:sp>
        <p:nvSpPr>
          <p:cNvPr id="4" name="Text 2"/>
          <p:cNvSpPr/>
          <p:nvPr/>
        </p:nvSpPr>
        <p:spPr>
          <a:xfrm>
            <a:off x="457200" y="1143000"/>
            <a:ext cx="1920240"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A1 Digital Images</a:t>
            </a:r>
            <a:endParaRPr lang="en-US" sz="1000" dirty="0"/>
          </a:p>
        </p:txBody>
      </p:sp>
      <p:sp>
        <p:nvSpPr>
          <p:cNvPr id="5" name="Text 3"/>
          <p:cNvSpPr/>
          <p:nvPr/>
        </p:nvSpPr>
        <p:spPr>
          <a:xfrm>
            <a:off x="2514600" y="1179576"/>
            <a:ext cx="6309360" cy="438912"/>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An image is a 2D/3D array of integers. RGB = 3 channels. 8-bit = 256 levels. HWC (OpenCV) vs CHW (PyTorch).</a:t>
            </a:r>
            <a:endParaRPr lang="en-US" sz="1100" dirty="0"/>
          </a:p>
        </p:txBody>
      </p:sp>
      <p:sp>
        <p:nvSpPr>
          <p:cNvPr id="6" name="Shape 4"/>
          <p:cNvSpPr/>
          <p:nvPr/>
        </p:nvSpPr>
        <p:spPr>
          <a:xfrm>
            <a:off x="457200" y="1764792"/>
            <a:ext cx="1920240" cy="475488"/>
          </a:xfrm>
          <a:prstGeom prst="rect">
            <a:avLst/>
          </a:prstGeom>
          <a:solidFill>
            <a:srgbClr val="7A8CC0"/>
          </a:solidFill>
          <a:ln w="12700">
            <a:solidFill>
              <a:srgbClr val="7A8CC0"/>
            </a:solidFill>
            <a:prstDash val="solid"/>
          </a:ln>
        </p:spPr>
      </p:sp>
      <p:sp>
        <p:nvSpPr>
          <p:cNvPr id="7" name="Text 5"/>
          <p:cNvSpPr/>
          <p:nvPr/>
        </p:nvSpPr>
        <p:spPr>
          <a:xfrm>
            <a:off x="457200" y="1764792"/>
            <a:ext cx="1920240"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A2 Color Spaces</a:t>
            </a:r>
            <a:endParaRPr lang="en-US" sz="1000" dirty="0"/>
          </a:p>
        </p:txBody>
      </p:sp>
      <p:sp>
        <p:nvSpPr>
          <p:cNvPr id="8" name="Text 6"/>
          <p:cNvSpPr/>
          <p:nvPr/>
        </p:nvSpPr>
        <p:spPr>
          <a:xfrm>
            <a:off x="2514600" y="1801368"/>
            <a:ext cx="6309360" cy="438912"/>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RGB mixes brightness + color. HSV separates them. YCbCr used in compression. LAB for perceptual color distance.</a:t>
            </a:r>
            <a:endParaRPr lang="en-US" sz="1100" dirty="0"/>
          </a:p>
        </p:txBody>
      </p:sp>
      <p:sp>
        <p:nvSpPr>
          <p:cNvPr id="9" name="Shape 7"/>
          <p:cNvSpPr/>
          <p:nvPr/>
        </p:nvSpPr>
        <p:spPr>
          <a:xfrm>
            <a:off x="457200" y="2386584"/>
            <a:ext cx="1920240" cy="475488"/>
          </a:xfrm>
          <a:prstGeom prst="rect">
            <a:avLst/>
          </a:prstGeom>
          <a:solidFill>
            <a:srgbClr val="7A8CC0"/>
          </a:solidFill>
          <a:ln w="12700">
            <a:solidFill>
              <a:srgbClr val="7A8CC0"/>
            </a:solidFill>
            <a:prstDash val="solid"/>
          </a:ln>
        </p:spPr>
      </p:sp>
      <p:sp>
        <p:nvSpPr>
          <p:cNvPr id="10" name="Text 8"/>
          <p:cNvSpPr/>
          <p:nvPr/>
        </p:nvSpPr>
        <p:spPr>
          <a:xfrm>
            <a:off x="457200" y="2386584"/>
            <a:ext cx="1920240"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A3 Sampling</a:t>
            </a:r>
            <a:endParaRPr lang="en-US" sz="1000" dirty="0"/>
          </a:p>
        </p:txBody>
      </p:sp>
      <p:sp>
        <p:nvSpPr>
          <p:cNvPr id="11" name="Text 9"/>
          <p:cNvSpPr/>
          <p:nvPr/>
        </p:nvSpPr>
        <p:spPr>
          <a:xfrm>
            <a:off x="2514600" y="2423160"/>
            <a:ext cx="6309360" cy="438912"/>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Sample at ≥ 2× the highest frequency or aliasing occurs. Blur before downsampling. Bilinear is the standard interpolation.</a:t>
            </a:r>
            <a:endParaRPr lang="en-US" sz="1100" dirty="0"/>
          </a:p>
        </p:txBody>
      </p:sp>
      <p:sp>
        <p:nvSpPr>
          <p:cNvPr id="12" name="Shape 10"/>
          <p:cNvSpPr/>
          <p:nvPr/>
        </p:nvSpPr>
        <p:spPr>
          <a:xfrm>
            <a:off x="457200" y="3008376"/>
            <a:ext cx="1920240" cy="475488"/>
          </a:xfrm>
          <a:prstGeom prst="rect">
            <a:avLst/>
          </a:prstGeom>
          <a:solidFill>
            <a:srgbClr val="7A8CC0"/>
          </a:solidFill>
          <a:ln w="12700">
            <a:solidFill>
              <a:srgbClr val="7A8CC0"/>
            </a:solidFill>
            <a:prstDash val="solid"/>
          </a:ln>
        </p:spPr>
      </p:sp>
      <p:sp>
        <p:nvSpPr>
          <p:cNvPr id="13" name="Text 11"/>
          <p:cNvSpPr/>
          <p:nvPr/>
        </p:nvSpPr>
        <p:spPr>
          <a:xfrm>
            <a:off x="457200" y="3008376"/>
            <a:ext cx="1920240"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A4 Quantization</a:t>
            </a:r>
            <a:endParaRPr lang="en-US" sz="1000" dirty="0"/>
          </a:p>
        </p:txBody>
      </p:sp>
      <p:sp>
        <p:nvSpPr>
          <p:cNvPr id="14" name="Text 12"/>
          <p:cNvSpPr/>
          <p:nvPr/>
        </p:nvSpPr>
        <p:spPr>
          <a:xfrm>
            <a:off x="2514600" y="3044952"/>
            <a:ext cx="6309360" cy="438912"/>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More bits = smoother tones. 8-bit is standard. Quantization error ≤ ±0.5 step size.</a:t>
            </a:r>
            <a:endParaRPr lang="en-US" sz="1100" dirty="0"/>
          </a:p>
        </p:txBody>
      </p:sp>
      <p:sp>
        <p:nvSpPr>
          <p:cNvPr id="15" name="Shape 13"/>
          <p:cNvSpPr/>
          <p:nvPr/>
        </p:nvSpPr>
        <p:spPr>
          <a:xfrm>
            <a:off x="457200" y="3630168"/>
            <a:ext cx="1920240" cy="475488"/>
          </a:xfrm>
          <a:prstGeom prst="rect">
            <a:avLst/>
          </a:prstGeom>
          <a:solidFill>
            <a:srgbClr val="7A8CC0"/>
          </a:solidFill>
          <a:ln w="12700">
            <a:solidFill>
              <a:srgbClr val="7A8CC0"/>
            </a:solidFill>
            <a:prstDash val="solid"/>
          </a:ln>
        </p:spPr>
      </p:sp>
      <p:sp>
        <p:nvSpPr>
          <p:cNvPr id="16" name="Text 14"/>
          <p:cNvSpPr/>
          <p:nvPr/>
        </p:nvSpPr>
        <p:spPr>
          <a:xfrm>
            <a:off x="457200" y="3630168"/>
            <a:ext cx="1920240"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A5 Noise</a:t>
            </a:r>
            <a:endParaRPr lang="en-US" sz="1000" dirty="0"/>
          </a:p>
        </p:txBody>
      </p:sp>
      <p:sp>
        <p:nvSpPr>
          <p:cNvPr id="17" name="Text 15"/>
          <p:cNvSpPr/>
          <p:nvPr/>
        </p:nvSpPr>
        <p:spPr>
          <a:xfrm>
            <a:off x="2514600" y="3666744"/>
            <a:ext cx="6309360" cy="438912"/>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Gaussian = additive, use blur. Salt &amp; pepper = binary spikes, use median. Speckle = multiplicative, use log domain.</a:t>
            </a:r>
            <a:endParaRPr lang="en-US" sz="1100" dirty="0"/>
          </a:p>
        </p:txBody>
      </p:sp>
      <p:sp>
        <p:nvSpPr>
          <p:cNvPr id="18" name="Shape 16"/>
          <p:cNvSpPr/>
          <p:nvPr/>
        </p:nvSpPr>
        <p:spPr>
          <a:xfrm>
            <a:off x="457200" y="4251960"/>
            <a:ext cx="1920240" cy="475488"/>
          </a:xfrm>
          <a:prstGeom prst="rect">
            <a:avLst/>
          </a:prstGeom>
          <a:solidFill>
            <a:srgbClr val="7A8CC0"/>
          </a:solidFill>
          <a:ln w="12700">
            <a:solidFill>
              <a:srgbClr val="7A8CC0"/>
            </a:solidFill>
            <a:prstDash val="solid"/>
          </a:ln>
        </p:spPr>
      </p:sp>
      <p:sp>
        <p:nvSpPr>
          <p:cNvPr id="19" name="Text 17"/>
          <p:cNvSpPr/>
          <p:nvPr/>
        </p:nvSpPr>
        <p:spPr>
          <a:xfrm>
            <a:off x="457200" y="4251960"/>
            <a:ext cx="1920240"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A6 Annotations</a:t>
            </a:r>
            <a:endParaRPr lang="en-US" sz="1000" dirty="0"/>
          </a:p>
        </p:txBody>
      </p:sp>
      <p:sp>
        <p:nvSpPr>
          <p:cNvPr id="20" name="Text 18"/>
          <p:cNvSpPr/>
          <p:nvPr/>
        </p:nvSpPr>
        <p:spPr>
          <a:xfrm>
            <a:off x="2514600" y="4288536"/>
            <a:ext cx="6309360" cy="438912"/>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Boxes (YOLO/COCO/VOC formats), polygons, masks, keypoints. Format choice determines how to read and write label files.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CV Section A — Image Formation, Signals &amp; Annotations</dc:title>
  <dc:subject>PptxGenJS Presentation</dc:subject>
  <dc:creator>PptxGenJS</dc:creator>
  <cp:lastModifiedBy>PptxGenJS</cp:lastModifiedBy>
  <cp:revision>1</cp:revision>
  <dcterms:created xsi:type="dcterms:W3CDTF">2026-03-09T17:02:20Z</dcterms:created>
  <dcterms:modified xsi:type="dcterms:W3CDTF">2026-03-09T17:02:20Z</dcterms:modified>
</cp:coreProperties>
</file>