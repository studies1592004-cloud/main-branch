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C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Fundamentals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Histogram Equalization · Morphological Operations · Image Restoration · Denoising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Absolute Beginners — No Prior Knowledge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in Section 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896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Histogram &amp; Equalization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histogram shows; CDF-based equalization; CLAHE for local contrast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Morphological 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928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Erosion, dilation, opening, closing — shaping binary objects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395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Degradation 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6426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images get blurred and noisy; the g = h*f + n framework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145536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145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Restoration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filter, Wiener filter, Richardson-Lucy deconvolution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95344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Denoising Methods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1422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blur, Wiener filter, BM3D, NLM, deep learning denoising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Histogram Equalization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Redistributing pixel intensities for better contrast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Image Histogram?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histogram is a bar chart showing how many pixels have each brightness value. The x-axis runs from 0 (black) to 255 (white). The height of each bar tells you how many pixels have that exact brightness.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image: bars clustered near 0 (left side of histogram). Most pixels are dark.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 image: bars clustered near 255 (right side). Most pixels are light.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well-exposed image: bars spread across the full range 0–255.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low-contrast image: bars clustered in a narrow range in the middle — detail is there but hard to see.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are used to: diagnose image quality, guide enhancement operations, compare images, and drive thresholding algorithms.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color image: you can compute a histogram per channel (R, G, B separately) or for the luminance (grayscale) only.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Histogram — Three Image Types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DARK IMAGE                BRIGHT IMAGE             WELL-EXPOSED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↑                  Count ↑                  Count 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██                                          ██    ░░▒▒▓▓██▓▓▒▒░░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████                                      ████   ░░░▒▒▓▓██▓▓▒▒░░░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████                                      ████  ░░░░▒▒▓▓██▓▓▒▒░░░░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──────────→ 255           ──────────→ 255        ──────────→ 255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Pixels bunched LEFT       Pixels bunched RIGHT    Pixels spread evenly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LOW-CONTRAST IMAGE        AFTER HISTOGRAM EQUALIZATION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↑                  Count 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████                ██ ██ ██ ██ ██ ██ ██ ██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██████               █  █  █  █  █  █  █  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████████              █  █  █  █  █  █  █  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──────────→ 255           ──────────→ 255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Pixels in narrow range    Pixels spread across full range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(poor contrast)           (improved contrast, more detail visible)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Goal of histogram equalization: transform narrow-range histogram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full-range histogram by reassigning pixel values.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Histogram shape instantly reveals exposure and contrast quality. Equalization stretches it to fill 0–255.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Histogram Equalization — CDF Mapping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uses the Cumulative Distribution Function (CDF) to remap pixel values. The CDF at value v = fraction of pixels with value ≤ v.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Compute histogram  h(v) = number of pixels with value v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2: Compute CDF        CDF(v) = Σ_{k=0}^{v}  h(k) / 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where N = total number of pixels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3: Map each pixel     v_new = round( CDF(v_old) × 255 )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3×3 image, values = [52, 55, 58, 59, 60, 60, 62, 65, 70]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h(52)=1, h(55)=1, h(58)=1, h(59)=1, h(60)=2, h(62)=1, h(65)=1, h(70)=1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CDF(52)=1/9=0.11  →  v_new = round(0.11×255) = 28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CDF(60)=5/9=0.56  →  v_new = round(0.56×255) = 143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CDF(70)=9/9=1.00  →  v_new = round(1.00×255) = 255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pixels with few neighbors (sparse histogram regions) get spread farther apart. Pixels with many neighbors (dense regions) get spread across a large output range.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new histogram is approximately flat (uniform) — each brightness value has roughly equal representation.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it treats the whole image globally. A sky region and a shadow region get the same CDF — the sky may get blown out while the shadow is enhanced.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CLAHE (Contrast Limited Adaptive Histogram Equalization) — covered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CLAHE — Contrast Limited Adaptive Histogram Equalization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divides the image into small tiles (e.g., 8×8) and applies histogram equalization independently in each tile. A clip limit prevents over-amplification of noise in flat regions. Bilinear interpolation blends tile boundaries.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adaptive? Global equalization can destroy detail in already well-exposed regions. Local equalization adapts to local contrast.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limit: sets a maximum bar height in each tile's histogram. Any pixels that would exceed the clip are redistributed evenly across all bins. This prevents noise from being amplified.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clip limit: 2.0 to 4.0 (higher = more aggressive enhancement).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size: 8×8 is the default in OpenCV (clipLimit=2.0, tileGridSize=(8,8)).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medical imaging (X-ray, MRI enhancement), satellite imagery, nighttime photography, fingerprint recognition.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 usage: clahe = cv2.createCLAHE(clipLimit=2.0, tileGridSize=(8,8)) then clahe.apply(gray_image).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CLAHE — Tile-Based Local Equalization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Global HE: one CDF computed from whole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Entire Image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single histogram → single CDF map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Problem: bright sky + dark shadow → same CDF → sky blown out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CLAHE: image divided into tiles, each gets its own histogram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┌────────┬────────┬────────┬────────┐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Tile 1 │ Tile 2 │ Tile 3 │ Tile 4 │  ← each tile: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hist1  │ hist2  │ hist3  │ hist4  │    compute histogram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├────────┼────────┼────────┼────────┤    apply clip limit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Tile 5 │ Tile 6 │ Tile 7 │ Tile 8 │    compute local CDF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hist5  │ hist6  │ hist7  │ hist8  │    remap pixels in tile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└────────┴────────┴────────┴────────┘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↓ Bilinear interpolation blends tile borders smoothly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Clip Limit — prevents noise amplification: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Before clip: ████████████████████ ← one bar dominates (flat region)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clip:  ████  ← cap at limit, excess redistributed to all bars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Effect: flat regions (noise) are NOT over-enhanced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CLAHE is the standard preprocessing step for medical imaging, fingerprint analysis, and any low-contrast image.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Morphological Operations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Shape-based operations on binary and grayscale images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Morphological Operations?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operations transform the shape of objects in an image using a structuring element (SE) — a small template that defines the neighborhood. They are primarily applied to binary images (black and white, 0 or 1).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element (SE): a small matrix (e.g., 3×3) that defines the shape of the 'probe' used to examine and modify the image. Common shapes: square, disk, cross, diamond.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the center pixel of the SE. The SE is moved over every pixel of the image.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image: foreground pixels = 1 (white), background = 0 (black).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fundamental operations: Erosion, Dilation, Opening, Closing.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uses: removing noise from binary masks, separating touching objects, finding object boundaries, fingerprint analysis, document OCR preprocessing, cell counting in microscopy.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Erosion vs Dilation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— Shrinks Objects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— Grows Objects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foreground objects. Removes thin protrusions and small isolated blobs.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output pixel = 1 ONLY IF every pixel under the SE is 1 in the input.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neighbor is 0 → output is 0.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(A ⊖ B)(x,y) = 1 iff B centered at (x,y) ⊆ 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shapes: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Thin lines disappear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Small blobs disappear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Object boundaries shrink inward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Gaps between objects widen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remove thin noise bridges, isolate large objects, thin characters in OCR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foreground objects. Fills small holes and connects nearby components.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output pixel = 1 IF ANY pixel under the SE is 1 in the input.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at least one neighbor is 1 → output is 1.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(A ⊕ B)(x,y) = 1 iff B centered at (x,y) ∩ A ≠ 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shapes: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Objects grow outward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Small holes are filled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Nearby objects may merge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Thin gaps disappear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fill holes in detected objects, connect broken contours, thicken thin lines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Erosion and Dilation — Visual Example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Original binary shape (white = foreground):   SE = 3×3 square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┌──────────────────┐                          ┌─────────┐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0 0 0 0 0  │                          │ 1  1  1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1 1 1 1 0 0  │                          │ 1  1  1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1 1 1 1 1 1 0  │                          │ 1  1  1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1 1 1 1 1 1 0  │                          └─────────┘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1 1 1 1 0 0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0 0 0 0 0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EROSION (shrinks by ~1 pixel ring):  After DILATION (grows by ~1 pixel ring):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┌──────────────────┐                      ┌──────────────────┐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0 0 0 0 0  │                      │ 0 1 1 1 1 1 1 0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0 0 0 0 0  │                      │ 1 1 1 1 1 1 1 1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1 1 0 0 0  │                      │ 1 1 1 1 1 1 1 1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1 1 0 0 0  │                      │ 1 1 1 1 1 1 1 1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0 0 0 0 0  │                      │ 0 1 1 1 1 1 1 0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0 0 0 0 0 0 0 0  │                      └──────────────────┘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Erosion shrinks inward; dilation expands outward. The SE size controls how many pixels are added/removed.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Opening, Closing, Gradient, Top-Hat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 =  Erosion → Dilation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Erode first, then dilate with SAME 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small noise blobs and thin protrusions WITHOUT significantly changing main object size.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erosion removes small objects. The dilation restores the main object shape.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remove noise dots from a binary mask, separate touching objects.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 ∘ B = (A ⊖ B) ⊕ 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 =  Dilation → Erosion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 first, then erode with SAME 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small holes and gaps INSIDE objects without changing main shape.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dilation fills holes. The erosion restores the outer boundary.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fill small holes in a detected region, connect broken contour lines.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 • B = (A ⊕ B) ⊖ 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62072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Gradient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= Dilation - Erosion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outline/boundary of foreground objects.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grows the object; erosion shrinks it. The difference = the border ring.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thicker edges than simple pixel subtraction.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object boundary extraction without directional bias.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62072"/>
            <a:ext cx="4206240" cy="329184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Top-Hat &amp; Black-Hat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Top-Hat = Original - Opening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small bright features on dark background.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Top-Hat = Closing - Original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small dark features on bright background.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remove uneven lighting (Top-Hat), detect dark spots in bright field microscopy.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vs Closing — When to Use Each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OPENING (remove noise bumps):           CLOSING (fill holes):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 ██████████  ←─ main blob        Input:  ██ ███  ██ ←─ broken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████ ●● ████  ←─ noise dots              ██ ███  ██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██████████                                ██ ███  ██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                                  After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Erosion: ████████   (noise removed)     Dilation: ████████  (gap filled)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                                   Then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Dilation: ██████████  (size restored)   Erosion:  ████████  (size restored)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noise dots gone, main blob same  Result: gap filled, outer shape same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RULE: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Use OPENING to remove small bright spots (noise ON objects)│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Use CLOSING to fill small dark holes (holes IN objects)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SE size controls what counts as 'small'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Opening and closing are the two most practically useful morphological operations in real CV pipelines.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Degradation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and why images lose quality — the g = h*f + n framework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Image Degradation Model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degraded (blurred/noisy) image can be described mathematically as: g = h * f + n, where f is the original sharp image, h is the blur kernel (Point Spread Function), and n is additive noise.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True sharp image — what we want to recover.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Point Spread Function (PSF) — describes how each point of light spreads. A perfect lens has PSF = delta function (no spread). A defocused lens has PSF = disk. Camera shake has PSF = line.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* f = convolution of PSF with the sharp image = blurred image.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Noise — random corruption added by sensor electronics.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Observed degraded image — what the camera actually records.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restoration goal: given g (and ideally h), estimate f̂ ≈ f.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cases: Non-blind (h is known — e.g., measured blur kernel) and Blind (h is unknown — must estimate both h and f simultaneously).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Degradation and Restoration Pipeline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FORWARD MODEL (how the image gets degraded):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┌───────────┐     ┌──────────────┐     ┌──────────┐     ┌───────────┐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Sharp     │     │ PSF / Blur   │     │ Blurred  │     │ Observed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Image  f  │──*──│ Kernel  h    │────▶│ f * h    │──+──│ Image  g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└───────────┘     └──────────────┘     └──────────┘  ↑  └───────────┘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┌────────────┐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│  Noise  n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└────────────┘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INVERSE (restoration) PROBLEM: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┌───────────┐     ┌──────────────────────┐     ┌──────────────┐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Observed  │     │ Restoration Filter   │     │ Estimated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Image  g  │────▶│ (Wiener / RL / DL)   │────▶│ Sharp Image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└───────────┘     └──────────────────────┘     │    f̂ ≈ f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↑                     └──────────────┘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Known or estimated PSF h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restoration problem is ILL-POSED: many sharp images 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 produce the same blurred image g after adding noise.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Understanding g = h*f + n is the foundation of all image restoration. Restoration means inverting this process.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Spread Function (PSF) — Types of Blur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PSF h defines what a single point of light looks like after passing through the imaging system. Different physical causes produce different PSF shapes.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PSF: out-of-focus lens or atmospheric turbulence. Circular symmetric blur. Most common assumption.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PSF: uniform circular blur from defocus. Used in microscopy and telescope imaging.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PSF (linear): camera shake during exposure. A horizontal shake = horizontal line PSF of length proportional to shake distance.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PSF (curved): complex camera motion during exposure. Curved or irregular line PSF.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PSF: ideal optical system limited by diffraction — Airy disk pattern.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PSF estimation: take a photo of a known point light source (star, LED), or estimate from image statistics (blind deconvolution).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can generate motion blur PSFs: np.diag(np.ones(length)) for linear motion blur.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Restoration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a sharp image from a blurred, noisy one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Inverse Filter — The Naive Approach and Why It Fails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restoration idea: if g = h * f, then in the frequency domain G = H · F, so F = G / H. Divide the observed spectrum by the PSF spectrum to recover the sharp image. This is the inverse filter.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perfectly: only if there is NO noise (n = 0).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failure with noise: where H(u,v) is very small (near zero), dividing by it amplifies noise by 1/H — potentially 1000× or more. The result is completely destroyed.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H is always near zero at high frequencies (blur suppresses high frequencies), so the inverse filter always blows up.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Gaussian blur with σ=2 has H ≈ 0 for frequencies above ~50 cycles/image. Dividing by 0 = infinite amplification of any noise at those frequencies.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needed: a smarter filter that avoids dividing by near-zero values. This is the Wiener filter.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Wiener Filter — Optimal Restoration with Noise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Wiener filter is the optimal linear restoration filter in the minimum mean squared error (MMSE) sense. It balances sharpening against noise amplification.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Wiener filter in frequency domain: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W(u,v) = H*(u,v) / [ |H(u,v)|² + SNR⁻¹(u,v) 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SNR(u,v) = S_f(u,v) / S_n(u,v)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S_f = power spectrum of the original image (signal)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S_n = power spectrum of the noise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Simplified form (constant SNR assumption):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W(u,v) = H*(u,v) / [ |H(u,v)|² + K 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K = 1/SNR is a small constant (e.g., 0.01)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H*(u,v) = complex conjugate of the PSF in frequency domain.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|H| is large (good signal): denominator ≈ |H|², so W ≈ 1/H — acts like inverse filter.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|H| is small (high frequencies, noise dominates): denominator ≈ K (floor), so W ≈ H*/K — small value, noise is NOT amplified.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parameter: controls the trade-off. Large K = more noise suppression but less sharpening. Small K → approaches inverse filter.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use: K is estimated from the observed image noise level. OpenCV doesn't have a built-in Wiener filter — implement with numpy FFT.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Richardson-Lucy Deconvolution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Richardson-Lucy (RL) is an iterative algorithm for image deblurring, derived from Bayesian probability theory assuming Poisson statistics. It is particularly well-suited for images where noise follows Poisson distribution (astronomy, fluorescence microscopy).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start with a guess for f̂. At each iteration, compare the blurred version of f̂ with the observed image g. Where they differ, update f̂ to reduce the discrepancy.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rule: f̂^(k+1) = f̂^(k) × [ (g / (h * f̂^(k))) ⊛ h_flipped ]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⊛ denotes cross-correlation with the flipped PSF.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Iterations: each iteration sharpens the image but also amplifies noise. Typically 10–50 iterations are used. More iterations → sharper but noisier.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stop early (early stopping) or add a regularization term (Total Variation) to prevent noise amplification.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Hubble Space Telescope image restoration, super-resolution microscopy, astronomy, medical PET imaging.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 scipy.signal.convolve2d + custom iteration loop, or skimage.restoration.richardson_lucy.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vs Non-Blind Deconvolution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Non-Blind (PSF Known)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(PSF Unknown)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NON-BLIND DECONVOLUTION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PSF h is known or measured.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this apply?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Camera shake measured by gyroscope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PSF measured from a known target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Microscope optics are characterized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Atmospheric turbulence estimated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Wiener filter (one-shot, fast)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Richardson-Lucy (iterative, better quality)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Variation deconvolution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much better than blind because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known PSF constrains the solution.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DECONVOLUTION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 and h are unknown. Must estimate both simultaneously from g alone.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ill-posed: infinitely many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(f, h) pairs produce the same 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Alternating minimization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Sparse prior on PSF (most PSFs 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mostly zeros with a small support)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Deep learning: predict PSF first,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then deblur with non-blind method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converging to wrong solution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(trivial solution: h=delta, f=g).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strong regularization or priors.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Denoising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noise while preserving detail — classical and modern approaches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Denoising Methods — Comparison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Convolve with Gaussian kernel.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for: Gaussian noise.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very fast (separable, O(N)).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smears edges — poor.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gain: moderate (~3–6 dB).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preprocessing only, not final denoising.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pixel with neighborhood median.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for: salt-and-pepper noise.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moderate (sorting per pixel).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preserves edges well.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for: Gaussian noise (doesn't reduce it much).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removing impulse noise from binary/text images.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62072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+ range Gaussian weights.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for: Gaussian + mixed noise.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slow (no FFT, large σ is expensive).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good edge preservation.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tuning: σ_s, σ_r critical.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skin smoothing, artistic effects.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62072"/>
            <a:ext cx="4206240" cy="329184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Non-Local Means (NLM)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 similar patches globally.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for: Gaussian, Poisson.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very slow — O(N²) patches.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best classical method for smooth regions.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slow, can over-smooth textures.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use: when quality matters more than speed.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BM3D — Block-Matching 3D Filtering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BM3D (Dabov, 2007) is the top-performing classical denoising algorithm. It groups similar image patches into a 3D stack, applies transform-domain filtering to the stack, then aggregates results back to the image.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Block Matching: for each reference patch in the image, find all similar patches elsewhere (using block distance). Stack them into a 3D cube.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3D Transform: apply a 3D transform (2D DCT on each patch + 1D Hadamard/DCT across the stack depth). Noise becomes small coefficients spread uniformly. Signal concentrates in a few large coefficients.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Hard/Soft Threshold: zero out (hard) or shrink (soft) small coefficients — these are noise. Keep large coefficients — these are signal.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Inverse Transform: transform back to pixel domain.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Aggregation: average all the denoised patches back to their original positions, weighted by their similarity scores.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similar patches share the same underlying structure. Stacking them makes the noise truly random (averages to zero) while the signal is coherent (preserved).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typically 3–5 dB better than Gaussian blur; 1–2 dB better than NLM. Still competitive with early deep learning methods.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BM3D Pipeline — Step by Step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Noisy Image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1] For each reference patch P_ref: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 image → find K most similar patches P_1, P_2, ..., P_K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Similarity = ||P_ref - P_k||² (patch pixel distance)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2] Stack patches into 3D cube  [H × W × K]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┌─────┐ ┌─────┐ ┌─────┐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P_1 │ │ P_2 │ │ P_3 │  ← K similar patches stacked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└─────┘ └─────┘ └─────┘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3] Apply 3D transform (DCT2D per slice + Hadamard across depth)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Noise spreads uniformly → small coefficients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Signal concentrates → large coefficients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4] Threshold: zero out small coefficients (noise)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Inverse 3D transform → denoised patch stack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[Step 5] Aggregate: place denoised patches back; weighted average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denoised image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BM3D's power comes from grouping similar patches — their noise cancels out when averaged, but signal reinforces.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Denoising — DnCNN and Noise2Noise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deep learning has largely replaced classical methods for high-quality denoising, especially when training data is available.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(Zhang, 2017): a simple residual CNN trained to predict the noise itself (residual learning). Input: noisy image. Output: estimated noise. Clean image = noisy - predicted noise.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17 convolutional layers, batch normalization, ReLU. Remarkably simple but achieves better PSNR than BM3D.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Noise2Noise (Lehtinen, 2018): trains without clean reference images. If you have TWO independently noisy versions of the same image, training on noisy-to-noisy pairs learns to denoise. Used when clean ground truth is impossible to obtain.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astronomy (can't take a 'clean' photo of a star), medical scans at low dose radiation.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 Networks (Noise2Void, 2019): train on SINGLE noisy images — no pairs needed. The network cannot see the center pixel of its receptive field, forcing it to predict it from context.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rule: for real-time applications use OpenCV's fastNlMeansDenoising. For maximum quality offline, use DnCNN or a diffusion-based denoiser.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C —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53035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Histogram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122529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= pixel value frequency chart. Equalization maps via CDF to spread values 0–255. CLAHE applies locally per tile with a clip limit to prevent noise amplification.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920240" cy="53035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Morphology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91109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shrinks, dilation grows. Opening (E→D) removes noise bumps. Closing (D→E) fills holes. Structuring element size controls what's 'small'. All based on set operations.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920240" cy="53035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Degradation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259689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image g = (PSF h) * (sharp image f) + noise n. PSF describes the blur type. Non-blind: h is known. Blind: both h and f must be estimated — ill-posed.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920240" cy="53035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61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Restoration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328269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filter: divide by H in freq domain — fails with noise (amplifies 1/H). Wiener filter: adds K floor to prevent blow-up — optimal MMSE. RL: iterative Bayesian update.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1920240" cy="530352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Denoising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3968496"/>
            <a:ext cx="6309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blur: fast, smears edges. Median: kills salt/pepper, preserves edges. Bilateral: edge-preserving smooth. BM3D: best classical (group patches, 3D filter). DnCNN: best DL.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Section C — Image Processing Fundamentals</dc:title>
  <dc:subject>PptxGenJS Presentation</dc:subject>
  <dc:creator>PptxGenJS</dc:creator>
  <cp:lastModifiedBy>PptxGenJS</cp:lastModifiedBy>
  <cp:revision>1</cp:revision>
  <dcterms:created xsi:type="dcterms:W3CDTF">2026-03-09T17:17:55Z</dcterms:created>
  <dcterms:modified xsi:type="dcterms:W3CDTF">2026-03-09T17:17:55Z</dcterms:modified>
</cp:coreProperties>
</file>