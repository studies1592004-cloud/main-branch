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2193D"/>
          </a:solidFill>
          <a:ln w="12700">
            <a:solidFill>
              <a:srgbClr val="12193D"/>
            </a:solidFill>
            <a:prstDash val="solid"/>
          </a:ln>
        </p:spPr>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1300" b="1" spc="600" kern="0" dirty="0">
                <a:solidFill>
                  <a:srgbClr val="7A8CC0"/>
                </a:solidFill>
                <a:latin typeface="Calibri" pitchFamily="34" charset="0"/>
                <a:ea typeface="Calibri" pitchFamily="34" charset="-122"/>
                <a:cs typeface="Calibri" pitchFamily="34" charset="-120"/>
              </a:rPr>
              <a:t>COMPUTER VISION</a:t>
            </a:r>
            <a:endParaRPr lang="en-US" sz="1300" dirty="0"/>
          </a:p>
        </p:txBody>
      </p:sp>
      <p:sp>
        <p:nvSpPr>
          <p:cNvPr id="4" name="Text 2"/>
          <p:cNvSpPr/>
          <p:nvPr/>
        </p:nvSpPr>
        <p:spPr>
          <a:xfrm>
            <a:off x="457200" y="1188720"/>
            <a:ext cx="8229600" cy="10972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Section E</a:t>
            </a:r>
            <a:endParaRPr lang="en-US" sz="5200" dirty="0"/>
          </a:p>
        </p:txBody>
      </p:sp>
      <p:sp>
        <p:nvSpPr>
          <p:cNvPr id="5" name="Text 3"/>
          <p:cNvSpPr/>
          <p:nvPr/>
        </p:nvSpPr>
        <p:spPr>
          <a:xfrm>
            <a:off x="457200" y="2331720"/>
            <a:ext cx="8229600" cy="548640"/>
          </a:xfrm>
          <a:prstGeom prst="rect">
            <a:avLst/>
          </a:prstGeom>
          <a:noFill/>
          <a:ln/>
        </p:spPr>
        <p:txBody>
          <a:bodyPr wrap="square" rtlCol="0" anchor="ctr"/>
          <a:lstStyle/>
          <a:p>
            <a:pPr indent="0" marL="0">
              <a:buNone/>
            </a:pPr>
            <a:r>
              <a:rPr lang="en-US" sz="2000" dirty="0">
                <a:solidFill>
                  <a:srgbClr val="7A8CC0"/>
                </a:solidFill>
                <a:latin typeface="Calibri" pitchFamily="34" charset="0"/>
                <a:ea typeface="Calibri" pitchFamily="34" charset="-122"/>
                <a:cs typeface="Calibri" pitchFamily="34" charset="-120"/>
              </a:rPr>
              <a:t>Optical Flow &amp; Motion</a:t>
            </a:r>
            <a:endParaRPr lang="en-US" sz="2000" dirty="0"/>
          </a:p>
        </p:txBody>
      </p:sp>
      <p:sp>
        <p:nvSpPr>
          <p:cNvPr id="6" name="Text 4"/>
          <p:cNvSpPr/>
          <p:nvPr/>
        </p:nvSpPr>
        <p:spPr>
          <a:xfrm>
            <a:off x="457200" y="3611880"/>
            <a:ext cx="8229600" cy="457200"/>
          </a:xfrm>
          <a:prstGeom prst="rect">
            <a:avLst/>
          </a:prstGeom>
          <a:noFill/>
          <a:ln/>
        </p:spPr>
        <p:txBody>
          <a:bodyPr wrap="square" rtlCol="0" anchor="ctr"/>
          <a:lstStyle/>
          <a:p>
            <a:pPr indent="0" marL="0">
              <a:buNone/>
            </a:pPr>
            <a:r>
              <a:rPr lang="en-US" sz="1100" dirty="0">
                <a:solidFill>
                  <a:srgbClr val="8899CC"/>
                </a:solidFill>
                <a:latin typeface="Calibri" pitchFamily="34" charset="0"/>
                <a:ea typeface="Calibri" pitchFamily="34" charset="-122"/>
                <a:cs typeface="Calibri" pitchFamily="34" charset="-120"/>
              </a:rPr>
              <a:t>Topics: Brightness Constancy · Lucas-Kanade · Horn-Schunck · Dense Flow · Two-Stream Networks</a:t>
            </a:r>
            <a:endParaRPr lang="en-US" sz="1100" dirty="0"/>
          </a:p>
        </p:txBody>
      </p:sp>
      <p:sp>
        <p:nvSpPr>
          <p:cNvPr id="7" name="Text 5"/>
          <p:cNvSpPr/>
          <p:nvPr/>
        </p:nvSpPr>
        <p:spPr>
          <a:xfrm>
            <a:off x="457200" y="4160520"/>
            <a:ext cx="8229600" cy="365760"/>
          </a:xfrm>
          <a:prstGeom prst="rect">
            <a:avLst/>
          </a:prstGeom>
          <a:noFill/>
          <a:ln/>
        </p:spPr>
        <p:txBody>
          <a:bodyPr wrap="square" rtlCol="0" anchor="ctr"/>
          <a:lstStyle/>
          <a:p>
            <a:pPr indent="0" marL="0">
              <a:buNone/>
            </a:pPr>
            <a:r>
              <a:rPr lang="en-US" sz="1100" i="1" dirty="0">
                <a:solidFill>
                  <a:srgbClr val="6677AA"/>
                </a:solidFill>
                <a:latin typeface="Calibri" pitchFamily="34" charset="0"/>
                <a:ea typeface="Calibri" pitchFamily="34" charset="-122"/>
                <a:cs typeface="Calibri" pitchFamily="34" charset="-120"/>
              </a:rPr>
              <a:t>For Absolute Beginners — No Prior Knowledge Required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8229600" cy="658368"/>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What We Will Cover in Section E</a:t>
            </a:r>
            <a:endParaRPr lang="en-US" sz="2000" dirty="0"/>
          </a:p>
        </p:txBody>
      </p:sp>
      <p:sp>
        <p:nvSpPr>
          <p:cNvPr id="4" name="Shape 2"/>
          <p:cNvSpPr/>
          <p:nvPr/>
        </p:nvSpPr>
        <p:spPr>
          <a:xfrm>
            <a:off x="320040" y="822960"/>
            <a:ext cx="502920" cy="502920"/>
          </a:xfrm>
          <a:prstGeom prst="rect">
            <a:avLst/>
          </a:prstGeom>
          <a:solidFill>
            <a:srgbClr val="1E2761"/>
          </a:solidFill>
          <a:ln w="12700">
            <a:solidFill>
              <a:srgbClr val="1E2761"/>
            </a:solidFill>
            <a:prstDash val="solid"/>
          </a:ln>
        </p:spPr>
      </p:sp>
      <p:sp>
        <p:nvSpPr>
          <p:cNvPr id="5" name="Text 3"/>
          <p:cNvSpPr/>
          <p:nvPr/>
        </p:nvSpPr>
        <p:spPr>
          <a:xfrm>
            <a:off x="320040" y="822960"/>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E1</a:t>
            </a:r>
            <a:endParaRPr lang="en-US" sz="1000" dirty="0"/>
          </a:p>
        </p:txBody>
      </p:sp>
      <p:sp>
        <p:nvSpPr>
          <p:cNvPr id="6" name="Text 4"/>
          <p:cNvSpPr/>
          <p:nvPr/>
        </p:nvSpPr>
        <p:spPr>
          <a:xfrm>
            <a:off x="960120" y="822960"/>
            <a:ext cx="32004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What Is Optical Flow?</a:t>
            </a:r>
            <a:endParaRPr lang="en-US" sz="1300" dirty="0"/>
          </a:p>
        </p:txBody>
      </p:sp>
      <p:sp>
        <p:nvSpPr>
          <p:cNvPr id="7" name="Text 5"/>
          <p:cNvSpPr/>
          <p:nvPr/>
        </p:nvSpPr>
        <p:spPr>
          <a:xfrm>
            <a:off x="960120" y="1069848"/>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apparent motion of pixels between frames; why it matters for CV</a:t>
            </a:r>
            <a:endParaRPr lang="en-US" sz="1050" dirty="0"/>
          </a:p>
        </p:txBody>
      </p:sp>
      <p:sp>
        <p:nvSpPr>
          <p:cNvPr id="8" name="Shape 6"/>
          <p:cNvSpPr/>
          <p:nvPr/>
        </p:nvSpPr>
        <p:spPr>
          <a:xfrm>
            <a:off x="320040" y="1499616"/>
            <a:ext cx="502920" cy="502920"/>
          </a:xfrm>
          <a:prstGeom prst="rect">
            <a:avLst/>
          </a:prstGeom>
          <a:solidFill>
            <a:srgbClr val="1E2761"/>
          </a:solidFill>
          <a:ln w="12700">
            <a:solidFill>
              <a:srgbClr val="1E2761"/>
            </a:solidFill>
            <a:prstDash val="solid"/>
          </a:ln>
        </p:spPr>
      </p:sp>
      <p:sp>
        <p:nvSpPr>
          <p:cNvPr id="9" name="Text 7"/>
          <p:cNvSpPr/>
          <p:nvPr/>
        </p:nvSpPr>
        <p:spPr>
          <a:xfrm>
            <a:off x="320040" y="1499616"/>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E2</a:t>
            </a:r>
            <a:endParaRPr lang="en-US" sz="1000" dirty="0"/>
          </a:p>
        </p:txBody>
      </p:sp>
      <p:sp>
        <p:nvSpPr>
          <p:cNvPr id="10" name="Text 8"/>
          <p:cNvSpPr/>
          <p:nvPr/>
        </p:nvSpPr>
        <p:spPr>
          <a:xfrm>
            <a:off x="960120" y="1499616"/>
            <a:ext cx="32004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Brightness Constancy &amp; Aperture Problem</a:t>
            </a:r>
            <a:endParaRPr lang="en-US" sz="1300" dirty="0"/>
          </a:p>
        </p:txBody>
      </p:sp>
      <p:sp>
        <p:nvSpPr>
          <p:cNvPr id="11" name="Text 9"/>
          <p:cNvSpPr/>
          <p:nvPr/>
        </p:nvSpPr>
        <p:spPr>
          <a:xfrm>
            <a:off x="960120" y="1746504"/>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core equation and its fundamental ambiguity</a:t>
            </a:r>
            <a:endParaRPr lang="en-US" sz="1050" dirty="0"/>
          </a:p>
        </p:txBody>
      </p:sp>
      <p:sp>
        <p:nvSpPr>
          <p:cNvPr id="12" name="Shape 10"/>
          <p:cNvSpPr/>
          <p:nvPr/>
        </p:nvSpPr>
        <p:spPr>
          <a:xfrm>
            <a:off x="320040" y="2176272"/>
            <a:ext cx="502920" cy="502920"/>
          </a:xfrm>
          <a:prstGeom prst="rect">
            <a:avLst/>
          </a:prstGeom>
          <a:solidFill>
            <a:srgbClr val="1E2761"/>
          </a:solidFill>
          <a:ln w="12700">
            <a:solidFill>
              <a:srgbClr val="1E2761"/>
            </a:solidFill>
            <a:prstDash val="solid"/>
          </a:ln>
        </p:spPr>
      </p:sp>
      <p:sp>
        <p:nvSpPr>
          <p:cNvPr id="13" name="Text 11"/>
          <p:cNvSpPr/>
          <p:nvPr/>
        </p:nvSpPr>
        <p:spPr>
          <a:xfrm>
            <a:off x="320040" y="2176272"/>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E3</a:t>
            </a:r>
            <a:endParaRPr lang="en-US" sz="1000" dirty="0"/>
          </a:p>
        </p:txBody>
      </p:sp>
      <p:sp>
        <p:nvSpPr>
          <p:cNvPr id="14" name="Text 12"/>
          <p:cNvSpPr/>
          <p:nvPr/>
        </p:nvSpPr>
        <p:spPr>
          <a:xfrm>
            <a:off x="960120" y="2176272"/>
            <a:ext cx="32004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Lucas-Kanade (Sparse)</a:t>
            </a:r>
            <a:endParaRPr lang="en-US" sz="1300" dirty="0"/>
          </a:p>
        </p:txBody>
      </p:sp>
      <p:sp>
        <p:nvSpPr>
          <p:cNvPr id="15" name="Text 13"/>
          <p:cNvSpPr/>
          <p:nvPr/>
        </p:nvSpPr>
        <p:spPr>
          <a:xfrm>
            <a:off x="960120" y="2423160"/>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Solving flow locally using a window; FAST, sparse, used in tracking</a:t>
            </a:r>
            <a:endParaRPr lang="en-US" sz="1050" dirty="0"/>
          </a:p>
        </p:txBody>
      </p:sp>
      <p:sp>
        <p:nvSpPr>
          <p:cNvPr id="16" name="Shape 14"/>
          <p:cNvSpPr/>
          <p:nvPr/>
        </p:nvSpPr>
        <p:spPr>
          <a:xfrm>
            <a:off x="320040" y="2852928"/>
            <a:ext cx="502920" cy="502920"/>
          </a:xfrm>
          <a:prstGeom prst="rect">
            <a:avLst/>
          </a:prstGeom>
          <a:solidFill>
            <a:srgbClr val="1E2761"/>
          </a:solidFill>
          <a:ln w="12700">
            <a:solidFill>
              <a:srgbClr val="1E2761"/>
            </a:solidFill>
            <a:prstDash val="solid"/>
          </a:ln>
        </p:spPr>
      </p:sp>
      <p:sp>
        <p:nvSpPr>
          <p:cNvPr id="17" name="Text 15"/>
          <p:cNvSpPr/>
          <p:nvPr/>
        </p:nvSpPr>
        <p:spPr>
          <a:xfrm>
            <a:off x="320040" y="2852928"/>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E4</a:t>
            </a:r>
            <a:endParaRPr lang="en-US" sz="1000" dirty="0"/>
          </a:p>
        </p:txBody>
      </p:sp>
      <p:sp>
        <p:nvSpPr>
          <p:cNvPr id="18" name="Text 16"/>
          <p:cNvSpPr/>
          <p:nvPr/>
        </p:nvSpPr>
        <p:spPr>
          <a:xfrm>
            <a:off x="960120" y="2852928"/>
            <a:ext cx="32004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Horn-Schunck (Dense)</a:t>
            </a:r>
            <a:endParaRPr lang="en-US" sz="1300" dirty="0"/>
          </a:p>
        </p:txBody>
      </p:sp>
      <p:sp>
        <p:nvSpPr>
          <p:cNvPr id="19" name="Text 17"/>
          <p:cNvSpPr/>
          <p:nvPr/>
        </p:nvSpPr>
        <p:spPr>
          <a:xfrm>
            <a:off x="960120" y="3099816"/>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Global smoothness constraint; flow everywhere in the image</a:t>
            </a:r>
            <a:endParaRPr lang="en-US" sz="1050" dirty="0"/>
          </a:p>
        </p:txBody>
      </p:sp>
      <p:sp>
        <p:nvSpPr>
          <p:cNvPr id="20" name="Shape 18"/>
          <p:cNvSpPr/>
          <p:nvPr/>
        </p:nvSpPr>
        <p:spPr>
          <a:xfrm>
            <a:off x="320040" y="3529584"/>
            <a:ext cx="502920" cy="502920"/>
          </a:xfrm>
          <a:prstGeom prst="rect">
            <a:avLst/>
          </a:prstGeom>
          <a:solidFill>
            <a:srgbClr val="1E2761"/>
          </a:solidFill>
          <a:ln w="12700">
            <a:solidFill>
              <a:srgbClr val="1E2761"/>
            </a:solidFill>
            <a:prstDash val="solid"/>
          </a:ln>
        </p:spPr>
      </p:sp>
      <p:sp>
        <p:nvSpPr>
          <p:cNvPr id="21" name="Text 19"/>
          <p:cNvSpPr/>
          <p:nvPr/>
        </p:nvSpPr>
        <p:spPr>
          <a:xfrm>
            <a:off x="320040" y="3529584"/>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E5</a:t>
            </a:r>
            <a:endParaRPr lang="en-US" sz="1000" dirty="0"/>
          </a:p>
        </p:txBody>
      </p:sp>
      <p:sp>
        <p:nvSpPr>
          <p:cNvPr id="22" name="Text 20"/>
          <p:cNvSpPr/>
          <p:nvPr/>
        </p:nvSpPr>
        <p:spPr>
          <a:xfrm>
            <a:off x="960120" y="3529584"/>
            <a:ext cx="32004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Deep Optical Flow</a:t>
            </a:r>
            <a:endParaRPr lang="en-US" sz="1300" dirty="0"/>
          </a:p>
        </p:txBody>
      </p:sp>
      <p:sp>
        <p:nvSpPr>
          <p:cNvPr id="23" name="Text 21"/>
          <p:cNvSpPr/>
          <p:nvPr/>
        </p:nvSpPr>
        <p:spPr>
          <a:xfrm>
            <a:off x="960120" y="3776472"/>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FlowNet, PWC-Net, RAFT — learning to estimate flow end-to-end</a:t>
            </a:r>
            <a:endParaRPr lang="en-US" sz="1050" dirty="0"/>
          </a:p>
        </p:txBody>
      </p:sp>
      <p:sp>
        <p:nvSpPr>
          <p:cNvPr id="24" name="Shape 22"/>
          <p:cNvSpPr/>
          <p:nvPr/>
        </p:nvSpPr>
        <p:spPr>
          <a:xfrm>
            <a:off x="320040" y="4206240"/>
            <a:ext cx="502920" cy="502920"/>
          </a:xfrm>
          <a:prstGeom prst="rect">
            <a:avLst/>
          </a:prstGeom>
          <a:solidFill>
            <a:srgbClr val="1E2761"/>
          </a:solidFill>
          <a:ln w="12700">
            <a:solidFill>
              <a:srgbClr val="1E2761"/>
            </a:solidFill>
            <a:prstDash val="solid"/>
          </a:ln>
        </p:spPr>
      </p:sp>
      <p:sp>
        <p:nvSpPr>
          <p:cNvPr id="25" name="Text 23"/>
          <p:cNvSpPr/>
          <p:nvPr/>
        </p:nvSpPr>
        <p:spPr>
          <a:xfrm>
            <a:off x="320040" y="4206240"/>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E6</a:t>
            </a:r>
            <a:endParaRPr lang="en-US" sz="1000" dirty="0"/>
          </a:p>
        </p:txBody>
      </p:sp>
      <p:sp>
        <p:nvSpPr>
          <p:cNvPr id="26" name="Text 24"/>
          <p:cNvSpPr/>
          <p:nvPr/>
        </p:nvSpPr>
        <p:spPr>
          <a:xfrm>
            <a:off x="960120" y="4206240"/>
            <a:ext cx="32004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Motion Applications</a:t>
            </a:r>
            <a:endParaRPr lang="en-US" sz="1300" dirty="0"/>
          </a:p>
        </p:txBody>
      </p:sp>
      <p:sp>
        <p:nvSpPr>
          <p:cNvPr id="27" name="Text 25"/>
          <p:cNvSpPr/>
          <p:nvPr/>
        </p:nvSpPr>
        <p:spPr>
          <a:xfrm>
            <a:off x="960120" y="4453128"/>
            <a:ext cx="786384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Two-stream networks for action recognition; video understanding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E1</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What Is Optical Flow?</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Measuring pixel motion between consecutive video frames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Optical Flow — Definition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E1</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Optical flow is the pattern of apparent motion of objects, surfaces, and edges in a visual scene caused by relative motion between an observer and the scene. It is represented as a 2D vector field: each pixel gets a velocity vector (u, v) indicating how far it moved between frame t and frame t+1.</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u = horizontal displacement (pixels/frame), v = vertical displacement (pixels/frame).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Dense optical flow: compute (u,v) for EVERY pixel. Result: two images of same size as input, storing u and v separately.</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Sparse optical flow: compute (u,v) only for a selected set of keypoints (e.g., corners). Much faster, used for tracking.</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Optical flow ≠ true 3D motion: a stationary spinning sphere can have zero optical flow if it is uniformly textured. A moving uniform white wall has no optical flow. Apparent motion ≠ real motion.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Applications: video compression (MPEG uses block motion vectors), action recognition, video stabilization, autonomous driving, depth estimation, 3D scene reconstruction.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Optical Flow — What the Vectors Look Like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E1</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Frame t:                          Frame t+1: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(ball here)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(ball moved)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(car here)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(car moved right)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Optical flow field (arrow = velocity vector at each pixel):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ball pixels moving right+up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 car pixels moving right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 · ·    │  ← background pixels: zero flow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Arrow length = speed.  Arrow direction = motion direction.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Zero vector (·) = stationary pixel.</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Optical flow encodes where each pixel 'came from' (or 'went to'). It is the fundamental representation of video motion.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Why Optical Flow Is Hard</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Computing optical flow sounds simple but faces fundamental challenges: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aperture problem: at any single pixel, you can only measure motion perpendicular to the local edge. You cannot tell how far the pixel moved ALONG the edge — this component is invisible (ambiguous).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Example: a diagonal line moving horizontally has the same appearance as the same line moving vertically. Only movement perpendicular to the line is measurable from that one pixel alone.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Large displacements: if an object moves more than ~1 pixel per frame, the local brightness gradient assumption breaks down. Need coarse-to-fine pyramid strategies.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Occlusions: when part of an object moves behind another, the pixels that disappear have no valid flow. Pixels that appear (from behind an occluder) have no source.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Illumination changes: if a light flickers between frames, pixel values change but nothing moved. The brightness constancy assumption is violated.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Homogeneous regions: a blue sky has no texture. Every pixel looks the same. Cannot determine which pixel went where — flow is undefined.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Solution strategies: use spatial windows (LK), global smoothness (HS), or learn features with deep networks (FlowNet, RAFT).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E2</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Brightness Constancy &amp; Aperture Problem</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The foundational constraint and its fundamental ambiguity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Brightness Constancy Constraint</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E2</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The core assumption of classical optical flow: a pixel moving from position (x,y) at time t to (x+u, y+v) at time t+1 has the same brightness.</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I(x, y, t) = I(x+u, y+v, t+1)</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Taylor expansion (first order, assuming small motion):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I(x+u, y+v, t+1) ≈ I(x,y,t) + Ix·u + Iy·v + It</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Substituting the constancy assumption: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Ix·u + Iy·v + It = 0</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This is the Optical Flow Constraint Equation (OFCE).</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Ix = ∂I/∂x = spatial gradient in x direction (Sobel or finite difference).</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Iy = ∂I/∂y = spatial gradient in y direction.</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It = ∂I/∂t = temporal gradient = I(t+1) - I(t) = frame difference at this pixel.</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The unknowns are u and v (the flow vector). But we have ONE equation with TWO unknowns — the system is underdetermined.</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This underdeterminacy is called the aperture problem: a single pixel cannot uniquely determine 2D motion.</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Solution approaches: Lucas-Kanade uses a spatial window (more equations, same unknowns), Horn-Schunck adds a global smoothness term.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The Aperture Problem — Why One Pixel Is Never Enough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A pixel on a vertical edge.  Ix is large, Iy ≈ 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OFCE: Ix·u + 0·v + It = 0  →  u = -It/Ix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We can find u (horizontal component) but v is completely FREE.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OFCE constraint in (u,v) space: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Ix·u + Iy·v = -It  ← this is the equation of a LINE in (u,v) space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v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all (u,v) on this line satisfy OFCE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but which one is the TRUE motion?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impossible to tell from one pixel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u</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 true flow vector is somewhere on this constraint line.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Without more information, any point on the line is valid.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Aperture metaphor: imagine watching a diagonal stripe move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through a small circular hole. You see it moving, but you</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cannot determine if it moves purely sideways, purely up,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or diagonally — all are consistent with what you see.</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aperture problem is fundamental. Every optical flow algorithm resolves it differently — by window, by smoothness, or by learning.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E3</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Lucas-Kanade Optical Flow</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Solving the aperture problem with a local spatial window</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Lucas-Kanade — The Key Assumption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E3</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Lucas-Kanade (1981) resolves the aperture problem by assuming that all pixels within a small window (e.g., 5×5 = 25 pixels) have the SAME flow vector (u, v). This gives 25 equations for 2 unknowns — an over-determined system solved by least squares.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Window assumption: within a small patch, all pixels move together. This is reasonable for small regions of a rigid object but breaks at object boundaries.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25 OFCE equations form a system: A·[u, v]ᵀ = b where A is a 25×2 matrix of [Ix, Iy] pairs and b is a 25×1 vector of -It values.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Least squares solution: [u, v]ᵀ = (AᵀA)⁻¹ Aᵀb</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AᵀA = [ ΣIx²   ΣIxIy ]  = the structure tensor (same as Harris!)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       [ ΣIxIy  ΣIy²  ]</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AᵀA must be invertible: both eigenvalues must be large (corner-like region). This is why LK works well on corners but fails on flat regions and edges (same eigenvalue analysis as Harris).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Lucas-Kanade — Full Derivation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E3</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For a window W of pixels, assume all share the same (u, v). Write OFCE for each pixel i in W:</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For each pixel i: Ix(i)·u + Iy(i)·v = -It(i)</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Stack into matrix form:</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Ix(1)  Iy(1) ] [u]   [-It(1)]</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Ix(2)  Iy(2) ] [v] = [-It(2)]</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    ...  ]       [  ...  ]</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Ix(n)  Iy(n) ]       [-It(n)]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A (n×2) · [u,v]ᵀ = b (n×1)</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Least squares: minimize ||A[u,v]ᵀ - b||²</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Solution: [u,v]ᵀ = (AᵀA)⁻¹ · Aᵀb</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AᵀA = [ ΣIx²    ΣIxIy ]  and  Aᵀb = [ -ΣIxIt ]</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       [ ΣIxIy   ΣIy²  ]              [ -ΣIyIt ]</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Sums are over all pixels i in window W.</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Reliability check: eigenvalues λ₁, λ₂ of AᵀA. If both large → reliable (corner). One large → unreliable (edge). Both small → unreliable (flat). This is identical to the Harris corner response!</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Iterative LK: apply Newton step iteratively, warping frame t+1 toward t each iteration. Handles slightly larger displacements.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Coarse-to-fine (pyramidal LK): build image pyramid; compute LK at coarsest level; upsample flow; refine at each finer level. Handles large displacements (&gt;5 pixels).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Pyramidal Lucas-Kanade — Handling Large Displacements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E3</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Problem: LK assumes small motion (&lt;&lt;1 pixel per frame).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Real video often has 10–50 pixel displacements per frame.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Solution: Image pyramid + coarse-to-fine estimation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Level 3 (smallest): 1/8 scale → displacement looks small (~2px)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LK gives rough flow (u₃, v₃)</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upsample × 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Level 2: 1/4 scale → warp frame t+1 by 2×(u₃,v₃); compute residual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LK gives refinement (Δu₂, Δv₂)</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upsample × 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Level 1: 1/2 scale → warp and refine again (Δu₁, Δv₁)</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upsample × 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Level 0: Full resolution → final refinement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Final flow = 8×u₃ + 4×Δu₂ + 2×Δu₁ + Δu₀</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level only needs to estimate small residual displacement.</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Pyramidal LK is used in all practical trackers. OpenCV's calcOpticalFlowPyrLK implements this with 3 pyramid levels by default.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KLT Tracker — Tracking Keypoints with Lucas-Kanade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E3</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Kanade-Lucas-Tomasi (KLT) tracker is the most widely used sparse optical flow application. It tracks a set of corner keypoints across video frames.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1 — Detect: find Harris or Shi-Tomasi corners in frame 1. These are the 'good features to track'.</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2 — Track: for each keypoint, apply pyramidal LK to find its new position in frame 2.</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3 — Validate: check forward-backward consistency. Track each point forward (t→t+1) then backward (t+1→t). If the point doesn't return close to its origin → unreliable → delete.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4 — Refresh: if too many points are lost or cluster together, detect new corners to fill in.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Forward-backward error threshold: discard tracks where ||start - backward_tracked|| &gt; 1 pixel.</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OpenCV: cv2.goodFeaturesToTrack() + cv2.calcOpticalFlowPyrLK()</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Applications: video stabilization, sports tracking, AR feature anchoring, SfM (Structure from Motion) pipelines, drone landing.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E4</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Horn-Schunck Optical Flow</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Global smoothness regularization for dense flow estimation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Horn-Schunck — Dense Flow via Global Smoothness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E4</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Horn-Schunck (1981) computes optical flow for EVERY pixel by adding a global smoothness constraint: nearby pixels should have similar flow vectors. This turns the underdetermined problem into a well-posed optimization.</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Lucas-Kanade limitation: computes flow only where AᵀA is invertible (corners). Fails in smooth regions. Does NOT produce flow everywhere.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Horn-Schunck goal: produce a DENSE flow field (u(x,y), v(x,y)) defined at every pixel.</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assumption: the flow field is spatially smooth — neighboring pixels move similarly. This regularizes the ill-posed problem.</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Trade-off: LK is fast and sparse; HS is slow (iterative) and dense.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HS energy function to minimize:</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E(u,v) = Σ_xy (Ix·u + Iy·v + It)² + α²(|∇u|² + |∇v|²)</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First term: data term (brightness constancy). Second term: smoothness penalty on flow gradients.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Horn-Schunck — Energy Minimization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E4</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Minimize the energy E(u,v) over the entire image simultaneously using calculus of variations:</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E(u,v) = ΣΣ [ (Ix·u + Iy·v + It)² + α²(ux² + uy² + vx² + vy²) ]</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Setting partial derivatives to zero gives the Euler-Lagrange equations:</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(Ix² + α²)·u + Ix·Iy·v = α²·ū - Ix·It</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Ix·Iy·u + (Iy² + α²)·v = α²·v̄ - Iy·It</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where ū, v̄ = local average of u, v over neighbors (Laplacian smoothing)</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Solved iteratively (Gauss-Seidel):</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u^(k+1) = ū^(k) - Ix·(Ix·ū^(k) + Iy·v̄^(k) + It) / (α² + Ix² + Iy²)</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v^(k+1) = v̄^(k) - Iy·(Ix·ū^(k) + Iy·v̄^(k) + It) / (α² + Ix² + Iy²)</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α (alpha): the smoothness weight. Large α → very smooth flow (ignores sharp boundaries). Small α → noisy but respects edges.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ū, v̄: local neighborhood average of current flow estimates — the Laplacian smoothing step propagates flow from textured to textureless regions.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Convergence: typically 100–1000 iterations. Slow but produces smooth, dense flow.</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Limitation: the global smoothness assumption causes flow to 'bleed' across object boundaries — a common artifact.</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Modern improvement: Total Variation (TV) regularization replaces |∇u|² with |∇u| (L1 instead of L2) → sharper boundary preservation.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Lucas-Kanade vs Horn-Schunck</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E4</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Lucas-Kanade</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Horn-Schunck</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LUCAS-KANADE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Type: Sparse (keypoints only)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Assumption: constant flow in window</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Equations: over-determined (25 eq, 2 unknowns)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Solution: closed-form least squares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Speed: very fast</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Output: flow at corner/keypoint locations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Strengths: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Fast, runs in real-time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Reliable at textured regions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Easy to implement (OpenCV)</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Weaknesses: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No flow in smooth regions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Small motion assumption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Window size = smoothness vs precision tradeoff</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HORN-SCHUNCK</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Type: Dense (every pixel)</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Assumption: global flow smoothness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Equations: under-determined + regularization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Solution: iterative (Gauss-Seidel)</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Speed: slow (100s of iterations)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Output: flow at every pixel</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Strengths: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Dense flow everywhere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Works in textureless regions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Mathematically elegant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Weaknesses: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Slow convergence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Flow bleeds across boundaries (over-smooth)</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α parameter sensitive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E5</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Deep Learning Optical Flow</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FlowNet, PWC-Net, and RAFT — learning to estimate motion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Why Deep Learning for Optical Flow?</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E5</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Classical methods (LK, HS) rely on the brightness constancy assumption which breaks under large motion, illumination change, and motion blur. Deep networks learn to estimate flow from data, overcoming these limitations.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advantages of deep optical flow: handles large displacements without pyramids, works under illumination changes, learns task-specific priors from data.</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Training data challenge: ground-truth optical flow is very hard to measure in real scenes. Most training uses synthetic datasets (FlyingChairs, FlyingThings3D) where flow is known by construction.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Evaluation metrics: Average Endpoint Error (AEE) = mean Euclidean distance between estimated and ground-truth flow vectors (in pixels).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benchmark: Sintel dataset (synthetic animated movie scenes) and KITTI (real driving with LiDAR ground truth).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FlowNet — First Deep Optical Flow Network (2015)</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E5</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FlowNet (Dosovitskiy, 2015) — two architectures: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FlowNetS (Simple):  concatenate both frames → one encoder-decoder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│Frame1│ │Frame2│</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concat (6 channels)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Contracting path (conv layers)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64→128→256→512→512→1024 channels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(feature maps get smaller)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Expanding path (upconv + skip connections)│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Refine flow prediction at each scale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Flow field (u,v) — same size as input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FlowNetC (Correlation): extracts features from each frame separately,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then computes a correlation layer (cross-correlation between feature maps)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before the decoder. Better for larger displacements.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FlowNet proved end-to-end learning of optical flow is feasible. It was ~100× faster than classical methods but less accurate.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RAFT — Recurrent All-Pairs Field Transforms (2020)</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E5</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RAFT (Teed &amp; Deng, 2020) — current state of the art architecture: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Frame 1 ──┐                Frame 2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(H×W×3)   │ Feature Encoder           │ Feature Encoder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(shared weights)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f₁ (H/8 × W/8 × 256)       f₂ (H/8 × W/8 × 256)</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4D Cost Volume  (H/8 × W/8 × H/8 × W/8)</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cost[i,j,k,l] = dot(f₁[i,j], f₂[k,l])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similarity of every pair of feature locations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current flow estimate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GRU Update Module        │  ← recurrent (12–32 iterations)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Looks up cost at warped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positions, updates flow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Upsampled flow field  (H × W × 2)</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AEE on Sintel Clean: 1.43px  (vs FlowNet 4.6px, LK ~8px)</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RAFT's 4D cost volume contains all pairwise similarities — each GRU iteration refines the flow by looking up relevant entries.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E6</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Motion in Applications</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Video stabilization, two-stream networks, and action recognition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Video Stabilization with Optical Flow</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E6</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Video stabilization removes unwanted camera shake by tracking camera motion across frames and applying compensating transformations. Optical flow or feature tracking provides the motion estimates.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1: Detect and track keypoints (KLT) across consecutive frames.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2: Estimate the global camera transformation between frames (e.g., translation, affine, homography) from the tracked points using RANSAC to reject outlier tracks.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3: Accumulate transformations over time to get the cumulative camera path.</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4: Smooth the path (Gaussian blur over time or Kalman filter) to remove jitter while preserving intentional camera movement.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Step 5: Apply the smoothed-vs-original path difference as a corrective warp to each frame.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Crop: stabilization introduces black borders — crop slightly (typically 10%) to hide them.</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OpenCV: cv2.videostab module. Consumer apps: iOS Cinematic Mode, GoPro HyperSmooth, YouTube stabilization.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Two-Stream Networks for Action Recognition (Simonyan 2014)</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E6</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Key insight: video understanding benefits from TWO streams: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(1) Spatial stream — what does the scene look like?  (RGB frames)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 Temporal stream — how is everything moving?      (optical flow)</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VIDEO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Sample     │      │  Compute optical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RGB frames │      │  flow (u,v) maps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Spatial CNN    │   │  Temporal CNN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(pretrained    │   │  (input: stacked flow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ImageNet CNN) │   │   maps of L=10 frames)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Late Fusion (average or SVM)</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Action Class Prediction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Result: 88% on UCF-101, vs 73% for spatial stream alone.</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two-stream insight: RGB captures appearance; optical flow captures motion. Together they substantially outperform either alone.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Two-Stream Networks — Implementation Details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E6</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temporal stream takes stacked optical flow maps as input — typically L=10 consecutive frames of (u,v) flow, producing a 20-channel input tensor.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Input tensor: (2L × H × W) — L horizontal flow maps + L vertical flow maps, stacked as channels. L=10 gives 20 channels.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Why stack? A single frame of flow gives the velocity at one instant. Stacking over time captures the motion trajectory — essential for distinguishing e.g. 'raising arm' from 'lowering arm'.</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Flow computation for training: pre-compute TV-L1 optical flow offline. This is the bottleneck — generating flow for a large dataset takes days.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Alternative: warp-based approaches skip explicit flow and learn to warp features directly. E.g., STNet, TSN.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Modern approach — 3D CNNs: instead of two streams, use 3D convolutions (e.g., I3D, SlowFast) directly on video volume. Learns spatiotemporal patterns jointly without needing precomputed flow.</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SlowFast (2019): two 3D CNNs at different temporal rates — Slow path sees appearance (few frames), Fast path sees motion (many frames at low resolution). No explicit optical flow needed.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Optical Flow — Methods Comparison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E6</a:t>
            </a:r>
            <a:endParaRPr lang="en-US" sz="1000" dirty="0"/>
          </a:p>
        </p:txBody>
      </p:sp>
      <p:sp>
        <p:nvSpPr>
          <p:cNvPr id="5" name="Shape 3"/>
          <p:cNvSpPr/>
          <p:nvPr/>
        </p:nvSpPr>
        <p:spPr>
          <a:xfrm>
            <a:off x="320040" y="804672"/>
            <a:ext cx="4206240" cy="1920240"/>
          </a:xfrm>
          <a:prstGeom prst="rect">
            <a:avLst/>
          </a:prstGeom>
          <a:solidFill>
            <a:srgbClr val="F7F8FA"/>
          </a:solidFill>
          <a:ln w="12700">
            <a:solidFill>
              <a:srgbClr val="D1D5DB"/>
            </a:solidFill>
            <a:prstDash val="solid"/>
          </a:ln>
        </p:spPr>
      </p:sp>
      <p:sp>
        <p:nvSpPr>
          <p:cNvPr id="6" name="Shape 4"/>
          <p:cNvSpPr/>
          <p:nvPr/>
        </p:nvSpPr>
        <p:spPr>
          <a:xfrm>
            <a:off x="320040" y="804672"/>
            <a:ext cx="4206240" cy="329184"/>
          </a:xfrm>
          <a:prstGeom prst="rect">
            <a:avLst/>
          </a:prstGeom>
          <a:solidFill>
            <a:srgbClr val="1E2761"/>
          </a:solidFill>
          <a:ln w="12700">
            <a:solidFill>
              <a:srgbClr val="1E2761"/>
            </a:solidFill>
            <a:prstDash val="solid"/>
          </a:ln>
        </p:spPr>
      </p:sp>
      <p:sp>
        <p:nvSpPr>
          <p:cNvPr id="7" name="Text 5"/>
          <p:cNvSpPr/>
          <p:nvPr/>
        </p:nvSpPr>
        <p:spPr>
          <a:xfrm>
            <a:off x="3931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Lucas-Kanade (Sparse)</a:t>
            </a:r>
            <a:endParaRPr lang="en-US" sz="1100" dirty="0"/>
          </a:p>
        </p:txBody>
      </p:sp>
      <p:sp>
        <p:nvSpPr>
          <p:cNvPr id="8" name="Text 6"/>
          <p:cNvSpPr/>
          <p:nvPr/>
        </p:nvSpPr>
        <p:spPr>
          <a:xfrm>
            <a:off x="3931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Type: Sparse (corners only)</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Speed: real-time (OpenCV ~1ms)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Accuracy: moderate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Large motion: pyramid helps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Best use: KLT tracking, video stabilization, AR</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OpenCV: calcOpticalFlowPyrLK</a:t>
            </a:r>
            <a:endParaRPr lang="en-US" sz="1050" dirty="0"/>
          </a:p>
        </p:txBody>
      </p:sp>
      <p:sp>
        <p:nvSpPr>
          <p:cNvPr id="9" name="Shape 7"/>
          <p:cNvSpPr/>
          <p:nvPr/>
        </p:nvSpPr>
        <p:spPr>
          <a:xfrm>
            <a:off x="4663440" y="804672"/>
            <a:ext cx="4206240" cy="1920240"/>
          </a:xfrm>
          <a:prstGeom prst="rect">
            <a:avLst/>
          </a:prstGeom>
          <a:solidFill>
            <a:srgbClr val="F7F8FA"/>
          </a:solidFill>
          <a:ln w="12700">
            <a:solidFill>
              <a:srgbClr val="D1D5DB"/>
            </a:solidFill>
            <a:prstDash val="solid"/>
          </a:ln>
        </p:spPr>
      </p:sp>
      <p:sp>
        <p:nvSpPr>
          <p:cNvPr id="10" name="Shape 8"/>
          <p:cNvSpPr/>
          <p:nvPr/>
        </p:nvSpPr>
        <p:spPr>
          <a:xfrm>
            <a:off x="4663440" y="804672"/>
            <a:ext cx="4206240" cy="329184"/>
          </a:xfrm>
          <a:prstGeom prst="rect">
            <a:avLst/>
          </a:prstGeom>
          <a:solidFill>
            <a:srgbClr val="166534"/>
          </a:solidFill>
          <a:ln w="12700">
            <a:solidFill>
              <a:srgbClr val="166534"/>
            </a:solidFill>
            <a:prstDash val="solid"/>
          </a:ln>
        </p:spPr>
      </p:sp>
      <p:sp>
        <p:nvSpPr>
          <p:cNvPr id="11" name="Text 9"/>
          <p:cNvSpPr/>
          <p:nvPr/>
        </p:nvSpPr>
        <p:spPr>
          <a:xfrm>
            <a:off x="47365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Horn-Schunck (Dense)</a:t>
            </a:r>
            <a:endParaRPr lang="en-US" sz="1100" dirty="0"/>
          </a:p>
        </p:txBody>
      </p:sp>
      <p:sp>
        <p:nvSpPr>
          <p:cNvPr id="12" name="Text 10"/>
          <p:cNvSpPr/>
          <p:nvPr/>
        </p:nvSpPr>
        <p:spPr>
          <a:xfrm>
            <a:off x="47365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Type: Dense (every pixel)</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Speed: slow (100s iterations)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Accuracy: smooth, bleeds at boundaries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Large motion: poor (small motion assumed)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Best use: research baseline, video segmentation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OpenCV: no built-in; use scikit-video</a:t>
            </a:r>
            <a:endParaRPr lang="en-US" sz="1050" dirty="0"/>
          </a:p>
        </p:txBody>
      </p:sp>
      <p:sp>
        <p:nvSpPr>
          <p:cNvPr id="13" name="Shape 11"/>
          <p:cNvSpPr/>
          <p:nvPr/>
        </p:nvSpPr>
        <p:spPr>
          <a:xfrm>
            <a:off x="320040" y="2862072"/>
            <a:ext cx="4206240" cy="1920240"/>
          </a:xfrm>
          <a:prstGeom prst="rect">
            <a:avLst/>
          </a:prstGeom>
          <a:solidFill>
            <a:srgbClr val="F7F8FA"/>
          </a:solidFill>
          <a:ln w="12700">
            <a:solidFill>
              <a:srgbClr val="D1D5DB"/>
            </a:solidFill>
            <a:prstDash val="solid"/>
          </a:ln>
        </p:spPr>
      </p:sp>
      <p:sp>
        <p:nvSpPr>
          <p:cNvPr id="14" name="Shape 12"/>
          <p:cNvSpPr/>
          <p:nvPr/>
        </p:nvSpPr>
        <p:spPr>
          <a:xfrm>
            <a:off x="320040" y="2862072"/>
            <a:ext cx="4206240" cy="329184"/>
          </a:xfrm>
          <a:prstGeom prst="rect">
            <a:avLst/>
          </a:prstGeom>
          <a:solidFill>
            <a:srgbClr val="0F766E"/>
          </a:solidFill>
          <a:ln w="12700">
            <a:solidFill>
              <a:srgbClr val="0F766E"/>
            </a:solidFill>
            <a:prstDash val="solid"/>
          </a:ln>
        </p:spPr>
      </p:sp>
      <p:sp>
        <p:nvSpPr>
          <p:cNvPr id="15" name="Text 13"/>
          <p:cNvSpPr/>
          <p:nvPr/>
        </p:nvSpPr>
        <p:spPr>
          <a:xfrm>
            <a:off x="3931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Farneback / TV-L1 (Dense)</a:t>
            </a:r>
            <a:endParaRPr lang="en-US" sz="1100" dirty="0"/>
          </a:p>
        </p:txBody>
      </p:sp>
      <p:sp>
        <p:nvSpPr>
          <p:cNvPr id="16" name="Text 14"/>
          <p:cNvSpPr/>
          <p:nvPr/>
        </p:nvSpPr>
        <p:spPr>
          <a:xfrm>
            <a:off x="3931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Type: Dense polynomial expansion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Speed: moderate (~100ms)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Accuracy: good for classical</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Large motion: handles moderate displacements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Best use: action recognition preprocessing</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OpenCV: calcOpticalFlowFarneback</a:t>
            </a:r>
            <a:endParaRPr lang="en-US" sz="1050" dirty="0"/>
          </a:p>
        </p:txBody>
      </p:sp>
      <p:sp>
        <p:nvSpPr>
          <p:cNvPr id="17" name="Shape 15"/>
          <p:cNvSpPr/>
          <p:nvPr/>
        </p:nvSpPr>
        <p:spPr>
          <a:xfrm>
            <a:off x="4663440" y="2862072"/>
            <a:ext cx="4206240" cy="1920240"/>
          </a:xfrm>
          <a:prstGeom prst="rect">
            <a:avLst/>
          </a:prstGeom>
          <a:solidFill>
            <a:srgbClr val="F7F8FA"/>
          </a:solidFill>
          <a:ln w="12700">
            <a:solidFill>
              <a:srgbClr val="D1D5DB"/>
            </a:solidFill>
            <a:prstDash val="solid"/>
          </a:ln>
        </p:spPr>
      </p:sp>
      <p:sp>
        <p:nvSpPr>
          <p:cNvPr id="18" name="Shape 16"/>
          <p:cNvSpPr/>
          <p:nvPr/>
        </p:nvSpPr>
        <p:spPr>
          <a:xfrm>
            <a:off x="4663440" y="2862072"/>
            <a:ext cx="4206240" cy="329184"/>
          </a:xfrm>
          <a:prstGeom prst="rect">
            <a:avLst/>
          </a:prstGeom>
          <a:solidFill>
            <a:srgbClr val="78350F"/>
          </a:solidFill>
          <a:ln w="12700">
            <a:solidFill>
              <a:srgbClr val="78350F"/>
            </a:solidFill>
            <a:prstDash val="solid"/>
          </a:ln>
        </p:spPr>
      </p:sp>
      <p:sp>
        <p:nvSpPr>
          <p:cNvPr id="19" name="Text 17"/>
          <p:cNvSpPr/>
          <p:nvPr/>
        </p:nvSpPr>
        <p:spPr>
          <a:xfrm>
            <a:off x="47365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RAFT (Deep Dense)</a:t>
            </a:r>
            <a:endParaRPr lang="en-US" sz="1100" dirty="0"/>
          </a:p>
        </p:txBody>
      </p:sp>
      <p:sp>
        <p:nvSpPr>
          <p:cNvPr id="20" name="Text 18"/>
          <p:cNvSpPr/>
          <p:nvPr/>
        </p:nvSpPr>
        <p:spPr>
          <a:xfrm>
            <a:off x="47365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Type: Dense (deep learning)</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Speed: ~100ms on GPU</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Accuracy: state of the art (AEE ~1.4px)</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Large motion: handles via 4D cost volume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Best use: when quality matters most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PyTorch: torchvision.models.optical_flow</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Section E — Key Takeaways</a:t>
            </a:r>
            <a:endParaRPr lang="en-US" sz="2800" dirty="0"/>
          </a:p>
        </p:txBody>
      </p:sp>
      <p:sp>
        <p:nvSpPr>
          <p:cNvPr id="3" name="Shape 1"/>
          <p:cNvSpPr/>
          <p:nvPr/>
        </p:nvSpPr>
        <p:spPr>
          <a:xfrm>
            <a:off x="457200" y="1051560"/>
            <a:ext cx="1920240" cy="502920"/>
          </a:xfrm>
          <a:prstGeom prst="rect">
            <a:avLst/>
          </a:prstGeom>
          <a:solidFill>
            <a:srgbClr val="7A8CC0"/>
          </a:solidFill>
          <a:ln w="12700">
            <a:solidFill>
              <a:srgbClr val="7A8CC0"/>
            </a:solidFill>
            <a:prstDash val="solid"/>
          </a:ln>
        </p:spPr>
      </p:sp>
      <p:sp>
        <p:nvSpPr>
          <p:cNvPr id="4" name="Text 2"/>
          <p:cNvSpPr/>
          <p:nvPr/>
        </p:nvSpPr>
        <p:spPr>
          <a:xfrm>
            <a:off x="457200" y="1051560"/>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E1 Optical Flow</a:t>
            </a:r>
            <a:endParaRPr lang="en-US" sz="1000" dirty="0"/>
          </a:p>
        </p:txBody>
      </p:sp>
      <p:sp>
        <p:nvSpPr>
          <p:cNvPr id="5" name="Text 3"/>
          <p:cNvSpPr/>
          <p:nvPr/>
        </p:nvSpPr>
        <p:spPr>
          <a:xfrm>
            <a:off x="2514600" y="1088136"/>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2D vector field (u,v) per pixel showing apparent motion between frames. Dense = every pixel. Sparse = keypoints only. Hard due to aperture problem, occlusions, homogeneous regions.</a:t>
            </a:r>
            <a:endParaRPr lang="en-US" sz="1100" dirty="0"/>
          </a:p>
        </p:txBody>
      </p:sp>
      <p:sp>
        <p:nvSpPr>
          <p:cNvPr id="6" name="Shape 4"/>
          <p:cNvSpPr/>
          <p:nvPr/>
        </p:nvSpPr>
        <p:spPr>
          <a:xfrm>
            <a:off x="457200" y="1709928"/>
            <a:ext cx="1920240" cy="502920"/>
          </a:xfrm>
          <a:prstGeom prst="rect">
            <a:avLst/>
          </a:prstGeom>
          <a:solidFill>
            <a:srgbClr val="7A8CC0"/>
          </a:solidFill>
          <a:ln w="12700">
            <a:solidFill>
              <a:srgbClr val="7A8CC0"/>
            </a:solidFill>
            <a:prstDash val="solid"/>
          </a:ln>
        </p:spPr>
      </p:sp>
      <p:sp>
        <p:nvSpPr>
          <p:cNvPr id="7" name="Text 5"/>
          <p:cNvSpPr/>
          <p:nvPr/>
        </p:nvSpPr>
        <p:spPr>
          <a:xfrm>
            <a:off x="457200" y="1709928"/>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E2 OFCE</a:t>
            </a:r>
            <a:endParaRPr lang="en-US" sz="1000" dirty="0"/>
          </a:p>
        </p:txBody>
      </p:sp>
      <p:sp>
        <p:nvSpPr>
          <p:cNvPr id="8" name="Text 6"/>
          <p:cNvSpPr/>
          <p:nvPr/>
        </p:nvSpPr>
        <p:spPr>
          <a:xfrm>
            <a:off x="2514600" y="1746504"/>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Brightness constancy: I(x,y,t) = I(x+u,y+v,t+1). Linearized: Ix·u + Iy·v + It = 0. One equation, two unknowns → aperture problem. Constraint = a line in (u,v) space.</a:t>
            </a:r>
            <a:endParaRPr lang="en-US" sz="1100" dirty="0"/>
          </a:p>
        </p:txBody>
      </p:sp>
      <p:sp>
        <p:nvSpPr>
          <p:cNvPr id="9" name="Shape 7"/>
          <p:cNvSpPr/>
          <p:nvPr/>
        </p:nvSpPr>
        <p:spPr>
          <a:xfrm>
            <a:off x="457200" y="2368296"/>
            <a:ext cx="1920240" cy="502920"/>
          </a:xfrm>
          <a:prstGeom prst="rect">
            <a:avLst/>
          </a:prstGeom>
          <a:solidFill>
            <a:srgbClr val="7A8CC0"/>
          </a:solidFill>
          <a:ln w="12700">
            <a:solidFill>
              <a:srgbClr val="7A8CC0"/>
            </a:solidFill>
            <a:prstDash val="solid"/>
          </a:ln>
        </p:spPr>
      </p:sp>
      <p:sp>
        <p:nvSpPr>
          <p:cNvPr id="10" name="Text 8"/>
          <p:cNvSpPr/>
          <p:nvPr/>
        </p:nvSpPr>
        <p:spPr>
          <a:xfrm>
            <a:off x="457200" y="2368296"/>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E3 Lucas-Kanade</a:t>
            </a:r>
            <a:endParaRPr lang="en-US" sz="1000" dirty="0"/>
          </a:p>
        </p:txBody>
      </p:sp>
      <p:sp>
        <p:nvSpPr>
          <p:cNvPr id="11" name="Text 9"/>
          <p:cNvSpPr/>
          <p:nvPr/>
        </p:nvSpPr>
        <p:spPr>
          <a:xfrm>
            <a:off x="2514600" y="2404872"/>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Window of N pixels → N equations, 2 unknowns → least squares [u,v] = (AᵀA)⁻¹Aᵀb. Works at corners (AᵀA invertible). Pyramidal LK handles large displacements. KLT tracks keypoints.</a:t>
            </a:r>
            <a:endParaRPr lang="en-US" sz="1100" dirty="0"/>
          </a:p>
        </p:txBody>
      </p:sp>
      <p:sp>
        <p:nvSpPr>
          <p:cNvPr id="12" name="Shape 10"/>
          <p:cNvSpPr/>
          <p:nvPr/>
        </p:nvSpPr>
        <p:spPr>
          <a:xfrm>
            <a:off x="457200" y="3026664"/>
            <a:ext cx="1920240" cy="502920"/>
          </a:xfrm>
          <a:prstGeom prst="rect">
            <a:avLst/>
          </a:prstGeom>
          <a:solidFill>
            <a:srgbClr val="7A8CC0"/>
          </a:solidFill>
          <a:ln w="12700">
            <a:solidFill>
              <a:srgbClr val="7A8CC0"/>
            </a:solidFill>
            <a:prstDash val="solid"/>
          </a:ln>
        </p:spPr>
      </p:sp>
      <p:sp>
        <p:nvSpPr>
          <p:cNvPr id="13" name="Text 11"/>
          <p:cNvSpPr/>
          <p:nvPr/>
        </p:nvSpPr>
        <p:spPr>
          <a:xfrm>
            <a:off x="457200" y="3026664"/>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E4 Horn-Schunck</a:t>
            </a:r>
            <a:endParaRPr lang="en-US" sz="1000" dirty="0"/>
          </a:p>
        </p:txBody>
      </p:sp>
      <p:sp>
        <p:nvSpPr>
          <p:cNvPr id="14" name="Text 12"/>
          <p:cNvSpPr/>
          <p:nvPr/>
        </p:nvSpPr>
        <p:spPr>
          <a:xfrm>
            <a:off x="2514600" y="3063240"/>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Minimizes E = data term + α²·smoothness penalty. Iterative Gauss-Seidel. Dense flow everywhere but bleeds across boundaries. α controls smooth/sharp tradeoff.</a:t>
            </a:r>
            <a:endParaRPr lang="en-US" sz="1100" dirty="0"/>
          </a:p>
        </p:txBody>
      </p:sp>
      <p:sp>
        <p:nvSpPr>
          <p:cNvPr id="15" name="Shape 13"/>
          <p:cNvSpPr/>
          <p:nvPr/>
        </p:nvSpPr>
        <p:spPr>
          <a:xfrm>
            <a:off x="457200" y="3685032"/>
            <a:ext cx="1920240" cy="502920"/>
          </a:xfrm>
          <a:prstGeom prst="rect">
            <a:avLst/>
          </a:prstGeom>
          <a:solidFill>
            <a:srgbClr val="7A8CC0"/>
          </a:solidFill>
          <a:ln w="12700">
            <a:solidFill>
              <a:srgbClr val="7A8CC0"/>
            </a:solidFill>
            <a:prstDash val="solid"/>
          </a:ln>
        </p:spPr>
      </p:sp>
      <p:sp>
        <p:nvSpPr>
          <p:cNvPr id="16" name="Text 14"/>
          <p:cNvSpPr/>
          <p:nvPr/>
        </p:nvSpPr>
        <p:spPr>
          <a:xfrm>
            <a:off x="457200" y="3685032"/>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E5 Deep Flow</a:t>
            </a:r>
            <a:endParaRPr lang="en-US" sz="1000" dirty="0"/>
          </a:p>
        </p:txBody>
      </p:sp>
      <p:sp>
        <p:nvSpPr>
          <p:cNvPr id="17" name="Text 15"/>
          <p:cNvSpPr/>
          <p:nvPr/>
        </p:nvSpPr>
        <p:spPr>
          <a:xfrm>
            <a:off x="2514600" y="3721608"/>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FlowNet: encoder-decoder on concatenated frames. RAFT: 4D cost volume + GRU iterations. AEE ~1.4px on Sintel — 3× better than classical. Trained on synthetic data.</a:t>
            </a:r>
            <a:endParaRPr lang="en-US" sz="1100" dirty="0"/>
          </a:p>
        </p:txBody>
      </p:sp>
      <p:sp>
        <p:nvSpPr>
          <p:cNvPr id="18" name="Shape 16"/>
          <p:cNvSpPr/>
          <p:nvPr/>
        </p:nvSpPr>
        <p:spPr>
          <a:xfrm>
            <a:off x="457200" y="4343400"/>
            <a:ext cx="1920240" cy="502920"/>
          </a:xfrm>
          <a:prstGeom prst="rect">
            <a:avLst/>
          </a:prstGeom>
          <a:solidFill>
            <a:srgbClr val="7A8CC0"/>
          </a:solidFill>
          <a:ln w="12700">
            <a:solidFill>
              <a:srgbClr val="7A8CC0"/>
            </a:solidFill>
            <a:prstDash val="solid"/>
          </a:ln>
        </p:spPr>
      </p:sp>
      <p:sp>
        <p:nvSpPr>
          <p:cNvPr id="19" name="Text 17"/>
          <p:cNvSpPr/>
          <p:nvPr/>
        </p:nvSpPr>
        <p:spPr>
          <a:xfrm>
            <a:off x="457200" y="4343400"/>
            <a:ext cx="19202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E6 Applications</a:t>
            </a:r>
            <a:endParaRPr lang="en-US" sz="1000" dirty="0"/>
          </a:p>
        </p:txBody>
      </p:sp>
      <p:sp>
        <p:nvSpPr>
          <p:cNvPr id="20" name="Text 18"/>
          <p:cNvSpPr/>
          <p:nvPr/>
        </p:nvSpPr>
        <p:spPr>
          <a:xfrm>
            <a:off x="2514600" y="4379976"/>
            <a:ext cx="6309360" cy="45720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Two-stream networks: spatial (RGB) + temporal (flow) CNN → late fusion → action class. Stacked L=10 flow maps as 20-channel input. Modern: 3D CNNs (SlowFast) skip explicit flow.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Section E — Optical Flow &amp; Motion</dc:title>
  <dc:subject>PptxGenJS Presentation</dc:subject>
  <dc:creator>PptxGenJS</dc:creator>
  <cp:lastModifiedBy>PptxGenJS</cp:lastModifiedBy>
  <cp:revision>1</cp:revision>
  <dcterms:created xsi:type="dcterms:W3CDTF">2026-03-09T17:30:40Z</dcterms:created>
  <dcterms:modified xsi:type="dcterms:W3CDTF">2026-03-09T17:30:40Z</dcterms:modified>
</cp:coreProperties>
</file>