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67" r:id="rId3"/>
    <p:sldId id="369" r:id="rId4"/>
    <p:sldId id="368" r:id="rId5"/>
    <p:sldId id="390" r:id="rId6"/>
    <p:sldId id="389" r:id="rId7"/>
    <p:sldId id="385" r:id="rId8"/>
    <p:sldId id="386" r:id="rId9"/>
    <p:sldId id="377" r:id="rId10"/>
    <p:sldId id="427" r:id="rId11"/>
    <p:sldId id="373" r:id="rId12"/>
    <p:sldId id="374" r:id="rId13"/>
    <p:sldId id="383" r:id="rId14"/>
    <p:sldId id="376" r:id="rId15"/>
    <p:sldId id="391" r:id="rId16"/>
    <p:sldId id="392" r:id="rId17"/>
    <p:sldId id="393" r:id="rId18"/>
    <p:sldId id="394" r:id="rId19"/>
    <p:sldId id="395" r:id="rId20"/>
    <p:sldId id="396" r:id="rId21"/>
    <p:sldId id="397" r:id="rId22"/>
    <p:sldId id="424" r:id="rId23"/>
    <p:sldId id="398" r:id="rId24"/>
    <p:sldId id="399" r:id="rId25"/>
    <p:sldId id="400" r:id="rId26"/>
    <p:sldId id="401" r:id="rId27"/>
    <p:sldId id="402" r:id="rId28"/>
    <p:sldId id="403" r:id="rId29"/>
    <p:sldId id="404" r:id="rId30"/>
    <p:sldId id="405" r:id="rId31"/>
    <p:sldId id="406" r:id="rId32"/>
    <p:sldId id="407" r:id="rId33"/>
    <p:sldId id="408" r:id="rId34"/>
    <p:sldId id="425" r:id="rId35"/>
    <p:sldId id="428" r:id="rId36"/>
    <p:sldId id="409" r:id="rId37"/>
    <p:sldId id="410" r:id="rId38"/>
    <p:sldId id="411" r:id="rId39"/>
    <p:sldId id="412" r:id="rId40"/>
    <p:sldId id="429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187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192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1131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872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136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6754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3226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124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032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709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037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942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CLUSTERING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778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4000" b="1" dirty="0"/>
              <a:t> </a:t>
            </a:r>
            <a:r>
              <a:rPr lang="en-US" sz="4000" b="1" dirty="0"/>
              <a:t>K-MEANS </a:t>
            </a:r>
            <a:r>
              <a:rPr lang="en-US" sz="4000" b="1" dirty="0" smtClean="0"/>
              <a:t>CLUSTERING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4000" b="1" dirty="0"/>
          </a:p>
          <a:p>
            <a:pPr marL="0" indent="0">
              <a:buNone/>
            </a:pPr>
            <a:r>
              <a:rPr lang="en-US" sz="4000" b="1" dirty="0" smtClean="0"/>
              <a:t>1</a:t>
            </a:r>
            <a:r>
              <a:rPr lang="en-US" sz="4000" b="1" dirty="0" smtClean="0"/>
              <a:t>. </a:t>
            </a:r>
            <a:r>
              <a:rPr lang="en-US" sz="4000" b="1" dirty="0"/>
              <a:t>What is K-Means</a:t>
            </a:r>
          </a:p>
          <a:p>
            <a:pPr lvl="1"/>
            <a:r>
              <a:rPr lang="en-US" sz="3600" dirty="0"/>
              <a:t>K-Means is an </a:t>
            </a:r>
            <a:r>
              <a:rPr lang="en-US" sz="3600" b="1" dirty="0"/>
              <a:t>unsupervised clustering algorithm</a:t>
            </a:r>
            <a:r>
              <a:rPr lang="en-US" sz="3600" dirty="0"/>
              <a:t> that partitions data into </a:t>
            </a:r>
            <a:r>
              <a:rPr lang="en-US" sz="3600" b="1" dirty="0"/>
              <a:t>K clusters</a:t>
            </a:r>
            <a:r>
              <a:rPr lang="en-US" sz="3600" dirty="0"/>
              <a:t>, where each data point belongs to the cluster with the </a:t>
            </a:r>
            <a:r>
              <a:rPr lang="en-US" sz="3600" b="1" dirty="0"/>
              <a:t>nearest centroid</a:t>
            </a:r>
            <a:r>
              <a:rPr lang="en-US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3978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2. Purpose</a:t>
            </a:r>
          </a:p>
          <a:p>
            <a:pPr lvl="1"/>
            <a:r>
              <a:rPr lang="en-US" sz="3600" b="1" dirty="0"/>
              <a:t>To group similar data points together</a:t>
            </a:r>
            <a:r>
              <a:rPr lang="en-US" sz="3600" dirty="0"/>
              <a:t> based on distance, minimizing intra-cluster variance.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75210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3. Why it is Used</a:t>
            </a:r>
          </a:p>
          <a:p>
            <a:pPr lvl="1"/>
            <a:r>
              <a:rPr lang="en-US" sz="3600" dirty="0"/>
              <a:t>Simple and </a:t>
            </a:r>
            <a:r>
              <a:rPr lang="en-US" sz="3600" dirty="0" smtClean="0"/>
              <a:t>fast</a:t>
            </a:r>
          </a:p>
          <a:p>
            <a:pPr lvl="1"/>
            <a:r>
              <a:rPr lang="en-US" sz="3600" dirty="0" smtClean="0"/>
              <a:t>Scales </a:t>
            </a:r>
            <a:r>
              <a:rPr lang="en-US" sz="3600" dirty="0"/>
              <a:t>well to large </a:t>
            </a:r>
            <a:r>
              <a:rPr lang="en-US" sz="3600" dirty="0" smtClean="0"/>
              <a:t>datasets</a:t>
            </a:r>
          </a:p>
          <a:p>
            <a:pPr lvl="1"/>
            <a:r>
              <a:rPr lang="en-US" sz="3600" dirty="0" smtClean="0"/>
              <a:t>Easy </a:t>
            </a:r>
            <a:r>
              <a:rPr lang="en-US" sz="3600" dirty="0"/>
              <a:t>to implement and </a:t>
            </a:r>
            <a:r>
              <a:rPr lang="en-US" sz="3600" dirty="0" smtClean="0"/>
              <a:t>interpret</a:t>
            </a:r>
          </a:p>
          <a:p>
            <a:pPr lvl="1"/>
            <a:r>
              <a:rPr lang="en-US" sz="3600" dirty="0" smtClean="0"/>
              <a:t>Effective </a:t>
            </a:r>
            <a:r>
              <a:rPr lang="en-US" sz="3600" dirty="0"/>
              <a:t>when clusters are spherical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265102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4. </a:t>
            </a:r>
            <a:r>
              <a:rPr lang="en-US" sz="3600" b="1" dirty="0"/>
              <a:t>How K-Means Works (Algorithm)</a:t>
            </a:r>
          </a:p>
          <a:p>
            <a:pPr lvl="1"/>
            <a:r>
              <a:rPr lang="en-US" sz="3200" dirty="0"/>
              <a:t>Choose number of clusters </a:t>
            </a:r>
            <a:r>
              <a:rPr lang="en-US" sz="3200" b="1" dirty="0"/>
              <a:t>K</a:t>
            </a:r>
            <a:endParaRPr lang="en-US" sz="3200" dirty="0"/>
          </a:p>
          <a:p>
            <a:pPr lvl="1"/>
            <a:r>
              <a:rPr lang="en-US" sz="3200" dirty="0"/>
              <a:t>Randomly initialize </a:t>
            </a:r>
            <a:r>
              <a:rPr lang="en-US" sz="3200" b="1" dirty="0"/>
              <a:t>K centroids</a:t>
            </a:r>
            <a:endParaRPr lang="en-US" sz="3200" dirty="0"/>
          </a:p>
          <a:p>
            <a:pPr lvl="1"/>
            <a:r>
              <a:rPr lang="en-US" sz="3200" dirty="0"/>
              <a:t>Assign each data point to nearest centroid</a:t>
            </a:r>
          </a:p>
          <a:p>
            <a:pPr lvl="1"/>
            <a:r>
              <a:rPr lang="en-US" sz="3200" dirty="0" err="1"/>
              <a:t>Recompute</a:t>
            </a:r>
            <a:r>
              <a:rPr lang="en-US" sz="3200" dirty="0"/>
              <a:t> centroids as cluster mean</a:t>
            </a:r>
          </a:p>
          <a:p>
            <a:pPr lvl="1"/>
            <a:r>
              <a:rPr lang="en-US" sz="3200" dirty="0"/>
              <a:t>Repeat until convergence</a:t>
            </a:r>
          </a:p>
        </p:txBody>
      </p:sp>
    </p:spTree>
    <p:extLst>
      <p:ext uri="{BB962C8B-B14F-4D97-AF65-F5344CB8AC3E}">
        <p14:creationId xmlns:p14="http://schemas.microsoft.com/office/powerpoint/2010/main" val="1808076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5</a:t>
            </a:r>
            <a:r>
              <a:rPr lang="en-US" sz="3600" b="1" dirty="0" smtClean="0"/>
              <a:t>. </a:t>
            </a:r>
            <a:r>
              <a:rPr lang="en-IN" sz="3600" b="1" dirty="0"/>
              <a:t>Formula</a:t>
            </a:r>
          </a:p>
          <a:p>
            <a:pPr marL="457200" lvl="1" indent="0">
              <a:buNone/>
            </a:pPr>
            <a:r>
              <a:rPr lang="en-IN" sz="3200" b="1" dirty="0"/>
              <a:t>Objective Function (Within-Cluster Sum of Squares):</a:t>
            </a:r>
          </a:p>
          <a:p>
            <a:pPr lvl="1"/>
            <a:r>
              <a:rPr lang="en-IN" sz="3200" dirty="0"/>
              <a:t>J=∑</a:t>
            </a:r>
            <a:r>
              <a:rPr lang="en-IN" sz="3200" dirty="0" err="1"/>
              <a:t>i</a:t>
            </a:r>
            <a:r>
              <a:rPr lang="en-IN" sz="3200" dirty="0"/>
              <a:t>=1K∑x∈Ci∥x−</a:t>
            </a:r>
            <a:r>
              <a:rPr lang="el-GR" sz="3200" dirty="0"/>
              <a:t>μ</a:t>
            </a:r>
            <a:r>
              <a:rPr lang="en-IN" sz="3200" dirty="0" err="1"/>
              <a:t>i</a:t>
            </a:r>
            <a:r>
              <a:rPr lang="en-IN" sz="3200" dirty="0" smtClean="0"/>
              <a:t>∥^2</a:t>
            </a:r>
          </a:p>
          <a:p>
            <a:pPr marL="457200" lvl="1" indent="0">
              <a:buNone/>
            </a:pPr>
            <a:r>
              <a:rPr lang="en-IN" sz="3200" dirty="0" smtClean="0"/>
              <a:t>Where</a:t>
            </a:r>
            <a:r>
              <a:rPr lang="en-IN" sz="3200" dirty="0"/>
              <a:t>:</a:t>
            </a:r>
          </a:p>
          <a:p>
            <a:pPr lvl="1"/>
            <a:r>
              <a:rPr lang="en-IN" sz="3200" dirty="0" smtClean="0"/>
              <a:t>Ci​ </a:t>
            </a:r>
            <a:r>
              <a:rPr lang="en-IN" sz="3200" dirty="0"/>
              <a:t>= cluster</a:t>
            </a:r>
          </a:p>
          <a:p>
            <a:pPr lvl="1"/>
            <a:r>
              <a:rPr lang="el-GR" sz="3200" dirty="0" smtClean="0"/>
              <a:t>μ</a:t>
            </a:r>
            <a:r>
              <a:rPr lang="en-IN" sz="3200" dirty="0" err="1" smtClean="0"/>
              <a:t>i</a:t>
            </a:r>
            <a:r>
              <a:rPr lang="en-IN" sz="3200" dirty="0" smtClean="0"/>
              <a:t> = </a:t>
            </a:r>
            <a:r>
              <a:rPr lang="en-IN" sz="3200" dirty="0"/>
              <a:t>centroid</a:t>
            </a:r>
          </a:p>
        </p:txBody>
      </p:sp>
    </p:spTree>
    <p:extLst>
      <p:ext uri="{BB962C8B-B14F-4D97-AF65-F5344CB8AC3E}">
        <p14:creationId xmlns:p14="http://schemas.microsoft.com/office/powerpoint/2010/main" val="3250895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600" b="1" dirty="0"/>
              <a:t>6. </a:t>
            </a:r>
            <a:r>
              <a:rPr lang="en-US" sz="3600" b="1" dirty="0"/>
              <a:t>Technical Details</a:t>
            </a:r>
          </a:p>
          <a:p>
            <a:pPr lvl="1"/>
            <a:r>
              <a:rPr lang="en-US" sz="3200" dirty="0"/>
              <a:t>Distance metric: </a:t>
            </a:r>
            <a:r>
              <a:rPr lang="en-US" sz="3200" b="1" dirty="0"/>
              <a:t>Euclidean</a:t>
            </a:r>
            <a:endParaRPr lang="en-US" sz="3200" dirty="0"/>
          </a:p>
          <a:p>
            <a:pPr lvl="1"/>
            <a:r>
              <a:rPr lang="en-US" sz="3200" dirty="0"/>
              <a:t>Convergence when centroids stop moving</a:t>
            </a:r>
          </a:p>
          <a:p>
            <a:pPr lvl="1"/>
            <a:r>
              <a:rPr lang="en-US" sz="3200" dirty="0"/>
              <a:t>Sensitive to initialization</a:t>
            </a:r>
          </a:p>
        </p:txBody>
      </p:sp>
    </p:spTree>
    <p:extLst>
      <p:ext uri="{BB962C8B-B14F-4D97-AF65-F5344CB8AC3E}">
        <p14:creationId xmlns:p14="http://schemas.microsoft.com/office/powerpoint/2010/main" val="673089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600" b="1" dirty="0"/>
              <a:t>7. </a:t>
            </a:r>
            <a:r>
              <a:rPr lang="en-US" sz="3600" b="1" dirty="0" smtClean="0"/>
              <a:t>Parameters</a:t>
            </a:r>
            <a:endParaRPr lang="en-US" sz="3600" b="1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8088554"/>
              </p:ext>
            </p:extLst>
          </p:nvPr>
        </p:nvGraphicFramePr>
        <p:xfrm>
          <a:off x="1165746" y="1460311"/>
          <a:ext cx="8851710" cy="4312690"/>
        </p:xfrm>
        <a:graphic>
          <a:graphicData uri="http://schemas.openxmlformats.org/drawingml/2006/table">
            <a:tbl>
              <a:tblPr/>
              <a:tblGrid>
                <a:gridCol w="4425855"/>
                <a:gridCol w="4425855"/>
              </a:tblGrid>
              <a:tr h="862538">
                <a:tc>
                  <a:txBody>
                    <a:bodyPr/>
                    <a:lstStyle/>
                    <a:p>
                      <a:r>
                        <a:rPr lang="en-IN" b="1"/>
                        <a:t>Parameter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2538">
                <a:tc>
                  <a:txBody>
                    <a:bodyPr/>
                    <a:lstStyle/>
                    <a:p>
                      <a:r>
                        <a:rPr lang="en-IN" b="1"/>
                        <a:t>n_clusters (K)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Number of clusters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2538">
                <a:tc>
                  <a:txBody>
                    <a:bodyPr/>
                    <a:lstStyle/>
                    <a:p>
                      <a:r>
                        <a:rPr lang="en-IN" b="1"/>
                        <a:t>init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Centroid initialization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2538">
                <a:tc>
                  <a:txBody>
                    <a:bodyPr/>
                    <a:lstStyle/>
                    <a:p>
                      <a:r>
                        <a:rPr lang="en-IN" b="1"/>
                        <a:t>max_iter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Maximum iterations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2538">
                <a:tc>
                  <a:txBody>
                    <a:bodyPr/>
                    <a:lstStyle/>
                    <a:p>
                      <a:r>
                        <a:rPr lang="en-IN" b="1" dirty="0" err="1"/>
                        <a:t>tol</a:t>
                      </a:r>
                      <a:endParaRPr lang="en-IN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Convergence threshold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8149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https://media.geeksforgeeks.org/wp-content/uploads/20240701170624/Random-Forest-Algorithm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4" descr="https://media.geeksforgeeks.org/wp-content/uploads/20251216121929631349/random_forest_algorithm.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074" name="Picture 2" descr="https://miro.medium.com/v2/resize:fit:1400/1*igBfOi1IFWA_H3aNZG0bzQ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6029" y="435567"/>
            <a:ext cx="8848649" cy="5896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6192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https://media.geeksforgeeks.org/wp-content/uploads/20240701170624/Random-Forest-Algorithm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4" descr="https://media.geeksforgeeks.org/wp-content/uploads/20251216121929631349/random_forest_algorithm.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098" name="Picture 2" descr="https://media.geeksforgeeks.org/wp-content/uploads/20230904101155/Screenshot-2023-08-31-181724-(1)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322" y="312738"/>
            <a:ext cx="8816454" cy="6308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3457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8</a:t>
            </a:r>
            <a:r>
              <a:rPr lang="en-US" sz="4000" b="1" dirty="0" smtClean="0"/>
              <a:t>. </a:t>
            </a:r>
            <a:r>
              <a:rPr lang="en-US" sz="4000" b="1" dirty="0"/>
              <a:t>Pros</a:t>
            </a:r>
          </a:p>
          <a:p>
            <a:pPr lvl="1"/>
            <a:r>
              <a:rPr lang="en-US" sz="3600" dirty="0"/>
              <a:t>Fast and scalable</a:t>
            </a:r>
          </a:p>
          <a:p>
            <a:pPr lvl="1"/>
            <a:r>
              <a:rPr lang="en-US" sz="3600" dirty="0"/>
              <a:t>Easy to understand</a:t>
            </a:r>
          </a:p>
          <a:p>
            <a:pPr lvl="1"/>
            <a:r>
              <a:rPr lang="en-US" sz="3600" dirty="0"/>
              <a:t>Efficient for large datasets</a:t>
            </a:r>
          </a:p>
        </p:txBody>
      </p:sp>
    </p:spTree>
    <p:extLst>
      <p:ext uri="{BB962C8B-B14F-4D97-AF65-F5344CB8AC3E}">
        <p14:creationId xmlns:p14="http://schemas.microsoft.com/office/powerpoint/2010/main" val="1563962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9</a:t>
            </a:r>
            <a:r>
              <a:rPr lang="en-US" sz="4000" b="1" dirty="0" smtClean="0"/>
              <a:t>. </a:t>
            </a:r>
            <a:r>
              <a:rPr lang="en-US" sz="4000" b="1" dirty="0"/>
              <a:t>Cons</a:t>
            </a:r>
          </a:p>
          <a:p>
            <a:pPr lvl="1"/>
            <a:r>
              <a:rPr lang="en-US" sz="3600" dirty="0"/>
              <a:t>Must choose K beforehand</a:t>
            </a:r>
          </a:p>
          <a:p>
            <a:pPr lvl="1"/>
            <a:r>
              <a:rPr lang="en-US" sz="3600" dirty="0"/>
              <a:t>Sensitive to outliers</a:t>
            </a:r>
          </a:p>
          <a:p>
            <a:pPr lvl="1"/>
            <a:r>
              <a:rPr lang="en-US" sz="3600" dirty="0"/>
              <a:t>Fails on non-spherical clusters</a:t>
            </a:r>
          </a:p>
          <a:p>
            <a:pPr lvl="1"/>
            <a:r>
              <a:rPr lang="en-US" sz="3600" dirty="0"/>
              <a:t>Sensitive to initialization</a:t>
            </a:r>
          </a:p>
        </p:txBody>
      </p:sp>
    </p:spTree>
    <p:extLst>
      <p:ext uri="{BB962C8B-B14F-4D97-AF65-F5344CB8AC3E}">
        <p14:creationId xmlns:p14="http://schemas.microsoft.com/office/powerpoint/2010/main" val="414998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4000" b="1" dirty="0" smtClean="0"/>
              <a:t>10. </a:t>
            </a:r>
            <a:r>
              <a:rPr lang="en-US" sz="4000" b="1" dirty="0"/>
              <a:t>Real-World Applications</a:t>
            </a:r>
          </a:p>
          <a:p>
            <a:pPr lvl="1"/>
            <a:r>
              <a:rPr lang="en-US" sz="3600" dirty="0"/>
              <a:t>Customer segmentation</a:t>
            </a:r>
          </a:p>
          <a:p>
            <a:pPr lvl="1"/>
            <a:r>
              <a:rPr lang="en-US" sz="3600" dirty="0"/>
              <a:t>Image compression</a:t>
            </a:r>
          </a:p>
          <a:p>
            <a:pPr lvl="1"/>
            <a:r>
              <a:rPr lang="en-US" sz="3600" dirty="0"/>
              <a:t>Market basket analysis</a:t>
            </a:r>
          </a:p>
          <a:p>
            <a:pPr lvl="1"/>
            <a:r>
              <a:rPr lang="en-US" sz="3600" dirty="0"/>
              <a:t>Document clustering</a:t>
            </a:r>
          </a:p>
        </p:txBody>
      </p:sp>
    </p:spTree>
    <p:extLst>
      <p:ext uri="{BB962C8B-B14F-4D97-AF65-F5344CB8AC3E}">
        <p14:creationId xmlns:p14="http://schemas.microsoft.com/office/powerpoint/2010/main" val="3844668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Summary</a:t>
            </a:r>
          </a:p>
          <a:p>
            <a:pPr lvl="1"/>
            <a:r>
              <a:rPr lang="en-US" sz="3600" dirty="0"/>
              <a:t>K-Means groups data into </a:t>
            </a:r>
            <a:r>
              <a:rPr lang="en-US" sz="3600" b="1" dirty="0"/>
              <a:t>K distance-based clusters</a:t>
            </a:r>
            <a:r>
              <a:rPr lang="en-US" sz="3600" dirty="0"/>
              <a:t> by minimizing within-cluster variance.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761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4000" b="1" dirty="0" smtClean="0"/>
              <a:t> </a:t>
            </a:r>
            <a:r>
              <a:rPr lang="en-US" sz="4000" b="1" dirty="0"/>
              <a:t>HIERARCHICAL </a:t>
            </a:r>
            <a:r>
              <a:rPr lang="en-US" sz="4000" b="1" dirty="0" smtClean="0"/>
              <a:t>CLUSTERING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4000" b="1" dirty="0"/>
          </a:p>
          <a:p>
            <a:pPr marL="0" indent="0">
              <a:buNone/>
            </a:pPr>
            <a:r>
              <a:rPr lang="en-US" sz="4000" b="1" dirty="0" smtClean="0"/>
              <a:t>1</a:t>
            </a:r>
            <a:r>
              <a:rPr lang="en-US" sz="4000" b="1" dirty="0" smtClean="0"/>
              <a:t>. </a:t>
            </a:r>
            <a:r>
              <a:rPr lang="en-US" sz="4000" b="1" dirty="0"/>
              <a:t>What is Hierarchical Clustering</a:t>
            </a:r>
          </a:p>
          <a:p>
            <a:pPr lvl="1"/>
            <a:r>
              <a:rPr lang="en-US" sz="3600" dirty="0"/>
              <a:t>Hierarchical Clustering builds a </a:t>
            </a:r>
            <a:r>
              <a:rPr lang="en-US" sz="3600" b="1" dirty="0"/>
              <a:t>tree-like structure (</a:t>
            </a:r>
            <a:r>
              <a:rPr lang="en-US" sz="3600" b="1" dirty="0" err="1"/>
              <a:t>dendrogram</a:t>
            </a:r>
            <a:r>
              <a:rPr lang="en-US" sz="3600" b="1" dirty="0"/>
              <a:t>)</a:t>
            </a:r>
            <a:r>
              <a:rPr lang="en-US" sz="3600" dirty="0"/>
              <a:t> that represents nested clusters </a:t>
            </a:r>
            <a:r>
              <a:rPr lang="en-US" sz="3600" b="1" dirty="0"/>
              <a:t>without requiring K beforehand</a:t>
            </a:r>
            <a:r>
              <a:rPr lang="en-US" sz="3600" dirty="0"/>
              <a:t>.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1066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 smtClean="0"/>
              <a:t>2. </a:t>
            </a:r>
            <a:r>
              <a:rPr lang="en-US" sz="4000" b="1" dirty="0"/>
              <a:t>Purpose</a:t>
            </a:r>
          </a:p>
          <a:p>
            <a:pPr lvl="1"/>
            <a:r>
              <a:rPr lang="en-US" sz="3600" b="1" dirty="0"/>
              <a:t>To discover natural grouping structures</a:t>
            </a:r>
            <a:r>
              <a:rPr lang="en-US" sz="3600" dirty="0"/>
              <a:t> and cluster hierarchy in data.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0852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 smtClean="0"/>
              <a:t>3. </a:t>
            </a:r>
            <a:r>
              <a:rPr lang="en-US" sz="4000" b="1" dirty="0"/>
              <a:t>Why it is Used</a:t>
            </a:r>
          </a:p>
          <a:p>
            <a:pPr lvl="1"/>
            <a:r>
              <a:rPr lang="en-US" sz="3600" dirty="0"/>
              <a:t>No need to predefine number of clusters</a:t>
            </a:r>
          </a:p>
          <a:p>
            <a:pPr lvl="1"/>
            <a:r>
              <a:rPr lang="en-US" sz="3600" dirty="0"/>
              <a:t>Produces interpretable </a:t>
            </a:r>
            <a:r>
              <a:rPr lang="en-US" sz="3600" dirty="0" err="1"/>
              <a:t>dendrogram</a:t>
            </a:r>
            <a:endParaRPr lang="en-US" sz="3600" dirty="0"/>
          </a:p>
          <a:p>
            <a:pPr lvl="1"/>
            <a:r>
              <a:rPr lang="en-US" sz="3600" dirty="0"/>
              <a:t>Works well for small datasets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07999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 smtClean="0"/>
              <a:t>4. </a:t>
            </a:r>
            <a:r>
              <a:rPr lang="en-US" sz="4000" b="1" dirty="0"/>
              <a:t>How Hierarchical Clustering Works</a:t>
            </a:r>
          </a:p>
          <a:p>
            <a:pPr marL="457200" lvl="1" indent="0">
              <a:buNone/>
            </a:pPr>
            <a:r>
              <a:rPr lang="en-US" sz="3600" b="1" dirty="0"/>
              <a:t>Types:</a:t>
            </a:r>
          </a:p>
          <a:p>
            <a:pPr lvl="1"/>
            <a:r>
              <a:rPr lang="en-US" sz="3600" b="1" dirty="0"/>
              <a:t>Agglomerative (Bottom-Up)</a:t>
            </a:r>
            <a:endParaRPr lang="en-US" sz="3600" dirty="0"/>
          </a:p>
          <a:p>
            <a:pPr lvl="1"/>
            <a:r>
              <a:rPr lang="en-US" sz="3600" b="1" dirty="0"/>
              <a:t>Divisive (Top-Down)</a:t>
            </a:r>
            <a:endParaRPr lang="en-US" sz="3600" dirty="0"/>
          </a:p>
          <a:p>
            <a:pPr marL="457200" lvl="1" indent="0">
              <a:buNone/>
            </a:pPr>
            <a:r>
              <a:rPr lang="en-US" sz="3600" b="1" dirty="0"/>
              <a:t>Agglomerative Algorithm:</a:t>
            </a:r>
          </a:p>
          <a:p>
            <a:pPr lvl="1"/>
            <a:r>
              <a:rPr lang="en-US" sz="3600" dirty="0"/>
              <a:t>Start with each point as its own cluster</a:t>
            </a:r>
          </a:p>
          <a:p>
            <a:pPr lvl="1"/>
            <a:r>
              <a:rPr lang="en-US" sz="3600" dirty="0"/>
              <a:t>Merge closest clusters</a:t>
            </a:r>
          </a:p>
          <a:p>
            <a:pPr lvl="1"/>
            <a:r>
              <a:rPr lang="en-US" sz="3600" dirty="0"/>
              <a:t>Repeat until one cluster remains</a:t>
            </a:r>
          </a:p>
          <a:p>
            <a:pPr lvl="1"/>
            <a:r>
              <a:rPr lang="en-US" sz="3600" dirty="0"/>
              <a:t>Cut </a:t>
            </a:r>
            <a:r>
              <a:rPr lang="en-US" sz="3600" dirty="0" err="1"/>
              <a:t>dendrogram</a:t>
            </a:r>
            <a:r>
              <a:rPr lang="en-US" sz="3600" dirty="0"/>
              <a:t> at desired level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244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4000" b="1" dirty="0" smtClean="0"/>
              <a:t>5. </a:t>
            </a:r>
            <a:r>
              <a:rPr lang="en-IN" sz="4000" b="1" dirty="0"/>
              <a:t>Formula </a:t>
            </a:r>
            <a:endParaRPr lang="en-IN" sz="4000" b="1" dirty="0" smtClean="0"/>
          </a:p>
          <a:p>
            <a:pPr marL="457200" lvl="1" indent="0">
              <a:buNone/>
            </a:pPr>
            <a:r>
              <a:rPr lang="en-IN" sz="3600" b="1" dirty="0" smtClean="0"/>
              <a:t>Ward’s Method</a:t>
            </a:r>
            <a:endParaRPr lang="en-IN" sz="3600" b="1" dirty="0"/>
          </a:p>
          <a:p>
            <a:pPr lvl="1"/>
            <a:r>
              <a:rPr lang="el-GR" sz="3600" dirty="0"/>
              <a:t>Δ</a:t>
            </a:r>
            <a:r>
              <a:rPr lang="en-IN" sz="3600" dirty="0" smtClean="0"/>
              <a:t>ESS={n1n2/n1+n2}∥</a:t>
            </a:r>
            <a:r>
              <a:rPr lang="el-GR" sz="3600" dirty="0"/>
              <a:t>μ1−μ2</a:t>
            </a:r>
            <a:r>
              <a:rPr lang="el-GR" sz="3600" dirty="0" smtClean="0"/>
              <a:t>∥</a:t>
            </a:r>
            <a:r>
              <a:rPr lang="en-US" sz="3600" dirty="0" smtClean="0"/>
              <a:t>^</a:t>
            </a:r>
            <a:r>
              <a:rPr lang="el-GR" sz="3600" dirty="0" smtClean="0"/>
              <a:t>2</a:t>
            </a:r>
            <a:endParaRPr lang="en-IN" sz="3200" dirty="0"/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9906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4000" b="1" dirty="0"/>
              <a:t>6</a:t>
            </a:r>
            <a:r>
              <a:rPr lang="en-IN" sz="4000" b="1" dirty="0" smtClean="0"/>
              <a:t>. </a:t>
            </a:r>
            <a:r>
              <a:rPr lang="en-US" sz="4000" b="1" dirty="0"/>
              <a:t>Technical Details</a:t>
            </a:r>
          </a:p>
          <a:p>
            <a:pPr lvl="1"/>
            <a:r>
              <a:rPr lang="en-US" sz="3600" dirty="0"/>
              <a:t>Time complexity: </a:t>
            </a:r>
            <a:r>
              <a:rPr lang="en-US" sz="3600" b="1" dirty="0"/>
              <a:t>O(n³)</a:t>
            </a:r>
            <a:r>
              <a:rPr lang="en-US" sz="3600" dirty="0"/>
              <a:t> (naive)</a:t>
            </a:r>
          </a:p>
          <a:p>
            <a:pPr lvl="1"/>
            <a:r>
              <a:rPr lang="en-US" sz="3600" dirty="0"/>
              <a:t>Memory intensive</a:t>
            </a:r>
          </a:p>
          <a:p>
            <a:pPr lvl="1"/>
            <a:r>
              <a:rPr lang="en-US" sz="3600" dirty="0"/>
              <a:t>Distance matrix required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13054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4000" b="1" dirty="0" smtClean="0"/>
              <a:t>7. </a:t>
            </a:r>
            <a:r>
              <a:rPr lang="en-US" sz="4000" b="1" dirty="0" smtClean="0"/>
              <a:t>Parameters</a:t>
            </a:r>
            <a:endParaRPr lang="en-US" sz="4000" b="1" dirty="0"/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05382"/>
              </p:ext>
            </p:extLst>
          </p:nvPr>
        </p:nvGraphicFramePr>
        <p:xfrm>
          <a:off x="1178824" y="1514902"/>
          <a:ext cx="9834352" cy="4244456"/>
        </p:xfrm>
        <a:graphic>
          <a:graphicData uri="http://schemas.openxmlformats.org/drawingml/2006/table">
            <a:tbl>
              <a:tblPr/>
              <a:tblGrid>
                <a:gridCol w="4917176"/>
                <a:gridCol w="4917176"/>
              </a:tblGrid>
              <a:tr h="1061114">
                <a:tc>
                  <a:txBody>
                    <a:bodyPr/>
                    <a:lstStyle/>
                    <a:p>
                      <a:r>
                        <a:rPr lang="en-IN" b="1"/>
                        <a:t>Parameter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1114">
                <a:tc>
                  <a:txBody>
                    <a:bodyPr/>
                    <a:lstStyle/>
                    <a:p>
                      <a:r>
                        <a:rPr lang="en-IN" b="1"/>
                        <a:t>linkage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Merge criterion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1114">
                <a:tc>
                  <a:txBody>
                    <a:bodyPr/>
                    <a:lstStyle/>
                    <a:p>
                      <a:r>
                        <a:rPr lang="en-IN" b="1"/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Distance measure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1114">
                <a:tc>
                  <a:txBody>
                    <a:bodyPr/>
                    <a:lstStyle/>
                    <a:p>
                      <a:r>
                        <a:rPr lang="en-IN" b="1" dirty="0" err="1"/>
                        <a:t>n_clusters</a:t>
                      </a:r>
                      <a:endParaRPr lang="en-IN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Optional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386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146" name="Picture 2" descr="https://www.kdnuggets.com/wp-content/uploads/c_unveiling_hidden_patterns_introduction_hierarchical_clustering_9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00"/>
          <a:stretch/>
        </p:blipFill>
        <p:spPr bwMode="auto">
          <a:xfrm>
            <a:off x="155575" y="1223891"/>
            <a:ext cx="11938218" cy="4781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58027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 smtClean="0"/>
              <a:t>8. </a:t>
            </a:r>
            <a:r>
              <a:rPr lang="en-US" sz="4000" b="1" dirty="0"/>
              <a:t>Pros</a:t>
            </a:r>
          </a:p>
          <a:p>
            <a:pPr lvl="1"/>
            <a:r>
              <a:rPr lang="en-US" sz="3600" dirty="0"/>
              <a:t>No K required initially</a:t>
            </a:r>
          </a:p>
          <a:p>
            <a:pPr lvl="1"/>
            <a:r>
              <a:rPr lang="en-US" sz="3600" dirty="0"/>
              <a:t>Interpretable hierarchy</a:t>
            </a:r>
          </a:p>
          <a:p>
            <a:pPr lvl="1"/>
            <a:r>
              <a:rPr lang="en-US" sz="3600" dirty="0"/>
              <a:t>Deterministic results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64792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9</a:t>
            </a:r>
            <a:r>
              <a:rPr lang="en-US" sz="4000" b="1" dirty="0" smtClean="0"/>
              <a:t>. </a:t>
            </a:r>
            <a:r>
              <a:rPr lang="en-US" sz="4000" b="1" dirty="0"/>
              <a:t>Cons</a:t>
            </a:r>
          </a:p>
          <a:p>
            <a:pPr lvl="1"/>
            <a:r>
              <a:rPr lang="en-US" sz="3600" dirty="0"/>
              <a:t>Not scalable</a:t>
            </a:r>
          </a:p>
          <a:p>
            <a:pPr lvl="1"/>
            <a:r>
              <a:rPr lang="en-US" sz="3600" dirty="0"/>
              <a:t>Sensitive to noise</a:t>
            </a:r>
          </a:p>
          <a:p>
            <a:pPr lvl="1"/>
            <a:r>
              <a:rPr lang="en-US" sz="3600" dirty="0"/>
              <a:t>Cannot undo merges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80455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 smtClean="0"/>
              <a:t>10. </a:t>
            </a:r>
            <a:r>
              <a:rPr lang="en-US" sz="4000" b="1" dirty="0"/>
              <a:t>Real-World Applications</a:t>
            </a:r>
          </a:p>
          <a:p>
            <a:pPr lvl="1"/>
            <a:r>
              <a:rPr lang="en-US" sz="3600" dirty="0"/>
              <a:t>Biological taxonomy</a:t>
            </a:r>
          </a:p>
          <a:p>
            <a:pPr lvl="1"/>
            <a:r>
              <a:rPr lang="en-US" sz="3600" dirty="0"/>
              <a:t>Document classification</a:t>
            </a:r>
          </a:p>
          <a:p>
            <a:pPr lvl="1"/>
            <a:r>
              <a:rPr lang="en-US" sz="3600" dirty="0"/>
              <a:t>Gene expression analysis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9373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Summary</a:t>
            </a:r>
          </a:p>
          <a:p>
            <a:pPr lvl="1"/>
            <a:r>
              <a:rPr lang="en-US" sz="3600" dirty="0"/>
              <a:t>Hierarchical clustering builds </a:t>
            </a:r>
            <a:r>
              <a:rPr lang="en-US" sz="3600" b="1" dirty="0"/>
              <a:t>nested clusters</a:t>
            </a:r>
            <a:r>
              <a:rPr lang="en-US" sz="3600" dirty="0"/>
              <a:t> represented as a </a:t>
            </a:r>
            <a:r>
              <a:rPr lang="en-US" sz="3600" b="1" dirty="0" err="1"/>
              <a:t>dendrogram</a:t>
            </a:r>
            <a:r>
              <a:rPr lang="en-US" sz="3600" dirty="0"/>
              <a:t>.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66489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4000" b="1" dirty="0" smtClean="0"/>
              <a:t> </a:t>
            </a:r>
            <a:r>
              <a:rPr lang="en-IN" sz="4000" b="1" dirty="0"/>
              <a:t>DBSCAN (Density-Based Spatial </a:t>
            </a:r>
            <a:r>
              <a:rPr lang="en-IN" sz="4000" b="1" dirty="0" smtClean="0"/>
              <a:t>Clustering)</a:t>
            </a:r>
            <a:endParaRPr lang="en-IN" sz="4000" b="1" dirty="0" smtClean="0"/>
          </a:p>
          <a:p>
            <a:pPr>
              <a:buFont typeface="Wingdings" panose="05000000000000000000" pitchFamily="2" charset="2"/>
              <a:buChar char="v"/>
            </a:pPr>
            <a:endParaRPr lang="en-US" sz="4000" b="1" dirty="0"/>
          </a:p>
          <a:p>
            <a:pPr marL="0" indent="0">
              <a:buNone/>
            </a:pPr>
            <a:r>
              <a:rPr lang="en-US" sz="4000" b="1" dirty="0" smtClean="0"/>
              <a:t>1</a:t>
            </a:r>
            <a:r>
              <a:rPr lang="en-US" sz="4000" b="1" dirty="0"/>
              <a:t>. </a:t>
            </a:r>
            <a:r>
              <a:rPr lang="en-US" sz="4000" b="1" dirty="0"/>
              <a:t>What is DBSCAN</a:t>
            </a:r>
          </a:p>
          <a:p>
            <a:pPr lvl="1"/>
            <a:r>
              <a:rPr lang="en-US" sz="3600" dirty="0"/>
              <a:t>DBSCAN is a </a:t>
            </a:r>
            <a:r>
              <a:rPr lang="en-US" sz="3600" b="1" dirty="0"/>
              <a:t>density-based clustering algorithm</a:t>
            </a:r>
            <a:r>
              <a:rPr lang="en-US" sz="3600" dirty="0"/>
              <a:t> that groups points in </a:t>
            </a:r>
            <a:r>
              <a:rPr lang="en-US" sz="3600" b="1" dirty="0"/>
              <a:t>high-density regions</a:t>
            </a:r>
            <a:r>
              <a:rPr lang="en-US" sz="3600" dirty="0"/>
              <a:t> and labels sparse points as </a:t>
            </a:r>
            <a:r>
              <a:rPr lang="en-US" sz="3600" b="1" dirty="0"/>
              <a:t>outliers</a:t>
            </a:r>
            <a:r>
              <a:rPr lang="en-US" sz="3600" dirty="0"/>
              <a:t>.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60200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 smtClean="0"/>
              <a:t>2</a:t>
            </a:r>
            <a:r>
              <a:rPr lang="en-US" sz="4000" b="1" dirty="0"/>
              <a:t>. </a:t>
            </a:r>
            <a:r>
              <a:rPr lang="en-US" sz="4000" b="1" dirty="0"/>
              <a:t>Purpose</a:t>
            </a:r>
          </a:p>
          <a:p>
            <a:pPr lvl="1"/>
            <a:r>
              <a:rPr lang="en-US" sz="3600" b="1" dirty="0"/>
              <a:t>To identify arbitrarily shaped clusters</a:t>
            </a:r>
            <a:r>
              <a:rPr lang="en-US" sz="3600" dirty="0"/>
              <a:t> and detect noise automatically.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40494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 smtClean="0"/>
              <a:t>3</a:t>
            </a:r>
            <a:r>
              <a:rPr lang="en-US" sz="4000" b="1" dirty="0"/>
              <a:t>. </a:t>
            </a:r>
            <a:r>
              <a:rPr lang="en-US" sz="4000" b="1" dirty="0"/>
              <a:t>Why it is Used</a:t>
            </a:r>
          </a:p>
          <a:p>
            <a:pPr lvl="1"/>
            <a:r>
              <a:rPr lang="en-US" sz="3600" dirty="0"/>
              <a:t>No need to specify number of clusters</a:t>
            </a:r>
          </a:p>
          <a:p>
            <a:pPr lvl="1"/>
            <a:r>
              <a:rPr lang="en-US" sz="3600" dirty="0"/>
              <a:t>Handles noise naturally</a:t>
            </a:r>
          </a:p>
          <a:p>
            <a:pPr lvl="1"/>
            <a:r>
              <a:rPr lang="en-US" sz="3600" dirty="0"/>
              <a:t>Detects non-spherical clusters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9983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 smtClean="0"/>
              <a:t>4. </a:t>
            </a:r>
            <a:r>
              <a:rPr lang="en-US" sz="4000" b="1" dirty="0"/>
              <a:t>How DBSCAN Works (Algorithm)</a:t>
            </a:r>
          </a:p>
          <a:p>
            <a:pPr lvl="1"/>
            <a:r>
              <a:rPr lang="en-US" sz="3600" dirty="0"/>
              <a:t>Select parameters </a:t>
            </a:r>
            <a:r>
              <a:rPr lang="en-US" sz="3600" b="1" dirty="0"/>
              <a:t>ε (epsilon)</a:t>
            </a:r>
            <a:r>
              <a:rPr lang="en-US" sz="3600" dirty="0"/>
              <a:t> and </a:t>
            </a:r>
            <a:r>
              <a:rPr lang="en-US" sz="3600" b="1" dirty="0" err="1"/>
              <a:t>MinPts</a:t>
            </a:r>
            <a:endParaRPr lang="en-US" sz="3600" dirty="0"/>
          </a:p>
          <a:p>
            <a:pPr lvl="1"/>
            <a:r>
              <a:rPr lang="en-US" sz="3600" dirty="0"/>
              <a:t>Identify </a:t>
            </a:r>
            <a:r>
              <a:rPr lang="en-US" sz="3600" b="1" dirty="0"/>
              <a:t>core points</a:t>
            </a:r>
            <a:endParaRPr lang="en-US" sz="3600" dirty="0"/>
          </a:p>
          <a:p>
            <a:pPr lvl="1"/>
            <a:r>
              <a:rPr lang="en-US" sz="3600" dirty="0"/>
              <a:t>Expand clusters from core points</a:t>
            </a:r>
          </a:p>
          <a:p>
            <a:pPr lvl="1"/>
            <a:r>
              <a:rPr lang="en-US" sz="3600" dirty="0"/>
              <a:t>Label non-reachable points as noise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68064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4000" b="1" dirty="0" smtClean="0"/>
              <a:t>5</a:t>
            </a:r>
            <a:r>
              <a:rPr lang="en-IN" sz="4000" b="1" dirty="0"/>
              <a:t>. </a:t>
            </a:r>
            <a:r>
              <a:rPr lang="en-US" sz="4000" b="1" dirty="0"/>
              <a:t>Definitions</a:t>
            </a:r>
          </a:p>
          <a:p>
            <a:pPr lvl="1"/>
            <a:r>
              <a:rPr lang="en-US" sz="3600" b="1" dirty="0"/>
              <a:t>Core Point</a:t>
            </a:r>
            <a:r>
              <a:rPr lang="en-US" sz="3600" dirty="0"/>
              <a:t>: ≥ </a:t>
            </a:r>
            <a:r>
              <a:rPr lang="en-US" sz="3600" dirty="0" err="1"/>
              <a:t>MinPts</a:t>
            </a:r>
            <a:r>
              <a:rPr lang="en-US" sz="3600" dirty="0"/>
              <a:t> within ε radius</a:t>
            </a:r>
          </a:p>
          <a:p>
            <a:pPr lvl="1"/>
            <a:r>
              <a:rPr lang="en-US" sz="3600" b="1" dirty="0"/>
              <a:t>Border Point</a:t>
            </a:r>
            <a:r>
              <a:rPr lang="en-US" sz="3600" dirty="0"/>
              <a:t>: reachable but not core</a:t>
            </a:r>
          </a:p>
          <a:p>
            <a:pPr lvl="1"/>
            <a:r>
              <a:rPr lang="en-US" sz="3600" b="1" dirty="0"/>
              <a:t>Noise Point</a:t>
            </a:r>
            <a:r>
              <a:rPr lang="en-US" sz="3600" dirty="0"/>
              <a:t>: not reachable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51301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4000" b="1" dirty="0"/>
              <a:t>6</a:t>
            </a:r>
            <a:r>
              <a:rPr lang="en-IN" sz="4000" b="1" dirty="0" smtClean="0"/>
              <a:t>. </a:t>
            </a:r>
            <a:r>
              <a:rPr lang="en-US" sz="4000" b="1" dirty="0"/>
              <a:t>Technical Details</a:t>
            </a:r>
          </a:p>
          <a:p>
            <a:pPr lvl="1"/>
            <a:r>
              <a:rPr lang="en-US" sz="3600" dirty="0"/>
              <a:t>Distance-based density estimation</a:t>
            </a:r>
          </a:p>
          <a:p>
            <a:pPr lvl="1"/>
            <a:r>
              <a:rPr lang="en-US" sz="3600" dirty="0"/>
              <a:t>Sensitive to ε choice</a:t>
            </a:r>
          </a:p>
          <a:p>
            <a:pPr lvl="1"/>
            <a:r>
              <a:rPr lang="en-US" sz="3600" dirty="0"/>
              <a:t>Struggles with varying densities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67146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4000" b="1" dirty="0" smtClean="0"/>
              <a:t>7. </a:t>
            </a:r>
            <a:r>
              <a:rPr lang="en-US" sz="4000" b="1" dirty="0" smtClean="0"/>
              <a:t>Parameters</a:t>
            </a:r>
            <a:endParaRPr lang="en-US" sz="4000" b="1" dirty="0"/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0136174"/>
              </p:ext>
            </p:extLst>
          </p:nvPr>
        </p:nvGraphicFramePr>
        <p:xfrm>
          <a:off x="1854388" y="1596790"/>
          <a:ext cx="8483224" cy="4408228"/>
        </p:xfrm>
        <a:graphic>
          <a:graphicData uri="http://schemas.openxmlformats.org/drawingml/2006/table">
            <a:tbl>
              <a:tblPr/>
              <a:tblGrid>
                <a:gridCol w="4241612"/>
                <a:gridCol w="4241612"/>
              </a:tblGrid>
              <a:tr h="1102057">
                <a:tc>
                  <a:txBody>
                    <a:bodyPr/>
                    <a:lstStyle/>
                    <a:p>
                      <a:r>
                        <a:rPr lang="en-IN" b="1" dirty="0"/>
                        <a:t>Parameter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02057">
                <a:tc>
                  <a:txBody>
                    <a:bodyPr/>
                    <a:lstStyle/>
                    <a:p>
                      <a:r>
                        <a:rPr lang="en-IN" b="1"/>
                        <a:t>eps (</a:t>
                      </a:r>
                      <a:r>
                        <a:rPr lang="el-GR" b="1"/>
                        <a:t>ε)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Neighborhood radius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02057">
                <a:tc>
                  <a:txBody>
                    <a:bodyPr/>
                    <a:lstStyle/>
                    <a:p>
                      <a:r>
                        <a:rPr lang="en-IN" b="1"/>
                        <a:t>min_samples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Min points for 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02057">
                <a:tc>
                  <a:txBody>
                    <a:bodyPr/>
                    <a:lstStyle/>
                    <a:p>
                      <a:r>
                        <a:rPr lang="en-IN" b="1" dirty="0"/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Distance measure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24204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194" name="Picture 2" descr="https://machinelearninggeek.com/wp-content/uploads/2020/10/image-5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003" y="1551834"/>
            <a:ext cx="9345994" cy="4898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78853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AutoShape 2" descr="https://media.geeksforgeeks.org/wp-content/uploads/20250129131614273689/p12.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08321"/>
            <a:ext cx="10515600" cy="569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7091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 smtClean="0"/>
              <a:t>8. </a:t>
            </a:r>
            <a:r>
              <a:rPr lang="en-US" sz="4000" b="1" dirty="0"/>
              <a:t>Pros</a:t>
            </a:r>
          </a:p>
          <a:p>
            <a:pPr lvl="1"/>
            <a:r>
              <a:rPr lang="en-US" sz="3600" dirty="0"/>
              <a:t>No K required</a:t>
            </a:r>
          </a:p>
          <a:p>
            <a:pPr lvl="1"/>
            <a:r>
              <a:rPr lang="en-US" sz="3600" dirty="0"/>
              <a:t>Detects noise/outliers</a:t>
            </a:r>
          </a:p>
          <a:p>
            <a:pPr lvl="1"/>
            <a:r>
              <a:rPr lang="en-US" sz="3600" dirty="0"/>
              <a:t>Finds complex shapes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31149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9. </a:t>
            </a:r>
            <a:r>
              <a:rPr lang="en-US" sz="4000" b="1" dirty="0"/>
              <a:t>Cons</a:t>
            </a:r>
          </a:p>
          <a:p>
            <a:pPr lvl="1"/>
            <a:r>
              <a:rPr lang="en-US" sz="3600" dirty="0"/>
              <a:t>Poor with varying densities</a:t>
            </a:r>
          </a:p>
          <a:p>
            <a:pPr lvl="1"/>
            <a:r>
              <a:rPr lang="en-US" sz="3600" dirty="0"/>
              <a:t>Parameter tuning is hard</a:t>
            </a:r>
          </a:p>
          <a:p>
            <a:pPr lvl="1"/>
            <a:r>
              <a:rPr lang="en-US" sz="3600" dirty="0"/>
              <a:t>Struggles in high dimensions</a:t>
            </a:r>
          </a:p>
          <a:p>
            <a:pPr marL="914400" lvl="2" indent="0">
              <a:buNone/>
            </a:pPr>
            <a:endParaRPr lang="en-US" sz="3200" dirty="0"/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90573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 smtClean="0"/>
              <a:t>10</a:t>
            </a:r>
            <a:r>
              <a:rPr lang="en-US" sz="4000" b="1" dirty="0"/>
              <a:t>. </a:t>
            </a:r>
            <a:r>
              <a:rPr lang="en-US" sz="4000" b="1" dirty="0"/>
              <a:t>Real-World Applications</a:t>
            </a:r>
          </a:p>
          <a:p>
            <a:pPr lvl="1"/>
            <a:r>
              <a:rPr lang="en-US" sz="3600" dirty="0"/>
              <a:t>Anomaly detection</a:t>
            </a:r>
          </a:p>
          <a:p>
            <a:pPr lvl="1"/>
            <a:r>
              <a:rPr lang="en-US" sz="3600" dirty="0"/>
              <a:t>GPS location clustering</a:t>
            </a:r>
          </a:p>
          <a:p>
            <a:pPr lvl="1"/>
            <a:r>
              <a:rPr lang="en-US" sz="3600" dirty="0"/>
              <a:t>Image segmentation</a:t>
            </a:r>
          </a:p>
          <a:p>
            <a:pPr lvl="1"/>
            <a:r>
              <a:rPr lang="en-US" sz="3600" dirty="0"/>
              <a:t>Fraud detection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61540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Summary</a:t>
            </a:r>
          </a:p>
          <a:p>
            <a:pPr lvl="1"/>
            <a:r>
              <a:rPr lang="en-US" sz="3600" dirty="0"/>
              <a:t>DBSCAN clusters data based on </a:t>
            </a:r>
            <a:r>
              <a:rPr lang="en-US" sz="3600" b="1" dirty="0"/>
              <a:t>density</a:t>
            </a:r>
            <a:r>
              <a:rPr lang="en-US" sz="3600" dirty="0"/>
              <a:t>, naturally detecting </a:t>
            </a:r>
            <a:r>
              <a:rPr lang="en-US" sz="3600" b="1" dirty="0"/>
              <a:t>outliers</a:t>
            </a:r>
            <a:r>
              <a:rPr lang="en-US" sz="3600" dirty="0"/>
              <a:t> and complex shapes.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2677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FINAL </a:t>
            </a:r>
            <a:r>
              <a:rPr lang="en-US" sz="4000" b="1" dirty="0" smtClean="0"/>
              <a:t>COMPARISON</a:t>
            </a:r>
            <a:endParaRPr lang="en-US" sz="3600" dirty="0" smtClean="0"/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138884"/>
              </p:ext>
            </p:extLst>
          </p:nvPr>
        </p:nvGraphicFramePr>
        <p:xfrm>
          <a:off x="1069642" y="1482133"/>
          <a:ext cx="10052715" cy="4694830"/>
        </p:xfrm>
        <a:graphic>
          <a:graphicData uri="http://schemas.openxmlformats.org/drawingml/2006/table">
            <a:tbl>
              <a:tblPr/>
              <a:tblGrid>
                <a:gridCol w="2010543"/>
                <a:gridCol w="2010543"/>
                <a:gridCol w="2010543"/>
                <a:gridCol w="2010543"/>
                <a:gridCol w="2010543"/>
              </a:tblGrid>
              <a:tr h="1729675">
                <a:tc>
                  <a:txBody>
                    <a:bodyPr/>
                    <a:lstStyle/>
                    <a:p>
                      <a:r>
                        <a:rPr lang="en-IN" b="1"/>
                        <a:t>Algorithm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K Required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Shape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Noise Handling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Scalability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8385">
                <a:tc>
                  <a:txBody>
                    <a:bodyPr/>
                    <a:lstStyle/>
                    <a:p>
                      <a:r>
                        <a:rPr lang="en-IN" b="1"/>
                        <a:t>K-Means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Spherical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Excellent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8385">
                <a:tc>
                  <a:txBody>
                    <a:bodyPr/>
                    <a:lstStyle/>
                    <a:p>
                      <a:r>
                        <a:rPr lang="en-IN" b="1"/>
                        <a:t>Hierarchical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Any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Poor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8385">
                <a:tc>
                  <a:txBody>
                    <a:bodyPr/>
                    <a:lstStyle/>
                    <a:p>
                      <a:r>
                        <a:rPr lang="en-IN" b="1" dirty="0"/>
                        <a:t>DBSCAN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Any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0473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4640</TotalTime>
  <Words>658</Words>
  <Application>Microsoft Office PowerPoint</Application>
  <PresentationFormat>Widescreen</PresentationFormat>
  <Paragraphs>172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Calibri</vt:lpstr>
      <vt:lpstr>Calibri Light</vt:lpstr>
      <vt:lpstr>Wingdings</vt:lpstr>
      <vt:lpstr>Office Theme</vt:lpstr>
      <vt:lpstr>CLUSTERING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STATISTICAL FOUNDATIONS</dc:title>
  <dc:creator>NIRVANA</dc:creator>
  <cp:lastModifiedBy>NIRVANA</cp:lastModifiedBy>
  <cp:revision>65</cp:revision>
  <dcterms:created xsi:type="dcterms:W3CDTF">2026-02-13T06:25:49Z</dcterms:created>
  <dcterms:modified xsi:type="dcterms:W3CDTF">2026-02-20T10:39:52Z</dcterms:modified>
</cp:coreProperties>
</file>