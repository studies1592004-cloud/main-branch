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5" r:id="rId16"/>
    <p:sldId id="276" r:id="rId17"/>
    <p:sldId id="277" r:id="rId18"/>
    <p:sldId id="269" r:id="rId19"/>
    <p:sldId id="279" r:id="rId20"/>
    <p:sldId id="280" r:id="rId21"/>
    <p:sldId id="278" r:id="rId22"/>
    <p:sldId id="282" r:id="rId23"/>
    <p:sldId id="283" r:id="rId24"/>
    <p:sldId id="284" r:id="rId25"/>
    <p:sldId id="285" r:id="rId26"/>
    <p:sldId id="281" r:id="rId27"/>
    <p:sldId id="270" r:id="rId28"/>
    <p:sldId id="271" r:id="rId29"/>
    <p:sldId id="272" r:id="rId30"/>
    <p:sldId id="273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6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7" r:id="rId119"/>
    <p:sldId id="376" r:id="rId120"/>
    <p:sldId id="375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  <p:sldId id="410" r:id="rId154"/>
    <p:sldId id="411" r:id="rId155"/>
    <p:sldId id="412" r:id="rId156"/>
    <p:sldId id="413" r:id="rId157"/>
    <p:sldId id="414" r:id="rId158"/>
    <p:sldId id="415" r:id="rId159"/>
    <p:sldId id="416" r:id="rId160"/>
    <p:sldId id="417" r:id="rId161"/>
    <p:sldId id="418" r:id="rId162"/>
    <p:sldId id="419" r:id="rId163"/>
    <p:sldId id="420" r:id="rId164"/>
    <p:sldId id="421" r:id="rId165"/>
    <p:sldId id="422" r:id="rId166"/>
    <p:sldId id="423" r:id="rId167"/>
    <p:sldId id="424" r:id="rId168"/>
    <p:sldId id="425" r:id="rId169"/>
    <p:sldId id="426" r:id="rId170"/>
    <p:sldId id="427" r:id="rId171"/>
    <p:sldId id="428" r:id="rId172"/>
    <p:sldId id="429" r:id="rId173"/>
    <p:sldId id="430" r:id="rId174"/>
    <p:sldId id="431" r:id="rId175"/>
    <p:sldId id="433" r:id="rId176"/>
    <p:sldId id="432" r:id="rId177"/>
    <p:sldId id="434" r:id="rId178"/>
    <p:sldId id="435" r:id="rId179"/>
    <p:sldId id="436" r:id="rId180"/>
    <p:sldId id="437" r:id="rId181"/>
    <p:sldId id="438" r:id="rId182"/>
    <p:sldId id="439" r:id="rId183"/>
    <p:sldId id="440" r:id="rId184"/>
    <p:sldId id="441" r:id="rId185"/>
    <p:sldId id="442" r:id="rId186"/>
    <p:sldId id="443" r:id="rId187"/>
    <p:sldId id="444" r:id="rId188"/>
    <p:sldId id="445" r:id="rId189"/>
    <p:sldId id="446" r:id="rId190"/>
    <p:sldId id="447" r:id="rId191"/>
    <p:sldId id="448" r:id="rId192"/>
    <p:sldId id="449" r:id="rId193"/>
    <p:sldId id="450" r:id="rId194"/>
    <p:sldId id="451" r:id="rId195"/>
    <p:sldId id="452" r:id="rId196"/>
    <p:sldId id="454" r:id="rId197"/>
    <p:sldId id="453" r:id="rId198"/>
    <p:sldId id="455" r:id="rId199"/>
    <p:sldId id="456" r:id="rId200"/>
    <p:sldId id="457" r:id="rId201"/>
    <p:sldId id="458" r:id="rId202"/>
    <p:sldId id="459" r:id="rId203"/>
    <p:sldId id="460" r:id="rId204"/>
    <p:sldId id="461" r:id="rId205"/>
    <p:sldId id="462" r:id="rId206"/>
    <p:sldId id="463" r:id="rId207"/>
    <p:sldId id="464" r:id="rId208"/>
    <p:sldId id="465" r:id="rId209"/>
    <p:sldId id="466" r:id="rId210"/>
    <p:sldId id="467" r:id="rId211"/>
    <p:sldId id="468" r:id="rId212"/>
    <p:sldId id="469" r:id="rId213"/>
    <p:sldId id="470" r:id="rId214"/>
    <p:sldId id="471" r:id="rId215"/>
    <p:sldId id="472" r:id="rId216"/>
    <p:sldId id="473" r:id="rId217"/>
    <p:sldId id="474" r:id="rId218"/>
    <p:sldId id="475" r:id="rId219"/>
    <p:sldId id="476" r:id="rId220"/>
    <p:sldId id="477" r:id="rId221"/>
    <p:sldId id="479" r:id="rId222"/>
    <p:sldId id="480" r:id="rId223"/>
    <p:sldId id="481" r:id="rId2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CORE MACHINE LEARNING FOUNDATIONS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1: Artificial Intelligence (AI)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is the highest-level concept. Everything else (ML, DL, RL) comes under AI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Artificial </a:t>
            </a:r>
            <a:r>
              <a:rPr lang="en-US" dirty="0"/>
              <a:t>Intelligence (AI) is the ability of a computer or machine to perform tasks that normally require human intelligence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AI </a:t>
            </a:r>
            <a:r>
              <a:rPr lang="en-US" dirty="0"/>
              <a:t>makes machines think and act like </a:t>
            </a:r>
            <a:r>
              <a:rPr lang="en-US" dirty="0" smtClean="0"/>
              <a:t>humans.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Computers </a:t>
            </a:r>
            <a:r>
              <a:rPr lang="en-US" dirty="0"/>
              <a:t>were originally designed to follow strict instructions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But </a:t>
            </a:r>
            <a:r>
              <a:rPr lang="en-US" dirty="0"/>
              <a:t>many real-world problems require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• Learning</a:t>
            </a:r>
          </a:p>
          <a:p>
            <a:pPr marL="914400" lvl="2" indent="0">
              <a:buNone/>
            </a:pPr>
            <a:r>
              <a:rPr lang="en-US" dirty="0" smtClean="0"/>
              <a:t>• Reasoning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Decision </a:t>
            </a:r>
            <a:r>
              <a:rPr lang="en-US" dirty="0" smtClean="0"/>
              <a:t>making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Pattern </a:t>
            </a:r>
            <a:r>
              <a:rPr lang="en-US" dirty="0" smtClean="0"/>
              <a:t>recognition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allows machines to perform these intelligent tasks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6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Human </a:t>
            </a:r>
            <a:r>
              <a:rPr lang="en-US" dirty="0"/>
              <a:t>brain learns from experience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allows machines to do the same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A </a:t>
            </a:r>
            <a:r>
              <a:rPr lang="en-US" dirty="0"/>
              <a:t>child learns to recognize a dog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learns to recognize a dog from images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can be represented as a function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𝐴𝐼</a:t>
            </a:r>
            <a:r>
              <a:rPr lang="en-US" dirty="0"/>
              <a:t>=𝑓(𝐼𝑛𝑝𝑢𝑡)→</a:t>
            </a:r>
            <a:r>
              <a:rPr lang="en-US" dirty="0" smtClean="0"/>
              <a:t>𝑂𝑢𝑡𝑝𝑢𝑡 </a:t>
            </a:r>
          </a:p>
          <a:p>
            <a:pPr lvl="1"/>
            <a:r>
              <a:rPr lang="en-US" dirty="0" smtClean="0"/>
              <a:t>Example: Image </a:t>
            </a:r>
            <a:r>
              <a:rPr lang="en-US" dirty="0"/>
              <a:t>→ AI → Dog </a:t>
            </a:r>
            <a:r>
              <a:rPr lang="en-US" dirty="0" smtClean="0"/>
              <a:t>detected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Input </a:t>
            </a:r>
            <a:r>
              <a:rPr lang="en-US" dirty="0"/>
              <a:t>= data given to </a:t>
            </a:r>
            <a:r>
              <a:rPr lang="en-US" dirty="0" smtClean="0"/>
              <a:t>AI</a:t>
            </a:r>
          </a:p>
          <a:p>
            <a:pPr lvl="1"/>
            <a:r>
              <a:rPr lang="en-US" dirty="0" smtClean="0"/>
              <a:t>f </a:t>
            </a:r>
            <a:r>
              <a:rPr lang="en-US" dirty="0"/>
              <a:t>= intelligent </a:t>
            </a:r>
            <a:r>
              <a:rPr lang="en-US" dirty="0" smtClean="0"/>
              <a:t>algorithm</a:t>
            </a:r>
          </a:p>
          <a:p>
            <a:pPr lvl="1"/>
            <a:r>
              <a:rPr lang="en-US" dirty="0" smtClean="0"/>
              <a:t>Output </a:t>
            </a:r>
            <a:r>
              <a:rPr lang="en-US" dirty="0"/>
              <a:t>= decision or </a:t>
            </a:r>
            <a:r>
              <a:rPr lang="en-US" dirty="0" smtClean="0"/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11161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</a:t>
            </a:r>
            <a:r>
              <a:rPr lang="en-US" dirty="0"/>
              <a:t>: AI </a:t>
            </a:r>
            <a:r>
              <a:rPr lang="en-US" dirty="0" smtClean="0"/>
              <a:t>hierarchy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is the largest field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ML </a:t>
            </a:r>
            <a:r>
              <a:rPr lang="en-US" dirty="0"/>
              <a:t>and DL are subsets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Face recognition: </a:t>
            </a:r>
          </a:p>
          <a:p>
            <a:pPr lvl="1"/>
            <a:r>
              <a:rPr lang="en-US" dirty="0" smtClean="0"/>
              <a:t>Input</a:t>
            </a:r>
            <a:r>
              <a:rPr lang="en-US" dirty="0"/>
              <a:t>: </a:t>
            </a:r>
            <a:r>
              <a:rPr lang="en-US" dirty="0" smtClean="0"/>
              <a:t>image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output: identifies </a:t>
            </a:r>
            <a:r>
              <a:rPr lang="en-US" dirty="0" smtClean="0"/>
              <a:t>person</a:t>
            </a:r>
          </a:p>
          <a:p>
            <a:r>
              <a:rPr lang="en-US" dirty="0" smtClean="0"/>
              <a:t>Types </a:t>
            </a:r>
            <a:r>
              <a:rPr lang="en-US" dirty="0"/>
              <a:t>of </a:t>
            </a:r>
            <a:r>
              <a:rPr lang="en-US" dirty="0" smtClean="0"/>
              <a:t>AI</a:t>
            </a:r>
          </a:p>
          <a:p>
            <a:pPr lvl="1"/>
            <a:r>
              <a:rPr lang="en-US" dirty="0" smtClean="0"/>
              <a:t>Narrow AI: Performs </a:t>
            </a:r>
            <a:r>
              <a:rPr lang="en-US" dirty="0"/>
              <a:t>one specific </a:t>
            </a:r>
            <a:r>
              <a:rPr lang="en-US" dirty="0" smtClean="0"/>
              <a:t>task</a:t>
            </a:r>
          </a:p>
          <a:p>
            <a:pPr lvl="1"/>
            <a:r>
              <a:rPr lang="en-US" dirty="0" smtClean="0"/>
              <a:t>Example</a:t>
            </a:r>
            <a:r>
              <a:rPr lang="en-US" dirty="0"/>
              <a:t>: </a:t>
            </a:r>
            <a:r>
              <a:rPr lang="en-US" dirty="0" err="1"/>
              <a:t>ChatGPT</a:t>
            </a:r>
            <a:r>
              <a:rPr lang="en-US" dirty="0"/>
              <a:t>, </a:t>
            </a:r>
            <a:r>
              <a:rPr lang="en-US" dirty="0" smtClean="0"/>
              <a:t>Siri</a:t>
            </a:r>
          </a:p>
          <a:p>
            <a:pPr lvl="1"/>
            <a:r>
              <a:rPr lang="en-US" dirty="0" smtClean="0"/>
              <a:t>General AI: Performs </a:t>
            </a:r>
            <a:r>
              <a:rPr lang="en-US" dirty="0"/>
              <a:t>any human task (not achieved yet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Super AI: More </a:t>
            </a:r>
            <a:r>
              <a:rPr lang="en-US" dirty="0"/>
              <a:t>intelligent than humans (future concept</a:t>
            </a:r>
            <a:r>
              <a:rPr lang="en-US" dirty="0" smtClean="0"/>
              <a:t>)</a:t>
            </a:r>
          </a:p>
        </p:txBody>
      </p:sp>
      <p:pic>
        <p:nvPicPr>
          <p:cNvPr id="1026" name="Picture 2" descr="https://miro.medium.com/v2/resize:fit:631/0*Q3PICBlib-932hh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773" y="196181"/>
            <a:ext cx="4770128" cy="492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92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Automates tasks</a:t>
            </a:r>
          </a:p>
          <a:p>
            <a:pPr lvl="1"/>
            <a:r>
              <a:rPr lang="en-US" dirty="0" smtClean="0"/>
              <a:t>Reduces </a:t>
            </a:r>
            <a:r>
              <a:rPr lang="en-US" dirty="0"/>
              <a:t>human </a:t>
            </a:r>
            <a:r>
              <a:rPr lang="en-US" dirty="0" smtClean="0"/>
              <a:t>effort</a:t>
            </a:r>
          </a:p>
          <a:p>
            <a:pPr lvl="1"/>
            <a:r>
              <a:rPr lang="en-US" dirty="0" smtClean="0"/>
              <a:t>Improves efficiency</a:t>
            </a:r>
          </a:p>
          <a:p>
            <a:pPr lvl="1"/>
            <a:r>
              <a:rPr lang="en-US" dirty="0" smtClean="0"/>
              <a:t>Handles </a:t>
            </a:r>
            <a:r>
              <a:rPr lang="en-US" dirty="0"/>
              <a:t>large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Expensive</a:t>
            </a:r>
          </a:p>
          <a:p>
            <a:pPr lvl="1"/>
            <a:r>
              <a:rPr lang="en-US" dirty="0" smtClean="0"/>
              <a:t>Requires data</a:t>
            </a:r>
          </a:p>
          <a:p>
            <a:pPr lvl="1"/>
            <a:r>
              <a:rPr lang="en-US" dirty="0" smtClean="0"/>
              <a:t>May </a:t>
            </a:r>
            <a:r>
              <a:rPr lang="en-US" dirty="0"/>
              <a:t>make incorrect </a:t>
            </a:r>
            <a:r>
              <a:rPr lang="en-US" dirty="0" smtClean="0"/>
              <a:t>decisions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Automation</a:t>
            </a:r>
          </a:p>
          <a:p>
            <a:pPr lvl="1"/>
            <a:r>
              <a:rPr lang="en-US" dirty="0" smtClean="0"/>
              <a:t>Prediction</a:t>
            </a:r>
          </a:p>
          <a:p>
            <a:pPr lvl="1"/>
            <a:r>
              <a:rPr lang="en-US" dirty="0" smtClean="0"/>
              <a:t>Decision making</a:t>
            </a:r>
          </a:p>
          <a:p>
            <a:pPr lvl="1"/>
            <a:r>
              <a:rPr lang="en-US" dirty="0" smtClean="0"/>
              <a:t>Robotics</a:t>
            </a:r>
          </a:p>
        </p:txBody>
      </p:sp>
    </p:spTree>
    <p:extLst>
      <p:ext uri="{BB962C8B-B14F-4D97-AF65-F5344CB8AC3E}">
        <p14:creationId xmlns:p14="http://schemas.microsoft.com/office/powerpoint/2010/main" val="111154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rule-based </a:t>
            </a:r>
            <a:r>
              <a:rPr lang="en-US" dirty="0" smtClean="0"/>
              <a:t>problems</a:t>
            </a:r>
          </a:p>
          <a:p>
            <a:pPr lvl="1"/>
            <a:r>
              <a:rPr lang="en-US" dirty="0" smtClean="0"/>
              <a:t>Example: Addition </a:t>
            </a:r>
            <a:r>
              <a:rPr lang="en-US" dirty="0"/>
              <a:t>calculator does not need </a:t>
            </a:r>
            <a:r>
              <a:rPr lang="en-US" dirty="0" smtClean="0"/>
              <a:t>AI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includes multiple techniques</a:t>
            </a:r>
            <a:r>
              <a:rPr lang="en-US" dirty="0" smtClean="0"/>
              <a:t>: Rule-based systems</a:t>
            </a:r>
          </a:p>
          <a:p>
            <a:pPr lvl="1"/>
            <a:r>
              <a:rPr lang="en-US" dirty="0" smtClean="0"/>
              <a:t>Machine learning</a:t>
            </a:r>
          </a:p>
          <a:p>
            <a:pPr lvl="1"/>
            <a:r>
              <a:rPr lang="en-US" dirty="0" smtClean="0"/>
              <a:t>Deep learning</a:t>
            </a:r>
          </a:p>
          <a:p>
            <a:pPr lvl="1"/>
            <a:r>
              <a:rPr lang="en-US" dirty="0" smtClean="0"/>
              <a:t>Optimization algorithms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goal is to approximate intelligent function:𝑓(𝑥)≈ℎ</a:t>
            </a:r>
            <a:r>
              <a:rPr lang="en-US" dirty="0" smtClean="0"/>
              <a:t>𝑢𝑚𝑎𝑛𝑖𝑛𝑡𝑒𝑙𝑙𝑖𝑔𝑒𝑛𝑐𝑒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AI </a:t>
            </a:r>
            <a:r>
              <a:rPr lang="en-US" dirty="0"/>
              <a:t>enables machines to simulate human intelligence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is a subset of AI.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7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2: Machine Learning (ML)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is a subset of AI that allows machines to learn from data without being explicitly programmed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Machine </a:t>
            </a:r>
            <a:r>
              <a:rPr lang="en-US" dirty="0"/>
              <a:t>learning learns patterns from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Writing </a:t>
            </a:r>
            <a:r>
              <a:rPr lang="en-US" dirty="0"/>
              <a:t>rules manually is difficult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Spam detection</a:t>
            </a:r>
          </a:p>
          <a:p>
            <a:pPr lvl="1"/>
            <a:r>
              <a:rPr lang="en-US" dirty="0" smtClean="0"/>
              <a:t>Impossible </a:t>
            </a:r>
            <a:r>
              <a:rPr lang="en-US" dirty="0"/>
              <a:t>to manually define all spam patterns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learns automatically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Child </a:t>
            </a:r>
            <a:r>
              <a:rPr lang="en-US" dirty="0"/>
              <a:t>learns from examples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Show </a:t>
            </a:r>
            <a:r>
              <a:rPr lang="en-US" dirty="0"/>
              <a:t>child many cats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Child </a:t>
            </a:r>
            <a:r>
              <a:rPr lang="en-US" dirty="0"/>
              <a:t>learns what a cat looks like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works the same </a:t>
            </a:r>
            <a:r>
              <a:rPr lang="en-US" dirty="0" smtClean="0"/>
              <a:t>way.</a:t>
            </a:r>
          </a:p>
        </p:txBody>
      </p:sp>
    </p:spTree>
    <p:extLst>
      <p:ext uri="{BB962C8B-B14F-4D97-AF65-F5344CB8AC3E}">
        <p14:creationId xmlns:p14="http://schemas.microsoft.com/office/powerpoint/2010/main" val="407645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learns function:𝑦=𝑓(𝑥</a:t>
            </a:r>
            <a:r>
              <a:rPr lang="en-US" dirty="0" smtClean="0"/>
              <a:t>)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= </a:t>
            </a:r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f </a:t>
            </a:r>
            <a:r>
              <a:rPr lang="en-US" dirty="0"/>
              <a:t>= learned </a:t>
            </a:r>
            <a:r>
              <a:rPr lang="en-US" dirty="0" smtClean="0"/>
              <a:t>function</a:t>
            </a:r>
          </a:p>
          <a:p>
            <a:pPr lvl="1"/>
            <a:r>
              <a:rPr lang="en-US" dirty="0" smtClean="0"/>
              <a:t>Goal: Find </a:t>
            </a:r>
            <a:r>
              <a:rPr lang="en-US" dirty="0"/>
              <a:t>best function f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House </a:t>
            </a:r>
            <a:r>
              <a:rPr lang="en-US" dirty="0"/>
              <a:t>price prediction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Input</a:t>
            </a:r>
            <a:r>
              <a:rPr lang="en-US" dirty="0"/>
              <a:t>: house </a:t>
            </a:r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Output</a:t>
            </a:r>
            <a:r>
              <a:rPr lang="en-US" dirty="0"/>
              <a:t>: </a:t>
            </a:r>
            <a:r>
              <a:rPr lang="en-US" dirty="0" smtClean="0"/>
              <a:t>price</a:t>
            </a:r>
          </a:p>
          <a:p>
            <a:pPr lvl="1"/>
            <a:r>
              <a:rPr lang="en-US" dirty="0" smtClean="0"/>
              <a:t>ML </a:t>
            </a:r>
            <a:r>
              <a:rPr lang="en-US" dirty="0"/>
              <a:t>learns relationship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 </a:t>
            </a:r>
            <a:r>
              <a:rPr lang="en-US" dirty="0"/>
              <a:t>of Machine </a:t>
            </a:r>
            <a:r>
              <a:rPr lang="en-US" dirty="0" smtClean="0"/>
              <a:t>Learning</a:t>
            </a:r>
          </a:p>
          <a:p>
            <a:pPr lvl="1"/>
            <a:r>
              <a:rPr lang="en-US" dirty="0" smtClean="0"/>
              <a:t>Supervised learning</a:t>
            </a:r>
          </a:p>
          <a:p>
            <a:pPr lvl="1"/>
            <a:r>
              <a:rPr lang="en-US" dirty="0" smtClean="0"/>
              <a:t>Unsupervised learning</a:t>
            </a:r>
          </a:p>
          <a:p>
            <a:pPr lvl="1"/>
            <a:r>
              <a:rPr lang="en-US" dirty="0" smtClean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55309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Learns automatically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with more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Handles </a:t>
            </a:r>
            <a:r>
              <a:rPr lang="en-US" dirty="0"/>
              <a:t>complex </a:t>
            </a:r>
            <a:r>
              <a:rPr lang="en-US" dirty="0" smtClean="0"/>
              <a:t>patterns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Needs data</a:t>
            </a:r>
          </a:p>
          <a:p>
            <a:pPr lvl="1"/>
            <a:r>
              <a:rPr lang="en-US" dirty="0" smtClean="0"/>
              <a:t>Needs training</a:t>
            </a:r>
          </a:p>
          <a:p>
            <a:pPr lvl="1"/>
            <a:r>
              <a:rPr lang="en-US" dirty="0" smtClean="0"/>
              <a:t>May </a:t>
            </a:r>
            <a:r>
              <a:rPr lang="en-US" dirty="0" err="1" smtClean="0"/>
              <a:t>overfit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Prediction</a:t>
            </a:r>
          </a:p>
          <a:p>
            <a:pPr lvl="1"/>
            <a:r>
              <a:rPr lang="en-US" dirty="0" smtClean="0"/>
              <a:t>Classification</a:t>
            </a:r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1963911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no data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fixed </a:t>
            </a:r>
            <a:r>
              <a:rPr lang="en-US" dirty="0" smtClean="0"/>
              <a:t>rules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solves optimization problem</a:t>
            </a:r>
            <a:r>
              <a:rPr lang="en-US" dirty="0" smtClean="0"/>
              <a:t>: min</a:t>
            </a:r>
            <a:r>
              <a:rPr lang="en-US" dirty="0"/>
              <a:t>⁡𝐿𝑜𝑠𝑠(𝑦,𝑓(𝑥</a:t>
            </a:r>
            <a:r>
              <a:rPr lang="en-US" dirty="0" smtClean="0"/>
              <a:t>))</a:t>
            </a:r>
            <a:endParaRPr lang="en-US" dirty="0"/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by minimizing loss function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learns patterns from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core of modern 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7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</a:t>
            </a:r>
            <a:r>
              <a:rPr lang="en-US" dirty="0"/>
              <a:t>3: Deep Learning (DL)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Deep </a:t>
            </a:r>
            <a:r>
              <a:rPr lang="en-US" dirty="0"/>
              <a:t>learning is a subset of machine learning that uses neural networks with multiple layers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Traditional </a:t>
            </a:r>
            <a:r>
              <a:rPr lang="en-US" dirty="0"/>
              <a:t>ML struggles with complex data like images, video, speech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Deep </a:t>
            </a:r>
            <a:r>
              <a:rPr lang="en-US" dirty="0"/>
              <a:t>learning solves this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Human </a:t>
            </a:r>
            <a:r>
              <a:rPr lang="en-US" dirty="0"/>
              <a:t>brain uses neurons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Deep </a:t>
            </a:r>
            <a:r>
              <a:rPr lang="en-US" dirty="0"/>
              <a:t>learning uses artificial neurons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Neuron </a:t>
            </a:r>
            <a:r>
              <a:rPr lang="en-US" dirty="0"/>
              <a:t>function:𝑦=𝑓(𝑤𝑥+𝑏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5022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Explanation</a:t>
            </a:r>
            <a:endParaRPr lang="en-US" dirty="0"/>
          </a:p>
          <a:p>
            <a:pPr lvl="1"/>
            <a:r>
              <a:rPr lang="en-US" dirty="0"/>
              <a:t>x = input</a:t>
            </a:r>
          </a:p>
          <a:p>
            <a:pPr lvl="1"/>
            <a:r>
              <a:rPr lang="en-US" dirty="0"/>
              <a:t>w = weight</a:t>
            </a:r>
          </a:p>
          <a:p>
            <a:pPr lvl="1"/>
            <a:r>
              <a:rPr lang="en-US" dirty="0"/>
              <a:t>b = bias</a:t>
            </a:r>
          </a:p>
          <a:p>
            <a:pPr lvl="1"/>
            <a:r>
              <a:rPr lang="en-US" dirty="0"/>
              <a:t>f = activation function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Face recognition</a:t>
            </a:r>
          </a:p>
          <a:p>
            <a:pPr lvl="1"/>
            <a:r>
              <a:rPr lang="en-US" dirty="0" smtClean="0"/>
              <a:t>Self-driving cars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CNN</a:t>
            </a:r>
          </a:p>
          <a:p>
            <a:pPr lvl="1"/>
            <a:r>
              <a:rPr lang="en-US" dirty="0" smtClean="0"/>
              <a:t>RNN</a:t>
            </a:r>
          </a:p>
          <a:p>
            <a:pPr lvl="1"/>
            <a:r>
              <a:rPr lang="en-US" dirty="0" smtClean="0"/>
              <a:t>ANN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High accuracy</a:t>
            </a:r>
          </a:p>
          <a:p>
            <a:pPr lvl="1"/>
            <a:r>
              <a:rPr lang="en-US" dirty="0" smtClean="0"/>
              <a:t>Handles </a:t>
            </a:r>
            <a:r>
              <a:rPr lang="en-US" dirty="0"/>
              <a:t>complex </a:t>
            </a:r>
            <a:r>
              <a:rPr lang="en-US" dirty="0" smtClean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688736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large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Requires GPU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Image processing</a:t>
            </a:r>
          </a:p>
          <a:p>
            <a:pPr lvl="1"/>
            <a:r>
              <a:rPr lang="en-US" dirty="0" smtClean="0"/>
              <a:t>Speech recognition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Small </a:t>
            </a:r>
            <a:r>
              <a:rPr lang="en-US" dirty="0"/>
              <a:t>dataset </a:t>
            </a:r>
            <a:r>
              <a:rPr lang="en-US" dirty="0" smtClean="0"/>
              <a:t>problems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Deep </a:t>
            </a:r>
            <a:r>
              <a:rPr lang="en-US" dirty="0"/>
              <a:t>networks approximate complex functions:𝑓(𝑥)=𝑓𝑛(𝑓𝑛−1(...𝑓1(𝑥</a:t>
            </a:r>
            <a:r>
              <a:rPr lang="en-US" dirty="0" smtClean="0"/>
              <a:t>))) 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Deep </a:t>
            </a:r>
            <a:r>
              <a:rPr lang="en-US" dirty="0"/>
              <a:t>learning uses neural networks.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39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</a:t>
            </a:r>
            <a:r>
              <a:rPr lang="en-US" dirty="0" smtClean="0"/>
              <a:t>4: </a:t>
            </a:r>
            <a:r>
              <a:rPr lang="en-US" dirty="0"/>
              <a:t>Supervised Learning (SL)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the most commonly used type of machine learning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Supervised </a:t>
            </a:r>
            <a:r>
              <a:rPr lang="en-US" dirty="0"/>
              <a:t>learning is a type of machine learning where the model learns from labeled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Labeled </a:t>
            </a:r>
            <a:r>
              <a:rPr lang="en-US" dirty="0"/>
              <a:t>data means input and correct output are both given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use supervised learning when correct answers are known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mapping between input and </a:t>
            </a:r>
            <a:r>
              <a:rPr lang="en-US" dirty="0" smtClean="0"/>
              <a:t>output.</a:t>
            </a:r>
          </a:p>
        </p:txBody>
      </p:sp>
    </p:spTree>
    <p:extLst>
      <p:ext uri="{BB962C8B-B14F-4D97-AF65-F5344CB8AC3E}">
        <p14:creationId xmlns:p14="http://schemas.microsoft.com/office/powerpoint/2010/main" val="281057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Real-life </a:t>
            </a:r>
            <a:r>
              <a:rPr lang="en-US" dirty="0"/>
              <a:t>analogy</a:t>
            </a:r>
          </a:p>
          <a:p>
            <a:pPr lvl="1"/>
            <a:r>
              <a:rPr lang="en-US" dirty="0"/>
              <a:t>Teacher teaches student using solved examples.</a:t>
            </a:r>
          </a:p>
          <a:p>
            <a:pPr lvl="1"/>
            <a:r>
              <a:rPr lang="en-US" dirty="0"/>
              <a:t>Student learns pattern.</a:t>
            </a:r>
          </a:p>
          <a:p>
            <a:r>
              <a:rPr lang="en-US" dirty="0" smtClean="0"/>
              <a:t>Mathematical </a:t>
            </a:r>
            <a:r>
              <a:rPr lang="en-US" dirty="0"/>
              <a:t>Formula</a:t>
            </a:r>
          </a:p>
          <a:p>
            <a:pPr lvl="1"/>
            <a:r>
              <a:rPr lang="en-US" dirty="0"/>
              <a:t>𝑦=𝑓(𝑥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Goal: Learn </a:t>
            </a:r>
            <a:r>
              <a:rPr lang="en-US" dirty="0"/>
              <a:t>function f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= </a:t>
            </a:r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f </a:t>
            </a:r>
            <a:r>
              <a:rPr lang="en-US" dirty="0"/>
              <a:t>= learned </a:t>
            </a:r>
            <a:r>
              <a:rPr lang="en-US" dirty="0" smtClean="0"/>
              <a:t>function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Input</a:t>
            </a:r>
            <a:r>
              <a:rPr lang="en-US" dirty="0"/>
              <a:t>: house </a:t>
            </a:r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Output</a:t>
            </a:r>
            <a:r>
              <a:rPr lang="en-US" dirty="0"/>
              <a:t>: house </a:t>
            </a:r>
            <a:r>
              <a:rPr lang="en-US" dirty="0" smtClean="0"/>
              <a:t>price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relationship</a:t>
            </a:r>
            <a:r>
              <a:rPr lang="en-US" dirty="0" smtClean="0"/>
              <a:t>.</a:t>
            </a:r>
          </a:p>
        </p:txBody>
      </p:sp>
      <p:pic>
        <p:nvPicPr>
          <p:cNvPr id="7170" name="Picture 2" descr="https://miro.medium.com/v2/resize:fit:1400/1*fq4smdRhVA2ZL6dxrikbK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147" y="1612056"/>
            <a:ext cx="6435921" cy="4564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77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Regression</a:t>
            </a:r>
          </a:p>
          <a:p>
            <a:pPr lvl="1"/>
            <a:r>
              <a:rPr lang="en-US" dirty="0" smtClean="0"/>
              <a:t>Classification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Highly accurate</a:t>
            </a:r>
          </a:p>
          <a:p>
            <a:pPr lvl="1"/>
            <a:r>
              <a:rPr lang="en-US" dirty="0" smtClean="0"/>
              <a:t>Widely used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labeled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Prediction problems</a:t>
            </a:r>
          </a:p>
          <a:p>
            <a:pPr lvl="1"/>
            <a:r>
              <a:rPr lang="en-US" dirty="0" smtClean="0"/>
              <a:t>Classification problems</a:t>
            </a:r>
          </a:p>
        </p:txBody>
      </p:sp>
    </p:spTree>
    <p:extLst>
      <p:ext uri="{BB962C8B-B14F-4D97-AF65-F5344CB8AC3E}">
        <p14:creationId xmlns:p14="http://schemas.microsoft.com/office/powerpoint/2010/main" val="181055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/>
              <a:t>When NOT to use</a:t>
            </a:r>
          </a:p>
          <a:p>
            <a:pPr lvl="1"/>
            <a:r>
              <a:rPr lang="en-US" dirty="0"/>
              <a:t>When labels unavailable</a:t>
            </a:r>
          </a:p>
          <a:p>
            <a:r>
              <a:rPr lang="en-US" dirty="0"/>
              <a:t>Technical deep explanation</a:t>
            </a:r>
          </a:p>
          <a:p>
            <a:pPr lvl="1"/>
            <a:r>
              <a:rPr lang="en-US" dirty="0"/>
              <a:t>Supervised learning minimizes loss function: min⁡𝐿𝑜𝑠𝑠(𝑦,𝑓(𝑥))</a:t>
            </a:r>
          </a:p>
          <a:p>
            <a:r>
              <a:rPr lang="en-US" dirty="0"/>
              <a:t>Summary</a:t>
            </a:r>
          </a:p>
          <a:p>
            <a:pPr lvl="1"/>
            <a:r>
              <a:rPr lang="en-US" dirty="0"/>
              <a:t>Supervised learning learns from labeled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74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</a:t>
            </a:r>
            <a:r>
              <a:rPr lang="en-US" dirty="0" smtClean="0"/>
              <a:t>5: </a:t>
            </a:r>
            <a:r>
              <a:rPr lang="en-US" dirty="0"/>
              <a:t>Unsupervised Learning (USL)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Unsupervised </a:t>
            </a:r>
            <a:r>
              <a:rPr lang="en-US" dirty="0"/>
              <a:t>learning learns patterns from unlabeled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correct output is given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Labeling </a:t>
            </a:r>
            <a:r>
              <a:rPr lang="en-US" dirty="0"/>
              <a:t>data is expensive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Unsupervised </a:t>
            </a:r>
            <a:r>
              <a:rPr lang="en-US" dirty="0"/>
              <a:t>learning finds hidden patterns automatically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Grouping </a:t>
            </a:r>
            <a:r>
              <a:rPr lang="en-US" dirty="0"/>
              <a:t>people based on similarity without knowing categories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6373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Mathematical goal</a:t>
            </a:r>
          </a:p>
          <a:p>
            <a:pPr lvl="1"/>
            <a:r>
              <a:rPr lang="en-US" dirty="0" smtClean="0"/>
              <a:t>Find </a:t>
            </a:r>
            <a:r>
              <a:rPr lang="en-US" dirty="0"/>
              <a:t>hidden structure</a:t>
            </a:r>
            <a:r>
              <a:rPr lang="en-US" dirty="0" smtClean="0"/>
              <a:t>: 𝑆𝑡𝑟𝑢𝑐𝑡𝑢𝑟𝑒</a:t>
            </a:r>
            <a:r>
              <a:rPr lang="en-US" dirty="0"/>
              <a:t>=𝑓(𝑥</a:t>
            </a:r>
            <a:r>
              <a:rPr lang="en-US" dirty="0" smtClean="0"/>
              <a:t>) 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input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output </a:t>
            </a:r>
            <a:r>
              <a:rPr lang="en-US" dirty="0" smtClean="0"/>
              <a:t>provided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Customer segmentation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Dimensionality </a:t>
            </a:r>
            <a:r>
              <a:rPr lang="en-US" dirty="0"/>
              <a:t>reduction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No labels needed</a:t>
            </a:r>
          </a:p>
          <a:p>
            <a:pPr lvl="1"/>
            <a:r>
              <a:rPr lang="en-US" dirty="0"/>
              <a:t>Find hidden </a:t>
            </a:r>
            <a:r>
              <a:rPr lang="en-US" dirty="0" smtClean="0"/>
              <a:t>patterns</a:t>
            </a:r>
            <a:endParaRPr lang="en-US" dirty="0"/>
          </a:p>
        </p:txBody>
      </p:sp>
      <p:pic>
        <p:nvPicPr>
          <p:cNvPr id="4098" name="Picture 2" descr="https://miro.medium.com/v2/1*S2EMecAq18n9lkdNhmh8A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279" y="1728246"/>
            <a:ext cx="6272521" cy="444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88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Hard </a:t>
            </a:r>
            <a:r>
              <a:rPr lang="en-US" dirty="0"/>
              <a:t>to </a:t>
            </a:r>
            <a:r>
              <a:rPr lang="en-US" dirty="0" smtClean="0"/>
              <a:t>evaluate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Pattern discovery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labels </a:t>
            </a:r>
            <a:r>
              <a:rPr lang="en-US" dirty="0" smtClean="0"/>
              <a:t>exist</a:t>
            </a:r>
          </a:p>
          <a:p>
            <a:r>
              <a:rPr lang="en-US" dirty="0" smtClean="0"/>
              <a:t>Technical explanation</a:t>
            </a:r>
          </a:p>
          <a:p>
            <a:pPr lvl="1"/>
            <a:r>
              <a:rPr lang="en-US" dirty="0" smtClean="0"/>
              <a:t>Optimizes </a:t>
            </a:r>
            <a:r>
              <a:rPr lang="en-US" dirty="0"/>
              <a:t>similarity function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Unsupervised </a:t>
            </a:r>
            <a:r>
              <a:rPr lang="en-US" dirty="0"/>
              <a:t>learning finds patterns in unlabeled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56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</a:t>
            </a:r>
            <a:r>
              <a:rPr lang="en-US" dirty="0" smtClean="0"/>
              <a:t>6: </a:t>
            </a:r>
            <a:r>
              <a:rPr lang="en-US" dirty="0"/>
              <a:t>Semi-Supervised Learning (SSL)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Semi-Supervised </a:t>
            </a:r>
            <a:r>
              <a:rPr lang="en-US" dirty="0"/>
              <a:t>Learning is a type of machine learning that uses both labeled data and unlabeled data to train a model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The </a:t>
            </a:r>
            <a:r>
              <a:rPr lang="en-US" dirty="0"/>
              <a:t>model learns from a small amount of correct answers and a large amount of unknown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Labeling </a:t>
            </a:r>
            <a:r>
              <a:rPr lang="en-US" dirty="0"/>
              <a:t>data is expensive and </a:t>
            </a:r>
            <a:r>
              <a:rPr lang="en-US" dirty="0" smtClean="0"/>
              <a:t>time-consuming.</a:t>
            </a:r>
          </a:p>
          <a:p>
            <a:pPr lvl="1"/>
            <a:r>
              <a:rPr lang="en-US" dirty="0" smtClean="0"/>
              <a:t>Example: Labeling </a:t>
            </a:r>
            <a:r>
              <a:rPr lang="en-US" dirty="0"/>
              <a:t>medical images requires doctors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But </a:t>
            </a:r>
            <a:r>
              <a:rPr lang="en-US" dirty="0"/>
              <a:t>unlabeled data is abundant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Semi-supervised </a:t>
            </a:r>
            <a:r>
              <a:rPr lang="en-US" dirty="0"/>
              <a:t>learning allows models to use both efficiently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improves performance while reducing labeling cost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413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</a:t>
            </a:r>
            <a:r>
              <a:rPr lang="en-US" dirty="0"/>
              <a:t>a teacher gives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10 solved math </a:t>
            </a:r>
            <a:r>
              <a:rPr lang="en-US" dirty="0" smtClean="0"/>
              <a:t>problems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100 unsolved </a:t>
            </a:r>
            <a:r>
              <a:rPr lang="en-US" dirty="0" smtClean="0"/>
              <a:t>problems</a:t>
            </a:r>
          </a:p>
          <a:p>
            <a:pPr lvl="1"/>
            <a:r>
              <a:rPr lang="en-US" dirty="0" smtClean="0"/>
              <a:t>Student </a:t>
            </a:r>
            <a:r>
              <a:rPr lang="en-US" dirty="0"/>
              <a:t>learns pattern from solved problems and applies it to unsolved problems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Semi-supervised </a:t>
            </a:r>
            <a:r>
              <a:rPr lang="en-US" dirty="0"/>
              <a:t>learning works exactly like this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Goal </a:t>
            </a:r>
            <a:r>
              <a:rPr lang="en-US" dirty="0"/>
              <a:t>is to learn function</a:t>
            </a:r>
            <a:r>
              <a:rPr lang="en-US" dirty="0" smtClean="0"/>
              <a:t>: 𝑦</a:t>
            </a:r>
            <a:r>
              <a:rPr lang="en-US" dirty="0"/>
              <a:t>=𝑓(</a:t>
            </a:r>
            <a:r>
              <a:rPr lang="en-US" dirty="0" smtClean="0"/>
              <a:t>𝑥)</a:t>
            </a:r>
            <a:r>
              <a:rPr lang="en-US" dirty="0"/>
              <a:t> </a:t>
            </a:r>
            <a:r>
              <a:rPr lang="en-US" dirty="0" smtClean="0"/>
              <a:t>Using </a:t>
            </a:r>
            <a:r>
              <a:rPr lang="en-US" dirty="0"/>
              <a:t>both</a:t>
            </a:r>
            <a:r>
              <a:rPr lang="en-US" dirty="0" smtClean="0"/>
              <a:t>: (</a:t>
            </a:r>
            <a:r>
              <a:rPr lang="en-US" dirty="0"/>
              <a:t>𝑥𝑙,𝑦𝑙)(labeled </a:t>
            </a:r>
            <a:r>
              <a:rPr lang="en-US" dirty="0" smtClean="0"/>
              <a:t>data), (</a:t>
            </a:r>
            <a:r>
              <a:rPr lang="en-US" dirty="0"/>
              <a:t>𝑥𝑢)(unlabeled </a:t>
            </a:r>
            <a:r>
              <a:rPr lang="en-US" dirty="0" smtClean="0"/>
              <a:t>data)</a:t>
            </a:r>
          </a:p>
          <a:p>
            <a:pPr lvl="1"/>
            <a:r>
              <a:rPr lang="en-US" dirty="0" smtClean="0"/>
              <a:t>Total </a:t>
            </a:r>
            <a:r>
              <a:rPr lang="en-US" dirty="0"/>
              <a:t>dataset:𝐷={(𝑥𝑙,𝑦𝑙),(𝑥𝑢</a:t>
            </a:r>
            <a:r>
              <a:rPr lang="en-US" dirty="0" smtClean="0"/>
              <a:t>)}</a:t>
            </a:r>
            <a:endParaRPr lang="en-US" dirty="0"/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input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= output </a:t>
            </a:r>
            <a:r>
              <a:rPr lang="en-US" dirty="0" smtClean="0"/>
              <a:t>label</a:t>
            </a:r>
          </a:p>
          <a:p>
            <a:pPr lvl="1"/>
            <a:r>
              <a:rPr lang="en-US" dirty="0" smtClean="0"/>
              <a:t>(</a:t>
            </a:r>
            <a:r>
              <a:rPr lang="en-US" dirty="0"/>
              <a:t>xl, </a:t>
            </a:r>
            <a:r>
              <a:rPr lang="en-US" dirty="0" err="1"/>
              <a:t>yl</a:t>
            </a:r>
            <a:r>
              <a:rPr lang="en-US" dirty="0"/>
              <a:t>) = labeled </a:t>
            </a:r>
            <a:r>
              <a:rPr lang="en-US" dirty="0" smtClean="0"/>
              <a:t>data</a:t>
            </a:r>
          </a:p>
          <a:p>
            <a:pPr lvl="1"/>
            <a:r>
              <a:rPr lang="en-US" dirty="0" err="1" smtClean="0"/>
              <a:t>xu</a:t>
            </a:r>
            <a:r>
              <a:rPr lang="en-US" dirty="0" smtClean="0"/>
              <a:t> </a:t>
            </a:r>
            <a:r>
              <a:rPr lang="en-US" dirty="0"/>
              <a:t>= unlabeled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f </a:t>
            </a:r>
            <a:r>
              <a:rPr lang="en-US" dirty="0"/>
              <a:t>= learned </a:t>
            </a:r>
            <a:r>
              <a:rPr lang="en-US" dirty="0" smtClean="0"/>
              <a:t>function</a:t>
            </a:r>
          </a:p>
          <a:p>
            <a:pPr lvl="1"/>
            <a:r>
              <a:rPr lang="en-US" dirty="0" smtClean="0"/>
              <a:t>Goal</a:t>
            </a:r>
            <a:r>
              <a:rPr lang="en-US" dirty="0"/>
              <a:t>: learn f using both labeled and unlabeled data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2594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/>
              <a:t>Visual explanation</a:t>
            </a:r>
          </a:p>
          <a:p>
            <a:pPr lvl="1"/>
            <a:r>
              <a:rPr lang="en-US" dirty="0"/>
              <a:t>Diagram: Semi-supervised learning process</a:t>
            </a:r>
          </a:p>
          <a:p>
            <a:pPr lvl="1"/>
            <a:r>
              <a:rPr lang="en-US" dirty="0"/>
              <a:t>Explanation</a:t>
            </a:r>
            <a:r>
              <a:rPr lang="en-US" dirty="0" smtClean="0"/>
              <a:t>: Small </a:t>
            </a:r>
            <a:r>
              <a:rPr lang="en-US" dirty="0"/>
              <a:t>labeled dataset helps classify large unlabeled dataset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2290" name="Picture 2" descr="https://miro.medium.com/v2/resize:fit:1200/1*snZhMEQFhoJwbM5c0CPOA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829" y="2100665"/>
            <a:ext cx="8374276" cy="420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813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Practical example</a:t>
            </a:r>
          </a:p>
          <a:p>
            <a:pPr lvl="1"/>
            <a:r>
              <a:rPr lang="en-US" dirty="0"/>
              <a:t>Email classification</a:t>
            </a:r>
          </a:p>
          <a:p>
            <a:pPr lvl="1"/>
            <a:r>
              <a:rPr lang="en-US" dirty="0"/>
              <a:t>Labeled data: 100 emails labeled spam/not spam</a:t>
            </a:r>
          </a:p>
          <a:p>
            <a:pPr lvl="1"/>
            <a:r>
              <a:rPr lang="en-US" dirty="0"/>
              <a:t>Unlabeled data: 10,000 unlabeled emails</a:t>
            </a:r>
          </a:p>
          <a:p>
            <a:pPr lvl="1"/>
            <a:r>
              <a:rPr lang="en-US" dirty="0"/>
              <a:t>Model learns from 100 labeled emails and improves using unlabeled emails.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Self-Training: Model predicts labels for unlabeled data and retrains.</a:t>
            </a:r>
          </a:p>
          <a:p>
            <a:pPr lvl="1"/>
            <a:r>
              <a:rPr lang="en-US" dirty="0"/>
              <a:t>Co-Training: Multiple models teach each other.</a:t>
            </a:r>
          </a:p>
          <a:p>
            <a:pPr lvl="1"/>
            <a:r>
              <a:rPr lang="en-US" dirty="0"/>
              <a:t>Graph-Based Methods: Uses similarity between data points.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fewer labeled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model </a:t>
            </a:r>
            <a:r>
              <a:rPr lang="en-US" dirty="0" smtClean="0"/>
              <a:t>accuracy</a:t>
            </a:r>
          </a:p>
          <a:p>
            <a:pPr lvl="1"/>
            <a:r>
              <a:rPr lang="en-US" dirty="0" smtClean="0"/>
              <a:t>Uses </a:t>
            </a:r>
            <a:r>
              <a:rPr lang="en-US" dirty="0"/>
              <a:t>large unlabeled </a:t>
            </a:r>
            <a:r>
              <a:rPr lang="en-US" dirty="0" smtClean="0"/>
              <a:t>datasets</a:t>
            </a:r>
          </a:p>
          <a:p>
            <a:pPr lvl="1"/>
            <a:r>
              <a:rPr lang="en-US" dirty="0" smtClean="0"/>
              <a:t>Cost efficient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May </a:t>
            </a:r>
            <a:r>
              <a:rPr lang="en-US" dirty="0"/>
              <a:t>propagate incorrect </a:t>
            </a:r>
            <a:r>
              <a:rPr lang="en-US" dirty="0" smtClean="0"/>
              <a:t>labels</a:t>
            </a:r>
          </a:p>
          <a:p>
            <a:pPr lvl="1"/>
            <a:r>
              <a:rPr lang="en-US" dirty="0" smtClean="0"/>
              <a:t>Complex implementation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careful </a:t>
            </a:r>
            <a:r>
              <a:rPr lang="en-US" dirty="0" smtClean="0"/>
              <a:t>tuning</a:t>
            </a:r>
          </a:p>
        </p:txBody>
      </p:sp>
    </p:spTree>
    <p:extLst>
      <p:ext uri="{BB962C8B-B14F-4D97-AF65-F5344CB8AC3E}">
        <p14:creationId xmlns:p14="http://schemas.microsoft.com/office/powerpoint/2010/main" val="3024707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to use</a:t>
            </a:r>
          </a:p>
          <a:p>
            <a:pPr lvl="1"/>
            <a:r>
              <a:rPr lang="en-US" dirty="0"/>
              <a:t>When labeled data is limited</a:t>
            </a:r>
          </a:p>
          <a:p>
            <a:pPr lvl="1"/>
            <a:r>
              <a:rPr lang="en-US" dirty="0"/>
              <a:t>When unlabeled data is abundant</a:t>
            </a:r>
          </a:p>
          <a:p>
            <a:pPr lvl="1"/>
            <a:r>
              <a:rPr lang="en-US" dirty="0"/>
              <a:t>Examples: Medical imaging, Speech recognition, Text classification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sufficient labeled data already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unlabeled data is </a:t>
            </a:r>
            <a:r>
              <a:rPr lang="en-US" dirty="0" smtClean="0"/>
              <a:t>irrelevant</a:t>
            </a:r>
          </a:p>
          <a:p>
            <a:r>
              <a:rPr lang="en-US" dirty="0" smtClean="0"/>
              <a:t>Slide </a:t>
            </a:r>
            <a:r>
              <a:rPr lang="en-US" dirty="0"/>
              <a:t>14: Technical 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Semi-supervised </a:t>
            </a:r>
            <a:r>
              <a:rPr lang="en-US" dirty="0"/>
              <a:t>learning assumes</a:t>
            </a:r>
            <a:r>
              <a:rPr lang="en-US" dirty="0" smtClean="0"/>
              <a:t>: Similar </a:t>
            </a:r>
            <a:r>
              <a:rPr lang="en-US" dirty="0"/>
              <a:t>inputs have similar outputs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called the smoothness assumption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Mathematically: If</a:t>
            </a:r>
            <a:r>
              <a:rPr lang="en-US" dirty="0"/>
              <a:t>:𝑥1≈𝑥</a:t>
            </a:r>
            <a:r>
              <a:rPr lang="en-US" dirty="0" smtClean="0"/>
              <a:t>2, ​</a:t>
            </a:r>
            <a:r>
              <a:rPr lang="en-US" dirty="0"/>
              <a:t>Then:𝑓(𝑥1)≈𝑓(𝑥</a:t>
            </a:r>
            <a:r>
              <a:rPr lang="en-US" dirty="0" smtClean="0"/>
              <a:t>2). This </a:t>
            </a:r>
            <a:r>
              <a:rPr lang="en-US" dirty="0"/>
              <a:t>allows model to infer labels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Semi-supervised </a:t>
            </a:r>
            <a:r>
              <a:rPr lang="en-US" dirty="0"/>
              <a:t>learning uses both labeled and unlabeled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improves accuracy while reducing labeling cost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Very </a:t>
            </a:r>
            <a:r>
              <a:rPr lang="en-US" dirty="0"/>
              <a:t>useful in real-world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327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</a:t>
            </a:r>
            <a:r>
              <a:rPr lang="en-US" dirty="0" smtClean="0"/>
              <a:t>7: </a:t>
            </a:r>
            <a:r>
              <a:rPr lang="en-US" dirty="0"/>
              <a:t>Reinforcement Learning (RL)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Reinforcement Learning is one of the most powerful and advanced machine learning paradigms. It is fundamentally different from supervised and unsupervised learning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Reinforcement </a:t>
            </a:r>
            <a:r>
              <a:rPr lang="en-US" dirty="0"/>
              <a:t>Learning is a type of machine learning where an agent learns by interacting with an environment and receiving rewards or </a:t>
            </a:r>
            <a:r>
              <a:rPr lang="en-US" dirty="0" smtClean="0"/>
              <a:t>punishments.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The </a:t>
            </a:r>
            <a:r>
              <a:rPr lang="en-US" dirty="0"/>
              <a:t>machine learns by trial and error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Many </a:t>
            </a:r>
            <a:r>
              <a:rPr lang="en-US" dirty="0"/>
              <a:t>real-world problems cannot be solved using fixed datasets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Instead</a:t>
            </a:r>
            <a:r>
              <a:rPr lang="en-US" dirty="0"/>
              <a:t>, machines must learn by </a:t>
            </a:r>
            <a:r>
              <a:rPr lang="en-US" dirty="0" smtClean="0"/>
              <a:t>interacting.</a:t>
            </a:r>
          </a:p>
          <a:p>
            <a:pPr lvl="1"/>
            <a:r>
              <a:rPr lang="en-US" dirty="0" smtClean="0"/>
              <a:t>Examples: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Self-driving </a:t>
            </a:r>
            <a:r>
              <a:rPr lang="en-US" dirty="0" smtClean="0"/>
              <a:t>cars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Game playing (Chess, GTA, etc</a:t>
            </a:r>
            <a:r>
              <a:rPr lang="en-US" dirty="0" smtClean="0"/>
              <a:t>.)</a:t>
            </a:r>
          </a:p>
          <a:p>
            <a:pPr marL="914400" lvl="2" indent="0">
              <a:buNone/>
            </a:pPr>
            <a:r>
              <a:rPr lang="en-US" dirty="0" smtClean="0"/>
              <a:t>• Robotics</a:t>
            </a:r>
          </a:p>
          <a:p>
            <a:pPr lvl="1"/>
            <a:r>
              <a:rPr lang="en-US" dirty="0" smtClean="0"/>
              <a:t>Reinforcement </a:t>
            </a:r>
            <a:r>
              <a:rPr lang="en-US" dirty="0"/>
              <a:t>learning allows machines to learn from experience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30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Teaching </a:t>
            </a:r>
            <a:r>
              <a:rPr lang="en-US" dirty="0"/>
              <a:t>a dog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dog performs correct action → </a:t>
            </a:r>
            <a:r>
              <a:rPr lang="en-US" dirty="0" smtClean="0"/>
              <a:t>reward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wrong action → </a:t>
            </a:r>
            <a:r>
              <a:rPr lang="en-US" dirty="0" smtClean="0"/>
              <a:t>punishment</a:t>
            </a:r>
          </a:p>
          <a:p>
            <a:pPr lvl="1"/>
            <a:r>
              <a:rPr lang="en-US" dirty="0" smtClean="0"/>
              <a:t>Dog </a:t>
            </a:r>
            <a:r>
              <a:rPr lang="en-US" dirty="0"/>
              <a:t>learns correct behavior over time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agent works the same way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Goal </a:t>
            </a:r>
            <a:r>
              <a:rPr lang="en-US" dirty="0"/>
              <a:t>of RL is to maximize total reward</a:t>
            </a:r>
            <a:r>
              <a:rPr lang="en-US" dirty="0" smtClean="0"/>
              <a:t>: max</a:t>
            </a:r>
            <a:r>
              <a:rPr lang="en-US" dirty="0"/>
              <a:t>⁡∑𝑡=0∞</a:t>
            </a:r>
            <a:r>
              <a:rPr lang="en-US" dirty="0" smtClean="0"/>
              <a:t>𝛾𝑡𝑅𝑡 </a:t>
            </a:r>
          </a:p>
          <a:p>
            <a:pPr lvl="1"/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t </a:t>
            </a:r>
            <a:r>
              <a:rPr lang="en-US" dirty="0"/>
              <a:t>= time </a:t>
            </a:r>
            <a:r>
              <a:rPr lang="en-US" dirty="0" smtClean="0"/>
              <a:t>step</a:t>
            </a:r>
          </a:p>
          <a:p>
            <a:pPr lvl="1"/>
            <a:r>
              <a:rPr lang="en-US" dirty="0" err="1" smtClean="0"/>
              <a:t>Rt</a:t>
            </a:r>
            <a:r>
              <a:rPr lang="en-US" dirty="0" smtClean="0"/>
              <a:t> </a:t>
            </a:r>
            <a:r>
              <a:rPr lang="en-US" dirty="0"/>
              <a:t>= reward at time </a:t>
            </a:r>
            <a:r>
              <a:rPr lang="en-US" dirty="0" smtClean="0"/>
              <a:t>t</a:t>
            </a:r>
          </a:p>
          <a:p>
            <a:pPr lvl="1"/>
            <a:r>
              <a:rPr lang="el-GR" dirty="0" smtClean="0"/>
              <a:t>γ </a:t>
            </a:r>
            <a:r>
              <a:rPr lang="el-GR" dirty="0"/>
              <a:t>(</a:t>
            </a:r>
            <a:r>
              <a:rPr lang="en-US" dirty="0"/>
              <a:t>gamma) = discount factor (importance of future reward</a:t>
            </a:r>
            <a:r>
              <a:rPr lang="en-US" dirty="0" smtClean="0"/>
              <a:t>)</a:t>
            </a:r>
          </a:p>
          <a:p>
            <a:pPr lvl="1"/>
            <a:r>
              <a:rPr lang="el-GR" dirty="0" smtClean="0"/>
              <a:t>γ </a:t>
            </a:r>
            <a:r>
              <a:rPr lang="en-US" dirty="0"/>
              <a:t>ranges between 0 and 1If </a:t>
            </a:r>
            <a:r>
              <a:rPr lang="el-GR" dirty="0"/>
              <a:t>γ </a:t>
            </a:r>
            <a:r>
              <a:rPr lang="en-US" dirty="0"/>
              <a:t>close to 1 → future rewards </a:t>
            </a:r>
            <a:r>
              <a:rPr lang="en-US" dirty="0" smtClean="0"/>
              <a:t>important</a:t>
            </a:r>
          </a:p>
          <a:p>
            <a:pPr lvl="1"/>
            <a:r>
              <a:rPr lang="en-US" dirty="0" smtClean="0"/>
              <a:t>If </a:t>
            </a:r>
            <a:r>
              <a:rPr lang="el-GR" dirty="0"/>
              <a:t>γ </a:t>
            </a:r>
            <a:r>
              <a:rPr lang="en-US" dirty="0"/>
              <a:t>close to 0 → only immediate rewards </a:t>
            </a:r>
            <a:r>
              <a:rPr lang="en-US" dirty="0" smtClean="0"/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458685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</a:t>
            </a:r>
            <a:r>
              <a:rPr lang="en-US" dirty="0"/>
              <a:t>: Reinforcement learning </a:t>
            </a:r>
            <a:r>
              <a:rPr lang="en-US" dirty="0" smtClean="0"/>
              <a:t>loop</a:t>
            </a:r>
          </a:p>
          <a:p>
            <a:pPr lvl="1"/>
            <a:r>
              <a:rPr lang="en-US" dirty="0" smtClean="0"/>
              <a:t>Explanation: Agent </a:t>
            </a:r>
            <a:r>
              <a:rPr lang="en-US" dirty="0"/>
              <a:t>→ takes action → Environment → gives reward → agent </a:t>
            </a:r>
            <a:r>
              <a:rPr lang="en-US" dirty="0" smtClean="0"/>
              <a:t>learns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Self-driving </a:t>
            </a:r>
            <a:r>
              <a:rPr lang="en-US" dirty="0"/>
              <a:t>car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Action</a:t>
            </a:r>
            <a:r>
              <a:rPr lang="en-US" dirty="0"/>
              <a:t>: turn </a:t>
            </a:r>
            <a:r>
              <a:rPr lang="en-US" dirty="0" smtClean="0"/>
              <a:t>left</a:t>
            </a:r>
          </a:p>
          <a:p>
            <a:pPr lvl="1"/>
            <a:r>
              <a:rPr lang="en-US" dirty="0" smtClean="0"/>
              <a:t>Environment</a:t>
            </a:r>
            <a:r>
              <a:rPr lang="en-US" dirty="0"/>
              <a:t>: </a:t>
            </a:r>
            <a:r>
              <a:rPr lang="en-US" dirty="0" smtClean="0"/>
              <a:t>road</a:t>
            </a:r>
          </a:p>
          <a:p>
            <a:pPr lvl="1"/>
            <a:r>
              <a:rPr lang="en-US" dirty="0" smtClean="0"/>
              <a:t>Reward</a:t>
            </a:r>
            <a:r>
              <a:rPr lang="en-US" dirty="0"/>
              <a:t>: stays </a:t>
            </a:r>
            <a:r>
              <a:rPr lang="en-US" dirty="0" smtClean="0"/>
              <a:t>safe</a:t>
            </a:r>
          </a:p>
          <a:p>
            <a:pPr lvl="1"/>
            <a:r>
              <a:rPr lang="en-US" dirty="0" smtClean="0"/>
              <a:t>Punishment</a:t>
            </a:r>
            <a:r>
              <a:rPr lang="en-US" dirty="0"/>
              <a:t>: </a:t>
            </a:r>
            <a:r>
              <a:rPr lang="en-US" dirty="0" smtClean="0"/>
              <a:t>crash</a:t>
            </a:r>
          </a:p>
          <a:p>
            <a:pPr lvl="1"/>
            <a:r>
              <a:rPr lang="en-US" dirty="0" smtClean="0"/>
              <a:t>Car </a:t>
            </a:r>
            <a:r>
              <a:rPr lang="en-US" dirty="0"/>
              <a:t>learns safe driving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Model-based RL: Agent </a:t>
            </a:r>
            <a:r>
              <a:rPr lang="en-US" dirty="0"/>
              <a:t>builds model of </a:t>
            </a:r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Model-free RL: Agent </a:t>
            </a:r>
            <a:r>
              <a:rPr lang="en-US" dirty="0"/>
              <a:t>learns directly from </a:t>
            </a:r>
            <a:r>
              <a:rPr lang="en-US" dirty="0" smtClean="0"/>
              <a:t>experience</a:t>
            </a:r>
          </a:p>
          <a:p>
            <a:pPr lvl="1"/>
            <a:r>
              <a:rPr lang="en-US" dirty="0" smtClean="0"/>
              <a:t>Examples: Q-learning, Deep </a:t>
            </a:r>
            <a:r>
              <a:rPr lang="en-US" dirty="0"/>
              <a:t>Q Network (DQN</a:t>
            </a:r>
            <a:r>
              <a:rPr lang="en-US" dirty="0" smtClean="0"/>
              <a:t>)</a:t>
            </a:r>
          </a:p>
        </p:txBody>
      </p:sp>
      <p:pic>
        <p:nvPicPr>
          <p:cNvPr id="2050" name="Picture 2" descr="https://upload.wikimedia.org/wikipedia/commons/thumb/1/1b/Reinforcement_learning_diagram.svg/512px-Reinforcement_learning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047" y="1971035"/>
            <a:ext cx="4200753" cy="406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406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Learns </a:t>
            </a:r>
            <a:r>
              <a:rPr lang="en-US" dirty="0"/>
              <a:t>from </a:t>
            </a:r>
            <a:r>
              <a:rPr lang="en-US" dirty="0" smtClean="0"/>
              <a:t>interaction</a:t>
            </a:r>
          </a:p>
          <a:p>
            <a:pPr lvl="1"/>
            <a:r>
              <a:rPr lang="en-US" dirty="0" smtClean="0"/>
              <a:t>Handles </a:t>
            </a:r>
            <a:r>
              <a:rPr lang="en-US" dirty="0"/>
              <a:t>dynamic </a:t>
            </a:r>
            <a:r>
              <a:rPr lang="en-US" dirty="0" smtClean="0"/>
              <a:t>environments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labeled data </a:t>
            </a:r>
            <a:r>
              <a:rPr lang="en-US" dirty="0" smtClean="0"/>
              <a:t>needed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Slow learning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many </a:t>
            </a:r>
            <a:r>
              <a:rPr lang="en-US" dirty="0" smtClean="0"/>
              <a:t>trials</a:t>
            </a:r>
          </a:p>
          <a:p>
            <a:pPr lvl="1"/>
            <a:r>
              <a:rPr lang="en-US" dirty="0" smtClean="0"/>
              <a:t>Computationally expensive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Game playing</a:t>
            </a:r>
          </a:p>
          <a:p>
            <a:pPr lvl="1"/>
            <a:r>
              <a:rPr lang="en-US" dirty="0" smtClean="0"/>
              <a:t>Robotics</a:t>
            </a:r>
          </a:p>
          <a:p>
            <a:pPr lvl="1"/>
            <a:r>
              <a:rPr lang="en-US" dirty="0" smtClean="0"/>
              <a:t>Self-driving cars</a:t>
            </a:r>
          </a:p>
          <a:p>
            <a:pPr lvl="1"/>
            <a:r>
              <a:rPr lang="en-US" dirty="0" smtClean="0"/>
              <a:t>Decision systems</a:t>
            </a:r>
          </a:p>
        </p:txBody>
      </p:sp>
    </p:spTree>
    <p:extLst>
      <p:ext uri="{BB962C8B-B14F-4D97-AF65-F5344CB8AC3E}">
        <p14:creationId xmlns:p14="http://schemas.microsoft.com/office/powerpoint/2010/main" val="445459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Static datasets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prediction </a:t>
            </a:r>
            <a:r>
              <a:rPr lang="en-US" dirty="0" smtClean="0"/>
              <a:t>tasks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Reinforcement </a:t>
            </a:r>
            <a:r>
              <a:rPr lang="en-US" dirty="0"/>
              <a:t>learning follows Markov Decision Process (MDP</a:t>
            </a:r>
            <a:r>
              <a:rPr lang="en-US" dirty="0" smtClean="0"/>
              <a:t>): </a:t>
            </a:r>
          </a:p>
          <a:p>
            <a:pPr lvl="1"/>
            <a:r>
              <a:rPr lang="en-US" dirty="0" smtClean="0"/>
              <a:t>Components: State </a:t>
            </a:r>
            <a:r>
              <a:rPr lang="en-US" dirty="0"/>
              <a:t>(S</a:t>
            </a:r>
            <a:r>
              <a:rPr lang="en-US" dirty="0" smtClean="0"/>
              <a:t>), Action </a:t>
            </a:r>
            <a:r>
              <a:rPr lang="en-US" dirty="0"/>
              <a:t>(A</a:t>
            </a:r>
            <a:r>
              <a:rPr lang="en-US" dirty="0" smtClean="0"/>
              <a:t>), Reward </a:t>
            </a:r>
            <a:r>
              <a:rPr lang="en-US" dirty="0"/>
              <a:t>(R</a:t>
            </a:r>
            <a:r>
              <a:rPr lang="en-US" dirty="0" smtClean="0"/>
              <a:t>), Policy </a:t>
            </a:r>
            <a:r>
              <a:rPr lang="en-US" dirty="0"/>
              <a:t>(</a:t>
            </a:r>
            <a:r>
              <a:rPr lang="el-GR" dirty="0"/>
              <a:t>π</a:t>
            </a:r>
            <a:r>
              <a:rPr lang="el-GR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Goal: Learn </a:t>
            </a:r>
            <a:r>
              <a:rPr lang="en-US" dirty="0"/>
              <a:t>optimal policy</a:t>
            </a:r>
            <a:r>
              <a:rPr lang="en-US" dirty="0" smtClean="0"/>
              <a:t>: 𝜋^∗=𝑜𝑝𝑡𝑖𝑚𝑎𝑙 𝑎𝑐𝑡𝑖𝑜𝑛 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Reinforcement </a:t>
            </a:r>
            <a:r>
              <a:rPr lang="en-US" dirty="0"/>
              <a:t>learning learns through trial and error using rewards.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59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8: 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Dataset is the foundation of all machine learning. Without dataset, machine learning cannot exist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Dataset is a collection of data used to train and test machine learning models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Dataset </a:t>
            </a:r>
            <a:r>
              <a:rPr lang="en-US" dirty="0"/>
              <a:t>is the information the machine learns from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learns patterns from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data → no learning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provides examples so model can learn relationships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is like textbook for students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Student </a:t>
            </a:r>
            <a:r>
              <a:rPr lang="en-US" dirty="0"/>
              <a:t>learns from textbook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learns from dataset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4623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is represented as</a:t>
            </a:r>
            <a:r>
              <a:rPr lang="en-US" dirty="0" smtClean="0"/>
              <a:t>: 𝐷</a:t>
            </a:r>
            <a:r>
              <a:rPr lang="en-US" dirty="0"/>
              <a:t>={(𝑥1,𝑦1),(𝑥2,𝑦2),(𝑥3,𝑦3),...,(𝑥𝑛,𝑦𝑛</a:t>
            </a:r>
            <a:r>
              <a:rPr lang="en-US" dirty="0" smtClean="0"/>
              <a:t>)}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D </a:t>
            </a:r>
            <a:r>
              <a:rPr lang="en-US" dirty="0"/>
              <a:t>= </a:t>
            </a:r>
            <a:r>
              <a:rPr lang="en-US" dirty="0" smtClean="0"/>
              <a:t>dataset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= </a:t>
            </a:r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n </a:t>
            </a:r>
            <a:r>
              <a:rPr lang="en-US" dirty="0"/>
              <a:t>= total number of data </a:t>
            </a:r>
            <a:r>
              <a:rPr lang="en-US" dirty="0" smtClean="0"/>
              <a:t>points</a:t>
            </a:r>
          </a:p>
          <a:p>
            <a:pPr lvl="1"/>
            <a:r>
              <a:rPr lang="en-US" dirty="0" smtClean="0"/>
              <a:t>Each </a:t>
            </a:r>
            <a:r>
              <a:rPr lang="en-US" dirty="0"/>
              <a:t>pair (</a:t>
            </a:r>
            <a:r>
              <a:rPr lang="en-US" dirty="0" err="1"/>
              <a:t>x,y</a:t>
            </a:r>
            <a:r>
              <a:rPr lang="en-US" dirty="0"/>
              <a:t>) is called a data point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House </a:t>
            </a:r>
            <a:r>
              <a:rPr lang="en-US" dirty="0"/>
              <a:t>price dataset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Size</a:t>
            </a:r>
            <a:r>
              <a:rPr lang="en-US" dirty="0"/>
              <a:t>	Bedrooms	</a:t>
            </a:r>
            <a:r>
              <a:rPr lang="en-US" dirty="0" smtClean="0"/>
              <a:t>Price</a:t>
            </a:r>
          </a:p>
          <a:p>
            <a:pPr marL="914400" lvl="2" indent="0">
              <a:buNone/>
            </a:pPr>
            <a:r>
              <a:rPr lang="en-US" dirty="0" smtClean="0"/>
              <a:t>1000</a:t>
            </a:r>
            <a:r>
              <a:rPr lang="en-US" dirty="0"/>
              <a:t>	2	</a:t>
            </a:r>
            <a:r>
              <a:rPr lang="en-US" dirty="0" smtClean="0"/>
              <a:t>	50 lakh</a:t>
            </a:r>
          </a:p>
          <a:p>
            <a:pPr marL="914400" lvl="2" indent="0">
              <a:buNone/>
            </a:pPr>
            <a:r>
              <a:rPr lang="en-US" dirty="0" smtClean="0"/>
              <a:t>1500</a:t>
            </a:r>
            <a:r>
              <a:rPr lang="en-US" dirty="0"/>
              <a:t>	3	</a:t>
            </a:r>
            <a:r>
              <a:rPr lang="en-US" dirty="0" smtClean="0"/>
              <a:t>	75 lakh</a:t>
            </a:r>
          </a:p>
          <a:p>
            <a:pPr marL="914400" lvl="2" indent="0">
              <a:buNone/>
            </a:pPr>
            <a:r>
              <a:rPr lang="en-US" dirty="0" smtClean="0"/>
              <a:t>2000</a:t>
            </a:r>
            <a:r>
              <a:rPr lang="en-US" dirty="0"/>
              <a:t>	4	</a:t>
            </a:r>
            <a:r>
              <a:rPr lang="en-US" dirty="0" smtClean="0"/>
              <a:t>	1 crore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helps model learn price prediction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911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Training dataset: Used </a:t>
            </a:r>
            <a:r>
              <a:rPr lang="en-US" dirty="0"/>
              <a:t>to train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Validation dataset: Used </a:t>
            </a:r>
            <a:r>
              <a:rPr lang="en-US" dirty="0"/>
              <a:t>to tune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Test dataset: Used </a:t>
            </a:r>
            <a:r>
              <a:rPr lang="en-US" dirty="0"/>
              <a:t>to evaluate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learning </a:t>
            </a:r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model </a:t>
            </a:r>
            <a:r>
              <a:rPr lang="en-US" dirty="0" smtClean="0"/>
              <a:t>accuracy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pattern </a:t>
            </a:r>
            <a:r>
              <a:rPr lang="en-US" dirty="0" smtClean="0"/>
              <a:t>recognition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Poor </a:t>
            </a:r>
            <a:r>
              <a:rPr lang="en-US" dirty="0"/>
              <a:t>quality dataset → poor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large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Always </a:t>
            </a:r>
            <a:r>
              <a:rPr lang="en-US" dirty="0"/>
              <a:t>required in machine </a:t>
            </a:r>
            <a:r>
              <a:rPr lang="en-US" dirty="0" smtClean="0"/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614791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cannot exist without </a:t>
            </a:r>
            <a:r>
              <a:rPr lang="en-US" dirty="0" smtClean="0"/>
              <a:t>dataset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defines function approximation problem:𝑓(𝑥)≈</a:t>
            </a:r>
            <a:r>
              <a:rPr lang="en-US" dirty="0" smtClean="0"/>
              <a:t>𝑦 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mapping from dataset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distribution determines model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is collection of data used for training ML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076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9: Independent Variable (Feature / Predictor Variable)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 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/>
              <a:t>variable is the input variable used to predict </a:t>
            </a:r>
            <a:r>
              <a:rPr lang="en-US" dirty="0" smtClean="0"/>
              <a:t>output.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also called</a:t>
            </a:r>
            <a:r>
              <a:rPr lang="en-US" dirty="0" smtClean="0"/>
              <a:t>: Feature, Predictor variable, Input variable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uses input variables to predict output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These </a:t>
            </a:r>
            <a:r>
              <a:rPr lang="en-US" dirty="0"/>
              <a:t>inputs determine model predictions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Example: Predict </a:t>
            </a:r>
            <a:r>
              <a:rPr lang="en-US" dirty="0"/>
              <a:t>salary using </a:t>
            </a:r>
            <a:r>
              <a:rPr lang="en-US" dirty="0" smtClean="0"/>
              <a:t>experience.</a:t>
            </a:r>
          </a:p>
          <a:p>
            <a:pPr lvl="1"/>
            <a:r>
              <a:rPr lang="en-US" dirty="0" smtClean="0"/>
              <a:t>Experience </a:t>
            </a:r>
            <a:r>
              <a:rPr lang="en-US" dirty="0"/>
              <a:t>= independent </a:t>
            </a:r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Salary </a:t>
            </a:r>
            <a:r>
              <a:rPr lang="en-US" dirty="0"/>
              <a:t>= dependent </a:t>
            </a:r>
            <a:r>
              <a:rPr lang="en-US" dirty="0" smtClean="0"/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1049612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Mathematical </a:t>
            </a:r>
            <a:r>
              <a:rPr lang="en-US" dirty="0"/>
              <a:t>Representation</a:t>
            </a:r>
          </a:p>
          <a:p>
            <a:pPr lvl="1"/>
            <a:r>
              <a:rPr lang="en-US" dirty="0"/>
              <a:t>Independent variable represented as:</a:t>
            </a:r>
            <a:r>
              <a:rPr lang="en-US" dirty="0" smtClean="0"/>
              <a:t>𝑋, Multiple </a:t>
            </a:r>
            <a:r>
              <a:rPr lang="en-US" dirty="0"/>
              <a:t>variables:𝑋=(𝑥1,𝑥2,𝑥3,...,𝑥𝑛</a:t>
            </a:r>
            <a:r>
              <a:rPr lang="en-US" dirty="0" smtClean="0"/>
              <a:t>) 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x</a:t>
            </a:r>
            <a:r>
              <a:rPr lang="en-US" dirty="0"/>
              <a:t>₁, x₂, x₃ = individual </a:t>
            </a:r>
            <a:r>
              <a:rPr lang="en-US" dirty="0" smtClean="0"/>
              <a:t>features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Predict </a:t>
            </a:r>
            <a:r>
              <a:rPr lang="en-US" dirty="0"/>
              <a:t>house </a:t>
            </a:r>
            <a:r>
              <a:rPr lang="en-US" dirty="0" smtClean="0"/>
              <a:t>price:</a:t>
            </a:r>
          </a:p>
          <a:p>
            <a:pPr lvl="1"/>
            <a:r>
              <a:rPr lang="en-US" dirty="0" smtClean="0"/>
              <a:t>Features: Size, Bedrooms, Location</a:t>
            </a:r>
          </a:p>
          <a:p>
            <a:pPr lvl="1"/>
            <a:r>
              <a:rPr lang="en-US" dirty="0" smtClean="0"/>
              <a:t>These </a:t>
            </a:r>
            <a:r>
              <a:rPr lang="en-US" dirty="0"/>
              <a:t>are independent variables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Continuous features</a:t>
            </a:r>
          </a:p>
          <a:p>
            <a:pPr lvl="1"/>
            <a:r>
              <a:rPr lang="en-US" dirty="0" smtClean="0"/>
              <a:t>Categorical features</a:t>
            </a:r>
          </a:p>
          <a:p>
            <a:pPr lvl="1"/>
            <a:r>
              <a:rPr lang="en-US" dirty="0" smtClean="0"/>
              <a:t>Binary features</a:t>
            </a:r>
          </a:p>
        </p:txBody>
      </p:sp>
    </p:spTree>
    <p:extLst>
      <p:ext uri="{BB962C8B-B14F-4D97-AF65-F5344CB8AC3E}">
        <p14:creationId xmlns:p14="http://schemas.microsoft.com/office/powerpoint/2010/main" val="3811999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prediction </a:t>
            </a:r>
            <a:r>
              <a:rPr lang="en-US" dirty="0" smtClean="0"/>
              <a:t>information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model </a:t>
            </a:r>
            <a:r>
              <a:rPr lang="en-US" dirty="0" smtClean="0"/>
              <a:t>accuracy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Irrelevant </a:t>
            </a:r>
            <a:r>
              <a:rPr lang="en-US" dirty="0"/>
              <a:t>features reduce </a:t>
            </a:r>
            <a:r>
              <a:rPr lang="en-US" dirty="0" smtClean="0"/>
              <a:t>performance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Always </a:t>
            </a:r>
            <a:r>
              <a:rPr lang="en-US" dirty="0"/>
              <a:t>used in ML </a:t>
            </a:r>
            <a:r>
              <a:rPr lang="en-US" dirty="0" smtClean="0"/>
              <a:t>prediction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Never excluded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/>
              <a:t>variables define input space</a:t>
            </a:r>
            <a:r>
              <a:rPr lang="en-US" dirty="0" smtClean="0"/>
              <a:t>: 𝑋</a:t>
            </a:r>
            <a:r>
              <a:rPr lang="en-US" dirty="0"/>
              <a:t>∈</a:t>
            </a:r>
            <a:r>
              <a:rPr lang="en-US" dirty="0" smtClean="0"/>
              <a:t>𝑅𝑛 </a:t>
            </a:r>
            <a:endParaRPr lang="en-US" dirty="0"/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mapping:𝑓(𝑋)→</a:t>
            </a:r>
            <a:r>
              <a:rPr lang="en-US" dirty="0" smtClean="0"/>
              <a:t>𝑌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/>
              <a:t>variable is input to ML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25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10: Dependent Variable (Target Variable)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Dependent </a:t>
            </a:r>
            <a:r>
              <a:rPr lang="en-US" dirty="0"/>
              <a:t>variable is the output the model </a:t>
            </a:r>
            <a:r>
              <a:rPr lang="en-US" dirty="0" smtClean="0"/>
              <a:t>predicts.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depends on independent variables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predicts dependent variable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Predict </a:t>
            </a:r>
            <a:r>
              <a:rPr lang="en-US" dirty="0"/>
              <a:t>exam marks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Study </a:t>
            </a:r>
            <a:r>
              <a:rPr lang="en-US" dirty="0"/>
              <a:t>hours = </a:t>
            </a:r>
            <a:r>
              <a:rPr lang="en-US" dirty="0" smtClean="0"/>
              <a:t>independent</a:t>
            </a:r>
          </a:p>
          <a:p>
            <a:pPr lvl="1"/>
            <a:r>
              <a:rPr lang="en-US" dirty="0" smtClean="0"/>
              <a:t>Marks </a:t>
            </a:r>
            <a:r>
              <a:rPr lang="en-US" dirty="0"/>
              <a:t>= </a:t>
            </a:r>
            <a:r>
              <a:rPr lang="en-US" dirty="0" smtClean="0"/>
              <a:t>dependent</a:t>
            </a:r>
          </a:p>
        </p:txBody>
      </p:sp>
    </p:spTree>
    <p:extLst>
      <p:ext uri="{BB962C8B-B14F-4D97-AF65-F5344CB8AC3E}">
        <p14:creationId xmlns:p14="http://schemas.microsoft.com/office/powerpoint/2010/main" val="3942150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</a:t>
            </a:r>
            <a:r>
              <a:rPr lang="en-US" dirty="0"/>
              <a:t>Representation</a:t>
            </a:r>
          </a:p>
          <a:p>
            <a:pPr lvl="1"/>
            <a:r>
              <a:rPr lang="en-US" dirty="0"/>
              <a:t>Represented as: 𝑌</a:t>
            </a:r>
          </a:p>
          <a:p>
            <a:r>
              <a:rPr lang="en-US" dirty="0" smtClean="0"/>
              <a:t>Explanation</a:t>
            </a:r>
            <a:endParaRPr lang="en-US" dirty="0"/>
          </a:p>
          <a:p>
            <a:pPr lvl="1"/>
            <a:r>
              <a:rPr lang="en-US" dirty="0"/>
              <a:t>Y = output variable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House </a:t>
            </a:r>
            <a:r>
              <a:rPr lang="en-US" dirty="0"/>
              <a:t>price </a:t>
            </a:r>
            <a:r>
              <a:rPr lang="en-US" dirty="0" smtClean="0"/>
              <a:t>prediction: </a:t>
            </a:r>
          </a:p>
          <a:p>
            <a:pPr lvl="1"/>
            <a:r>
              <a:rPr lang="en-US" dirty="0" smtClean="0"/>
              <a:t>Price </a:t>
            </a:r>
            <a:r>
              <a:rPr lang="en-US" dirty="0"/>
              <a:t>= dependent </a:t>
            </a:r>
            <a:r>
              <a:rPr lang="en-US" dirty="0" smtClean="0"/>
              <a:t>variable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Continuous output</a:t>
            </a:r>
          </a:p>
          <a:p>
            <a:pPr lvl="1"/>
            <a:r>
              <a:rPr lang="en-US" dirty="0" smtClean="0"/>
              <a:t>Categorical output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Defines </a:t>
            </a:r>
            <a:r>
              <a:rPr lang="en-US" dirty="0"/>
              <a:t>prediction </a:t>
            </a:r>
            <a:r>
              <a:rPr lang="en-US" dirty="0" smtClean="0"/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1882348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Incorrect </a:t>
            </a:r>
            <a:r>
              <a:rPr lang="en-US" dirty="0"/>
              <a:t>target → incorrect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Supervised learning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Unsupervised learning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function</a:t>
            </a:r>
            <a:r>
              <a:rPr lang="en-US" dirty="0" smtClean="0"/>
              <a:t>: 𝑌</a:t>
            </a:r>
            <a:r>
              <a:rPr lang="en-US" dirty="0"/>
              <a:t>=𝑓(𝑋</a:t>
            </a:r>
            <a:r>
              <a:rPr lang="en-US" dirty="0" smtClean="0"/>
              <a:t>)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Dependent </a:t>
            </a:r>
            <a:r>
              <a:rPr lang="en-US" dirty="0"/>
              <a:t>variable is predicted output.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963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11: </a:t>
            </a:r>
            <a:r>
              <a:rPr lang="en-IN" dirty="0" err="1"/>
              <a:t>Labeled</a:t>
            </a:r>
            <a:r>
              <a:rPr lang="en-IN" dirty="0"/>
              <a:t>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Labeled </a:t>
            </a:r>
            <a:r>
              <a:rPr lang="en-US" dirty="0"/>
              <a:t>data is data where both the input and the correct output are already known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The </a:t>
            </a:r>
            <a:r>
              <a:rPr lang="en-US" dirty="0"/>
              <a:t>dataset contains questions and correct answers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models learn by comparing their predictions with correct answers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Labeled </a:t>
            </a:r>
            <a:r>
              <a:rPr lang="en-US" dirty="0"/>
              <a:t>data provides the correct answers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Without </a:t>
            </a:r>
            <a:r>
              <a:rPr lang="en-US" dirty="0"/>
              <a:t>labeled data, supervised learning cannot work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Teacher </a:t>
            </a:r>
            <a:r>
              <a:rPr lang="en-US" dirty="0"/>
              <a:t>gives student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Question</a:t>
            </a:r>
            <a:r>
              <a:rPr lang="en-US" dirty="0"/>
              <a:t>: 2 + </a:t>
            </a:r>
            <a:r>
              <a:rPr lang="en-US" dirty="0" smtClean="0"/>
              <a:t>2</a:t>
            </a:r>
          </a:p>
          <a:p>
            <a:pPr lvl="1"/>
            <a:r>
              <a:rPr lang="en-US" dirty="0" smtClean="0"/>
              <a:t>Answer</a:t>
            </a:r>
            <a:r>
              <a:rPr lang="en-US" dirty="0"/>
              <a:t>: </a:t>
            </a:r>
            <a:r>
              <a:rPr lang="en-US" dirty="0" smtClean="0"/>
              <a:t>4</a:t>
            </a:r>
          </a:p>
          <a:p>
            <a:pPr lvl="1"/>
            <a:r>
              <a:rPr lang="en-US" dirty="0" smtClean="0"/>
              <a:t>Student </a:t>
            </a:r>
            <a:r>
              <a:rPr lang="en-US" dirty="0"/>
              <a:t>learns from correct answer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Machine learning works the same way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812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Labeled </a:t>
            </a:r>
            <a:r>
              <a:rPr lang="en-US" dirty="0"/>
              <a:t>dataset:𝐷={(𝑥1,𝑦1),(𝑥2,𝑦2),...,(𝑥𝑛,𝑦𝑛</a:t>
            </a:r>
            <a:r>
              <a:rPr lang="en-US" dirty="0" smtClean="0"/>
              <a:t>)}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D </a:t>
            </a:r>
            <a:r>
              <a:rPr lang="en-US" dirty="0"/>
              <a:t>= </a:t>
            </a:r>
            <a:r>
              <a:rPr lang="en-US" dirty="0" smtClean="0"/>
              <a:t>dataset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= correct output </a:t>
            </a:r>
            <a:r>
              <a:rPr lang="en-US" dirty="0" smtClean="0"/>
              <a:t>label</a:t>
            </a:r>
          </a:p>
          <a:p>
            <a:pPr lvl="1"/>
            <a:r>
              <a:rPr lang="en-US" dirty="0" smtClean="0"/>
              <a:t>(</a:t>
            </a:r>
            <a:r>
              <a:rPr lang="en-US" dirty="0" err="1"/>
              <a:t>x,y</a:t>
            </a:r>
            <a:r>
              <a:rPr lang="en-US" dirty="0"/>
              <a:t>) = labeled data </a:t>
            </a:r>
            <a:r>
              <a:rPr lang="en-US" dirty="0" smtClean="0"/>
              <a:t>point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Spam </a:t>
            </a:r>
            <a:r>
              <a:rPr lang="en-US" dirty="0"/>
              <a:t>detection dataset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Email </a:t>
            </a:r>
            <a:r>
              <a:rPr lang="en-US" dirty="0"/>
              <a:t>Text	</a:t>
            </a:r>
            <a:r>
              <a:rPr lang="en-US" dirty="0" smtClean="0"/>
              <a:t>Label</a:t>
            </a:r>
          </a:p>
          <a:p>
            <a:pPr marL="914400" lvl="2" indent="0">
              <a:buNone/>
            </a:pPr>
            <a:r>
              <a:rPr lang="en-US" dirty="0" smtClean="0"/>
              <a:t>Buy </a:t>
            </a:r>
            <a:r>
              <a:rPr lang="en-US" dirty="0"/>
              <a:t>now	</a:t>
            </a:r>
            <a:r>
              <a:rPr lang="en-US" dirty="0" smtClean="0"/>
              <a:t>Spam</a:t>
            </a:r>
          </a:p>
          <a:p>
            <a:pPr marL="914400" lvl="2" indent="0">
              <a:buNone/>
            </a:pPr>
            <a:r>
              <a:rPr lang="en-US" dirty="0" smtClean="0"/>
              <a:t>Hello </a:t>
            </a:r>
            <a:r>
              <a:rPr lang="en-US" dirty="0"/>
              <a:t>friend	Not </a:t>
            </a:r>
            <a:r>
              <a:rPr lang="en-US" dirty="0" smtClean="0"/>
              <a:t>Spam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learns from labeled examples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Regression </a:t>
            </a:r>
            <a:r>
              <a:rPr lang="en-US" dirty="0"/>
              <a:t>labels (</a:t>
            </a:r>
            <a:r>
              <a:rPr lang="en-US" dirty="0" smtClean="0"/>
              <a:t>numeric), Example</a:t>
            </a:r>
            <a:r>
              <a:rPr lang="en-US" dirty="0"/>
              <a:t>: price </a:t>
            </a:r>
            <a:r>
              <a:rPr lang="en-US" dirty="0" smtClean="0"/>
              <a:t>prediction</a:t>
            </a:r>
          </a:p>
          <a:p>
            <a:pPr lvl="1"/>
            <a:r>
              <a:rPr lang="en-US" dirty="0" smtClean="0"/>
              <a:t>Classification </a:t>
            </a:r>
            <a:r>
              <a:rPr lang="en-US" dirty="0"/>
              <a:t>labels (</a:t>
            </a:r>
            <a:r>
              <a:rPr lang="en-US" dirty="0" smtClean="0"/>
              <a:t>categories), Example</a:t>
            </a:r>
            <a:r>
              <a:rPr lang="en-US" dirty="0"/>
              <a:t>: spam / not </a:t>
            </a:r>
            <a:r>
              <a:rPr lang="en-US" dirty="0" smtClean="0"/>
              <a:t>spam</a:t>
            </a:r>
          </a:p>
        </p:txBody>
      </p:sp>
    </p:spTree>
    <p:extLst>
      <p:ext uri="{BB962C8B-B14F-4D97-AF65-F5344CB8AC3E}">
        <p14:creationId xmlns:p14="http://schemas.microsoft.com/office/powerpoint/2010/main" val="3967854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Highly </a:t>
            </a:r>
            <a:r>
              <a:rPr lang="en-US" dirty="0"/>
              <a:t>accurate </a:t>
            </a:r>
            <a:r>
              <a:rPr lang="en-US" dirty="0" smtClean="0"/>
              <a:t>learning</a:t>
            </a:r>
          </a:p>
          <a:p>
            <a:pPr lvl="1"/>
            <a:r>
              <a:rPr lang="en-US" dirty="0" smtClean="0"/>
              <a:t>Clear supervision</a:t>
            </a:r>
          </a:p>
          <a:p>
            <a:pPr lvl="1"/>
            <a:r>
              <a:rPr lang="en-US" dirty="0" smtClean="0"/>
              <a:t>Easy </a:t>
            </a:r>
            <a:r>
              <a:rPr lang="en-US" dirty="0"/>
              <a:t>model </a:t>
            </a:r>
            <a:r>
              <a:rPr lang="en-US" dirty="0" smtClean="0"/>
              <a:t>evaluation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Expensive </a:t>
            </a:r>
            <a:r>
              <a:rPr lang="en-US" dirty="0"/>
              <a:t>to </a:t>
            </a:r>
            <a:r>
              <a:rPr lang="en-US" dirty="0" smtClean="0"/>
              <a:t>create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human </a:t>
            </a:r>
            <a:r>
              <a:rPr lang="en-US" dirty="0" smtClean="0"/>
              <a:t>effort</a:t>
            </a:r>
          </a:p>
          <a:p>
            <a:pPr lvl="1"/>
            <a:r>
              <a:rPr lang="en-US" dirty="0" smtClean="0"/>
              <a:t>Time consuming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Supervised learning</a:t>
            </a:r>
          </a:p>
          <a:p>
            <a:pPr lvl="1"/>
            <a:r>
              <a:rPr lang="en-US" dirty="0" smtClean="0"/>
              <a:t>Prediction tasks</a:t>
            </a:r>
          </a:p>
          <a:p>
            <a:pPr lvl="1"/>
            <a:r>
              <a:rPr lang="en-US" dirty="0" smtClean="0"/>
              <a:t>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3475830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labels </a:t>
            </a:r>
            <a:r>
              <a:rPr lang="en-US" dirty="0" smtClean="0"/>
              <a:t>unavailable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unsupervised learning instead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Labeled </a:t>
            </a:r>
            <a:r>
              <a:rPr lang="en-US" dirty="0"/>
              <a:t>data allows supervised learning </a:t>
            </a:r>
            <a:r>
              <a:rPr lang="en-US" dirty="0" err="1"/>
              <a:t>optimization:min</a:t>
            </a:r>
            <a:r>
              <a:rPr lang="en-US" dirty="0"/>
              <a:t>⁡𝐿𝑜𝑠𝑠(𝑦,𝑓(𝑥</a:t>
            </a:r>
            <a:r>
              <a:rPr lang="en-US" dirty="0" smtClean="0"/>
              <a:t>)) 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compares predicted output with true label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Labeled </a:t>
            </a:r>
            <a:r>
              <a:rPr lang="en-US" dirty="0"/>
              <a:t>data contains both inputs and correct outputs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Required </a:t>
            </a:r>
            <a:r>
              <a:rPr lang="en-US" dirty="0"/>
              <a:t>for supervised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730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12: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Definition </a:t>
            </a:r>
          </a:p>
          <a:p>
            <a:pPr lvl="1"/>
            <a:r>
              <a:rPr lang="en-US" dirty="0" smtClean="0"/>
              <a:t>Regression </a:t>
            </a:r>
            <a:r>
              <a:rPr lang="en-US" dirty="0"/>
              <a:t>is a type of supervised learning used to predict continuous numerical values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Regression </a:t>
            </a:r>
            <a:r>
              <a:rPr lang="en-US" dirty="0"/>
              <a:t>predicts numbers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Many </a:t>
            </a:r>
            <a:r>
              <a:rPr lang="en-US" dirty="0"/>
              <a:t>real-world problems require predicting numbers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Examples:</a:t>
            </a:r>
          </a:p>
          <a:p>
            <a:pPr lvl="1"/>
            <a:r>
              <a:rPr lang="en-US" dirty="0" smtClean="0"/>
              <a:t>House </a:t>
            </a:r>
            <a:r>
              <a:rPr lang="en-US" dirty="0"/>
              <a:t>price </a:t>
            </a:r>
            <a:r>
              <a:rPr lang="en-US" dirty="0" smtClean="0"/>
              <a:t>prediction</a:t>
            </a:r>
          </a:p>
          <a:p>
            <a:pPr lvl="1"/>
            <a:r>
              <a:rPr lang="en-US" dirty="0" smtClean="0"/>
              <a:t>Temperature prediction</a:t>
            </a:r>
          </a:p>
          <a:p>
            <a:pPr lvl="1"/>
            <a:r>
              <a:rPr lang="en-US" dirty="0" smtClean="0"/>
              <a:t>Stock </a:t>
            </a:r>
            <a:r>
              <a:rPr lang="en-US" dirty="0"/>
              <a:t>price </a:t>
            </a:r>
            <a:r>
              <a:rPr lang="en-US" dirty="0" smtClean="0"/>
              <a:t>prediction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Predict </a:t>
            </a:r>
            <a:r>
              <a:rPr lang="en-US" dirty="0"/>
              <a:t>salary based on </a:t>
            </a:r>
            <a:r>
              <a:rPr lang="en-US" dirty="0" smtClean="0"/>
              <a:t>experience.</a:t>
            </a:r>
          </a:p>
          <a:p>
            <a:pPr lvl="1"/>
            <a:r>
              <a:rPr lang="en-US" dirty="0" smtClean="0"/>
              <a:t>Experience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Salary </a:t>
            </a:r>
            <a:r>
              <a:rPr lang="en-US" dirty="0"/>
              <a:t>= output </a:t>
            </a:r>
            <a:r>
              <a:rPr lang="en-US" dirty="0" smtClean="0"/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33615607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Basic </a:t>
            </a:r>
            <a:r>
              <a:rPr lang="en-US" dirty="0"/>
              <a:t>regression equation:𝑌=𝑓(𝑋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Linear </a:t>
            </a:r>
            <a:r>
              <a:rPr lang="en-US" dirty="0"/>
              <a:t>regression form</a:t>
            </a:r>
            <a:r>
              <a:rPr lang="en-US" dirty="0" smtClean="0"/>
              <a:t>: 𝑌</a:t>
            </a:r>
            <a:r>
              <a:rPr lang="en-US" dirty="0"/>
              <a:t>=𝑤𝑋+</a:t>
            </a:r>
            <a:r>
              <a:rPr lang="en-US" dirty="0" smtClean="0"/>
              <a:t>𝑏 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Y </a:t>
            </a:r>
            <a:r>
              <a:rPr lang="en-US" dirty="0"/>
              <a:t>= predicted </a:t>
            </a:r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w </a:t>
            </a:r>
            <a:r>
              <a:rPr lang="en-US" dirty="0"/>
              <a:t>= </a:t>
            </a:r>
            <a:r>
              <a:rPr lang="en-US" dirty="0" smtClean="0"/>
              <a:t>weight</a:t>
            </a:r>
          </a:p>
          <a:p>
            <a:pPr lvl="1"/>
            <a:r>
              <a:rPr lang="en-US" dirty="0" smtClean="0"/>
              <a:t>b </a:t>
            </a:r>
            <a:r>
              <a:rPr lang="en-US" dirty="0"/>
              <a:t>= </a:t>
            </a:r>
            <a:r>
              <a:rPr lang="en-US" dirty="0" smtClean="0"/>
              <a:t>bias</a:t>
            </a:r>
          </a:p>
          <a:p>
            <a:pPr lvl="1"/>
            <a:r>
              <a:rPr lang="en-US" dirty="0" smtClean="0"/>
              <a:t>f </a:t>
            </a:r>
            <a:r>
              <a:rPr lang="en-US" dirty="0"/>
              <a:t>= function learned by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</a:t>
            </a:r>
            <a:r>
              <a:rPr lang="en-US" dirty="0"/>
              <a:t>: regression </a:t>
            </a:r>
            <a:r>
              <a:rPr lang="en-US" dirty="0" smtClean="0"/>
              <a:t>line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Predict </a:t>
            </a:r>
            <a:r>
              <a:rPr lang="en-US" dirty="0"/>
              <a:t>house price using </a:t>
            </a:r>
            <a:r>
              <a:rPr lang="en-US" dirty="0" smtClean="0"/>
              <a:t>size.</a:t>
            </a:r>
          </a:p>
          <a:p>
            <a:pPr lvl="1"/>
            <a:r>
              <a:rPr lang="en-US" dirty="0" smtClean="0"/>
              <a:t>Size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Price </a:t>
            </a:r>
            <a:r>
              <a:rPr lang="en-US" dirty="0"/>
              <a:t>= numeric </a:t>
            </a:r>
            <a:r>
              <a:rPr lang="en-US" dirty="0" smtClean="0"/>
              <a:t>output</a:t>
            </a:r>
          </a:p>
        </p:txBody>
      </p:sp>
      <p:pic>
        <p:nvPicPr>
          <p:cNvPr id="27650" name="Picture 2" descr="https://upload.wikimedia.org/wikipedia/commons/thumb/3/3a/Linear_regression.svg/512px-Linear_regress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907" y="1799478"/>
            <a:ext cx="487680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9289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Linear regression</a:t>
            </a:r>
          </a:p>
          <a:p>
            <a:pPr lvl="1"/>
            <a:r>
              <a:rPr lang="en-US" dirty="0" smtClean="0"/>
              <a:t>Polynomial regression</a:t>
            </a:r>
          </a:p>
          <a:p>
            <a:pPr lvl="1"/>
            <a:r>
              <a:rPr lang="en-US" dirty="0" smtClean="0"/>
              <a:t>Ridge regression</a:t>
            </a:r>
          </a:p>
          <a:p>
            <a:pPr lvl="1"/>
            <a:r>
              <a:rPr lang="en-US" dirty="0" smtClean="0"/>
              <a:t>Lasso regression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Predicts </a:t>
            </a:r>
            <a:r>
              <a:rPr lang="en-US" dirty="0"/>
              <a:t>continuous </a:t>
            </a:r>
            <a:r>
              <a:rPr lang="en-US" dirty="0" smtClean="0"/>
              <a:t>values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and </a:t>
            </a:r>
            <a:r>
              <a:rPr lang="en-US" dirty="0" smtClean="0"/>
              <a:t>interpretable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Cannot </a:t>
            </a:r>
            <a:r>
              <a:rPr lang="en-US" dirty="0"/>
              <a:t>predict </a:t>
            </a:r>
            <a:r>
              <a:rPr lang="en-US" dirty="0" smtClean="0"/>
              <a:t>categories</a:t>
            </a:r>
          </a:p>
          <a:p>
            <a:pPr lvl="1"/>
            <a:r>
              <a:rPr lang="en-US" dirty="0" smtClean="0"/>
              <a:t>Sensitive </a:t>
            </a:r>
            <a:r>
              <a:rPr lang="en-US" dirty="0"/>
              <a:t>to </a:t>
            </a:r>
            <a:r>
              <a:rPr lang="en-US" dirty="0" smtClean="0"/>
              <a:t>outliers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Numeric </a:t>
            </a:r>
            <a:r>
              <a:rPr lang="en-US" dirty="0"/>
              <a:t>prediction </a:t>
            </a:r>
            <a:r>
              <a:rPr lang="en-US" dirty="0" smtClean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18985589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Categorical </a:t>
            </a:r>
            <a:r>
              <a:rPr lang="en-US" dirty="0"/>
              <a:t>prediction </a:t>
            </a:r>
            <a:r>
              <a:rPr lang="en-US" dirty="0" smtClean="0"/>
              <a:t>problems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classification instead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Regression </a:t>
            </a:r>
            <a:r>
              <a:rPr lang="en-US" dirty="0"/>
              <a:t>minimizes loss function:𝐿𝑜𝑠𝑠=∑(𝑦−𝑦</a:t>
            </a:r>
            <a:r>
              <a:rPr lang="en-US" dirty="0" smtClean="0"/>
              <a:t>^)^2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finds best function f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Regression </a:t>
            </a:r>
            <a:r>
              <a:rPr lang="en-US" dirty="0"/>
              <a:t>predicts continuous numerical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71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13: Classification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Classification </a:t>
            </a:r>
            <a:r>
              <a:rPr lang="en-US" dirty="0"/>
              <a:t>predicts categories or classes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Many </a:t>
            </a:r>
            <a:r>
              <a:rPr lang="en-US" dirty="0"/>
              <a:t>problems require predicting categories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Examples: Spam detection, Disease detection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Predict </a:t>
            </a:r>
            <a:r>
              <a:rPr lang="en-US" dirty="0"/>
              <a:t>gender</a:t>
            </a:r>
            <a:r>
              <a:rPr lang="en-US" dirty="0" smtClean="0"/>
              <a:t>: Male </a:t>
            </a:r>
            <a:r>
              <a:rPr lang="en-US" dirty="0"/>
              <a:t>or </a:t>
            </a:r>
            <a:r>
              <a:rPr lang="en-US" dirty="0" smtClean="0"/>
              <a:t>Female</a:t>
            </a:r>
          </a:p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𝑌</a:t>
            </a:r>
            <a:r>
              <a:rPr lang="en-US" dirty="0"/>
              <a:t>∈{𝐶𝑙𝑎𝑠𝑠1,𝐶𝑙𝑎𝑠𝑠2,...,</a:t>
            </a:r>
            <a:r>
              <a:rPr lang="en-US" dirty="0" smtClean="0"/>
              <a:t>𝐶𝑙𝑎𝑠𝑠𝑁}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Output </a:t>
            </a:r>
            <a:r>
              <a:rPr lang="en-US" dirty="0"/>
              <a:t>is category, not number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437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/>
              <a:t>Visual </a:t>
            </a:r>
            <a:r>
              <a:rPr lang="en-US" dirty="0" smtClean="0"/>
              <a:t>explanation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Email </a:t>
            </a:r>
            <a:r>
              <a:rPr lang="en-US" dirty="0"/>
              <a:t>spam detection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Binary classification</a:t>
            </a:r>
          </a:p>
          <a:p>
            <a:pPr lvl="1"/>
            <a:r>
              <a:rPr lang="en-US" dirty="0" smtClean="0"/>
              <a:t>Multi-class classification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Useful in many applications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Cannot predict exact numbers</a:t>
            </a:r>
          </a:p>
          <a:p>
            <a:pPr lvl="1"/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901" y="641445"/>
            <a:ext cx="6086900" cy="304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998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to use</a:t>
            </a:r>
          </a:p>
          <a:p>
            <a:pPr lvl="1"/>
            <a:r>
              <a:rPr lang="en-US" dirty="0"/>
              <a:t>Category prediction</a:t>
            </a:r>
          </a:p>
          <a:p>
            <a:r>
              <a:rPr lang="en-US" dirty="0" smtClean="0"/>
              <a:t>When </a:t>
            </a:r>
            <a:r>
              <a:rPr lang="en-US" dirty="0"/>
              <a:t>NOT to use</a:t>
            </a:r>
          </a:p>
          <a:p>
            <a:pPr lvl="1"/>
            <a:r>
              <a:rPr lang="en-US" dirty="0"/>
              <a:t>Numeric prediction problems</a:t>
            </a:r>
          </a:p>
          <a:p>
            <a:r>
              <a:rPr lang="en-US" dirty="0" smtClean="0"/>
              <a:t>Technical </a:t>
            </a:r>
            <a:r>
              <a:rPr lang="en-US" dirty="0"/>
              <a:t>explanation</a:t>
            </a:r>
          </a:p>
          <a:p>
            <a:pPr lvl="1"/>
            <a:r>
              <a:rPr lang="en-US" dirty="0"/>
              <a:t>Classification learns decision boundary.</a:t>
            </a:r>
          </a:p>
          <a:p>
            <a:r>
              <a:rPr lang="en-US" dirty="0" smtClean="0"/>
              <a:t>Summary</a:t>
            </a:r>
            <a:endParaRPr lang="en-US" dirty="0"/>
          </a:p>
          <a:p>
            <a:pPr lvl="1"/>
            <a:r>
              <a:rPr lang="en-US" dirty="0"/>
              <a:t>Classification predicts categories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06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14: Clustering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is a type of machine learning where similar data points are grouped together into clusters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Clustering </a:t>
            </a:r>
            <a:r>
              <a:rPr lang="en-US" dirty="0"/>
              <a:t>automatically finds groups in data based on </a:t>
            </a:r>
            <a:r>
              <a:rPr lang="en-US" dirty="0" smtClean="0"/>
              <a:t>similarity.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labels are required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many real-world situations, data does not have labels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need a way to discover hidden patterns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helps to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Group similar </a:t>
            </a:r>
            <a:r>
              <a:rPr lang="en-US" dirty="0" smtClean="0"/>
              <a:t>customers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Detect </a:t>
            </a:r>
            <a:r>
              <a:rPr lang="en-US" dirty="0" smtClean="0"/>
              <a:t>fraud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Segment </a:t>
            </a:r>
            <a:r>
              <a:rPr lang="en-US" dirty="0" smtClean="0"/>
              <a:t>images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Discover hidden </a:t>
            </a:r>
            <a:r>
              <a:rPr lang="en-US" dirty="0" smtClean="0"/>
              <a:t>structures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is a type of unsupervised learning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50580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</a:t>
            </a:r>
            <a:r>
              <a:rPr lang="en-US" dirty="0"/>
              <a:t>sorting fruits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You </a:t>
            </a:r>
            <a:r>
              <a:rPr lang="en-US" dirty="0"/>
              <a:t>are given mixed fruits</a:t>
            </a:r>
            <a:r>
              <a:rPr lang="en-US" dirty="0" smtClean="0"/>
              <a:t>: Apples, Bananas, Oranges</a:t>
            </a:r>
          </a:p>
          <a:p>
            <a:pPr lvl="1"/>
            <a:r>
              <a:rPr lang="en-US" dirty="0" smtClean="0"/>
              <a:t>Without </a:t>
            </a:r>
            <a:r>
              <a:rPr lang="en-US" dirty="0"/>
              <a:t>labels, you group them based on similarity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clustering works the same way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tries to minimize distance within clusters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min</a:t>
            </a:r>
            <a:r>
              <a:rPr lang="en-US" dirty="0"/>
              <a:t>⁡∑𝑖=1𝑘∑𝑥∈𝐶𝑖𝑑𝑖𝑠𝑡𝑎𝑛𝑐𝑒(𝑥,𝐶𝑖</a:t>
            </a:r>
            <a:r>
              <a:rPr lang="en-US" dirty="0" smtClean="0"/>
              <a:t>)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k </a:t>
            </a:r>
            <a:r>
              <a:rPr lang="en-US" dirty="0"/>
              <a:t>= number of </a:t>
            </a:r>
            <a:r>
              <a:rPr lang="en-US" dirty="0" smtClean="0"/>
              <a:t>clusters</a:t>
            </a:r>
          </a:p>
          <a:p>
            <a:pPr lvl="1"/>
            <a:r>
              <a:rPr lang="en-US" dirty="0" smtClean="0"/>
              <a:t>Ci </a:t>
            </a:r>
            <a:r>
              <a:rPr lang="en-US" dirty="0"/>
              <a:t>= cluster </a:t>
            </a:r>
            <a:r>
              <a:rPr lang="en-US" dirty="0" smtClean="0"/>
              <a:t>I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data </a:t>
            </a:r>
            <a:r>
              <a:rPr lang="en-US" dirty="0" smtClean="0"/>
              <a:t>point</a:t>
            </a:r>
          </a:p>
          <a:p>
            <a:pPr lvl="1"/>
            <a:r>
              <a:rPr lang="en-US" dirty="0" smtClean="0"/>
              <a:t>distance(x</a:t>
            </a:r>
            <a:r>
              <a:rPr lang="en-US" dirty="0"/>
              <a:t>, Ci) = distance between point and cluster </a:t>
            </a:r>
            <a:r>
              <a:rPr lang="en-US" dirty="0" smtClean="0"/>
              <a:t>center</a:t>
            </a:r>
          </a:p>
          <a:p>
            <a:pPr lvl="1"/>
            <a:r>
              <a:rPr lang="en-US" dirty="0" smtClean="0"/>
              <a:t>Goal: Minimize </a:t>
            </a:r>
            <a:r>
              <a:rPr lang="en-US" dirty="0"/>
              <a:t>distance inside cluster</a:t>
            </a:r>
            <a:r>
              <a:rPr lang="en-US" dirty="0" smtClean="0"/>
              <a:t>. Maximize </a:t>
            </a:r>
            <a:r>
              <a:rPr lang="en-US" dirty="0"/>
              <a:t>distance between clusters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44779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Visual </a:t>
            </a:r>
            <a:r>
              <a:rPr lang="en-US" dirty="0"/>
              <a:t>explanation </a:t>
            </a:r>
          </a:p>
          <a:p>
            <a:pPr lvl="1"/>
            <a:r>
              <a:rPr lang="en-US" dirty="0" smtClean="0"/>
              <a:t>Diagram</a:t>
            </a:r>
            <a:r>
              <a:rPr lang="en-US" dirty="0"/>
              <a:t>: Clustering of data </a:t>
            </a:r>
            <a:r>
              <a:rPr lang="en-US" dirty="0" smtClean="0"/>
              <a:t>points</a:t>
            </a:r>
          </a:p>
          <a:p>
            <a:pPr lvl="1"/>
            <a:r>
              <a:rPr lang="en-US" dirty="0" smtClean="0"/>
              <a:t>Explanation: Points </a:t>
            </a:r>
            <a:r>
              <a:rPr lang="en-US" dirty="0"/>
              <a:t>automatically form groups based on similarity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Each </a:t>
            </a:r>
            <a:r>
              <a:rPr lang="en-US" dirty="0"/>
              <a:t>color represents a </a:t>
            </a:r>
            <a:r>
              <a:rPr lang="en-US" dirty="0" smtClean="0"/>
              <a:t>cluster.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Customer </a:t>
            </a:r>
            <a:r>
              <a:rPr lang="en-US" dirty="0"/>
              <a:t>segmentation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Dataset </a:t>
            </a:r>
            <a:r>
              <a:rPr lang="en-US" dirty="0"/>
              <a:t>contains</a:t>
            </a:r>
            <a:r>
              <a:rPr lang="en-US" dirty="0" smtClean="0"/>
              <a:t>: Age, Income, Spending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groups customers into</a:t>
            </a:r>
            <a:r>
              <a:rPr lang="en-US" dirty="0" smtClean="0"/>
              <a:t>: High-value customers, Medium-value customers, Low-value customers</a:t>
            </a:r>
          </a:p>
          <a:p>
            <a:pPr lvl="1"/>
            <a:r>
              <a:rPr lang="en-US" dirty="0" smtClean="0"/>
              <a:t>Businesses </a:t>
            </a:r>
            <a:r>
              <a:rPr lang="en-US" dirty="0"/>
              <a:t>use this for marketing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 </a:t>
            </a:r>
            <a:r>
              <a:rPr lang="en-US" dirty="0"/>
              <a:t>of Clustering </a:t>
            </a:r>
            <a:r>
              <a:rPr lang="en-US" dirty="0" smtClean="0"/>
              <a:t>Algorithms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important clustering algorithms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K-Means Clustering: Groups </a:t>
            </a:r>
            <a:r>
              <a:rPr lang="en-US" dirty="0"/>
              <a:t>data into k </a:t>
            </a:r>
            <a:r>
              <a:rPr lang="en-US" dirty="0" smtClean="0"/>
              <a:t>clusters</a:t>
            </a:r>
          </a:p>
          <a:p>
            <a:pPr lvl="1"/>
            <a:r>
              <a:rPr lang="en-US" dirty="0" smtClean="0"/>
              <a:t>Hierarchical Clustering: Creates </a:t>
            </a:r>
            <a:r>
              <a:rPr lang="en-US" dirty="0"/>
              <a:t>tree-like </a:t>
            </a:r>
            <a:r>
              <a:rPr lang="en-US" dirty="0" smtClean="0"/>
              <a:t>clusters</a:t>
            </a:r>
          </a:p>
          <a:p>
            <a:pPr lvl="1"/>
            <a:r>
              <a:rPr lang="en-US" dirty="0" smtClean="0"/>
              <a:t>DBSCAN: Groups </a:t>
            </a:r>
            <a:r>
              <a:rPr lang="en-US" dirty="0"/>
              <a:t>based on </a:t>
            </a:r>
            <a:r>
              <a:rPr lang="en-US" dirty="0" smtClean="0"/>
              <a:t>density</a:t>
            </a:r>
          </a:p>
          <a:p>
            <a:pPr lvl="1"/>
            <a:r>
              <a:rPr lang="en-US" dirty="0" smtClean="0"/>
              <a:t>Mean </a:t>
            </a:r>
            <a:r>
              <a:rPr lang="en-US" dirty="0"/>
              <a:t>Shift </a:t>
            </a:r>
            <a:r>
              <a:rPr lang="en-US" dirty="0" smtClean="0"/>
              <a:t>Clustering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064" y="3409204"/>
            <a:ext cx="3966736" cy="310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102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Does </a:t>
            </a:r>
            <a:r>
              <a:rPr lang="en-US" dirty="0"/>
              <a:t>not require labeled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Finds </a:t>
            </a:r>
            <a:r>
              <a:rPr lang="en-US" dirty="0"/>
              <a:t>hidden </a:t>
            </a:r>
            <a:r>
              <a:rPr lang="en-US" dirty="0" smtClean="0"/>
              <a:t>patterns</a:t>
            </a:r>
          </a:p>
          <a:p>
            <a:pPr lvl="1"/>
            <a:r>
              <a:rPr lang="en-US" dirty="0" smtClean="0"/>
              <a:t>Useful </a:t>
            </a:r>
            <a:r>
              <a:rPr lang="en-US" dirty="0"/>
              <a:t>for exploratory </a:t>
            </a:r>
            <a:r>
              <a:rPr lang="en-US" dirty="0" smtClean="0"/>
              <a:t>analysis</a:t>
            </a:r>
          </a:p>
          <a:p>
            <a:pPr lvl="1"/>
            <a:r>
              <a:rPr lang="en-US" dirty="0" smtClean="0"/>
              <a:t>Works automatically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Choosing </a:t>
            </a:r>
            <a:r>
              <a:rPr lang="en-US" dirty="0"/>
              <a:t>correct number of clusters can be </a:t>
            </a:r>
            <a:r>
              <a:rPr lang="en-US" dirty="0" smtClean="0"/>
              <a:t>difficult</a:t>
            </a:r>
          </a:p>
          <a:p>
            <a:pPr lvl="1"/>
            <a:r>
              <a:rPr lang="en-US" dirty="0" smtClean="0"/>
              <a:t>Sensitive </a:t>
            </a:r>
            <a:r>
              <a:rPr lang="en-US" dirty="0"/>
              <a:t>to distance </a:t>
            </a:r>
            <a:r>
              <a:rPr lang="en-US" dirty="0" smtClean="0"/>
              <a:t>metric</a:t>
            </a:r>
          </a:p>
          <a:p>
            <a:pPr lvl="1"/>
            <a:r>
              <a:rPr lang="en-US" dirty="0" smtClean="0"/>
              <a:t>May </a:t>
            </a:r>
            <a:r>
              <a:rPr lang="en-US" dirty="0"/>
              <a:t>not work well with complex </a:t>
            </a:r>
            <a:r>
              <a:rPr lang="en-US" dirty="0" smtClean="0"/>
              <a:t>shapes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Customer segmentation</a:t>
            </a:r>
          </a:p>
          <a:p>
            <a:pPr lvl="1"/>
            <a:r>
              <a:rPr lang="en-US" dirty="0" smtClean="0"/>
              <a:t>Image segmentation</a:t>
            </a:r>
          </a:p>
          <a:p>
            <a:pPr lvl="1"/>
            <a:r>
              <a:rPr lang="en-US" dirty="0" smtClean="0"/>
              <a:t>Market analysis</a:t>
            </a:r>
          </a:p>
          <a:p>
            <a:pPr lvl="1"/>
            <a:r>
              <a:rPr lang="en-US" dirty="0" smtClean="0"/>
              <a:t>Pattern discovery</a:t>
            </a:r>
          </a:p>
          <a:p>
            <a:pPr lvl="1"/>
            <a:r>
              <a:rPr lang="en-US" dirty="0" smtClean="0"/>
              <a:t>Fraud detection</a:t>
            </a:r>
          </a:p>
        </p:txBody>
      </p:sp>
    </p:spTree>
    <p:extLst>
      <p:ext uri="{BB962C8B-B14F-4D97-AF65-F5344CB8AC3E}">
        <p14:creationId xmlns:p14="http://schemas.microsoft.com/office/powerpoint/2010/main" val="40566741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labeled data is </a:t>
            </a:r>
            <a:r>
              <a:rPr lang="en-US" dirty="0" smtClean="0"/>
              <a:t>available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that case, supervised learning is better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works using distance metrics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common distance</a:t>
            </a:r>
            <a:r>
              <a:rPr lang="en-US" dirty="0" smtClean="0"/>
              <a:t>: Euclidean </a:t>
            </a:r>
            <a:r>
              <a:rPr lang="en-US" dirty="0"/>
              <a:t>distance:𝑑=(𝑥1−𝑥2</a:t>
            </a:r>
            <a:r>
              <a:rPr lang="en-US" dirty="0" smtClean="0"/>
              <a:t>)^2</a:t>
            </a:r>
            <a:r>
              <a:rPr lang="en-US" dirty="0"/>
              <a:t>+(𝑦1−𝑦</a:t>
            </a:r>
            <a:r>
              <a:rPr lang="en-US" dirty="0" smtClean="0"/>
              <a:t>2)^2 Clustering </a:t>
            </a:r>
            <a:r>
              <a:rPr lang="en-US" dirty="0"/>
              <a:t>algorithms try to minimize intra-cluster </a:t>
            </a:r>
            <a:r>
              <a:rPr lang="en-US" dirty="0" smtClean="0"/>
              <a:t>distance: Intra-cluster </a:t>
            </a:r>
            <a:r>
              <a:rPr lang="en-US" dirty="0"/>
              <a:t>distance=</a:t>
            </a:r>
            <a:r>
              <a:rPr lang="en-US" dirty="0" smtClean="0"/>
              <a:t>𝑠𝑚𝑎𝑙𝑙 And </a:t>
            </a:r>
            <a:r>
              <a:rPr lang="en-US" dirty="0"/>
              <a:t>maximize inter-cluster distance</a:t>
            </a:r>
            <a:r>
              <a:rPr lang="en-US" dirty="0" smtClean="0"/>
              <a:t>: Inter-cluster </a:t>
            </a:r>
            <a:r>
              <a:rPr lang="en-US" dirty="0"/>
              <a:t>distance=</a:t>
            </a:r>
            <a:r>
              <a:rPr lang="en-US" dirty="0" smtClean="0"/>
              <a:t>𝑙𝑎𝑟𝑔𝑒. This </a:t>
            </a:r>
            <a:r>
              <a:rPr lang="en-US" dirty="0"/>
              <a:t>creates clear group separation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is unsupervised learning technique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groups similar data automatically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Used </a:t>
            </a:r>
            <a:r>
              <a:rPr lang="en-US" dirty="0"/>
              <a:t>for discovering hidden patterns.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848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15: Binary 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Binary variables are extremely important because many machine learning problems involve yes/no decisions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Binary Variable is a variable that has only two possible values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Binary </a:t>
            </a:r>
            <a:r>
              <a:rPr lang="en-US" dirty="0"/>
              <a:t>means only two </a:t>
            </a:r>
            <a:r>
              <a:rPr lang="en-US" dirty="0" smtClean="0"/>
              <a:t>options.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Many </a:t>
            </a:r>
            <a:r>
              <a:rPr lang="en-US" dirty="0"/>
              <a:t>real-world problems have only two possible outcomes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Examples: Spam </a:t>
            </a:r>
            <a:r>
              <a:rPr lang="en-US" dirty="0"/>
              <a:t>or Not </a:t>
            </a:r>
            <a:r>
              <a:rPr lang="en-US" dirty="0" smtClean="0"/>
              <a:t>Spam, Yes </a:t>
            </a:r>
            <a:r>
              <a:rPr lang="en-US" dirty="0"/>
              <a:t>or </a:t>
            </a:r>
            <a:r>
              <a:rPr lang="en-US" dirty="0" smtClean="0"/>
              <a:t>No, True </a:t>
            </a:r>
            <a:r>
              <a:rPr lang="en-US" dirty="0"/>
              <a:t>or </a:t>
            </a:r>
            <a:r>
              <a:rPr lang="en-US" dirty="0" smtClean="0"/>
              <a:t>False, 0 </a:t>
            </a:r>
            <a:r>
              <a:rPr lang="en-US" dirty="0"/>
              <a:t>or 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models use binary variables frequently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Light </a:t>
            </a:r>
            <a:r>
              <a:rPr lang="en-US" dirty="0"/>
              <a:t>switch</a:t>
            </a:r>
            <a:r>
              <a:rPr lang="en-US" dirty="0" smtClean="0"/>
              <a:t>: ON </a:t>
            </a:r>
            <a:r>
              <a:rPr lang="en-US" dirty="0"/>
              <a:t>or </a:t>
            </a:r>
            <a:r>
              <a:rPr lang="en-US" dirty="0" smtClean="0"/>
              <a:t>OFF</a:t>
            </a:r>
          </a:p>
          <a:p>
            <a:pPr lvl="1"/>
            <a:r>
              <a:rPr lang="en-US" dirty="0" smtClean="0"/>
              <a:t>Only </a:t>
            </a:r>
            <a:r>
              <a:rPr lang="en-US" dirty="0"/>
              <a:t>two states exist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Binary </a:t>
            </a:r>
            <a:r>
              <a:rPr lang="en-US" dirty="0"/>
              <a:t>variable works the same way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0108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Binary </a:t>
            </a:r>
            <a:r>
              <a:rPr lang="en-US" dirty="0"/>
              <a:t>variable takes values</a:t>
            </a:r>
            <a:r>
              <a:rPr lang="en-US" dirty="0" smtClean="0"/>
              <a:t>: 𝑋</a:t>
            </a:r>
            <a:r>
              <a:rPr lang="en-US" dirty="0"/>
              <a:t>∈{</a:t>
            </a:r>
            <a:r>
              <a:rPr lang="en-US" dirty="0" smtClean="0"/>
              <a:t>0,1}</a:t>
            </a:r>
            <a:endParaRPr lang="en-US" dirty="0"/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0 </a:t>
            </a:r>
            <a:r>
              <a:rPr lang="en-US" dirty="0"/>
              <a:t>= one </a:t>
            </a:r>
            <a:r>
              <a:rPr lang="en-US" dirty="0" smtClean="0"/>
              <a:t>category</a:t>
            </a:r>
          </a:p>
          <a:p>
            <a:pPr lvl="1"/>
            <a:r>
              <a:rPr lang="en-US" dirty="0" smtClean="0"/>
              <a:t>1 </a:t>
            </a:r>
            <a:r>
              <a:rPr lang="en-US" dirty="0"/>
              <a:t>= second </a:t>
            </a:r>
            <a:r>
              <a:rPr lang="en-US" dirty="0" smtClean="0"/>
              <a:t>category</a:t>
            </a:r>
          </a:p>
          <a:p>
            <a:pPr lvl="1"/>
            <a:r>
              <a:rPr lang="en-US" dirty="0" smtClean="0"/>
              <a:t>Example: 0 </a:t>
            </a:r>
            <a:r>
              <a:rPr lang="en-US" dirty="0"/>
              <a:t>= </a:t>
            </a:r>
            <a:r>
              <a:rPr lang="en-US" dirty="0" smtClean="0"/>
              <a:t>No, 1 </a:t>
            </a:r>
            <a:r>
              <a:rPr lang="en-US" dirty="0"/>
              <a:t>= </a:t>
            </a:r>
            <a:r>
              <a:rPr lang="en-US" dirty="0" smtClean="0"/>
              <a:t>Yes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Spam </a:t>
            </a:r>
            <a:r>
              <a:rPr lang="en-US" dirty="0"/>
              <a:t>detection</a:t>
            </a:r>
            <a:r>
              <a:rPr lang="en-US" dirty="0" smtClean="0"/>
              <a:t>: Spam </a:t>
            </a:r>
            <a:r>
              <a:rPr lang="en-US" dirty="0"/>
              <a:t>= </a:t>
            </a:r>
            <a:r>
              <a:rPr lang="en-US" dirty="0" smtClean="0"/>
              <a:t>1, Not </a:t>
            </a:r>
            <a:r>
              <a:rPr lang="en-US" dirty="0"/>
              <a:t>Spam = </a:t>
            </a:r>
            <a:r>
              <a:rPr lang="en-US" dirty="0" smtClean="0"/>
              <a:t>0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Numeric </a:t>
            </a:r>
            <a:r>
              <a:rPr lang="en-US" dirty="0"/>
              <a:t>binary variable</a:t>
            </a:r>
            <a:r>
              <a:rPr lang="en-US" dirty="0" smtClean="0"/>
              <a:t>: 0 </a:t>
            </a:r>
            <a:r>
              <a:rPr lang="en-US" dirty="0"/>
              <a:t>and 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Logical </a:t>
            </a:r>
            <a:r>
              <a:rPr lang="en-US" dirty="0"/>
              <a:t>binary variable</a:t>
            </a:r>
            <a:r>
              <a:rPr lang="en-US" dirty="0" smtClean="0"/>
              <a:t>: True </a:t>
            </a:r>
            <a:r>
              <a:rPr lang="en-US" dirty="0"/>
              <a:t>and </a:t>
            </a:r>
            <a:r>
              <a:rPr lang="en-US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922818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Simple</a:t>
            </a:r>
          </a:p>
          <a:p>
            <a:pPr lvl="1"/>
            <a:r>
              <a:rPr lang="en-US" dirty="0" smtClean="0"/>
              <a:t>Easy </a:t>
            </a:r>
            <a:r>
              <a:rPr lang="en-US" dirty="0"/>
              <a:t>to </a:t>
            </a:r>
            <a:r>
              <a:rPr lang="en-US" dirty="0" smtClean="0"/>
              <a:t>process</a:t>
            </a:r>
          </a:p>
          <a:p>
            <a:pPr lvl="1"/>
            <a:r>
              <a:rPr lang="en-US" dirty="0" smtClean="0"/>
              <a:t>Efficient computation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Limited information</a:t>
            </a:r>
          </a:p>
          <a:p>
            <a:pPr lvl="1"/>
            <a:r>
              <a:rPr lang="en-US" dirty="0" smtClean="0"/>
              <a:t>Only </a:t>
            </a:r>
            <a:r>
              <a:rPr lang="en-US" dirty="0"/>
              <a:t>two </a:t>
            </a:r>
            <a:r>
              <a:rPr lang="en-US" dirty="0" smtClean="0"/>
              <a:t>states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Binary classification</a:t>
            </a:r>
          </a:p>
          <a:p>
            <a:pPr lvl="1"/>
            <a:r>
              <a:rPr lang="en-US" dirty="0" smtClean="0"/>
              <a:t>Decision making</a:t>
            </a:r>
          </a:p>
          <a:p>
            <a:pPr lvl="1"/>
            <a:r>
              <a:rPr lang="en-US" dirty="0" smtClean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7022537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More </a:t>
            </a:r>
            <a:r>
              <a:rPr lang="en-US" dirty="0"/>
              <a:t>than two categories </a:t>
            </a:r>
            <a:r>
              <a:rPr lang="en-US" dirty="0" smtClean="0"/>
              <a:t>exist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categorical variable instead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Binary </a:t>
            </a:r>
            <a:r>
              <a:rPr lang="en-US" dirty="0"/>
              <a:t>variables are used in logistic regression</a:t>
            </a:r>
            <a:r>
              <a:rPr lang="en-US" dirty="0" smtClean="0"/>
              <a:t>: 𝑃</a:t>
            </a:r>
            <a:r>
              <a:rPr lang="en-US" dirty="0"/>
              <a:t>(𝑌=1∣𝑋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predicts probability of class </a:t>
            </a:r>
            <a:r>
              <a:rPr lang="en-US" dirty="0" smtClean="0"/>
              <a:t>1. 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Binary </a:t>
            </a:r>
            <a:r>
              <a:rPr lang="en-US" dirty="0"/>
              <a:t>variable has only two values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Common </a:t>
            </a:r>
            <a:r>
              <a:rPr lang="en-US" dirty="0"/>
              <a:t>in classification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4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16: Categorical 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Categorical variables are extremely important in ML because many real-world features are categorical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 </a:t>
            </a:r>
          </a:p>
          <a:p>
            <a:pPr lvl="1"/>
            <a:r>
              <a:rPr lang="en-US" dirty="0" smtClean="0"/>
              <a:t>Categorical </a:t>
            </a:r>
            <a:r>
              <a:rPr lang="en-US" dirty="0"/>
              <a:t>variable is a variable that represents categories or groups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can have more than two possible values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Many </a:t>
            </a:r>
            <a:r>
              <a:rPr lang="en-US" dirty="0"/>
              <a:t>real-world variables are categories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dirty="0" smtClean="0"/>
              <a:t>Color</a:t>
            </a:r>
            <a:r>
              <a:rPr lang="en-US" dirty="0"/>
              <a:t>: Red, Blue, </a:t>
            </a:r>
            <a:r>
              <a:rPr lang="en-US" dirty="0" smtClean="0"/>
              <a:t>Green</a:t>
            </a:r>
          </a:p>
          <a:p>
            <a:pPr lvl="2"/>
            <a:r>
              <a:rPr lang="en-US" dirty="0" smtClean="0"/>
              <a:t>City</a:t>
            </a:r>
            <a:r>
              <a:rPr lang="en-US" dirty="0"/>
              <a:t>: Ahmedabad, Mumbai, </a:t>
            </a:r>
            <a:r>
              <a:rPr lang="en-US" dirty="0" smtClean="0"/>
              <a:t>Delhi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needs to handle categorical </a:t>
            </a:r>
            <a:r>
              <a:rPr lang="en-US" dirty="0" smtClean="0"/>
              <a:t>data.</a:t>
            </a:r>
          </a:p>
        </p:txBody>
      </p:sp>
    </p:spTree>
    <p:extLst>
      <p:ext uri="{BB962C8B-B14F-4D97-AF65-F5344CB8AC3E}">
        <p14:creationId xmlns:p14="http://schemas.microsoft.com/office/powerpoint/2010/main" val="42760791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Traffic </a:t>
            </a:r>
            <a:r>
              <a:rPr lang="en-US" dirty="0"/>
              <a:t>signal</a:t>
            </a:r>
            <a:r>
              <a:rPr lang="en-US" dirty="0" smtClean="0"/>
              <a:t>: Red, Yellow, Green</a:t>
            </a:r>
          </a:p>
          <a:p>
            <a:pPr lvl="1"/>
            <a:r>
              <a:rPr lang="en-US" dirty="0" smtClean="0"/>
              <a:t>These </a:t>
            </a:r>
            <a:r>
              <a:rPr lang="en-US" dirty="0"/>
              <a:t>are categorical values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Categorical </a:t>
            </a:r>
            <a:r>
              <a:rPr lang="en-US" dirty="0"/>
              <a:t>variable:𝑋∈{𝐶𝑎𝑡𝑒𝑔𝑜𝑟𝑦1,𝐶𝑎𝑡𝑒𝑔𝑜𝑟𝑦2,...,𝐶𝑎𝑡𝑒𝑔𝑜𝑟𝑦𝑛</a:t>
            </a:r>
            <a:r>
              <a:rPr lang="en-US" dirty="0" smtClean="0"/>
              <a:t>} 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categorical </a:t>
            </a:r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Categories </a:t>
            </a:r>
            <a:r>
              <a:rPr lang="en-US" dirty="0"/>
              <a:t>= possible </a:t>
            </a:r>
            <a:r>
              <a:rPr lang="en-US" dirty="0" smtClean="0"/>
              <a:t>values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Customer </a:t>
            </a:r>
            <a:r>
              <a:rPr lang="en-US" dirty="0"/>
              <a:t>city</a:t>
            </a:r>
            <a:r>
              <a:rPr lang="en-US" dirty="0" smtClean="0"/>
              <a:t>: Ahmedabad, Mumbai, Delhi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Nominal variable: No order, Example</a:t>
            </a:r>
            <a:r>
              <a:rPr lang="en-US" dirty="0"/>
              <a:t>: </a:t>
            </a:r>
            <a:r>
              <a:rPr lang="en-US" dirty="0" smtClean="0"/>
              <a:t>colors</a:t>
            </a:r>
          </a:p>
          <a:p>
            <a:pPr lvl="1"/>
            <a:r>
              <a:rPr lang="en-US" dirty="0" smtClean="0"/>
              <a:t>Ordinal variable: Ordered categories, Example</a:t>
            </a:r>
            <a:r>
              <a:rPr lang="en-US" dirty="0"/>
              <a:t>: Low, Medium, </a:t>
            </a:r>
            <a:r>
              <a:rPr lang="en-US" dirty="0" smtClean="0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2321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Represents </a:t>
            </a:r>
            <a:r>
              <a:rPr lang="en-US" dirty="0"/>
              <a:t>real-world </a:t>
            </a:r>
            <a:r>
              <a:rPr lang="en-US" dirty="0" smtClean="0"/>
              <a:t>categories</a:t>
            </a:r>
          </a:p>
          <a:p>
            <a:pPr lvl="1"/>
            <a:r>
              <a:rPr lang="en-US" dirty="0" smtClean="0"/>
              <a:t>Easy interpretation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Must </a:t>
            </a:r>
            <a:r>
              <a:rPr lang="en-US" dirty="0"/>
              <a:t>convert into numbers for </a:t>
            </a:r>
            <a:r>
              <a:rPr lang="en-US" dirty="0" smtClean="0"/>
              <a:t>ML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Classification problems</a:t>
            </a:r>
          </a:p>
          <a:p>
            <a:pPr lvl="1"/>
            <a:r>
              <a:rPr lang="en-US" dirty="0" smtClean="0"/>
              <a:t>Feature representation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numeric value </a:t>
            </a:r>
            <a:r>
              <a:rPr lang="en-US" dirty="0" smtClean="0"/>
              <a:t>needed</a:t>
            </a:r>
          </a:p>
        </p:txBody>
      </p:sp>
    </p:spTree>
    <p:extLst>
      <p:ext uri="{BB962C8B-B14F-4D97-AF65-F5344CB8AC3E}">
        <p14:creationId xmlns:p14="http://schemas.microsoft.com/office/powerpoint/2010/main" val="9811677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Categorical </a:t>
            </a:r>
            <a:r>
              <a:rPr lang="en-US" dirty="0"/>
              <a:t>variables must be </a:t>
            </a:r>
            <a:r>
              <a:rPr lang="en-US" dirty="0" smtClean="0"/>
              <a:t>encoded</a:t>
            </a:r>
          </a:p>
          <a:p>
            <a:pPr lvl="1"/>
            <a:r>
              <a:rPr lang="en-US" dirty="0" smtClean="0"/>
              <a:t>Example:</a:t>
            </a:r>
          </a:p>
          <a:p>
            <a:pPr lvl="2"/>
            <a:r>
              <a:rPr lang="en-US" dirty="0" smtClean="0"/>
              <a:t>One-hot </a:t>
            </a:r>
            <a:r>
              <a:rPr lang="en-US" dirty="0"/>
              <a:t>encoding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Red </a:t>
            </a:r>
            <a:r>
              <a:rPr lang="en-US" dirty="0"/>
              <a:t>= (1,0,0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Blue </a:t>
            </a:r>
            <a:r>
              <a:rPr lang="en-US" dirty="0"/>
              <a:t>= (0,1,0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Green </a:t>
            </a:r>
            <a:r>
              <a:rPr lang="en-US" dirty="0"/>
              <a:t>= (0,0,1</a:t>
            </a:r>
            <a:r>
              <a:rPr lang="en-US" dirty="0" smtClean="0"/>
              <a:t>)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Categorical </a:t>
            </a:r>
            <a:r>
              <a:rPr lang="en-US" dirty="0"/>
              <a:t>variable represents categories.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385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17: Continuous 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variables are essential in regression problems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/>
              <a:t>variable can take infinite numeric values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Many </a:t>
            </a:r>
            <a:r>
              <a:rPr lang="en-US" dirty="0"/>
              <a:t>real-world measurements are continuous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Examples: Height, Weight, Temperature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Height </a:t>
            </a:r>
            <a:r>
              <a:rPr lang="en-US" dirty="0"/>
              <a:t>can be</a:t>
            </a:r>
            <a:r>
              <a:rPr lang="en-US" dirty="0" smtClean="0"/>
              <a:t>: 170.1 cm, 170.12 cm, 170.123 cm</a:t>
            </a:r>
          </a:p>
          <a:p>
            <a:pPr lvl="1"/>
            <a:r>
              <a:rPr lang="en-US" dirty="0" smtClean="0"/>
              <a:t>Infinite </a:t>
            </a:r>
            <a:r>
              <a:rPr lang="en-US" dirty="0"/>
              <a:t>possibilities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24700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/>
              <a:t>variable:𝑋∈</a:t>
            </a:r>
            <a:r>
              <a:rPr lang="en-US" dirty="0" smtClean="0"/>
              <a:t>𝑅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ℝ </a:t>
            </a:r>
            <a:r>
              <a:rPr lang="en-US" dirty="0"/>
              <a:t>= real </a:t>
            </a:r>
            <a:r>
              <a:rPr lang="en-US" dirty="0" smtClean="0"/>
              <a:t>numbers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/>
              <a:t>variable can take any real number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House </a:t>
            </a:r>
            <a:r>
              <a:rPr lang="en-US" dirty="0"/>
              <a:t>price </a:t>
            </a:r>
            <a:r>
              <a:rPr lang="en-US" dirty="0" smtClean="0"/>
              <a:t>prediction</a:t>
            </a:r>
          </a:p>
          <a:p>
            <a:pPr lvl="1"/>
            <a:r>
              <a:rPr lang="en-US" dirty="0" smtClean="0"/>
              <a:t>Price </a:t>
            </a:r>
            <a:r>
              <a:rPr lang="en-US" dirty="0"/>
              <a:t>is continuous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Positive continuous</a:t>
            </a:r>
          </a:p>
          <a:p>
            <a:pPr lvl="1"/>
            <a:r>
              <a:rPr lang="en-US" dirty="0" smtClean="0"/>
              <a:t>Negative continuous</a:t>
            </a:r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Precise measurement</a:t>
            </a:r>
          </a:p>
          <a:p>
            <a:pPr lvl="1"/>
            <a:r>
              <a:rPr lang="en-US" dirty="0"/>
              <a:t>Useful in </a:t>
            </a:r>
            <a:r>
              <a:rPr lang="en-US" dirty="0" smtClean="0"/>
              <a:t>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8058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Sensitive </a:t>
            </a:r>
            <a:r>
              <a:rPr lang="en-US" dirty="0"/>
              <a:t>to </a:t>
            </a:r>
            <a:r>
              <a:rPr lang="en-US" dirty="0" smtClean="0"/>
              <a:t>noise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Regression problems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Categorical problems</a:t>
            </a:r>
          </a:p>
          <a:p>
            <a:r>
              <a:rPr lang="en-US" dirty="0" smtClean="0"/>
              <a:t>Technical explanation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/>
              <a:t>variables define infinite feature </a:t>
            </a:r>
            <a:r>
              <a:rPr lang="en-US" dirty="0" smtClean="0"/>
              <a:t>space.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/>
              <a:t>variables take infinite numeric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580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18: Bias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Bias </a:t>
            </a:r>
            <a:r>
              <a:rPr lang="cy-GB" dirty="0"/>
              <a:t>is the error caused by the model making overly simple assumptions about the data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Bias </a:t>
            </a:r>
            <a:r>
              <a:rPr lang="cy-GB" dirty="0"/>
              <a:t>happens when the model is too simple to learn the real pattern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models try to learn patterns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the model is too simple, it cannot capture the true relationship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creates systematic error called bias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drawing a straight line to fit curved data.</a:t>
            </a:r>
          </a:p>
          <a:p>
            <a:pPr lvl="1"/>
            <a:r>
              <a:rPr lang="cy-GB" dirty="0" smtClean="0"/>
              <a:t>Straight </a:t>
            </a:r>
            <a:r>
              <a:rPr lang="cy-GB" dirty="0"/>
              <a:t>line cannot capture curve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error is bias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912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Bias </a:t>
            </a:r>
            <a:r>
              <a:rPr lang="cy-GB" dirty="0"/>
              <a:t>is defined </a:t>
            </a:r>
            <a:r>
              <a:rPr lang="cy-GB" dirty="0" smtClean="0"/>
              <a:t>as: 𝐵𝑖𝑎𝑠</a:t>
            </a:r>
            <a:r>
              <a:rPr lang="cy-GB" dirty="0"/>
              <a:t>=𝐸[𝑦^]−</a:t>
            </a:r>
            <a:r>
              <a:rPr lang="cy-GB" dirty="0" smtClean="0"/>
              <a:t>𝑦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Bias </a:t>
            </a:r>
            <a:r>
              <a:rPr lang="cy-GB" dirty="0"/>
              <a:t>= error due to wrong </a:t>
            </a:r>
            <a:r>
              <a:rPr lang="cy-GB" dirty="0" smtClean="0"/>
              <a:t>assumptions</a:t>
            </a:r>
          </a:p>
          <a:p>
            <a:pPr lvl="1"/>
            <a:r>
              <a:rPr lang="cy-GB" dirty="0" smtClean="0"/>
              <a:t>E[ŷ</a:t>
            </a:r>
            <a:r>
              <a:rPr lang="cy-GB" dirty="0"/>
              <a:t>] = expected </a:t>
            </a:r>
            <a:r>
              <a:rPr lang="cy-GB" dirty="0" smtClean="0"/>
              <a:t>prediction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true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Difference </a:t>
            </a:r>
            <a:r>
              <a:rPr lang="cy-GB" dirty="0"/>
              <a:t>between predicted and true value = </a:t>
            </a:r>
            <a:r>
              <a:rPr lang="cy-GB" dirty="0" smtClean="0"/>
              <a:t>bias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Predict </a:t>
            </a:r>
            <a:r>
              <a:rPr lang="cy-GB" dirty="0"/>
              <a:t>house price using only number of bedrooms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Ignoring </a:t>
            </a:r>
            <a:r>
              <a:rPr lang="cy-GB" dirty="0"/>
              <a:t>location creates bias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becomes inaccurate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High bias</a:t>
            </a:r>
          </a:p>
          <a:p>
            <a:pPr lvl="1"/>
            <a:r>
              <a:rPr lang="cy-GB" dirty="0" smtClean="0"/>
              <a:t>Low bias</a:t>
            </a:r>
          </a:p>
        </p:txBody>
      </p:sp>
    </p:spTree>
    <p:extLst>
      <p:ext uri="{BB962C8B-B14F-4D97-AF65-F5344CB8AC3E}">
        <p14:creationId xmlns:p14="http://schemas.microsoft.com/office/powerpoint/2010/main" val="38025449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Advantages </a:t>
            </a:r>
            <a:r>
              <a:rPr lang="cy-GB" dirty="0"/>
              <a:t>of High </a:t>
            </a:r>
            <a:r>
              <a:rPr lang="cy-GB" dirty="0" smtClean="0"/>
              <a:t>Bias</a:t>
            </a:r>
          </a:p>
          <a:p>
            <a:pPr lvl="1"/>
            <a:r>
              <a:rPr lang="cy-GB" dirty="0" smtClean="0"/>
              <a:t>Simple models</a:t>
            </a:r>
          </a:p>
          <a:p>
            <a:pPr lvl="1"/>
            <a:r>
              <a:rPr lang="cy-GB" dirty="0" smtClean="0"/>
              <a:t>Fast training</a:t>
            </a:r>
          </a:p>
          <a:p>
            <a:pPr lvl="1"/>
            <a:r>
              <a:rPr lang="cy-GB" dirty="0" smtClean="0"/>
              <a:t>Less computation</a:t>
            </a:r>
          </a:p>
          <a:p>
            <a:r>
              <a:rPr lang="cy-GB" dirty="0" smtClean="0"/>
              <a:t>Disadvantages </a:t>
            </a:r>
            <a:r>
              <a:rPr lang="cy-GB" dirty="0"/>
              <a:t>of High </a:t>
            </a:r>
            <a:r>
              <a:rPr lang="cy-GB" dirty="0" smtClean="0"/>
              <a:t>Bias</a:t>
            </a:r>
          </a:p>
          <a:p>
            <a:pPr lvl="1"/>
            <a:r>
              <a:rPr lang="cy-GB" dirty="0" smtClean="0"/>
              <a:t>Poor accuracy</a:t>
            </a:r>
          </a:p>
          <a:p>
            <a:pPr lvl="1"/>
            <a:r>
              <a:rPr lang="cy-GB" dirty="0" smtClean="0"/>
              <a:t>Underfitting</a:t>
            </a:r>
          </a:p>
          <a:p>
            <a:pPr lvl="1"/>
            <a:r>
              <a:rPr lang="cy-GB" dirty="0" smtClean="0"/>
              <a:t>Misses </a:t>
            </a:r>
            <a:r>
              <a:rPr lang="cy-GB" dirty="0"/>
              <a:t>real </a:t>
            </a:r>
            <a:r>
              <a:rPr lang="cy-GB" dirty="0" smtClean="0"/>
              <a:t>patterns</a:t>
            </a:r>
          </a:p>
          <a:p>
            <a:r>
              <a:rPr lang="cy-GB" dirty="0" smtClean="0"/>
              <a:t>When </a:t>
            </a:r>
            <a:r>
              <a:rPr lang="cy-GB" dirty="0"/>
              <a:t>to use high bias </a:t>
            </a:r>
            <a:r>
              <a:rPr lang="cy-GB" dirty="0" smtClean="0"/>
              <a:t>models</a:t>
            </a:r>
          </a:p>
          <a:p>
            <a:pPr lvl="1"/>
            <a:r>
              <a:rPr lang="cy-GB" dirty="0" smtClean="0"/>
              <a:t>Simple problems</a:t>
            </a:r>
          </a:p>
          <a:p>
            <a:pPr lvl="1"/>
            <a:r>
              <a:rPr lang="cy-GB" dirty="0" smtClean="0"/>
              <a:t>Small datasets</a:t>
            </a:r>
          </a:p>
        </p:txBody>
      </p:sp>
    </p:spTree>
    <p:extLst>
      <p:ext uri="{BB962C8B-B14F-4D97-AF65-F5344CB8AC3E}">
        <p14:creationId xmlns:p14="http://schemas.microsoft.com/office/powerpoint/2010/main" val="10028940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When </a:t>
            </a:r>
            <a:r>
              <a:rPr lang="cy-GB" dirty="0"/>
              <a:t>NOT to use high bias </a:t>
            </a:r>
            <a:r>
              <a:rPr lang="cy-GB" dirty="0" smtClean="0"/>
              <a:t>models</a:t>
            </a:r>
          </a:p>
          <a:p>
            <a:pPr lvl="1"/>
            <a:r>
              <a:rPr lang="cy-GB" dirty="0" smtClean="0"/>
              <a:t>Complex datasets</a:t>
            </a:r>
          </a:p>
          <a:p>
            <a:pPr lvl="1"/>
            <a:r>
              <a:rPr lang="cy-GB" dirty="0" smtClean="0"/>
              <a:t>Nonlinear 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bias occurs when</a:t>
            </a:r>
            <a:r>
              <a:rPr lang="cy-GB" dirty="0" smtClean="0"/>
              <a:t>: Model </a:t>
            </a:r>
            <a:r>
              <a:rPr lang="cy-GB" dirty="0"/>
              <a:t>assumption is too simple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Example: Linear </a:t>
            </a:r>
            <a:r>
              <a:rPr lang="cy-GB" dirty="0"/>
              <a:t>regression on nonlinear data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Mathematically</a:t>
            </a:r>
            <a:r>
              <a:rPr lang="cy-GB" dirty="0"/>
              <a:t>:𝑓(𝑥)≠𝑡𝑟𝑢𝑒 </a:t>
            </a:r>
            <a:r>
              <a:rPr lang="cy-GB" dirty="0" smtClean="0"/>
              <a:t>𝑓𝑢𝑛𝑐𝑡𝑖𝑜𝑛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Bias </a:t>
            </a:r>
            <a:r>
              <a:rPr lang="cy-GB" dirty="0"/>
              <a:t>is error caused by overly simple models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bias leads to underfitting.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7462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19: Variance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y-GB" dirty="0"/>
              <a:t>Variance is the opposite of bias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Variance </a:t>
            </a:r>
            <a:r>
              <a:rPr lang="cy-GB" dirty="0"/>
              <a:t>is the error caused by the model being too sensitive to training data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Model </a:t>
            </a:r>
            <a:r>
              <a:rPr lang="cy-GB" dirty="0"/>
              <a:t>memorizes data instead of learning pattern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model is too complex, it learns noise instead of pattern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causes poor performance on new data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Student </a:t>
            </a:r>
            <a:r>
              <a:rPr lang="cy-GB" dirty="0"/>
              <a:t>memorizes answers instead of understanding concept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Fails </a:t>
            </a:r>
            <a:r>
              <a:rPr lang="cy-GB" dirty="0"/>
              <a:t>in new questions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64016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Variance </a:t>
            </a:r>
            <a:r>
              <a:rPr lang="cy-GB" dirty="0"/>
              <a:t>is defined as</a:t>
            </a:r>
            <a:r>
              <a:rPr lang="cy-GB" dirty="0" smtClean="0"/>
              <a:t>: 𝑉𝑎𝑟𝑖𝑎𝑛𝑐𝑒</a:t>
            </a:r>
            <a:r>
              <a:rPr lang="cy-GB" dirty="0"/>
              <a:t>=𝐸[(𝑦^−𝐸[𝑦^])2</a:t>
            </a:r>
            <a:r>
              <a:rPr lang="cy-GB" dirty="0" smtClean="0"/>
              <a:t>] </a:t>
            </a:r>
          </a:p>
          <a:p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E[ŷ</a:t>
            </a:r>
            <a:r>
              <a:rPr lang="cy-GB" dirty="0"/>
              <a:t>] = expected </a:t>
            </a:r>
            <a:r>
              <a:rPr lang="cy-GB" dirty="0" smtClean="0"/>
              <a:t>prediction</a:t>
            </a:r>
          </a:p>
          <a:p>
            <a:pPr lvl="1"/>
            <a:r>
              <a:rPr lang="cy-GB" dirty="0" smtClean="0"/>
              <a:t>Variance </a:t>
            </a:r>
            <a:r>
              <a:rPr lang="cy-GB" dirty="0"/>
              <a:t>measures prediction variability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Very </a:t>
            </a:r>
            <a:r>
              <a:rPr lang="cy-GB" dirty="0"/>
              <a:t>complex model memorizes training data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Fails </a:t>
            </a:r>
            <a:r>
              <a:rPr lang="cy-GB" dirty="0"/>
              <a:t>on test data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High variance</a:t>
            </a:r>
          </a:p>
          <a:p>
            <a:pPr lvl="1"/>
            <a:r>
              <a:rPr lang="cy-GB" dirty="0" smtClean="0"/>
              <a:t>Low variance</a:t>
            </a:r>
          </a:p>
          <a:p>
            <a:r>
              <a:rPr lang="cy-GB" dirty="0" smtClean="0"/>
              <a:t>Advantages </a:t>
            </a:r>
            <a:r>
              <a:rPr lang="cy-GB" dirty="0"/>
              <a:t>of Low </a:t>
            </a:r>
            <a:r>
              <a:rPr lang="cy-GB" dirty="0" smtClean="0"/>
              <a:t>Variance</a:t>
            </a:r>
          </a:p>
          <a:p>
            <a:pPr lvl="1"/>
            <a:r>
              <a:rPr lang="cy-GB" dirty="0" smtClean="0"/>
              <a:t>Stable predictions</a:t>
            </a:r>
          </a:p>
          <a:p>
            <a:pPr lvl="1"/>
            <a:r>
              <a:rPr lang="cy-GB" dirty="0" smtClean="0"/>
              <a:t>Better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9652188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Disadvantages </a:t>
            </a:r>
            <a:r>
              <a:rPr lang="cy-GB" dirty="0"/>
              <a:t>of High </a:t>
            </a:r>
            <a:r>
              <a:rPr lang="cy-GB" dirty="0" smtClean="0"/>
              <a:t>Variance</a:t>
            </a:r>
          </a:p>
          <a:p>
            <a:pPr lvl="1"/>
            <a:r>
              <a:rPr lang="cy-GB" dirty="0" smtClean="0"/>
              <a:t>Overfitting</a:t>
            </a:r>
          </a:p>
          <a:p>
            <a:pPr lvl="1"/>
            <a:r>
              <a:rPr lang="cy-GB" dirty="0" smtClean="0"/>
              <a:t>Poor generalization</a:t>
            </a:r>
          </a:p>
          <a:p>
            <a:r>
              <a:rPr lang="cy-GB" dirty="0" smtClean="0"/>
              <a:t>When </a:t>
            </a:r>
            <a:r>
              <a:rPr lang="cy-GB" dirty="0"/>
              <a:t>high variance </a:t>
            </a:r>
            <a:r>
              <a:rPr lang="cy-GB" dirty="0" smtClean="0"/>
              <a:t>occurs</a:t>
            </a:r>
          </a:p>
          <a:p>
            <a:pPr lvl="1"/>
            <a:r>
              <a:rPr lang="cy-GB" dirty="0" smtClean="0"/>
              <a:t>Complex models</a:t>
            </a:r>
          </a:p>
          <a:p>
            <a:pPr lvl="1"/>
            <a:r>
              <a:rPr lang="cy-GB" dirty="0" smtClean="0"/>
              <a:t>Small datasets</a:t>
            </a:r>
          </a:p>
          <a:p>
            <a:r>
              <a:rPr lang="cy-GB" dirty="0" smtClean="0"/>
              <a:t>When </a:t>
            </a:r>
            <a:r>
              <a:rPr lang="cy-GB" dirty="0"/>
              <a:t>low variance </a:t>
            </a:r>
            <a:r>
              <a:rPr lang="cy-GB" dirty="0" smtClean="0"/>
              <a:t>occurs</a:t>
            </a:r>
          </a:p>
          <a:p>
            <a:pPr lvl="1"/>
            <a:r>
              <a:rPr lang="cy-GB" dirty="0" smtClean="0"/>
              <a:t>Simple models</a:t>
            </a:r>
          </a:p>
          <a:p>
            <a:pPr lvl="1"/>
            <a:r>
              <a:rPr lang="cy-GB" dirty="0" smtClean="0"/>
              <a:t>Large datasets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Variance </a:t>
            </a:r>
            <a:r>
              <a:rPr lang="cy-GB" dirty="0"/>
              <a:t>measures sensitivity to training data </a:t>
            </a:r>
            <a:r>
              <a:rPr lang="cy-GB" dirty="0" smtClean="0"/>
              <a:t>changes.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variance models</a:t>
            </a:r>
            <a:r>
              <a:rPr lang="cy-GB" dirty="0" smtClean="0"/>
              <a:t>: 𝑓𝑡𝑟𝑎𝑖𝑛</a:t>
            </a:r>
            <a:r>
              <a:rPr lang="cy-GB" dirty="0"/>
              <a:t>(𝑥)≠𝑓𝑡𝑒𝑠𝑡(</a:t>
            </a:r>
            <a:r>
              <a:rPr lang="cy-GB" dirty="0" smtClean="0"/>
              <a:t>𝑥)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Variance </a:t>
            </a:r>
            <a:r>
              <a:rPr lang="cy-GB" dirty="0"/>
              <a:t>measures model sensitivity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variance leads to overfitting.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14462157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20: Bias–Variance </a:t>
            </a:r>
            <a:r>
              <a:rPr lang="en-IN" dirty="0" err="1"/>
              <a:t>Tradeoff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y-GB" dirty="0"/>
              <a:t>It explains why some models underfit and others overfit, and how to find the optimal balance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The </a:t>
            </a:r>
            <a:r>
              <a:rPr lang="cy-GB" dirty="0"/>
              <a:t>Bias–Variance Tradeoff is the balance between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Bias (error from overly simple model</a:t>
            </a:r>
            <a:r>
              <a:rPr lang="cy-GB" dirty="0" smtClean="0"/>
              <a:t>)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Variance (error from overly complex model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We </a:t>
            </a:r>
            <a:r>
              <a:rPr lang="cy-GB" dirty="0"/>
              <a:t>must find the model that is neither too simple nor too complex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model is too simple → High Bias → </a:t>
            </a:r>
            <a:r>
              <a:rPr lang="cy-GB" dirty="0" smtClean="0"/>
              <a:t>Underfitting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model is too complex → High Variance → </a:t>
            </a:r>
            <a:r>
              <a:rPr lang="cy-GB" dirty="0" smtClean="0"/>
              <a:t>Overfitting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must balance both to achieve best performance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57027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for exam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Case </a:t>
            </a:r>
            <a:r>
              <a:rPr lang="cy-GB" dirty="0"/>
              <a:t>1: Study too little → poor understanding → High </a:t>
            </a:r>
            <a:r>
              <a:rPr lang="cy-GB" dirty="0" smtClean="0"/>
              <a:t>bias</a:t>
            </a:r>
          </a:p>
          <a:p>
            <a:pPr lvl="1"/>
            <a:r>
              <a:rPr lang="cy-GB" dirty="0" smtClean="0"/>
              <a:t>Case </a:t>
            </a:r>
            <a:r>
              <a:rPr lang="cy-GB" dirty="0"/>
              <a:t>2: Memorize exact questions → fail new questions → High </a:t>
            </a:r>
            <a:r>
              <a:rPr lang="cy-GB" dirty="0" smtClean="0"/>
              <a:t>variance</a:t>
            </a:r>
          </a:p>
          <a:p>
            <a:pPr lvl="1"/>
            <a:r>
              <a:rPr lang="cy-GB" dirty="0" smtClean="0"/>
              <a:t>Best </a:t>
            </a:r>
            <a:r>
              <a:rPr lang="cy-GB" dirty="0"/>
              <a:t>case: Understand concepts properly → Balanced </a:t>
            </a:r>
            <a:r>
              <a:rPr lang="cy-GB" dirty="0" smtClean="0"/>
              <a:t>learning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Total </a:t>
            </a:r>
            <a:r>
              <a:rPr lang="cy-GB" dirty="0"/>
              <a:t>error consists of</a:t>
            </a:r>
            <a:r>
              <a:rPr lang="cy-GB" dirty="0" smtClean="0"/>
              <a:t>: </a:t>
            </a:r>
          </a:p>
          <a:p>
            <a:pPr lvl="1"/>
            <a:r>
              <a:rPr lang="cy-GB" dirty="0" smtClean="0"/>
              <a:t>𝑇𝑜𝑡𝑎𝑙 </a:t>
            </a:r>
            <a:r>
              <a:rPr lang="cy-GB" dirty="0"/>
              <a:t>𝐸𝑟𝑟𝑜𝑟=𝐵𝑖𝑎𝑠2+𝑉𝑎𝑟𝑖𝑎𝑛𝑐𝑒+𝐼𝑟𝑟𝑒𝑑𝑢𝑐𝑖𝑏𝑙𝑒 </a:t>
            </a:r>
            <a:r>
              <a:rPr lang="cy-GB" dirty="0" smtClean="0"/>
              <a:t>𝐸𝑟𝑟𝑜𝑟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Bias² </a:t>
            </a:r>
            <a:r>
              <a:rPr lang="cy-GB" dirty="0"/>
              <a:t>= error from wrong </a:t>
            </a:r>
            <a:r>
              <a:rPr lang="cy-GB" dirty="0" smtClean="0"/>
              <a:t>assumptions</a:t>
            </a:r>
          </a:p>
          <a:p>
            <a:pPr lvl="1"/>
            <a:r>
              <a:rPr lang="cy-GB" dirty="0" smtClean="0"/>
              <a:t>Variance </a:t>
            </a:r>
            <a:r>
              <a:rPr lang="cy-GB" dirty="0"/>
              <a:t>= error from sensitivity to training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Irreducible </a:t>
            </a:r>
            <a:r>
              <a:rPr lang="cy-GB" dirty="0"/>
              <a:t>error = noise that cannot be </a:t>
            </a:r>
            <a:r>
              <a:rPr lang="cy-GB" dirty="0" smtClean="0"/>
              <a:t>removed</a:t>
            </a:r>
          </a:p>
          <a:p>
            <a:pPr lvl="1"/>
            <a:r>
              <a:rPr lang="cy-GB" dirty="0" smtClean="0"/>
              <a:t>Total </a:t>
            </a:r>
            <a:r>
              <a:rPr lang="cy-GB" dirty="0"/>
              <a:t>error = sum of all </a:t>
            </a:r>
            <a:r>
              <a:rPr lang="cy-GB" dirty="0" smtClean="0"/>
              <a:t>errors</a:t>
            </a:r>
          </a:p>
          <a:p>
            <a:pPr lvl="1"/>
            <a:r>
              <a:rPr lang="cy-GB" dirty="0" smtClean="0"/>
              <a:t>Goal </a:t>
            </a:r>
            <a:r>
              <a:rPr lang="cy-GB" dirty="0"/>
              <a:t>of ML</a:t>
            </a:r>
            <a:r>
              <a:rPr lang="cy-GB" dirty="0" smtClean="0"/>
              <a:t>: Minimize </a:t>
            </a:r>
            <a:r>
              <a:rPr lang="cy-GB" dirty="0"/>
              <a:t>total error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56231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Visual explanation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Bias-Variance tradeoff </a:t>
            </a:r>
            <a:r>
              <a:rPr lang="cy-GB" dirty="0" smtClean="0"/>
              <a:t>curve</a:t>
            </a:r>
          </a:p>
          <a:p>
            <a:pPr lvl="1"/>
            <a:r>
              <a:rPr lang="cy-GB" dirty="0" smtClean="0"/>
              <a:t>Explanation: </a:t>
            </a:r>
          </a:p>
          <a:p>
            <a:pPr lvl="1"/>
            <a:r>
              <a:rPr lang="cy-GB" dirty="0" smtClean="0"/>
              <a:t>Left </a:t>
            </a:r>
            <a:r>
              <a:rPr lang="cy-GB" dirty="0"/>
              <a:t>side = High bias, low </a:t>
            </a:r>
            <a:r>
              <a:rPr lang="cy-GB" dirty="0" smtClean="0"/>
              <a:t>variance</a:t>
            </a:r>
          </a:p>
          <a:p>
            <a:pPr lvl="1"/>
            <a:r>
              <a:rPr lang="cy-GB" dirty="0" smtClean="0"/>
              <a:t>Right </a:t>
            </a:r>
            <a:r>
              <a:rPr lang="cy-GB" dirty="0"/>
              <a:t>side = Low bias, high </a:t>
            </a:r>
            <a:r>
              <a:rPr lang="cy-GB" dirty="0" smtClean="0"/>
              <a:t>variance</a:t>
            </a:r>
          </a:p>
          <a:p>
            <a:pPr lvl="1"/>
            <a:r>
              <a:rPr lang="cy-GB" dirty="0" smtClean="0"/>
              <a:t>Middle </a:t>
            </a:r>
            <a:r>
              <a:rPr lang="cy-GB" dirty="0"/>
              <a:t>= optimal </a:t>
            </a:r>
            <a:r>
              <a:rPr lang="cy-GB" dirty="0" smtClean="0"/>
              <a:t>model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Polynomial regression</a:t>
            </a:r>
          </a:p>
          <a:p>
            <a:pPr lvl="1"/>
            <a:r>
              <a:rPr lang="cy-GB" dirty="0" smtClean="0"/>
              <a:t>Degree </a:t>
            </a:r>
            <a:r>
              <a:rPr lang="cy-GB" dirty="0"/>
              <a:t>1 (line) → High </a:t>
            </a:r>
            <a:r>
              <a:rPr lang="cy-GB" dirty="0" smtClean="0"/>
              <a:t>bias</a:t>
            </a:r>
          </a:p>
          <a:p>
            <a:pPr lvl="1"/>
            <a:r>
              <a:rPr lang="cy-GB" dirty="0" smtClean="0"/>
              <a:t>Degree </a:t>
            </a:r>
            <a:r>
              <a:rPr lang="cy-GB" dirty="0"/>
              <a:t>20 → High </a:t>
            </a:r>
            <a:r>
              <a:rPr lang="cy-GB" dirty="0" smtClean="0"/>
              <a:t>variance</a:t>
            </a:r>
          </a:p>
          <a:p>
            <a:pPr lvl="1"/>
            <a:r>
              <a:rPr lang="cy-GB" dirty="0" smtClean="0"/>
              <a:t>Degree </a:t>
            </a:r>
            <a:r>
              <a:rPr lang="cy-GB" dirty="0"/>
              <a:t>3 → Balanced </a:t>
            </a:r>
            <a:r>
              <a:rPr lang="cy-GB" dirty="0" smtClean="0"/>
              <a:t>model</a:t>
            </a:r>
          </a:p>
        </p:txBody>
      </p:sp>
      <p:pic>
        <p:nvPicPr>
          <p:cNvPr id="58370" name="Picture 2" descr="https://media.geeksforgeeks.org/wp-content/uploads/20200107023418/1_oO0KYF7Z84nePqfsJ9E0W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990" y="1546284"/>
            <a:ext cx="5147810" cy="372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7148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Types </a:t>
            </a:r>
            <a:r>
              <a:rPr lang="cy-GB" dirty="0"/>
              <a:t>of </a:t>
            </a:r>
            <a:r>
              <a:rPr lang="cy-GB" dirty="0" smtClean="0"/>
              <a:t>situations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Bias, Low </a:t>
            </a:r>
            <a:r>
              <a:rPr lang="cy-GB" dirty="0" smtClean="0"/>
              <a:t>Variance, Example</a:t>
            </a:r>
            <a:r>
              <a:rPr lang="cy-GB" dirty="0"/>
              <a:t>: Linear </a:t>
            </a:r>
            <a:r>
              <a:rPr lang="cy-GB" dirty="0" smtClean="0"/>
              <a:t>regression</a:t>
            </a:r>
          </a:p>
          <a:p>
            <a:pPr lvl="1"/>
            <a:r>
              <a:rPr lang="cy-GB" dirty="0" smtClean="0"/>
              <a:t>Low </a:t>
            </a:r>
            <a:r>
              <a:rPr lang="cy-GB" dirty="0"/>
              <a:t>Bias, High </a:t>
            </a:r>
            <a:r>
              <a:rPr lang="cy-GB" dirty="0" smtClean="0"/>
              <a:t>Variance, Example</a:t>
            </a:r>
            <a:r>
              <a:rPr lang="cy-GB" dirty="0"/>
              <a:t>: Deep neural </a:t>
            </a:r>
            <a:r>
              <a:rPr lang="cy-GB" dirty="0" smtClean="0"/>
              <a:t>network</a:t>
            </a:r>
          </a:p>
          <a:p>
            <a:pPr lvl="1"/>
            <a:r>
              <a:rPr lang="cy-GB" dirty="0" smtClean="0"/>
              <a:t>Balanced </a:t>
            </a:r>
            <a:r>
              <a:rPr lang="cy-GB" dirty="0"/>
              <a:t>Bias and </a:t>
            </a:r>
            <a:r>
              <a:rPr lang="cy-GB" dirty="0" smtClean="0"/>
              <a:t>Variance, Example</a:t>
            </a:r>
            <a:r>
              <a:rPr lang="cy-GB" dirty="0"/>
              <a:t>: Random </a:t>
            </a:r>
            <a:r>
              <a:rPr lang="cy-GB" dirty="0" smtClean="0"/>
              <a:t>Forest</a:t>
            </a:r>
          </a:p>
          <a:p>
            <a:r>
              <a:rPr lang="cy-GB" dirty="0" smtClean="0"/>
              <a:t>Advantages </a:t>
            </a:r>
            <a:r>
              <a:rPr lang="cy-GB" dirty="0"/>
              <a:t>of proper </a:t>
            </a:r>
            <a:r>
              <a:rPr lang="cy-GB" dirty="0" smtClean="0"/>
              <a:t>balance</a:t>
            </a:r>
          </a:p>
          <a:p>
            <a:pPr lvl="1"/>
            <a:r>
              <a:rPr lang="cy-GB" dirty="0" smtClean="0"/>
              <a:t>Best </a:t>
            </a:r>
            <a:r>
              <a:rPr lang="cy-GB" dirty="0"/>
              <a:t>prediction </a:t>
            </a:r>
            <a:r>
              <a:rPr lang="cy-GB" dirty="0" smtClean="0"/>
              <a:t>accuracy</a:t>
            </a:r>
          </a:p>
          <a:p>
            <a:pPr lvl="1"/>
            <a:r>
              <a:rPr lang="cy-GB" dirty="0" smtClean="0"/>
              <a:t>Good generalization</a:t>
            </a:r>
          </a:p>
          <a:p>
            <a:pPr lvl="1"/>
            <a:r>
              <a:rPr lang="cy-GB" dirty="0" smtClean="0"/>
              <a:t>Optimal </a:t>
            </a:r>
            <a:r>
              <a:rPr lang="cy-GB" dirty="0"/>
              <a:t>model </a:t>
            </a:r>
            <a:r>
              <a:rPr lang="cy-GB" dirty="0" smtClean="0"/>
              <a:t>performance</a:t>
            </a:r>
          </a:p>
          <a:p>
            <a:r>
              <a:rPr lang="cy-GB" dirty="0" smtClean="0"/>
              <a:t>Disadvantages </a:t>
            </a:r>
            <a:r>
              <a:rPr lang="cy-GB" dirty="0"/>
              <a:t>of </a:t>
            </a:r>
            <a:r>
              <a:rPr lang="cy-GB" dirty="0" smtClean="0"/>
              <a:t>imbalance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bias → </a:t>
            </a:r>
            <a:r>
              <a:rPr lang="cy-GB" dirty="0" smtClean="0"/>
              <a:t>underfitting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variance → </a:t>
            </a:r>
            <a:r>
              <a:rPr lang="cy-GB" dirty="0" smtClean="0"/>
              <a:t>overfitting</a:t>
            </a:r>
          </a:p>
          <a:p>
            <a:pPr lvl="1"/>
            <a:r>
              <a:rPr lang="cy-GB" dirty="0" smtClean="0"/>
              <a:t>Poor performance</a:t>
            </a:r>
          </a:p>
        </p:txBody>
      </p:sp>
    </p:spTree>
    <p:extLst>
      <p:ext uri="{BB962C8B-B14F-4D97-AF65-F5344CB8AC3E}">
        <p14:creationId xmlns:p14="http://schemas.microsoft.com/office/powerpoint/2010/main" val="29158423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When </a:t>
            </a:r>
            <a:r>
              <a:rPr lang="cy-GB" dirty="0"/>
              <a:t>to use this </a:t>
            </a:r>
            <a:r>
              <a:rPr lang="cy-GB" dirty="0" smtClean="0"/>
              <a:t>concept</a:t>
            </a:r>
          </a:p>
          <a:p>
            <a:pPr lvl="1"/>
            <a:r>
              <a:rPr lang="cy-GB" dirty="0" smtClean="0"/>
              <a:t>Always </a:t>
            </a:r>
            <a:r>
              <a:rPr lang="cy-GB" dirty="0"/>
              <a:t>used when designing ML </a:t>
            </a:r>
            <a:r>
              <a:rPr lang="cy-GB" dirty="0" smtClean="0"/>
              <a:t>models</a:t>
            </a:r>
          </a:p>
          <a:p>
            <a:pPr lvl="1"/>
            <a:r>
              <a:rPr lang="cy-GB" dirty="0" smtClean="0"/>
              <a:t>Model selection</a:t>
            </a:r>
          </a:p>
          <a:p>
            <a:pPr lvl="1"/>
            <a:r>
              <a:rPr lang="cy-GB" dirty="0" smtClean="0"/>
              <a:t>Hyperparameter tuning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Never </a:t>
            </a:r>
            <a:r>
              <a:rPr lang="cy-GB" dirty="0"/>
              <a:t>ignored in </a:t>
            </a:r>
            <a:r>
              <a:rPr lang="cy-GB" dirty="0" smtClean="0"/>
              <a:t>ML</a:t>
            </a:r>
          </a:p>
          <a:p>
            <a:pPr lvl="1"/>
            <a:r>
              <a:rPr lang="cy-GB" dirty="0" smtClean="0"/>
              <a:t>Always </a:t>
            </a:r>
            <a:r>
              <a:rPr lang="cy-GB" dirty="0"/>
              <a:t>important</a:t>
            </a:r>
            <a:r>
              <a:rPr lang="cy-GB" dirty="0" smtClean="0"/>
              <a:t>.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Expected </a:t>
            </a:r>
            <a:r>
              <a:rPr lang="cy-GB" dirty="0"/>
              <a:t>prediction error</a:t>
            </a:r>
            <a:r>
              <a:rPr lang="cy-GB" dirty="0" smtClean="0"/>
              <a:t>: 𝐸</a:t>
            </a:r>
            <a:r>
              <a:rPr lang="cy-GB" dirty="0"/>
              <a:t>[(𝑦−𝑦^)2]=𝐵𝑖𝑎𝑠2+𝑉𝑎𝑟𝑖𝑎𝑛𝑐𝑒</a:t>
            </a:r>
            <a:r>
              <a:rPr lang="cy-GB" dirty="0" smtClean="0"/>
              <a:t>+𝑁𝑜𝑖𝑠𝑒 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tries to minimize this expected error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defines optimal model </a:t>
            </a:r>
            <a:r>
              <a:rPr lang="cy-GB" dirty="0" smtClean="0"/>
              <a:t>complexity.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Bias–Variance </a:t>
            </a:r>
            <a:r>
              <a:rPr lang="cy-GB" dirty="0"/>
              <a:t>tradeoff determines optimal model complexity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Best </a:t>
            </a:r>
            <a:r>
              <a:rPr lang="cy-GB" dirty="0"/>
              <a:t>model balances bias and variance.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9150010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21: Overfitting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Overfitting </a:t>
            </a:r>
            <a:r>
              <a:rPr lang="cy-GB" dirty="0"/>
              <a:t>occurs when a model learns training data too well, including noise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Model </a:t>
            </a:r>
            <a:r>
              <a:rPr lang="cy-GB" dirty="0"/>
              <a:t>memorizes instead of learning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When </a:t>
            </a:r>
            <a:r>
              <a:rPr lang="cy-GB" dirty="0"/>
              <a:t>model is too complex, it learns noise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performs well on training data but poorly on new </a:t>
            </a:r>
            <a:r>
              <a:rPr lang="cy-GB" dirty="0" smtClean="0"/>
              <a:t>data.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Student </a:t>
            </a:r>
            <a:r>
              <a:rPr lang="cy-GB" dirty="0"/>
              <a:t>memorizes answers instead of understanding concepts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Fails </a:t>
            </a:r>
            <a:r>
              <a:rPr lang="cy-GB" dirty="0"/>
              <a:t>when questions change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02330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Mathematical Representation</a:t>
            </a:r>
          </a:p>
          <a:p>
            <a:pPr lvl="1"/>
            <a:r>
              <a:rPr lang="cy-GB" dirty="0" smtClean="0"/>
              <a:t>Training </a:t>
            </a:r>
            <a:r>
              <a:rPr lang="cy-GB" dirty="0"/>
              <a:t>error</a:t>
            </a:r>
            <a:r>
              <a:rPr lang="cy-GB" dirty="0" smtClean="0"/>
              <a:t>: 𝐸𝑟𝑟𝑜𝑟𝑡𝑟𝑎𝑖𝑛</a:t>
            </a:r>
            <a:r>
              <a:rPr lang="cy-GB" dirty="0"/>
              <a:t>=𝑣𝑒𝑟𝑦 </a:t>
            </a:r>
            <a:r>
              <a:rPr lang="cy-GB" dirty="0" smtClean="0"/>
              <a:t>𝑙𝑜𝑤 </a:t>
            </a:r>
          </a:p>
          <a:p>
            <a:pPr lvl="1"/>
            <a:r>
              <a:rPr lang="cy-GB" dirty="0" smtClean="0"/>
              <a:t>Test </a:t>
            </a:r>
            <a:r>
              <a:rPr lang="cy-GB" dirty="0"/>
              <a:t>error</a:t>
            </a:r>
            <a:r>
              <a:rPr lang="cy-GB" dirty="0" smtClean="0"/>
              <a:t>: 𝐸𝑟𝑟𝑜𝑟𝑡𝑒𝑠𝑡</a:t>
            </a:r>
            <a:r>
              <a:rPr lang="cy-GB" dirty="0"/>
              <a:t>=𝑣𝑒𝑟𝑦 ℎ𝑖𝑔</a:t>
            </a:r>
            <a:r>
              <a:rPr lang="cy-GB" dirty="0" smtClean="0"/>
              <a:t>ℎ</a:t>
            </a:r>
          </a:p>
          <a:p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Training </a:t>
            </a:r>
            <a:r>
              <a:rPr lang="cy-GB" dirty="0"/>
              <a:t>error = error on training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Test </a:t>
            </a:r>
            <a:r>
              <a:rPr lang="cy-GB" dirty="0"/>
              <a:t>error = error on new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Large </a:t>
            </a:r>
            <a:r>
              <a:rPr lang="cy-GB" dirty="0"/>
              <a:t>difference indicates overfitting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memorizes exact house prices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Fails </a:t>
            </a:r>
            <a:r>
              <a:rPr lang="cy-GB" dirty="0"/>
              <a:t>on new houses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33775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Causes</a:t>
            </a:r>
          </a:p>
          <a:p>
            <a:pPr lvl="1"/>
            <a:r>
              <a:rPr lang="cy-GB" dirty="0" smtClean="0"/>
              <a:t>Complex models</a:t>
            </a:r>
          </a:p>
          <a:p>
            <a:pPr lvl="1"/>
            <a:r>
              <a:rPr lang="cy-GB" dirty="0" smtClean="0"/>
              <a:t>Small datasets</a:t>
            </a:r>
          </a:p>
          <a:p>
            <a:pPr lvl="1"/>
            <a:r>
              <a:rPr lang="cy-GB" dirty="0" smtClean="0"/>
              <a:t>Noise </a:t>
            </a:r>
            <a:r>
              <a:rPr lang="cy-GB" dirty="0"/>
              <a:t>in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Too </a:t>
            </a:r>
            <a:r>
              <a:rPr lang="cy-GB" dirty="0"/>
              <a:t>many </a:t>
            </a:r>
            <a:r>
              <a:rPr lang="cy-GB" dirty="0" smtClean="0"/>
              <a:t>features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Very </a:t>
            </a:r>
            <a:r>
              <a:rPr lang="cy-GB" dirty="0"/>
              <a:t>accurate on training </a:t>
            </a:r>
            <a:r>
              <a:rPr lang="cy-GB" dirty="0" smtClean="0"/>
              <a:t>data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Poor </a:t>
            </a:r>
            <a:r>
              <a:rPr lang="cy-GB" dirty="0"/>
              <a:t>real-world </a:t>
            </a:r>
            <a:r>
              <a:rPr lang="cy-GB" dirty="0" smtClean="0"/>
              <a:t>performance</a:t>
            </a:r>
          </a:p>
          <a:p>
            <a:pPr lvl="1"/>
            <a:r>
              <a:rPr lang="cy-GB" dirty="0" smtClean="0"/>
              <a:t>Poor generalization</a:t>
            </a:r>
          </a:p>
          <a:p>
            <a:r>
              <a:rPr lang="cy-GB" dirty="0" smtClean="0"/>
              <a:t>When </a:t>
            </a:r>
            <a:r>
              <a:rPr lang="cy-GB" dirty="0"/>
              <a:t>overfitting </a:t>
            </a:r>
            <a:r>
              <a:rPr lang="cy-GB" dirty="0" smtClean="0"/>
              <a:t>occurs</a:t>
            </a:r>
          </a:p>
          <a:p>
            <a:pPr lvl="1"/>
            <a:r>
              <a:rPr lang="cy-GB" dirty="0" smtClean="0"/>
              <a:t>Complex models</a:t>
            </a:r>
          </a:p>
          <a:p>
            <a:pPr lvl="1"/>
            <a:r>
              <a:rPr lang="cy-GB" dirty="0" smtClean="0"/>
              <a:t>Deep </a:t>
            </a:r>
            <a:r>
              <a:rPr lang="cy-GB" dirty="0"/>
              <a:t>neural </a:t>
            </a:r>
            <a:r>
              <a:rPr lang="cy-GB" dirty="0" smtClean="0"/>
              <a:t>networks</a:t>
            </a:r>
          </a:p>
          <a:p>
            <a:pPr lvl="1"/>
            <a:r>
              <a:rPr lang="cy-GB" dirty="0" smtClean="0"/>
              <a:t>Small datasets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937" y="1364777"/>
            <a:ext cx="7188063" cy="37978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65621" y="5115815"/>
            <a:ext cx="4588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y-GB" dirty="0"/>
              <a:t>Explanation:Straight line cannot fit curved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7753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How </a:t>
            </a:r>
            <a:r>
              <a:rPr lang="cy-GB" dirty="0"/>
              <a:t>to prevent overfitting</a:t>
            </a:r>
          </a:p>
          <a:p>
            <a:pPr lvl="1"/>
            <a:r>
              <a:rPr lang="cy-GB" dirty="0"/>
              <a:t>Use more data</a:t>
            </a:r>
          </a:p>
          <a:p>
            <a:pPr lvl="1"/>
            <a:r>
              <a:rPr lang="cy-GB" dirty="0"/>
              <a:t>Use regularization</a:t>
            </a:r>
          </a:p>
          <a:p>
            <a:pPr lvl="1"/>
            <a:r>
              <a:rPr lang="cy-GB" dirty="0"/>
              <a:t>Use simpler model</a:t>
            </a:r>
          </a:p>
          <a:p>
            <a:pPr lvl="1"/>
            <a:r>
              <a:rPr lang="cy-GB" dirty="0"/>
              <a:t>Use cross-validation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Overfitting </a:t>
            </a:r>
            <a:r>
              <a:rPr lang="cy-GB" dirty="0"/>
              <a:t>occurs when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𝑉𝑎𝑟𝑖𝑎𝑛𝑐𝑒</a:t>
            </a:r>
            <a:r>
              <a:rPr lang="cy-GB" dirty="0"/>
              <a:t>&gt;&gt;</a:t>
            </a:r>
            <a:r>
              <a:rPr lang="cy-GB" dirty="0" smtClean="0"/>
              <a:t>𝐵𝑖𝑎𝑠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learns noise instead of true function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Overfitting </a:t>
            </a:r>
            <a:r>
              <a:rPr lang="cy-GB" dirty="0"/>
              <a:t>is caused by overly complex models.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41354175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</a:t>
            </a:r>
            <a:r>
              <a:rPr lang="en-IN" dirty="0"/>
              <a:t>22: </a:t>
            </a:r>
            <a:r>
              <a:rPr lang="en-IN" dirty="0" err="1"/>
              <a:t>Underfitting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y-GB" dirty="0"/>
              <a:t>Underfitting is the opposite of overfitting. It occurs when the model is too simple to learn the real pattern in data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Underfitting </a:t>
            </a:r>
            <a:r>
              <a:rPr lang="cy-GB" dirty="0"/>
              <a:t>occurs when a model is too simple and cannot learn the underlying pattern of the data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The </a:t>
            </a:r>
            <a:r>
              <a:rPr lang="cy-GB" dirty="0"/>
              <a:t>model fails to learn properly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models try to learn patterns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the model is too simple, it cannot capture complex relationships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causes poor performance on both training and test data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Student </a:t>
            </a:r>
            <a:r>
              <a:rPr lang="cy-GB" dirty="0"/>
              <a:t>studies very little and does not understand subject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Fails </a:t>
            </a:r>
            <a:r>
              <a:rPr lang="cy-GB" dirty="0"/>
              <a:t>both practice tests and real exams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5251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Mathematical Representation</a:t>
            </a:r>
          </a:p>
          <a:p>
            <a:pPr lvl="1"/>
            <a:r>
              <a:rPr lang="cy-GB" dirty="0" smtClean="0"/>
              <a:t>Training </a:t>
            </a:r>
            <a:r>
              <a:rPr lang="cy-GB" dirty="0"/>
              <a:t>error</a:t>
            </a:r>
            <a:r>
              <a:rPr lang="cy-GB" dirty="0" smtClean="0"/>
              <a:t>: 𝐸𝑟𝑟𝑜𝑟𝑡𝑟𝑎𝑖𝑛</a:t>
            </a:r>
            <a:r>
              <a:rPr lang="cy-GB" dirty="0"/>
              <a:t>=ℎ𝑖𝑔</a:t>
            </a:r>
            <a:r>
              <a:rPr lang="cy-GB" dirty="0" smtClean="0"/>
              <a:t>ℎ</a:t>
            </a:r>
          </a:p>
          <a:p>
            <a:pPr lvl="1"/>
            <a:r>
              <a:rPr lang="cy-GB" dirty="0" smtClean="0"/>
              <a:t>Test </a:t>
            </a:r>
            <a:r>
              <a:rPr lang="cy-GB" dirty="0"/>
              <a:t>error:𝐸𝑟𝑟𝑜𝑟𝑡𝑒𝑠𝑡=ℎ𝑖𝑔</a:t>
            </a:r>
            <a:r>
              <a:rPr lang="cy-GB" dirty="0" smtClean="0"/>
              <a:t>ℎ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Errortrain </a:t>
            </a:r>
            <a:r>
              <a:rPr lang="cy-GB" dirty="0"/>
              <a:t>= error on training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Errortest </a:t>
            </a:r>
            <a:r>
              <a:rPr lang="cy-GB" dirty="0"/>
              <a:t>= error on test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Both </a:t>
            </a:r>
            <a:r>
              <a:rPr lang="cy-GB" dirty="0"/>
              <a:t>errors are high in </a:t>
            </a:r>
            <a:r>
              <a:rPr lang="cy-GB" dirty="0" smtClean="0"/>
              <a:t>underfitting.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Using </a:t>
            </a:r>
            <a:r>
              <a:rPr lang="cy-GB" dirty="0"/>
              <a:t>linear regression for nonlinear data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cannot capture curve</a:t>
            </a:r>
            <a:r>
              <a:rPr lang="cy-GB" dirty="0" smtClean="0"/>
              <a:t>.</a:t>
            </a:r>
          </a:p>
          <a:p>
            <a:r>
              <a:rPr lang="cy-GB" dirty="0" smtClean="0"/>
              <a:t>Causes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too </a:t>
            </a:r>
            <a:r>
              <a:rPr lang="cy-GB" dirty="0" smtClean="0"/>
              <a:t>simple</a:t>
            </a:r>
          </a:p>
          <a:p>
            <a:pPr lvl="1"/>
            <a:r>
              <a:rPr lang="cy-GB" dirty="0" smtClean="0"/>
              <a:t>Too </a:t>
            </a:r>
            <a:r>
              <a:rPr lang="cy-GB" dirty="0"/>
              <a:t>few </a:t>
            </a:r>
            <a:r>
              <a:rPr lang="cy-GB" dirty="0" smtClean="0"/>
              <a:t>features</a:t>
            </a:r>
          </a:p>
          <a:p>
            <a:pPr lvl="1"/>
            <a:r>
              <a:rPr lang="cy-GB" dirty="0" smtClean="0"/>
              <a:t>Insufficient training</a:t>
            </a:r>
          </a:p>
        </p:txBody>
      </p:sp>
    </p:spTree>
    <p:extLst>
      <p:ext uri="{BB962C8B-B14F-4D97-AF65-F5344CB8AC3E}">
        <p14:creationId xmlns:p14="http://schemas.microsoft.com/office/powerpoint/2010/main" val="17516805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Advantages</a:t>
            </a:r>
            <a:endParaRPr lang="cy-GB" dirty="0"/>
          </a:p>
          <a:p>
            <a:pPr lvl="1"/>
            <a:r>
              <a:rPr lang="cy-GB" dirty="0"/>
              <a:t>Simple models</a:t>
            </a:r>
          </a:p>
          <a:p>
            <a:pPr lvl="1"/>
            <a:r>
              <a:rPr lang="cy-GB" dirty="0"/>
              <a:t>Fast training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Poor accuracy</a:t>
            </a:r>
          </a:p>
          <a:p>
            <a:pPr lvl="1"/>
            <a:r>
              <a:rPr lang="cy-GB" dirty="0" smtClean="0"/>
              <a:t>Fails </a:t>
            </a:r>
            <a:r>
              <a:rPr lang="cy-GB" dirty="0"/>
              <a:t>to learn </a:t>
            </a:r>
            <a:r>
              <a:rPr lang="cy-GB" dirty="0" smtClean="0"/>
              <a:t>pattern</a:t>
            </a:r>
          </a:p>
          <a:p>
            <a:r>
              <a:rPr lang="cy-GB" dirty="0" smtClean="0"/>
              <a:t>When </a:t>
            </a:r>
            <a:r>
              <a:rPr lang="cy-GB" dirty="0"/>
              <a:t>underfitting </a:t>
            </a:r>
            <a:r>
              <a:rPr lang="cy-GB" dirty="0" smtClean="0"/>
              <a:t>occurs</a:t>
            </a:r>
          </a:p>
          <a:p>
            <a:pPr lvl="1"/>
            <a:r>
              <a:rPr lang="cy-GB" dirty="0" smtClean="0"/>
              <a:t>Simple models</a:t>
            </a:r>
          </a:p>
          <a:p>
            <a:pPr lvl="1"/>
            <a:r>
              <a:rPr lang="cy-GB" dirty="0" smtClean="0"/>
              <a:t>Complex data</a:t>
            </a:r>
          </a:p>
          <a:p>
            <a:r>
              <a:rPr lang="cy-GB" dirty="0" smtClean="0"/>
              <a:t>How </a:t>
            </a:r>
            <a:r>
              <a:rPr lang="cy-GB" dirty="0"/>
              <a:t>to fix </a:t>
            </a:r>
            <a:r>
              <a:rPr lang="cy-GB" dirty="0" smtClean="0"/>
              <a:t>underfitting</a:t>
            </a:r>
          </a:p>
          <a:p>
            <a:pPr lvl="1"/>
            <a:r>
              <a:rPr lang="cy-GB" dirty="0" smtClean="0"/>
              <a:t>Use </a:t>
            </a:r>
            <a:r>
              <a:rPr lang="cy-GB" dirty="0"/>
              <a:t>more complex </a:t>
            </a:r>
            <a:r>
              <a:rPr lang="cy-GB" dirty="0" smtClean="0"/>
              <a:t>model</a:t>
            </a:r>
          </a:p>
          <a:p>
            <a:pPr lvl="1"/>
            <a:r>
              <a:rPr lang="cy-GB" dirty="0" smtClean="0"/>
              <a:t>Add </a:t>
            </a:r>
            <a:r>
              <a:rPr lang="cy-GB" dirty="0"/>
              <a:t>more </a:t>
            </a:r>
            <a:r>
              <a:rPr lang="cy-GB" dirty="0" smtClean="0"/>
              <a:t>features</a:t>
            </a:r>
          </a:p>
          <a:p>
            <a:pPr lvl="1"/>
            <a:r>
              <a:rPr lang="cy-GB" dirty="0" smtClean="0"/>
              <a:t>Train longer</a:t>
            </a:r>
          </a:p>
          <a:p>
            <a:pPr lvl="1"/>
            <a:r>
              <a:rPr lang="cy-GB" dirty="0" smtClean="0"/>
              <a:t>Use </a:t>
            </a:r>
            <a:r>
              <a:rPr lang="cy-GB" dirty="0"/>
              <a:t>nonlinear </a:t>
            </a:r>
            <a:r>
              <a:rPr lang="cy-GB" dirty="0" smtClean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22850182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Underfitting </a:t>
            </a:r>
            <a:r>
              <a:rPr lang="cy-GB" dirty="0"/>
              <a:t>occurs when:𝐵𝑖𝑎𝑠&gt;&gt;</a:t>
            </a:r>
            <a:r>
              <a:rPr lang="cy-GB" dirty="0" smtClean="0"/>
              <a:t>𝑉𝑎𝑟𝑖𝑎𝑛𝑐𝑒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cannot approximate true function:𝑓(𝑥)≠𝑡𝑟𝑢𝑒 </a:t>
            </a:r>
            <a:r>
              <a:rPr lang="cy-GB" dirty="0" smtClean="0"/>
              <a:t>𝑓𝑢𝑛𝑐𝑡𝑖𝑜𝑛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Underfitting </a:t>
            </a:r>
            <a:r>
              <a:rPr lang="cy-GB" dirty="0"/>
              <a:t>happens when model is too simple.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5465414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23: Residual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y-GB" dirty="0" smtClean="0"/>
              <a:t>Definition </a:t>
            </a:r>
          </a:p>
          <a:p>
            <a:pPr lvl="1"/>
            <a:r>
              <a:rPr lang="cy-GB" dirty="0" smtClean="0"/>
              <a:t>Residual </a:t>
            </a:r>
            <a:r>
              <a:rPr lang="cy-GB" dirty="0"/>
              <a:t>is the difference between actual value and predicted value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Residual </a:t>
            </a:r>
            <a:r>
              <a:rPr lang="cy-GB" dirty="0"/>
              <a:t>= prediction error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predictions are not perfect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Residual </a:t>
            </a:r>
            <a:r>
              <a:rPr lang="cy-GB" dirty="0"/>
              <a:t>measures prediction error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helps evaluate model performance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Actual </a:t>
            </a:r>
            <a:r>
              <a:rPr lang="cy-GB" dirty="0"/>
              <a:t>price: ₹</a:t>
            </a:r>
            <a:r>
              <a:rPr lang="cy-GB" dirty="0" smtClean="0"/>
              <a:t>100</a:t>
            </a:r>
          </a:p>
          <a:p>
            <a:pPr lvl="1"/>
            <a:r>
              <a:rPr lang="cy-GB" dirty="0" smtClean="0"/>
              <a:t>Predicted </a:t>
            </a:r>
            <a:r>
              <a:rPr lang="cy-GB" dirty="0"/>
              <a:t>price: ₹</a:t>
            </a:r>
            <a:r>
              <a:rPr lang="cy-GB" dirty="0" smtClean="0"/>
              <a:t>90</a:t>
            </a:r>
          </a:p>
          <a:p>
            <a:pPr lvl="1"/>
            <a:r>
              <a:rPr lang="cy-GB" dirty="0" smtClean="0"/>
              <a:t>Residual </a:t>
            </a:r>
            <a:r>
              <a:rPr lang="cy-GB" dirty="0"/>
              <a:t>= ₹</a:t>
            </a:r>
            <a:r>
              <a:rPr lang="cy-GB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679510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𝑅𝑒𝑠𝑖𝑑𝑢𝑎𝑙</a:t>
            </a:r>
            <a:r>
              <a:rPr lang="cy-GB" dirty="0"/>
              <a:t>=𝑦−𝑦</a:t>
            </a:r>
            <a:r>
              <a:rPr lang="cy-GB" dirty="0" smtClean="0"/>
              <a:t>^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Residual </a:t>
            </a:r>
            <a:r>
              <a:rPr lang="cy-GB" dirty="0"/>
              <a:t>= difference between actual and predicted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Actual </a:t>
            </a:r>
            <a:r>
              <a:rPr lang="cy-GB" dirty="0"/>
              <a:t>price = </a:t>
            </a:r>
            <a:r>
              <a:rPr lang="cy-GB" dirty="0" smtClean="0"/>
              <a:t>500000</a:t>
            </a:r>
          </a:p>
          <a:p>
            <a:pPr lvl="1"/>
            <a:r>
              <a:rPr lang="cy-GB" dirty="0" smtClean="0"/>
              <a:t>Predicted </a:t>
            </a:r>
            <a:r>
              <a:rPr lang="cy-GB" dirty="0"/>
              <a:t>price = </a:t>
            </a:r>
            <a:r>
              <a:rPr lang="cy-GB" dirty="0" smtClean="0"/>
              <a:t>480000</a:t>
            </a:r>
          </a:p>
          <a:p>
            <a:pPr lvl="1"/>
            <a:r>
              <a:rPr lang="cy-GB" dirty="0" smtClean="0"/>
              <a:t>Residual </a:t>
            </a:r>
            <a:r>
              <a:rPr lang="cy-GB" dirty="0"/>
              <a:t>= </a:t>
            </a:r>
            <a:r>
              <a:rPr lang="cy-GB" dirty="0" smtClean="0"/>
              <a:t>20000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Positive residual</a:t>
            </a:r>
          </a:p>
          <a:p>
            <a:pPr lvl="1"/>
            <a:r>
              <a:rPr lang="cy-GB" dirty="0" smtClean="0"/>
              <a:t>Negative residual</a:t>
            </a:r>
          </a:p>
        </p:txBody>
      </p:sp>
    </p:spTree>
    <p:extLst>
      <p:ext uri="{BB962C8B-B14F-4D97-AF65-F5344CB8AC3E}">
        <p14:creationId xmlns:p14="http://schemas.microsoft.com/office/powerpoint/2010/main" val="24246187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Helps </a:t>
            </a:r>
            <a:r>
              <a:rPr lang="cy-GB" dirty="0"/>
              <a:t>evaluate model </a:t>
            </a:r>
            <a:r>
              <a:rPr lang="cy-GB" dirty="0" smtClean="0"/>
              <a:t>accuracy</a:t>
            </a:r>
          </a:p>
          <a:p>
            <a:pPr lvl="1"/>
            <a:r>
              <a:rPr lang="cy-GB" dirty="0" smtClean="0"/>
              <a:t>Used </a:t>
            </a:r>
            <a:r>
              <a:rPr lang="cy-GB" dirty="0"/>
              <a:t>in loss </a:t>
            </a:r>
            <a:r>
              <a:rPr lang="cy-GB" dirty="0" smtClean="0"/>
              <a:t>functions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Large </a:t>
            </a:r>
            <a:r>
              <a:rPr lang="cy-GB" dirty="0"/>
              <a:t>residual indicates poor </a:t>
            </a:r>
            <a:r>
              <a:rPr lang="cy-GB" dirty="0" smtClean="0"/>
              <a:t>prediction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Regression analysis</a:t>
            </a:r>
          </a:p>
          <a:p>
            <a:pPr lvl="1"/>
            <a:r>
              <a:rPr lang="cy-GB" dirty="0" smtClean="0"/>
              <a:t>Model evaluation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Classification 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functions use </a:t>
            </a:r>
            <a:r>
              <a:rPr lang="cy-GB" dirty="0" smtClean="0"/>
              <a:t>residual: 𝑀𝑆𝐸</a:t>
            </a:r>
            <a:r>
              <a:rPr lang="cy-GB" dirty="0"/>
              <a:t>=</a:t>
            </a:r>
            <a:r>
              <a:rPr lang="cy-GB" dirty="0" smtClean="0"/>
              <a:t>1/𝑛*∑</a:t>
            </a:r>
            <a:r>
              <a:rPr lang="cy-GB" dirty="0"/>
              <a:t>(𝑦−𝑦</a:t>
            </a:r>
            <a:r>
              <a:rPr lang="cy-GB" dirty="0" smtClean="0"/>
              <a:t>^)^2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tries to minimize residual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Residual </a:t>
            </a:r>
            <a:r>
              <a:rPr lang="cy-GB" dirty="0"/>
              <a:t>is prediction error.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6290073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24: </a:t>
            </a:r>
            <a:r>
              <a:rPr lang="en-IN" dirty="0" err="1"/>
              <a:t>Hyperparameter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y-GB" dirty="0"/>
              <a:t>Hyperparameters are one of the most critical concepts in machine learning because they control how the model learns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 </a:t>
            </a:r>
          </a:p>
          <a:p>
            <a:pPr lvl="1"/>
            <a:r>
              <a:rPr lang="cy-GB" dirty="0" smtClean="0"/>
              <a:t>A </a:t>
            </a:r>
            <a:r>
              <a:rPr lang="cy-GB" dirty="0"/>
              <a:t>Hyperparameter is a parameter that is set before training the model and controls how the model learns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Hyperparameter </a:t>
            </a:r>
            <a:r>
              <a:rPr lang="cy-GB" dirty="0"/>
              <a:t>controls the learning process, not the prediction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models need configuration settings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These </a:t>
            </a:r>
            <a:r>
              <a:rPr lang="cy-GB" dirty="0"/>
              <a:t>settings control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Model </a:t>
            </a:r>
            <a:r>
              <a:rPr lang="cy-GB" dirty="0" smtClean="0"/>
              <a:t>complexity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Learning </a:t>
            </a:r>
            <a:r>
              <a:rPr lang="cy-GB" dirty="0" smtClean="0"/>
              <a:t>speed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Model </a:t>
            </a:r>
            <a:r>
              <a:rPr lang="cy-GB" dirty="0" smtClean="0"/>
              <a:t>behavior</a:t>
            </a:r>
          </a:p>
          <a:p>
            <a:pPr lvl="1"/>
            <a:r>
              <a:rPr lang="cy-GB" dirty="0" smtClean="0"/>
              <a:t>Hyperparameters </a:t>
            </a:r>
            <a:r>
              <a:rPr lang="cy-GB" dirty="0"/>
              <a:t>allow us to optimize model </a:t>
            </a:r>
            <a:r>
              <a:rPr lang="cy-GB" dirty="0" smtClean="0"/>
              <a:t>performance.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Cooking </a:t>
            </a:r>
            <a:r>
              <a:rPr lang="cy-GB" dirty="0"/>
              <a:t>example</a:t>
            </a:r>
            <a:r>
              <a:rPr lang="cy-GB" dirty="0" smtClean="0"/>
              <a:t>: Hyperparameters </a:t>
            </a:r>
            <a:r>
              <a:rPr lang="cy-GB" dirty="0"/>
              <a:t>= cooking </a:t>
            </a:r>
            <a:r>
              <a:rPr lang="cy-GB" dirty="0" smtClean="0"/>
              <a:t>settings, Temperature, Cooking time</a:t>
            </a:r>
          </a:p>
          <a:p>
            <a:pPr lvl="1"/>
            <a:r>
              <a:rPr lang="cy-GB" dirty="0" smtClean="0"/>
              <a:t>These </a:t>
            </a:r>
            <a:r>
              <a:rPr lang="cy-GB" dirty="0"/>
              <a:t>affect final food quality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0994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Mathematical Representation</a:t>
            </a:r>
          </a:p>
          <a:p>
            <a:pPr lvl="1"/>
            <a:r>
              <a:rPr lang="cy-GB" dirty="0" smtClean="0"/>
              <a:t>Example</a:t>
            </a:r>
            <a:r>
              <a:rPr lang="cy-GB" dirty="0"/>
              <a:t>: Linear regression with regularization:𝐿𝑜𝑠𝑠=∑(𝑦−𝑦</a:t>
            </a:r>
            <a:r>
              <a:rPr lang="cy-GB" dirty="0" smtClean="0"/>
              <a:t>^)^2</a:t>
            </a:r>
            <a:r>
              <a:rPr lang="cy-GB" dirty="0"/>
              <a:t>+𝜆∑</a:t>
            </a:r>
            <a:r>
              <a:rPr lang="cy-GB" dirty="0" smtClean="0"/>
              <a:t>𝑤^2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(</a:t>
            </a:r>
            <a:r>
              <a:rPr lang="cy-GB" dirty="0"/>
              <a:t>lambda) = </a:t>
            </a:r>
            <a:r>
              <a:rPr lang="cy-GB" dirty="0" smtClean="0"/>
              <a:t>hyperparameter</a:t>
            </a:r>
          </a:p>
          <a:p>
            <a:pPr lvl="1"/>
            <a:r>
              <a:rPr lang="cy-GB" dirty="0" smtClean="0"/>
              <a:t>Controls </a:t>
            </a:r>
            <a:r>
              <a:rPr lang="cy-GB" dirty="0"/>
              <a:t>strength of </a:t>
            </a:r>
            <a:r>
              <a:rPr lang="cy-GB" dirty="0" smtClean="0"/>
              <a:t>regularization</a:t>
            </a:r>
          </a:p>
          <a:p>
            <a:pPr lvl="1"/>
            <a:r>
              <a:rPr lang="cy-GB" dirty="0" smtClean="0"/>
              <a:t>w </a:t>
            </a:r>
            <a:r>
              <a:rPr lang="cy-GB" dirty="0"/>
              <a:t>= model </a:t>
            </a:r>
            <a:r>
              <a:rPr lang="cy-GB" dirty="0" smtClean="0"/>
              <a:t>weights</a:t>
            </a:r>
          </a:p>
          <a:p>
            <a:pPr lvl="1"/>
            <a:r>
              <a:rPr lang="cy-GB" dirty="0" smtClean="0"/>
              <a:t>Higher </a:t>
            </a:r>
            <a:r>
              <a:rPr lang="el-GR" dirty="0"/>
              <a:t>λ → </a:t>
            </a:r>
            <a:r>
              <a:rPr lang="cy-GB" dirty="0"/>
              <a:t>simpler </a:t>
            </a:r>
            <a:r>
              <a:rPr lang="cy-GB" dirty="0" smtClean="0"/>
              <a:t>model</a:t>
            </a:r>
          </a:p>
          <a:p>
            <a:pPr lvl="1"/>
            <a:r>
              <a:rPr lang="cy-GB" dirty="0" smtClean="0"/>
              <a:t>Lower </a:t>
            </a:r>
            <a:r>
              <a:rPr lang="el-GR" dirty="0"/>
              <a:t>λ → </a:t>
            </a:r>
            <a:r>
              <a:rPr lang="cy-GB" dirty="0"/>
              <a:t>complex </a:t>
            </a:r>
            <a:r>
              <a:rPr lang="cy-GB" dirty="0" smtClean="0"/>
              <a:t>model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KNN algorithm</a:t>
            </a:r>
          </a:p>
          <a:p>
            <a:pPr lvl="1"/>
            <a:r>
              <a:rPr lang="cy-GB" dirty="0" smtClean="0"/>
              <a:t>Hyperparameter </a:t>
            </a:r>
            <a:r>
              <a:rPr lang="cy-GB" dirty="0"/>
              <a:t>= K (number of neighbors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K </a:t>
            </a:r>
            <a:r>
              <a:rPr lang="cy-GB" dirty="0"/>
              <a:t>= 1 → very </a:t>
            </a:r>
            <a:r>
              <a:rPr lang="cy-GB" dirty="0" smtClean="0"/>
              <a:t>sensitive</a:t>
            </a:r>
          </a:p>
          <a:p>
            <a:pPr lvl="1"/>
            <a:r>
              <a:rPr lang="cy-GB" dirty="0" smtClean="0"/>
              <a:t>K </a:t>
            </a:r>
            <a:r>
              <a:rPr lang="cy-GB" dirty="0"/>
              <a:t>= 10 → smoother </a:t>
            </a:r>
            <a:r>
              <a:rPr lang="cy-GB" dirty="0" smtClean="0"/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37939101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/>
              <a:t>Common hyperparameters</a:t>
            </a:r>
          </a:p>
          <a:p>
            <a:pPr lvl="1"/>
            <a:r>
              <a:rPr lang="cy-GB" dirty="0"/>
              <a:t>Learning rate</a:t>
            </a:r>
          </a:p>
          <a:p>
            <a:pPr lvl="1"/>
            <a:r>
              <a:rPr lang="cy-GB" dirty="0"/>
              <a:t>Number of epochs</a:t>
            </a:r>
          </a:p>
          <a:p>
            <a:pPr lvl="1"/>
            <a:r>
              <a:rPr lang="cy-GB" dirty="0"/>
              <a:t>Number of layers</a:t>
            </a:r>
          </a:p>
          <a:p>
            <a:pPr lvl="1"/>
            <a:r>
              <a:rPr lang="cy-GB" dirty="0"/>
              <a:t>Regularization parameter</a:t>
            </a:r>
          </a:p>
          <a:p>
            <a:pPr lvl="1"/>
            <a:r>
              <a:rPr lang="cy-GB" dirty="0"/>
              <a:t>Number of neighbors (K)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Improves </a:t>
            </a:r>
            <a:r>
              <a:rPr lang="cy-GB" dirty="0"/>
              <a:t>model </a:t>
            </a:r>
            <a:r>
              <a:rPr lang="cy-GB" dirty="0" smtClean="0"/>
              <a:t>performance</a:t>
            </a:r>
          </a:p>
          <a:p>
            <a:pPr lvl="1"/>
            <a:r>
              <a:rPr lang="cy-GB" dirty="0" smtClean="0"/>
              <a:t>Allows optimization</a:t>
            </a:r>
          </a:p>
          <a:p>
            <a:pPr lvl="1"/>
            <a:r>
              <a:rPr lang="cy-GB" dirty="0" smtClean="0"/>
              <a:t>Controls overfitting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Difficult </a:t>
            </a:r>
            <a:r>
              <a:rPr lang="cy-GB" dirty="0"/>
              <a:t>to </a:t>
            </a:r>
            <a:r>
              <a:rPr lang="cy-GB" dirty="0" smtClean="0"/>
              <a:t>select</a:t>
            </a:r>
          </a:p>
          <a:p>
            <a:pPr lvl="1"/>
            <a:r>
              <a:rPr lang="cy-GB" dirty="0" smtClean="0"/>
              <a:t>Requires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23758773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/>
              <a:t>When to use</a:t>
            </a:r>
          </a:p>
          <a:p>
            <a:pPr lvl="1"/>
            <a:r>
              <a:rPr lang="cy-GB" dirty="0"/>
              <a:t>Always used in ML model training</a:t>
            </a:r>
          </a:p>
          <a:p>
            <a:r>
              <a:rPr lang="cy-GB" dirty="0"/>
              <a:t>When NOT to use</a:t>
            </a:r>
          </a:p>
          <a:p>
            <a:pPr lvl="1"/>
            <a:r>
              <a:rPr lang="cy-GB" dirty="0"/>
              <a:t>Cannot avoid hyperparameters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explanation</a:t>
            </a:r>
          </a:p>
          <a:p>
            <a:pPr lvl="1"/>
            <a:r>
              <a:rPr lang="cy-GB" dirty="0"/>
              <a:t>Hyperparameters control optimization process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Example: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descent:𝑤=𝑤−𝛼∇</a:t>
            </a:r>
            <a:r>
              <a:rPr lang="cy-GB" dirty="0" smtClean="0"/>
              <a:t>𝐿𝑜𝑠𝑠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(</a:t>
            </a:r>
            <a:r>
              <a:rPr lang="cy-GB" dirty="0"/>
              <a:t>alpha) = learning rate </a:t>
            </a:r>
            <a:r>
              <a:rPr lang="cy-GB" dirty="0" smtClean="0"/>
              <a:t>hyperparameter</a:t>
            </a:r>
          </a:p>
          <a:p>
            <a:r>
              <a:rPr lang="cy-GB" dirty="0" smtClean="0"/>
              <a:t>Summary</a:t>
            </a:r>
            <a:endParaRPr lang="cy-GB" dirty="0"/>
          </a:p>
          <a:p>
            <a:pPr lvl="1"/>
            <a:r>
              <a:rPr lang="cy-GB" dirty="0"/>
              <a:t>Hyperparameters control model learning behavior.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13110885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25: Cross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Cross-validation is one of the most important techniques to evaluate and improve machine learning models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Cross-validation </a:t>
            </a:r>
            <a:r>
              <a:rPr lang="cy-GB" dirty="0"/>
              <a:t>is a technique used to evaluate model performance using multiple training and testing splits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Model </a:t>
            </a:r>
            <a:r>
              <a:rPr lang="cy-GB" dirty="0"/>
              <a:t>is tested multiple times to ensure reliability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Single </a:t>
            </a:r>
            <a:r>
              <a:rPr lang="cy-GB" dirty="0"/>
              <a:t>train-test split may give misleading results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Cross-validation </a:t>
            </a:r>
            <a:r>
              <a:rPr lang="cy-GB" dirty="0"/>
              <a:t>provides reliable performance estimate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Student </a:t>
            </a:r>
            <a:r>
              <a:rPr lang="cy-GB" dirty="0"/>
              <a:t>gives multiple mock tests before final exam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gives better performance estimate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8081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Mathematical Representation</a:t>
            </a:r>
          </a:p>
          <a:p>
            <a:pPr lvl="1"/>
            <a:r>
              <a:rPr lang="cy-GB" dirty="0" smtClean="0"/>
              <a:t>Dataset </a:t>
            </a:r>
            <a:r>
              <a:rPr lang="cy-GB" dirty="0"/>
              <a:t>split into K parts:𝐷={𝐷1,𝐷2,...,𝐷𝐾</a:t>
            </a:r>
            <a:r>
              <a:rPr lang="cy-GB" dirty="0" smtClean="0"/>
              <a:t>}</a:t>
            </a:r>
            <a:endParaRPr lang="cy-GB" dirty="0"/>
          </a:p>
          <a:p>
            <a:pPr lvl="1"/>
            <a:r>
              <a:rPr lang="cy-GB" dirty="0" smtClean="0"/>
              <a:t>Train </a:t>
            </a:r>
            <a:r>
              <a:rPr lang="cy-GB" dirty="0"/>
              <a:t>on K−1 parts, test on remaining part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Repeat </a:t>
            </a:r>
            <a:r>
              <a:rPr lang="cy-GB" dirty="0"/>
              <a:t>K times</a:t>
            </a:r>
            <a:r>
              <a:rPr lang="cy-GB" dirty="0" smtClean="0"/>
              <a:t>.</a:t>
            </a:r>
          </a:p>
          <a:p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D </a:t>
            </a:r>
            <a:r>
              <a:rPr lang="cy-GB" dirty="0"/>
              <a:t>= </a:t>
            </a:r>
            <a:r>
              <a:rPr lang="cy-GB" dirty="0" smtClean="0"/>
              <a:t>dataset</a:t>
            </a:r>
          </a:p>
          <a:p>
            <a:pPr lvl="1"/>
            <a:r>
              <a:rPr lang="cy-GB" dirty="0" smtClean="0"/>
              <a:t>K </a:t>
            </a:r>
            <a:r>
              <a:rPr lang="cy-GB" dirty="0"/>
              <a:t>= number of </a:t>
            </a:r>
            <a:r>
              <a:rPr lang="cy-GB" dirty="0" smtClean="0"/>
              <a:t>folds</a:t>
            </a:r>
          </a:p>
          <a:p>
            <a:pPr lvl="1"/>
            <a:r>
              <a:rPr lang="cy-GB" dirty="0" smtClean="0"/>
              <a:t>Each </a:t>
            </a:r>
            <a:r>
              <a:rPr lang="cy-GB" dirty="0"/>
              <a:t>fold acts as test set </a:t>
            </a:r>
            <a:r>
              <a:rPr lang="cy-GB" dirty="0" smtClean="0"/>
              <a:t>once.</a:t>
            </a:r>
          </a:p>
          <a:p>
            <a:r>
              <a:rPr lang="cy-GB" dirty="0" smtClean="0"/>
              <a:t>Visual explanation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K-fold cross </a:t>
            </a:r>
            <a:r>
              <a:rPr lang="cy-GB" dirty="0" smtClean="0"/>
              <a:t>validation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5-fold </a:t>
            </a:r>
            <a:r>
              <a:rPr lang="cy-GB" dirty="0"/>
              <a:t>cross validation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Split </a:t>
            </a:r>
            <a:r>
              <a:rPr lang="cy-GB" dirty="0"/>
              <a:t>data into 5 parts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Train </a:t>
            </a:r>
            <a:r>
              <a:rPr lang="cy-GB" dirty="0"/>
              <a:t>on 4, test on 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Repeat </a:t>
            </a:r>
            <a:r>
              <a:rPr lang="cy-GB" dirty="0"/>
              <a:t>5 times</a:t>
            </a:r>
            <a:r>
              <a:rPr lang="cy-GB" dirty="0" smtClean="0"/>
              <a:t>.</a:t>
            </a:r>
          </a:p>
        </p:txBody>
      </p:sp>
      <p:pic>
        <p:nvPicPr>
          <p:cNvPr id="68610" name="Picture 2" descr="https://upload.wikimedia.org/wikipedia/commons/thumb/b/b5/K-fold_cross_validation_EN.svg/512px-K-fold_cross_validation_E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724" y="2186414"/>
            <a:ext cx="6596918" cy="327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71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K-fold </a:t>
            </a:r>
            <a:r>
              <a:rPr lang="cy-GB" dirty="0"/>
              <a:t>cross </a:t>
            </a:r>
            <a:r>
              <a:rPr lang="cy-GB" dirty="0" smtClean="0"/>
              <a:t>validation</a:t>
            </a:r>
          </a:p>
          <a:p>
            <a:pPr lvl="1"/>
            <a:r>
              <a:rPr lang="cy-GB" dirty="0" smtClean="0"/>
              <a:t>Stratified </a:t>
            </a:r>
            <a:r>
              <a:rPr lang="cy-GB" dirty="0"/>
              <a:t>cross </a:t>
            </a:r>
            <a:r>
              <a:rPr lang="cy-GB" dirty="0" smtClean="0"/>
              <a:t>validation</a:t>
            </a:r>
          </a:p>
          <a:p>
            <a:pPr lvl="1"/>
            <a:r>
              <a:rPr lang="cy-GB" dirty="0" smtClean="0"/>
              <a:t>Leave-one-out </a:t>
            </a:r>
            <a:r>
              <a:rPr lang="cy-GB" dirty="0"/>
              <a:t>cross </a:t>
            </a:r>
            <a:r>
              <a:rPr lang="cy-GB" dirty="0" smtClean="0"/>
              <a:t>validation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Reliable </a:t>
            </a:r>
            <a:r>
              <a:rPr lang="cy-GB" dirty="0"/>
              <a:t>performance </a:t>
            </a:r>
            <a:r>
              <a:rPr lang="cy-GB" dirty="0" smtClean="0"/>
              <a:t>estimate</a:t>
            </a:r>
          </a:p>
          <a:p>
            <a:pPr lvl="1"/>
            <a:r>
              <a:rPr lang="cy-GB" dirty="0" smtClean="0"/>
              <a:t>Reduces overfitting</a:t>
            </a:r>
          </a:p>
          <a:p>
            <a:pPr lvl="1"/>
            <a:r>
              <a:rPr lang="cy-GB" dirty="0" smtClean="0"/>
              <a:t>Better </a:t>
            </a:r>
            <a:r>
              <a:rPr lang="cy-GB" dirty="0"/>
              <a:t>model </a:t>
            </a:r>
            <a:r>
              <a:rPr lang="cy-GB" dirty="0" smtClean="0"/>
              <a:t>evaluation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Computationally expensive</a:t>
            </a:r>
          </a:p>
          <a:p>
            <a:pPr lvl="1"/>
            <a:r>
              <a:rPr lang="cy-GB" dirty="0" smtClean="0"/>
              <a:t>Slow training</a:t>
            </a:r>
          </a:p>
        </p:txBody>
      </p:sp>
    </p:spTree>
    <p:extLst>
      <p:ext uri="{BB962C8B-B14F-4D97-AF65-F5344CB8AC3E}">
        <p14:creationId xmlns:p14="http://schemas.microsoft.com/office/powerpoint/2010/main" val="10698267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Model evaluation</a:t>
            </a:r>
          </a:p>
          <a:p>
            <a:pPr lvl="1"/>
            <a:r>
              <a:rPr lang="cy-GB" dirty="0" smtClean="0"/>
              <a:t>Hyperparameter tuning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Very </a:t>
            </a:r>
            <a:r>
              <a:rPr lang="cy-GB" dirty="0"/>
              <a:t>large datasets (expensive</a:t>
            </a:r>
            <a:r>
              <a:rPr lang="cy-GB" dirty="0" smtClean="0"/>
              <a:t>)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Final </a:t>
            </a:r>
            <a:r>
              <a:rPr lang="cy-GB" dirty="0"/>
              <a:t>performance:𝐴𝑐𝑐𝑢𝑟𝑎𝑐𝑦=</a:t>
            </a:r>
            <a:r>
              <a:rPr lang="cy-GB" dirty="0" smtClean="0"/>
              <a:t>1/𝐾*∑𝐴𝑐𝑐𝑢𝑟𝑎𝑐𝑦𝑖</a:t>
            </a:r>
          </a:p>
          <a:p>
            <a:pPr lvl="1"/>
            <a:r>
              <a:rPr lang="cy-GB" dirty="0" smtClean="0"/>
              <a:t>​</a:t>
            </a:r>
            <a:r>
              <a:rPr lang="cy-GB" dirty="0"/>
              <a:t>Average accuracy across folds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Cross-validation </a:t>
            </a:r>
            <a:r>
              <a:rPr lang="cy-GB" dirty="0"/>
              <a:t>provides reliable model evaluation.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40515881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26: Convex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cy-GB" dirty="0"/>
              <a:t>Convex functions are extremely important because machine learning optimization works best when the loss function is convex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A </a:t>
            </a:r>
            <a:r>
              <a:rPr lang="cy-GB" dirty="0"/>
              <a:t>Convex Function is a function where the line connecting any two points on the graph lies above or on the graph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Convex </a:t>
            </a:r>
            <a:r>
              <a:rPr lang="cy-GB" dirty="0"/>
              <a:t>function has a bowl shape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has only one minimum point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tries to minimize loss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loss function is convex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Easy to find </a:t>
            </a:r>
            <a:r>
              <a:rPr lang="cy-GB" dirty="0" smtClean="0"/>
              <a:t>minimum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No risk of getting stuck in wrong </a:t>
            </a:r>
            <a:r>
              <a:rPr lang="cy-GB" dirty="0" smtClean="0"/>
              <a:t>minimum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functions guarantee optimal solution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a smooth bowl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Ball </a:t>
            </a:r>
            <a:r>
              <a:rPr lang="cy-GB" dirty="0"/>
              <a:t>placed anywhere will roll to bottom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Bottom </a:t>
            </a:r>
            <a:r>
              <a:rPr lang="cy-GB" dirty="0"/>
              <a:t>= minimum </a:t>
            </a:r>
            <a:r>
              <a:rPr lang="cy-GB" dirty="0" smtClean="0"/>
              <a:t>point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 behaves the same way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4603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 definition</a:t>
            </a:r>
            <a:r>
              <a:rPr lang="cy-GB" dirty="0" smtClean="0"/>
              <a:t>: 𝑓</a:t>
            </a:r>
            <a:r>
              <a:rPr lang="cy-GB" dirty="0"/>
              <a:t>(𝜆𝑥1+(1−𝜆)𝑥2)≤𝜆𝑓(𝑥1)+(1−𝜆)𝑓(𝑥</a:t>
            </a:r>
            <a:r>
              <a:rPr lang="cy-GB" dirty="0" smtClean="0"/>
              <a:t>2)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f </a:t>
            </a:r>
            <a:r>
              <a:rPr lang="cy-GB" dirty="0"/>
              <a:t>=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x</a:t>
            </a:r>
            <a:r>
              <a:rPr lang="cy-GB" dirty="0"/>
              <a:t>₁, x₂ = two </a:t>
            </a:r>
            <a:r>
              <a:rPr lang="cy-GB" dirty="0" smtClean="0"/>
              <a:t>points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= </a:t>
            </a:r>
            <a:r>
              <a:rPr lang="cy-GB" dirty="0"/>
              <a:t>value between 0 and </a:t>
            </a:r>
            <a:r>
              <a:rPr lang="cy-GB" dirty="0" smtClean="0"/>
              <a:t>1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ensures bowl-shaped curve</a:t>
            </a:r>
            <a:r>
              <a:rPr lang="cy-GB" dirty="0" smtClean="0"/>
              <a:t>.</a:t>
            </a:r>
          </a:p>
          <a:p>
            <a:r>
              <a:rPr lang="cy-GB" dirty="0" smtClean="0"/>
              <a:t>Visual explanation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Convex vs Non-convex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Explanation:Convex </a:t>
            </a:r>
            <a:r>
              <a:rPr lang="cy-GB" dirty="0"/>
              <a:t>function has single minimum.Non-convex has multiple </a:t>
            </a:r>
            <a:r>
              <a:rPr lang="cy-GB" dirty="0" smtClean="0"/>
              <a:t>minima.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function in linear regression is convex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allows easy optimization</a:t>
            </a:r>
            <a:r>
              <a:rPr lang="cy-GB" dirty="0" smtClean="0"/>
              <a:t>.</a:t>
            </a:r>
          </a:p>
        </p:txBody>
      </p:sp>
      <p:pic>
        <p:nvPicPr>
          <p:cNvPr id="84994" name="Picture 2" descr="https://www.storyofmathematics.com/wp-content/uploads/2022/11/Convex-function-and-non-convex-function-1024x512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3" t="28639" r="16521" b="18748"/>
          <a:stretch/>
        </p:blipFill>
        <p:spPr bwMode="auto">
          <a:xfrm>
            <a:off x="5704763" y="1402922"/>
            <a:ext cx="5649037" cy="233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06120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Convex function</a:t>
            </a:r>
          </a:p>
          <a:p>
            <a:pPr lvl="1"/>
            <a:r>
              <a:rPr lang="cy-GB" dirty="0" smtClean="0"/>
              <a:t>Strictly </a:t>
            </a:r>
            <a:r>
              <a:rPr lang="cy-GB" dirty="0"/>
              <a:t>convex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Non-convex function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Easy optimization</a:t>
            </a:r>
          </a:p>
          <a:p>
            <a:pPr lvl="1"/>
            <a:r>
              <a:rPr lang="cy-GB" dirty="0" smtClean="0"/>
              <a:t>Guaranteed </a:t>
            </a:r>
            <a:r>
              <a:rPr lang="cy-GB" dirty="0"/>
              <a:t>global </a:t>
            </a:r>
            <a:r>
              <a:rPr lang="cy-GB" dirty="0" smtClean="0"/>
              <a:t>minimum</a:t>
            </a:r>
          </a:p>
          <a:p>
            <a:pPr lvl="1"/>
            <a:r>
              <a:rPr lang="cy-GB" dirty="0" smtClean="0"/>
              <a:t>Stable learning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Cannot </a:t>
            </a:r>
            <a:r>
              <a:rPr lang="cy-GB" dirty="0"/>
              <a:t>model complex </a:t>
            </a:r>
            <a:r>
              <a:rPr lang="cy-GB" dirty="0" smtClean="0"/>
              <a:t>relationships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Linear regression</a:t>
            </a:r>
          </a:p>
          <a:p>
            <a:pPr lvl="1"/>
            <a:r>
              <a:rPr lang="cy-GB" dirty="0" smtClean="0"/>
              <a:t>Logistic regression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optimization </a:t>
            </a:r>
            <a:r>
              <a:rPr lang="cy-GB" dirty="0" smtClean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241438563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When </a:t>
            </a:r>
            <a:r>
              <a:rPr lang="cy-GB" dirty="0"/>
              <a:t>NOT to use</a:t>
            </a:r>
          </a:p>
          <a:p>
            <a:pPr lvl="1"/>
            <a:r>
              <a:rPr lang="cy-GB" dirty="0"/>
              <a:t>Deep learning problems (non-convex</a:t>
            </a:r>
            <a:r>
              <a:rPr lang="cy-GB" dirty="0" smtClean="0"/>
              <a:t>)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 has property:𝑓′′(𝑥)≥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Second </a:t>
            </a:r>
            <a:r>
              <a:rPr lang="cy-GB" dirty="0"/>
              <a:t>derivative is positive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ensures upward </a:t>
            </a:r>
            <a:r>
              <a:rPr lang="cy-GB" dirty="0" smtClean="0"/>
              <a:t>curve.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 has one global minimum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Makes </a:t>
            </a:r>
            <a:r>
              <a:rPr lang="cy-GB" dirty="0"/>
              <a:t>optimization easy.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5332422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27: Loss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y-GB" dirty="0"/>
              <a:t>Machine learning learns by minimizing loss function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function measures how wrong the model prediction is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words:Loss function measures prediction error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needs a way to measure error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function tells model how bad prediction is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improves by minimizing loss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Target </a:t>
            </a:r>
            <a:r>
              <a:rPr lang="cy-GB" dirty="0"/>
              <a:t>score = </a:t>
            </a:r>
            <a:r>
              <a:rPr lang="cy-GB" dirty="0" smtClean="0"/>
              <a:t>100</a:t>
            </a:r>
          </a:p>
          <a:p>
            <a:pPr lvl="1"/>
            <a:r>
              <a:rPr lang="cy-GB" dirty="0" smtClean="0"/>
              <a:t>Your </a:t>
            </a:r>
            <a:r>
              <a:rPr lang="cy-GB" dirty="0"/>
              <a:t>score = </a:t>
            </a:r>
            <a:r>
              <a:rPr lang="cy-GB" dirty="0" smtClean="0"/>
              <a:t>80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= </a:t>
            </a:r>
            <a:r>
              <a:rPr lang="cy-GB" dirty="0" smtClean="0"/>
              <a:t>20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tries to reduce loss to zero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301370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General </a:t>
            </a:r>
            <a:r>
              <a:rPr lang="cy-GB" dirty="0"/>
              <a:t>loss function</a:t>
            </a:r>
            <a:r>
              <a:rPr lang="cy-GB" dirty="0" smtClean="0"/>
              <a:t>: 𝐿𝑜𝑠𝑠</a:t>
            </a:r>
            <a:r>
              <a:rPr lang="cy-GB" dirty="0"/>
              <a:t>=𝐿(𝑦,𝑦</a:t>
            </a:r>
            <a:r>
              <a:rPr lang="cy-GB" dirty="0" smtClean="0"/>
              <a:t>^)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L </a:t>
            </a:r>
            <a:r>
              <a:rPr lang="cy-GB" dirty="0"/>
              <a:t>= loss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measures difference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Actual </a:t>
            </a:r>
            <a:r>
              <a:rPr lang="cy-GB" dirty="0"/>
              <a:t>price = </a:t>
            </a:r>
            <a:r>
              <a:rPr lang="cy-GB" dirty="0" smtClean="0"/>
              <a:t>500000</a:t>
            </a:r>
          </a:p>
          <a:p>
            <a:pPr lvl="1"/>
            <a:r>
              <a:rPr lang="cy-GB" dirty="0" smtClean="0"/>
              <a:t>Predicted </a:t>
            </a:r>
            <a:r>
              <a:rPr lang="cy-GB" dirty="0"/>
              <a:t>price = </a:t>
            </a:r>
            <a:r>
              <a:rPr lang="cy-GB" dirty="0" smtClean="0"/>
              <a:t>480000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= </a:t>
            </a:r>
            <a:r>
              <a:rPr lang="cy-GB" dirty="0" smtClean="0"/>
              <a:t>20000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MSE</a:t>
            </a:r>
          </a:p>
          <a:p>
            <a:pPr lvl="1"/>
            <a:r>
              <a:rPr lang="cy-GB" dirty="0" smtClean="0"/>
              <a:t>MAE</a:t>
            </a:r>
          </a:p>
          <a:p>
            <a:pPr lvl="1"/>
            <a:r>
              <a:rPr lang="cy-GB" dirty="0" smtClean="0"/>
              <a:t>RMSE</a:t>
            </a:r>
          </a:p>
          <a:p>
            <a:pPr lvl="1"/>
            <a:r>
              <a:rPr lang="cy-GB" dirty="0" smtClean="0"/>
              <a:t>Log Loss</a:t>
            </a:r>
          </a:p>
          <a:p>
            <a:pPr lvl="1"/>
            <a:r>
              <a:rPr lang="cy-GB" dirty="0" smtClean="0"/>
              <a:t>Cross Entropy</a:t>
            </a:r>
          </a:p>
        </p:txBody>
      </p:sp>
    </p:spTree>
    <p:extLst>
      <p:ext uri="{BB962C8B-B14F-4D97-AF65-F5344CB8AC3E}">
        <p14:creationId xmlns:p14="http://schemas.microsoft.com/office/powerpoint/2010/main" val="39621267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Provides </a:t>
            </a:r>
            <a:r>
              <a:rPr lang="cy-GB" dirty="0"/>
              <a:t>learning </a:t>
            </a:r>
            <a:r>
              <a:rPr lang="cy-GB" dirty="0" smtClean="0"/>
              <a:t>direction</a:t>
            </a:r>
          </a:p>
          <a:p>
            <a:pPr lvl="1"/>
            <a:r>
              <a:rPr lang="cy-GB" dirty="0" smtClean="0"/>
              <a:t>Improves </a:t>
            </a:r>
            <a:r>
              <a:rPr lang="cy-GB" dirty="0"/>
              <a:t>model </a:t>
            </a:r>
            <a:r>
              <a:rPr lang="cy-GB" dirty="0" smtClean="0"/>
              <a:t>accuracy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Wrong </a:t>
            </a:r>
            <a:r>
              <a:rPr lang="cy-GB" dirty="0"/>
              <a:t>loss function reduces </a:t>
            </a:r>
            <a:r>
              <a:rPr lang="cy-GB" dirty="0" smtClean="0"/>
              <a:t>performance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Always </a:t>
            </a:r>
            <a:r>
              <a:rPr lang="cy-GB" dirty="0"/>
              <a:t>used in ML </a:t>
            </a:r>
            <a:r>
              <a:rPr lang="cy-GB" dirty="0" smtClean="0"/>
              <a:t>training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Cannot </a:t>
            </a:r>
            <a:r>
              <a:rPr lang="cy-GB" dirty="0"/>
              <a:t>avoid loss </a:t>
            </a:r>
            <a:r>
              <a:rPr lang="cy-GB" dirty="0" smtClean="0"/>
              <a:t>function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learns by minimizing loss:min⁡</a:t>
            </a:r>
            <a:r>
              <a:rPr lang="cy-GB" dirty="0" smtClean="0"/>
              <a:t>𝐿𝑜𝑠𝑠</a:t>
            </a:r>
          </a:p>
          <a:p>
            <a:pPr lvl="1"/>
            <a:r>
              <a:rPr lang="cy-GB" dirty="0" smtClean="0"/>
              <a:t>Using </a:t>
            </a:r>
            <a:r>
              <a:rPr lang="cy-GB" dirty="0"/>
              <a:t>optimization algorithms like gradient descent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function measures prediction error.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6887543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28: SSE (Sum of Squared Errors)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y-GB" dirty="0"/>
              <a:t>SSE is the most basic and fundamental loss function used in regression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SSE </a:t>
            </a:r>
            <a:r>
              <a:rPr lang="cy-GB" dirty="0"/>
              <a:t>measures the total squared difference between actual values and predicted values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It </a:t>
            </a:r>
            <a:r>
              <a:rPr lang="cy-GB" dirty="0"/>
              <a:t>measures total squared prediction error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We </a:t>
            </a:r>
            <a:r>
              <a:rPr lang="cy-GB" dirty="0"/>
              <a:t>need a way to measure how wrong predictions are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Squaring </a:t>
            </a:r>
            <a:r>
              <a:rPr lang="cy-GB" dirty="0"/>
              <a:t>ensures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All errors become </a:t>
            </a:r>
            <a:r>
              <a:rPr lang="cy-GB" dirty="0" smtClean="0"/>
              <a:t>positive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Larger errors are penalized </a:t>
            </a:r>
            <a:r>
              <a:rPr lang="cy-GB" dirty="0" smtClean="0"/>
              <a:t>more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minimizes SSE to improve predictions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953027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Real-life </a:t>
            </a:r>
            <a:r>
              <a:rPr lang="cy-GB" dirty="0"/>
              <a:t>analogy</a:t>
            </a:r>
          </a:p>
          <a:p>
            <a:pPr lvl="1"/>
            <a:r>
              <a:rPr lang="cy-GB" dirty="0"/>
              <a:t>Target score = </a:t>
            </a:r>
            <a:r>
              <a:rPr lang="cy-GB" dirty="0" smtClean="0"/>
              <a:t>100</a:t>
            </a:r>
          </a:p>
          <a:p>
            <a:pPr lvl="1"/>
            <a:r>
              <a:rPr lang="cy-GB" dirty="0" smtClean="0"/>
              <a:t>Predicted </a:t>
            </a:r>
            <a:r>
              <a:rPr lang="cy-GB" dirty="0"/>
              <a:t>score = </a:t>
            </a:r>
            <a:r>
              <a:rPr lang="cy-GB" dirty="0" smtClean="0"/>
              <a:t>90</a:t>
            </a:r>
          </a:p>
          <a:p>
            <a:pPr lvl="1"/>
            <a:r>
              <a:rPr lang="cy-GB" dirty="0" smtClean="0"/>
              <a:t>Error </a:t>
            </a:r>
            <a:r>
              <a:rPr lang="cy-GB" dirty="0"/>
              <a:t>= </a:t>
            </a:r>
            <a:r>
              <a:rPr lang="cy-GB" dirty="0" smtClean="0"/>
              <a:t>10</a:t>
            </a:r>
          </a:p>
          <a:p>
            <a:pPr lvl="1"/>
            <a:r>
              <a:rPr lang="cy-GB" dirty="0" smtClean="0"/>
              <a:t>Squared </a:t>
            </a:r>
            <a:r>
              <a:rPr lang="cy-GB" dirty="0"/>
              <a:t>error = </a:t>
            </a:r>
            <a:r>
              <a:rPr lang="cy-GB" dirty="0" smtClean="0"/>
              <a:t>100</a:t>
            </a:r>
          </a:p>
          <a:p>
            <a:pPr lvl="1"/>
            <a:r>
              <a:rPr lang="cy-GB" dirty="0" smtClean="0"/>
              <a:t>Bigger </a:t>
            </a:r>
            <a:r>
              <a:rPr lang="cy-GB" dirty="0"/>
              <a:t>errors punished more.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𝑆𝑆𝐸</a:t>
            </a:r>
            <a:r>
              <a:rPr lang="cy-GB" dirty="0"/>
              <a:t>=∑𝑖=1𝑛(𝑦𝑖−𝑦^𝑖</a:t>
            </a:r>
            <a:r>
              <a:rPr lang="cy-GB" dirty="0" smtClean="0"/>
              <a:t>)^2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n </a:t>
            </a:r>
            <a:r>
              <a:rPr lang="cy-GB" dirty="0"/>
              <a:t>= number of data </a:t>
            </a:r>
            <a:r>
              <a:rPr lang="cy-GB" dirty="0" smtClean="0"/>
              <a:t>points</a:t>
            </a:r>
          </a:p>
          <a:p>
            <a:pPr lvl="1"/>
            <a:r>
              <a:rPr lang="cy-GB" dirty="0" smtClean="0"/>
              <a:t>yᵢ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ŷᵢ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(</a:t>
            </a:r>
            <a:r>
              <a:rPr lang="cy-GB" dirty="0"/>
              <a:t>yᵢ − ŷᵢ) = </a:t>
            </a:r>
            <a:r>
              <a:rPr lang="cy-GB" dirty="0" smtClean="0"/>
              <a:t>error</a:t>
            </a:r>
          </a:p>
          <a:p>
            <a:pPr lvl="1"/>
            <a:r>
              <a:rPr lang="cy-GB" dirty="0" smtClean="0"/>
              <a:t>Squared </a:t>
            </a:r>
            <a:r>
              <a:rPr lang="cy-GB" dirty="0"/>
              <a:t>error ensures positive values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20525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Actual </a:t>
            </a:r>
            <a:r>
              <a:rPr lang="cy-GB" dirty="0"/>
              <a:t>values</a:t>
            </a:r>
            <a:r>
              <a:rPr lang="cy-GB" dirty="0" smtClean="0"/>
              <a:t>: 10</a:t>
            </a:r>
            <a:r>
              <a:rPr lang="cy-GB" dirty="0"/>
              <a:t>, 20, </a:t>
            </a:r>
            <a:r>
              <a:rPr lang="cy-GB" dirty="0" smtClean="0"/>
              <a:t>30</a:t>
            </a:r>
          </a:p>
          <a:p>
            <a:pPr lvl="1"/>
            <a:r>
              <a:rPr lang="cy-GB" dirty="0" smtClean="0"/>
              <a:t>Predicted </a:t>
            </a:r>
            <a:r>
              <a:rPr lang="cy-GB" dirty="0"/>
              <a:t>values</a:t>
            </a:r>
            <a:r>
              <a:rPr lang="cy-GB" dirty="0" smtClean="0"/>
              <a:t>: 12</a:t>
            </a:r>
            <a:r>
              <a:rPr lang="cy-GB" dirty="0"/>
              <a:t>, 18, </a:t>
            </a:r>
            <a:r>
              <a:rPr lang="cy-GB" dirty="0" smtClean="0"/>
              <a:t>25</a:t>
            </a:r>
          </a:p>
          <a:p>
            <a:pPr lvl="1"/>
            <a:r>
              <a:rPr lang="cy-GB" dirty="0" smtClean="0"/>
              <a:t>Errors: -</a:t>
            </a:r>
            <a:r>
              <a:rPr lang="cy-GB" dirty="0"/>
              <a:t>2, 2, </a:t>
            </a:r>
            <a:r>
              <a:rPr lang="cy-GB" dirty="0" smtClean="0"/>
              <a:t>5</a:t>
            </a:r>
          </a:p>
          <a:p>
            <a:pPr lvl="1"/>
            <a:r>
              <a:rPr lang="cy-GB" dirty="0" smtClean="0"/>
              <a:t>Squared </a:t>
            </a:r>
            <a:r>
              <a:rPr lang="cy-GB" dirty="0"/>
              <a:t>errors</a:t>
            </a:r>
            <a:r>
              <a:rPr lang="cy-GB" dirty="0" smtClean="0"/>
              <a:t>: 4</a:t>
            </a:r>
            <a:r>
              <a:rPr lang="cy-GB" dirty="0"/>
              <a:t>, 4, </a:t>
            </a:r>
            <a:r>
              <a:rPr lang="cy-GB" dirty="0" smtClean="0"/>
              <a:t>25</a:t>
            </a:r>
          </a:p>
          <a:p>
            <a:pPr lvl="1"/>
            <a:r>
              <a:rPr lang="cy-GB" dirty="0" smtClean="0"/>
              <a:t>SSE </a:t>
            </a:r>
            <a:r>
              <a:rPr lang="cy-GB" dirty="0"/>
              <a:t>= </a:t>
            </a:r>
            <a:r>
              <a:rPr lang="cy-GB" dirty="0" smtClean="0"/>
              <a:t>33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Total SSE</a:t>
            </a:r>
          </a:p>
          <a:p>
            <a:pPr lvl="1"/>
            <a:r>
              <a:rPr lang="cy-GB" dirty="0" smtClean="0"/>
              <a:t>Residual SSE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Penalizes </a:t>
            </a:r>
            <a:r>
              <a:rPr lang="cy-GB" dirty="0"/>
              <a:t>large errors </a:t>
            </a:r>
            <a:r>
              <a:rPr lang="cy-GB" dirty="0" smtClean="0"/>
              <a:t>strongly</a:t>
            </a:r>
          </a:p>
          <a:p>
            <a:pPr lvl="1"/>
            <a:r>
              <a:rPr lang="cy-GB" dirty="0" smtClean="0"/>
              <a:t>Mathematically convenient</a:t>
            </a:r>
          </a:p>
        </p:txBody>
      </p:sp>
    </p:spTree>
    <p:extLst>
      <p:ext uri="{BB962C8B-B14F-4D97-AF65-F5344CB8AC3E}">
        <p14:creationId xmlns:p14="http://schemas.microsoft.com/office/powerpoint/2010/main" val="402514568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Sensitive </a:t>
            </a:r>
            <a:r>
              <a:rPr lang="cy-GB" dirty="0"/>
              <a:t>to </a:t>
            </a:r>
            <a:r>
              <a:rPr lang="cy-GB" dirty="0" smtClean="0"/>
              <a:t>outliers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Regression problems</a:t>
            </a:r>
          </a:p>
          <a:p>
            <a:pPr lvl="1"/>
            <a:r>
              <a:rPr lang="cy-GB" dirty="0" smtClean="0"/>
              <a:t>Linear regression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Classification 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Linear </a:t>
            </a:r>
            <a:r>
              <a:rPr lang="cy-GB" dirty="0"/>
              <a:t>regression finds parameters minimizing SSE:min⁡∑(𝑦−𝑦</a:t>
            </a:r>
            <a:r>
              <a:rPr lang="cy-GB" dirty="0" smtClean="0"/>
              <a:t>^)^2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creates best-fit </a:t>
            </a:r>
            <a:r>
              <a:rPr lang="cy-GB" dirty="0" smtClean="0"/>
              <a:t>line.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SSE </a:t>
            </a:r>
            <a:r>
              <a:rPr lang="cy-GB" dirty="0"/>
              <a:t>measures total squared prediction error.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7334243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29: Mean Squared Error (MSE)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MSE is the most widely used loss function in regression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is the average of squared errors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SSE </a:t>
            </a:r>
            <a:r>
              <a:rPr lang="cy-GB" dirty="0"/>
              <a:t>depends on dataset size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normalizes error by dividing by number of points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comparison easier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Average </a:t>
            </a:r>
            <a:r>
              <a:rPr lang="cy-GB" dirty="0"/>
              <a:t>mistake per question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𝑀𝑆𝐸</a:t>
            </a:r>
            <a:r>
              <a:rPr lang="cy-GB" dirty="0"/>
              <a:t>=</a:t>
            </a:r>
            <a:r>
              <a:rPr lang="cy-GB" dirty="0" smtClean="0"/>
              <a:t>1/𝑛*∑</a:t>
            </a:r>
            <a:r>
              <a:rPr lang="cy-GB" dirty="0"/>
              <a:t>(𝑦−𝑦</a:t>
            </a:r>
            <a:r>
              <a:rPr lang="cy-GB" dirty="0" smtClean="0"/>
              <a:t>^)^2</a:t>
            </a:r>
          </a:p>
        </p:txBody>
      </p:sp>
    </p:spTree>
    <p:extLst>
      <p:ext uri="{BB962C8B-B14F-4D97-AF65-F5344CB8AC3E}">
        <p14:creationId xmlns:p14="http://schemas.microsoft.com/office/powerpoint/2010/main" val="59541269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Explanation</a:t>
            </a:r>
            <a:endParaRPr lang="cy-GB" dirty="0"/>
          </a:p>
          <a:p>
            <a:pPr lvl="1"/>
            <a:r>
              <a:rPr lang="cy-GB" dirty="0"/>
              <a:t>n = number of data points</a:t>
            </a:r>
          </a:p>
          <a:p>
            <a:pPr lvl="1"/>
            <a:r>
              <a:rPr lang="cy-GB" dirty="0"/>
              <a:t>MSE = average squared error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SSE </a:t>
            </a:r>
            <a:r>
              <a:rPr lang="cy-GB" dirty="0"/>
              <a:t>= </a:t>
            </a:r>
            <a:r>
              <a:rPr lang="cy-GB" dirty="0" smtClean="0"/>
              <a:t>33</a:t>
            </a:r>
          </a:p>
          <a:p>
            <a:pPr lvl="1"/>
            <a:r>
              <a:rPr lang="cy-GB" dirty="0" smtClean="0"/>
              <a:t>n </a:t>
            </a:r>
            <a:r>
              <a:rPr lang="cy-GB" dirty="0"/>
              <a:t>= </a:t>
            </a:r>
            <a:r>
              <a:rPr lang="cy-GB" dirty="0" smtClean="0"/>
              <a:t>3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= </a:t>
            </a:r>
            <a:r>
              <a:rPr lang="cy-GB" dirty="0" smtClean="0"/>
              <a:t>11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Population MSE</a:t>
            </a:r>
          </a:p>
          <a:p>
            <a:pPr lvl="1"/>
            <a:r>
              <a:rPr lang="cy-GB" dirty="0" smtClean="0"/>
              <a:t>Sample MSE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Smooth function</a:t>
            </a:r>
          </a:p>
          <a:p>
            <a:pPr lvl="1"/>
            <a:r>
              <a:rPr lang="cy-GB" dirty="0" smtClean="0"/>
              <a:t>Easy optimization</a:t>
            </a:r>
          </a:p>
        </p:txBody>
      </p:sp>
    </p:spTree>
    <p:extLst>
      <p:ext uri="{BB962C8B-B14F-4D97-AF65-F5344CB8AC3E}">
        <p14:creationId xmlns:p14="http://schemas.microsoft.com/office/powerpoint/2010/main" val="6222085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Sensitive </a:t>
            </a:r>
            <a:r>
              <a:rPr lang="cy-GB" dirty="0"/>
              <a:t>to </a:t>
            </a:r>
            <a:r>
              <a:rPr lang="cy-GB" dirty="0" smtClean="0"/>
              <a:t>outliers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Regression problems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Classification 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is convex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Ensures </a:t>
            </a:r>
            <a:r>
              <a:rPr lang="cy-GB" dirty="0"/>
              <a:t>unique global </a:t>
            </a:r>
            <a:r>
              <a:rPr lang="cy-GB" dirty="0" smtClean="0"/>
              <a:t>minimum.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measures average squared error.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8720031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30: Mean Absolute Error (MAE)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y-GB" dirty="0"/>
              <a:t>MAE is another important loss function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MAE </a:t>
            </a:r>
            <a:r>
              <a:rPr lang="cy-GB" dirty="0"/>
              <a:t>is average absolute difference between actual and predicted values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exists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punishes large errors heavily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MAE </a:t>
            </a:r>
            <a:r>
              <a:rPr lang="cy-GB" dirty="0"/>
              <a:t>treats errors equally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𝑀𝐴𝐸</a:t>
            </a:r>
            <a:r>
              <a:rPr lang="cy-GB" dirty="0"/>
              <a:t>=</a:t>
            </a:r>
            <a:r>
              <a:rPr lang="cy-GB" dirty="0" smtClean="0"/>
              <a:t>1/𝑛*∑∣</a:t>
            </a:r>
            <a:r>
              <a:rPr lang="cy-GB" dirty="0"/>
              <a:t>𝑦−𝑦^</a:t>
            </a:r>
            <a:r>
              <a:rPr lang="cy-GB" dirty="0" smtClean="0"/>
              <a:t>∣ </a:t>
            </a:r>
          </a:p>
          <a:p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Absolute </a:t>
            </a:r>
            <a:r>
              <a:rPr lang="cy-GB" dirty="0"/>
              <a:t>value ensures positive error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331600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7500" lnSpcReduction="20000"/>
          </a:bodyPr>
          <a:lstStyle/>
          <a:p>
            <a:r>
              <a:rPr lang="cy-GB" dirty="0"/>
              <a:t>Practical </a:t>
            </a:r>
            <a:r>
              <a:rPr lang="cy-GB" dirty="0" smtClean="0"/>
              <a:t>example</a:t>
            </a:r>
          </a:p>
          <a:p>
            <a:pPr lvl="1"/>
            <a:r>
              <a:rPr lang="cy-GB" dirty="0" smtClean="0"/>
              <a:t>Errors:2</a:t>
            </a:r>
            <a:r>
              <a:rPr lang="cy-GB" dirty="0"/>
              <a:t>, 2, </a:t>
            </a:r>
            <a:r>
              <a:rPr lang="cy-GB" dirty="0" smtClean="0"/>
              <a:t>5</a:t>
            </a:r>
          </a:p>
          <a:p>
            <a:pPr lvl="1"/>
            <a:r>
              <a:rPr lang="cy-GB" dirty="0" smtClean="0"/>
              <a:t>MAE</a:t>
            </a:r>
            <a:r>
              <a:rPr lang="cy-GB" dirty="0"/>
              <a:t>:=(2+2+5)/</a:t>
            </a:r>
            <a:r>
              <a:rPr lang="cy-GB" dirty="0" smtClean="0"/>
              <a:t>3=3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Standard MAE</a:t>
            </a:r>
          </a:p>
          <a:p>
            <a:pPr lvl="1"/>
            <a:r>
              <a:rPr lang="cy-GB" dirty="0" smtClean="0"/>
              <a:t>Weighted MAE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Robust </a:t>
            </a:r>
            <a:r>
              <a:rPr lang="cy-GB" dirty="0"/>
              <a:t>to </a:t>
            </a:r>
            <a:r>
              <a:rPr lang="cy-GB" dirty="0" smtClean="0"/>
              <a:t>outliers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Harder optimization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Outlier-heavy data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Smooth </a:t>
            </a:r>
            <a:r>
              <a:rPr lang="cy-GB" dirty="0"/>
              <a:t>optimization </a:t>
            </a:r>
            <a:r>
              <a:rPr lang="cy-GB" dirty="0" smtClean="0"/>
              <a:t>required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MAE </a:t>
            </a:r>
            <a:r>
              <a:rPr lang="cy-GB" dirty="0"/>
              <a:t>minimizes absolute residuals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MAE </a:t>
            </a:r>
            <a:r>
              <a:rPr lang="cy-GB" dirty="0"/>
              <a:t>measures average absolute error.</a:t>
            </a:r>
          </a:p>
        </p:txBody>
      </p:sp>
    </p:spTree>
    <p:extLst>
      <p:ext uri="{BB962C8B-B14F-4D97-AF65-F5344CB8AC3E}">
        <p14:creationId xmlns:p14="http://schemas.microsoft.com/office/powerpoint/2010/main" val="9027796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31: Root Mean Squared Error (RMSE)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y-GB" dirty="0"/>
              <a:t>RMSE is one of the most widely used evaluation and loss functions in regression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RMSE </a:t>
            </a:r>
            <a:r>
              <a:rPr lang="cy-GB" dirty="0"/>
              <a:t>is the square root of the average squared error between actual and predicted values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RMSE </a:t>
            </a:r>
            <a:r>
              <a:rPr lang="cy-GB" dirty="0"/>
              <a:t>measures the average prediction error in the same unit as the data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gives squared error, which is hard to interpret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RMSE </a:t>
            </a:r>
            <a:r>
              <a:rPr lang="cy-GB" dirty="0"/>
              <a:t>solves this by taking square root, bringing error back to original unit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interpretation easier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51631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house price error</a:t>
            </a:r>
            <a:r>
              <a:rPr lang="cy-GB" dirty="0" smtClean="0"/>
              <a:t>: MSE </a:t>
            </a:r>
            <a:r>
              <a:rPr lang="cy-GB" dirty="0"/>
              <a:t>= </a:t>
            </a:r>
            <a:r>
              <a:rPr lang="cy-GB" dirty="0" smtClean="0"/>
              <a:t>100000000</a:t>
            </a:r>
          </a:p>
          <a:p>
            <a:pPr lvl="1"/>
            <a:r>
              <a:rPr lang="cy-GB" dirty="0" smtClean="0"/>
              <a:t>Hard </a:t>
            </a:r>
            <a:r>
              <a:rPr lang="cy-GB" dirty="0"/>
              <a:t>to understand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RMSE </a:t>
            </a:r>
            <a:r>
              <a:rPr lang="cy-GB" dirty="0"/>
              <a:t>= </a:t>
            </a:r>
            <a:r>
              <a:rPr lang="cy-GB" dirty="0" smtClean="0"/>
              <a:t>10000</a:t>
            </a:r>
          </a:p>
          <a:p>
            <a:pPr lvl="1"/>
            <a:r>
              <a:rPr lang="cy-GB" dirty="0" smtClean="0"/>
              <a:t>Easy </a:t>
            </a:r>
            <a:r>
              <a:rPr lang="cy-GB" dirty="0"/>
              <a:t>to interpret: average error = ₹</a:t>
            </a:r>
            <a:r>
              <a:rPr lang="cy-GB" dirty="0" smtClean="0"/>
              <a:t>10,000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𝑅𝑀𝑆𝐸=√1/𝑛*∑</a:t>
            </a:r>
            <a:r>
              <a:rPr lang="cy-GB" dirty="0"/>
              <a:t>(𝑦−𝑦</a:t>
            </a:r>
            <a:r>
              <a:rPr lang="cy-GB" dirty="0" smtClean="0"/>
              <a:t>^)^2</a:t>
            </a:r>
          </a:p>
          <a:p>
            <a:pPr lvl="1"/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n </a:t>
            </a:r>
            <a:r>
              <a:rPr lang="cy-GB" dirty="0"/>
              <a:t>= number of data </a:t>
            </a:r>
            <a:r>
              <a:rPr lang="cy-GB" dirty="0" smtClean="0"/>
              <a:t>points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RMSE </a:t>
            </a:r>
            <a:r>
              <a:rPr lang="cy-GB" dirty="0"/>
              <a:t>= square root of </a:t>
            </a:r>
            <a:r>
              <a:rPr lang="cy-GB" dirty="0" smtClean="0"/>
              <a:t>MSE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Errors:2</a:t>
            </a:r>
            <a:r>
              <a:rPr lang="cy-GB" dirty="0"/>
              <a:t>, 2, </a:t>
            </a:r>
            <a:r>
              <a:rPr lang="cy-GB" dirty="0" smtClean="0"/>
              <a:t>5</a:t>
            </a:r>
          </a:p>
          <a:p>
            <a:pPr lvl="1"/>
            <a:r>
              <a:rPr lang="cy-GB" dirty="0" smtClean="0"/>
              <a:t>Squared </a:t>
            </a:r>
            <a:r>
              <a:rPr lang="cy-GB" dirty="0"/>
              <a:t>errors:4, 4, </a:t>
            </a:r>
            <a:r>
              <a:rPr lang="cy-GB" dirty="0" smtClean="0"/>
              <a:t>25</a:t>
            </a:r>
          </a:p>
          <a:p>
            <a:pPr lvl="1"/>
            <a:r>
              <a:rPr lang="cy-GB" dirty="0" smtClean="0"/>
              <a:t>MSE </a:t>
            </a:r>
            <a:r>
              <a:rPr lang="cy-GB" dirty="0"/>
              <a:t>= </a:t>
            </a:r>
            <a:r>
              <a:rPr lang="cy-GB" dirty="0" smtClean="0"/>
              <a:t>11</a:t>
            </a:r>
          </a:p>
          <a:p>
            <a:pPr lvl="1"/>
            <a:r>
              <a:rPr lang="cy-GB" dirty="0" smtClean="0"/>
              <a:t>RMSE:11</a:t>
            </a:r>
            <a:r>
              <a:rPr lang="cy-GB" dirty="0"/>
              <a:t>≈3.3211	​≈</a:t>
            </a:r>
            <a:r>
              <a:rPr lang="cy-GB" dirty="0" smtClean="0"/>
              <a:t>3.32</a:t>
            </a:r>
          </a:p>
        </p:txBody>
      </p:sp>
    </p:spTree>
    <p:extLst>
      <p:ext uri="{BB962C8B-B14F-4D97-AF65-F5344CB8AC3E}">
        <p14:creationId xmlns:p14="http://schemas.microsoft.com/office/powerpoint/2010/main" val="272434002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Types</a:t>
            </a:r>
            <a:endParaRPr lang="cy-GB" dirty="0"/>
          </a:p>
          <a:p>
            <a:pPr lvl="1"/>
            <a:r>
              <a:rPr lang="cy-GB" dirty="0"/>
              <a:t>Standard </a:t>
            </a:r>
            <a:r>
              <a:rPr lang="cy-GB" dirty="0" smtClean="0"/>
              <a:t>RMSE</a:t>
            </a:r>
          </a:p>
          <a:p>
            <a:pPr lvl="1"/>
            <a:r>
              <a:rPr lang="cy-GB" dirty="0" smtClean="0"/>
              <a:t>Normalized RMSE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Same </a:t>
            </a:r>
            <a:r>
              <a:rPr lang="cy-GB" dirty="0"/>
              <a:t>unit as original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Easy interpretation</a:t>
            </a:r>
          </a:p>
          <a:p>
            <a:pPr lvl="1"/>
            <a:r>
              <a:rPr lang="cy-GB" dirty="0" smtClean="0"/>
              <a:t>Penalizes </a:t>
            </a:r>
            <a:r>
              <a:rPr lang="cy-GB" dirty="0"/>
              <a:t>large </a:t>
            </a:r>
            <a:r>
              <a:rPr lang="cy-GB" dirty="0" smtClean="0"/>
              <a:t>errors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Sensitive to outliers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Regression problems</a:t>
            </a:r>
          </a:p>
          <a:p>
            <a:pPr lvl="1"/>
            <a:r>
              <a:rPr lang="cy-GB" dirty="0" smtClean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8893806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Classification 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RMSE </a:t>
            </a:r>
            <a:r>
              <a:rPr lang="cy-GB" dirty="0"/>
              <a:t>is convex loss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Minimizing </a:t>
            </a:r>
            <a:r>
              <a:rPr lang="cy-GB" dirty="0"/>
              <a:t>RMSE is equivalent to minimizing MSE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RMSE </a:t>
            </a:r>
            <a:r>
              <a:rPr lang="cy-GB" dirty="0"/>
              <a:t>measures average prediction error in original units.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17927774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32: Log Loss (Logarithmic Loss)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y-GB" dirty="0"/>
              <a:t>Log Loss is one of the most important loss functions for classification problems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measures how well predicted probabilities match actual class labels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It </a:t>
            </a:r>
            <a:r>
              <a:rPr lang="cy-GB" dirty="0"/>
              <a:t>measures how confident and correct predictions are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Classification </a:t>
            </a:r>
            <a:r>
              <a:rPr lang="cy-GB" dirty="0"/>
              <a:t>models output probabilities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We </a:t>
            </a:r>
            <a:r>
              <a:rPr lang="cy-GB" dirty="0"/>
              <a:t>need a loss function that measures probability accuracy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does this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72077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true class = SpamModel </a:t>
            </a:r>
            <a:endParaRPr lang="cy-GB" dirty="0" smtClean="0"/>
          </a:p>
          <a:p>
            <a:pPr lvl="1"/>
            <a:r>
              <a:rPr lang="cy-GB" dirty="0" smtClean="0"/>
              <a:t>prediction:</a:t>
            </a:r>
          </a:p>
          <a:p>
            <a:pPr lvl="1"/>
            <a:r>
              <a:rPr lang="cy-GB" dirty="0" smtClean="0"/>
              <a:t>Spam </a:t>
            </a:r>
            <a:r>
              <a:rPr lang="cy-GB" dirty="0"/>
              <a:t>probability = 0.99 → good </a:t>
            </a:r>
            <a:r>
              <a:rPr lang="cy-GB" dirty="0" smtClean="0"/>
              <a:t>prediction</a:t>
            </a:r>
          </a:p>
          <a:p>
            <a:pPr lvl="1"/>
            <a:r>
              <a:rPr lang="cy-GB" dirty="0" smtClean="0"/>
              <a:t>Spam </a:t>
            </a:r>
            <a:r>
              <a:rPr lang="cy-GB" dirty="0"/>
              <a:t>probability = 0.51 → </a:t>
            </a:r>
            <a:r>
              <a:rPr lang="cy-GB" dirty="0" smtClean="0"/>
              <a:t>weakerprediction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measures confidence quality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Binary </a:t>
            </a:r>
            <a:r>
              <a:rPr lang="cy-GB" dirty="0"/>
              <a:t>log loss</a:t>
            </a:r>
            <a:r>
              <a:rPr lang="cy-GB" dirty="0" smtClean="0"/>
              <a:t>: 𝐿𝑜𝑠𝑠</a:t>
            </a:r>
            <a:r>
              <a:rPr lang="cy-GB" dirty="0"/>
              <a:t>=−[𝑦log⁡(𝑦^)+(1−𝑦)log⁡(1−𝑦</a:t>
            </a:r>
            <a:r>
              <a:rPr lang="cy-GB" dirty="0" smtClean="0"/>
              <a:t>^)] 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label (0 or 1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probability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= logarithmic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increases when prediction is wrong and confident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85387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True </a:t>
            </a:r>
            <a:r>
              <a:rPr lang="cy-GB" dirty="0"/>
              <a:t>value = </a:t>
            </a:r>
            <a:r>
              <a:rPr lang="cy-GB" dirty="0" smtClean="0"/>
              <a:t>1</a:t>
            </a:r>
          </a:p>
          <a:p>
            <a:pPr lvl="1"/>
            <a:r>
              <a:rPr lang="cy-GB" dirty="0" smtClean="0"/>
              <a:t>Prediction </a:t>
            </a:r>
            <a:r>
              <a:rPr lang="cy-GB" dirty="0"/>
              <a:t>= </a:t>
            </a:r>
            <a:r>
              <a:rPr lang="cy-GB" dirty="0" smtClean="0"/>
              <a:t>0.9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= </a:t>
            </a:r>
            <a:r>
              <a:rPr lang="cy-GB" dirty="0" smtClean="0"/>
              <a:t>small</a:t>
            </a:r>
          </a:p>
          <a:p>
            <a:pPr lvl="1"/>
            <a:r>
              <a:rPr lang="cy-GB" dirty="0" smtClean="0"/>
              <a:t>Prediction </a:t>
            </a:r>
            <a:r>
              <a:rPr lang="cy-GB" dirty="0"/>
              <a:t>= </a:t>
            </a:r>
            <a:r>
              <a:rPr lang="cy-GB" dirty="0" smtClean="0"/>
              <a:t>0.1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= </a:t>
            </a:r>
            <a:r>
              <a:rPr lang="cy-GB" dirty="0" smtClean="0"/>
              <a:t>large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Binary </a:t>
            </a:r>
            <a:r>
              <a:rPr lang="cy-GB" dirty="0"/>
              <a:t>log </a:t>
            </a:r>
            <a:r>
              <a:rPr lang="cy-GB" dirty="0" smtClean="0"/>
              <a:t>loss</a:t>
            </a:r>
          </a:p>
          <a:p>
            <a:pPr lvl="1"/>
            <a:r>
              <a:rPr lang="cy-GB" dirty="0" smtClean="0"/>
              <a:t>Multiclass </a:t>
            </a:r>
            <a:r>
              <a:rPr lang="cy-GB" dirty="0"/>
              <a:t>log </a:t>
            </a:r>
            <a:r>
              <a:rPr lang="cy-GB" dirty="0" smtClean="0"/>
              <a:t>loss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Measures </a:t>
            </a:r>
            <a:r>
              <a:rPr lang="cy-GB" dirty="0"/>
              <a:t>prediction </a:t>
            </a:r>
            <a:r>
              <a:rPr lang="cy-GB" dirty="0" smtClean="0"/>
              <a:t>confidence</a:t>
            </a:r>
          </a:p>
          <a:p>
            <a:pPr lvl="1"/>
            <a:r>
              <a:rPr lang="cy-GB" dirty="0" smtClean="0"/>
              <a:t>Used </a:t>
            </a:r>
            <a:r>
              <a:rPr lang="cy-GB" dirty="0"/>
              <a:t>in logistic </a:t>
            </a:r>
            <a:r>
              <a:rPr lang="cy-GB" dirty="0" smtClean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02397839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Harder </a:t>
            </a:r>
            <a:r>
              <a:rPr lang="cy-GB" dirty="0"/>
              <a:t>to </a:t>
            </a:r>
            <a:r>
              <a:rPr lang="cy-GB" dirty="0" smtClean="0"/>
              <a:t>interpret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Classification problems</a:t>
            </a:r>
          </a:p>
          <a:p>
            <a:pPr lvl="1"/>
            <a:r>
              <a:rPr lang="cy-GB" dirty="0" smtClean="0"/>
              <a:t>Probability prediction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Regression 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penalizes confident wrong predictions heavily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Ensures </a:t>
            </a:r>
            <a:r>
              <a:rPr lang="cy-GB" dirty="0"/>
              <a:t>probability </a:t>
            </a:r>
            <a:r>
              <a:rPr lang="cy-GB" dirty="0" smtClean="0"/>
              <a:t>calibration.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loss measures classification probability accuracy.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47339047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33: Cross Entropy Loss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y-GB" dirty="0"/>
              <a:t>Cross Entropy is one of the most important loss functions in classification, deep learning, neural networks, logistic regression, and modern AI systems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Cross </a:t>
            </a:r>
            <a:r>
              <a:rPr lang="cy-GB" dirty="0"/>
              <a:t>Entropy Loss measures how different the predicted probabilities are from the actual true labels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It </a:t>
            </a:r>
            <a:r>
              <a:rPr lang="cy-GB" dirty="0"/>
              <a:t>measures how wrong the predicted probabilities are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prediction is perfect → loss =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prediction is wrong → loss = </a:t>
            </a:r>
            <a:r>
              <a:rPr lang="cy-GB" dirty="0" smtClean="0"/>
              <a:t>high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classification, models predict probabilities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Example: Spam </a:t>
            </a:r>
            <a:r>
              <a:rPr lang="cy-GB" dirty="0"/>
              <a:t>probability = </a:t>
            </a:r>
            <a:r>
              <a:rPr lang="cy-GB" dirty="0" smtClean="0"/>
              <a:t>0.9</a:t>
            </a:r>
          </a:p>
          <a:p>
            <a:pPr lvl="1"/>
            <a:r>
              <a:rPr lang="cy-GB" dirty="0" smtClean="0"/>
              <a:t>Actual </a:t>
            </a:r>
            <a:r>
              <a:rPr lang="cy-GB" dirty="0"/>
              <a:t>label = </a:t>
            </a:r>
            <a:r>
              <a:rPr lang="cy-GB" dirty="0" smtClean="0"/>
              <a:t>Spam</a:t>
            </a:r>
          </a:p>
          <a:p>
            <a:pPr lvl="1"/>
            <a:r>
              <a:rPr lang="cy-GB" dirty="0" smtClean="0"/>
              <a:t>We </a:t>
            </a:r>
            <a:r>
              <a:rPr lang="cy-GB" dirty="0"/>
              <a:t>need a loss function that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Measures probability </a:t>
            </a:r>
            <a:r>
              <a:rPr lang="cy-GB" dirty="0" smtClean="0"/>
              <a:t>accuracy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Penalizes wrong confident predictions </a:t>
            </a:r>
            <a:r>
              <a:rPr lang="cy-GB" dirty="0" smtClean="0"/>
              <a:t>heavily</a:t>
            </a:r>
          </a:p>
          <a:p>
            <a:pPr lvl="1"/>
            <a:r>
              <a:rPr lang="cy-GB" dirty="0" smtClean="0"/>
              <a:t>Cross </a:t>
            </a:r>
            <a:r>
              <a:rPr lang="cy-GB" dirty="0"/>
              <a:t>entropy does this perfectly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is used in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Logistic </a:t>
            </a:r>
            <a:r>
              <a:rPr lang="cy-GB" dirty="0" smtClean="0"/>
              <a:t>regression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Neural </a:t>
            </a:r>
            <a:r>
              <a:rPr lang="cy-GB" dirty="0" smtClean="0"/>
              <a:t>networks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Deep </a:t>
            </a:r>
            <a:r>
              <a:rPr lang="cy-GB" dirty="0" smtClean="0"/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378430545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a multiple-choice question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Correct </a:t>
            </a:r>
            <a:r>
              <a:rPr lang="cy-GB" dirty="0"/>
              <a:t>answer = </a:t>
            </a:r>
            <a:r>
              <a:rPr lang="cy-GB" dirty="0" smtClean="0"/>
              <a:t>A</a:t>
            </a:r>
          </a:p>
          <a:p>
            <a:pPr lvl="1"/>
            <a:r>
              <a:rPr lang="cy-GB" dirty="0" smtClean="0"/>
              <a:t>Student </a:t>
            </a:r>
            <a:r>
              <a:rPr lang="cy-GB" dirty="0"/>
              <a:t>prediction confidence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A </a:t>
            </a:r>
            <a:r>
              <a:rPr lang="cy-GB" dirty="0"/>
              <a:t>= 0.9 → good → low </a:t>
            </a:r>
            <a:r>
              <a:rPr lang="cy-GB" dirty="0" smtClean="0"/>
              <a:t>loss</a:t>
            </a:r>
          </a:p>
          <a:p>
            <a:pPr lvl="1"/>
            <a:r>
              <a:rPr lang="cy-GB" dirty="0" smtClean="0"/>
              <a:t>A </a:t>
            </a:r>
            <a:r>
              <a:rPr lang="cy-GB" dirty="0"/>
              <a:t>= 0.1 → bad → high </a:t>
            </a:r>
            <a:r>
              <a:rPr lang="cy-GB" dirty="0" smtClean="0"/>
              <a:t>loss</a:t>
            </a:r>
          </a:p>
          <a:p>
            <a:pPr lvl="1"/>
            <a:r>
              <a:rPr lang="cy-GB" dirty="0" smtClean="0"/>
              <a:t>Cross </a:t>
            </a:r>
            <a:r>
              <a:rPr lang="cy-GB" dirty="0"/>
              <a:t>entropy measures confidence correctness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</a:t>
            </a:r>
            <a:r>
              <a:rPr lang="cy-GB" dirty="0"/>
              <a:t>Formula (Binary Cross Entropy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𝐿𝑜𝑠𝑠</a:t>
            </a:r>
            <a:r>
              <a:rPr lang="cy-GB" dirty="0"/>
              <a:t>=−[𝑦log⁡(𝑦^)+(1−𝑦)log⁡(1−𝑦</a:t>
            </a:r>
            <a:r>
              <a:rPr lang="cy-GB" dirty="0" smtClean="0"/>
              <a:t>^)]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label (0 or 1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probability (between 0 and 1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log </a:t>
            </a:r>
            <a:r>
              <a:rPr lang="cy-GB" dirty="0"/>
              <a:t>= logarithmic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prediction matches actual label → loss </a:t>
            </a:r>
            <a:r>
              <a:rPr lang="cy-GB" dirty="0" smtClean="0"/>
              <a:t>small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prediction wrong → loss </a:t>
            </a:r>
            <a:r>
              <a:rPr lang="cy-GB" dirty="0" smtClean="0"/>
              <a:t>large</a:t>
            </a:r>
          </a:p>
          <a:p>
            <a:r>
              <a:rPr lang="cy-GB" dirty="0" smtClean="0"/>
              <a:t>Mathematical </a:t>
            </a:r>
            <a:r>
              <a:rPr lang="cy-GB" dirty="0"/>
              <a:t>Formula (Multiclass Cross Entropy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𝐿𝑜𝑠𝑠</a:t>
            </a:r>
            <a:r>
              <a:rPr lang="cy-GB" dirty="0"/>
              <a:t>=−∑𝑖=1𝐶𝑦𝑖log⁡(𝑦^𝑖</a:t>
            </a:r>
            <a:r>
              <a:rPr lang="cy-GB" dirty="0" smtClean="0"/>
              <a:t>)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140010985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Explanation </a:t>
            </a:r>
            <a:r>
              <a:rPr lang="cy-GB" dirty="0"/>
              <a:t>of symbols (Multiclass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C </a:t>
            </a:r>
            <a:r>
              <a:rPr lang="cy-GB" dirty="0"/>
              <a:t>= number of </a:t>
            </a:r>
            <a:r>
              <a:rPr lang="cy-GB" dirty="0" smtClean="0"/>
              <a:t>classes</a:t>
            </a:r>
          </a:p>
          <a:p>
            <a:pPr lvl="1"/>
            <a:r>
              <a:rPr lang="cy-GB" dirty="0" smtClean="0"/>
              <a:t>yi </a:t>
            </a:r>
            <a:r>
              <a:rPr lang="cy-GB" dirty="0"/>
              <a:t>= actual probability of class </a:t>
            </a:r>
            <a:r>
              <a:rPr lang="cy-GB" dirty="0" smtClean="0"/>
              <a:t>i</a:t>
            </a:r>
          </a:p>
          <a:p>
            <a:pPr lvl="1"/>
            <a:r>
              <a:rPr lang="cy-GB" dirty="0" smtClean="0"/>
              <a:t>ŷi </a:t>
            </a:r>
            <a:r>
              <a:rPr lang="cy-GB" dirty="0"/>
              <a:t>= predicted probability of class </a:t>
            </a:r>
            <a:r>
              <a:rPr lang="cy-GB" dirty="0" smtClean="0"/>
              <a:t>i</a:t>
            </a:r>
          </a:p>
          <a:p>
            <a:pPr lvl="1"/>
            <a:r>
              <a:rPr lang="cy-GB" dirty="0" smtClean="0"/>
              <a:t>Sum </a:t>
            </a:r>
            <a:r>
              <a:rPr lang="cy-GB" dirty="0"/>
              <a:t>calculates total loss across classes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predicted probability approaches correct label → loss approaches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predicted probability approaches wrong label → loss becomes very </a:t>
            </a:r>
            <a:r>
              <a:rPr lang="cy-GB" dirty="0" smtClean="0"/>
              <a:t>large</a:t>
            </a:r>
          </a:p>
          <a:p>
            <a:r>
              <a:rPr lang="cy-GB" dirty="0" smtClean="0"/>
              <a:t>Practical </a:t>
            </a:r>
            <a:r>
              <a:rPr lang="cy-GB" dirty="0"/>
              <a:t>example (Binary Classification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True </a:t>
            </a:r>
            <a:r>
              <a:rPr lang="cy-GB" dirty="0"/>
              <a:t>label:y = </a:t>
            </a:r>
            <a:r>
              <a:rPr lang="cy-GB" dirty="0" smtClean="0"/>
              <a:t>1</a:t>
            </a:r>
          </a:p>
          <a:p>
            <a:pPr lvl="1"/>
            <a:r>
              <a:rPr lang="cy-GB" dirty="0" smtClean="0"/>
              <a:t>Prediction </a:t>
            </a:r>
            <a:r>
              <a:rPr lang="cy-GB" dirty="0"/>
              <a:t>1</a:t>
            </a:r>
            <a:r>
              <a:rPr lang="cy-GB" dirty="0" smtClean="0"/>
              <a:t>: ŷ </a:t>
            </a:r>
            <a:r>
              <a:rPr lang="cy-GB" dirty="0"/>
              <a:t>= </a:t>
            </a:r>
            <a:r>
              <a:rPr lang="cy-GB" dirty="0" smtClean="0"/>
              <a:t>0.9</a:t>
            </a:r>
          </a:p>
          <a:p>
            <a:pPr lvl="2"/>
            <a:r>
              <a:rPr lang="cy-GB" dirty="0" smtClean="0"/>
              <a:t>𝐿𝑜𝑠𝑠</a:t>
            </a:r>
            <a:r>
              <a:rPr lang="cy-GB" dirty="0"/>
              <a:t>=−[1log⁡(0.9)]≈</a:t>
            </a:r>
            <a:r>
              <a:rPr lang="cy-GB" dirty="0" smtClean="0"/>
              <a:t>0.105</a:t>
            </a:r>
          </a:p>
          <a:p>
            <a:pPr lvl="2"/>
            <a:r>
              <a:rPr lang="cy-GB" dirty="0" smtClean="0"/>
              <a:t>Small </a:t>
            </a:r>
            <a:r>
              <a:rPr lang="cy-GB" dirty="0"/>
              <a:t>loss → good </a:t>
            </a:r>
            <a:r>
              <a:rPr lang="cy-GB" dirty="0" smtClean="0"/>
              <a:t>prediction</a:t>
            </a:r>
          </a:p>
          <a:p>
            <a:pPr lvl="1"/>
            <a:r>
              <a:rPr lang="cy-GB" dirty="0" smtClean="0"/>
              <a:t>Prediction </a:t>
            </a:r>
            <a:r>
              <a:rPr lang="cy-GB" dirty="0"/>
              <a:t>2</a:t>
            </a:r>
            <a:r>
              <a:rPr lang="cy-GB" dirty="0" smtClean="0"/>
              <a:t>: ŷ </a:t>
            </a:r>
            <a:r>
              <a:rPr lang="cy-GB" dirty="0"/>
              <a:t>= </a:t>
            </a:r>
            <a:r>
              <a:rPr lang="cy-GB" dirty="0" smtClean="0"/>
              <a:t>0.1</a:t>
            </a:r>
          </a:p>
          <a:p>
            <a:pPr lvl="2"/>
            <a:r>
              <a:rPr lang="cy-GB" dirty="0" smtClean="0"/>
              <a:t>𝐿𝑜𝑠𝑠</a:t>
            </a:r>
            <a:r>
              <a:rPr lang="cy-GB" dirty="0"/>
              <a:t>=−[1log⁡(0.1)]≈</a:t>
            </a:r>
            <a:r>
              <a:rPr lang="cy-GB" dirty="0" smtClean="0"/>
              <a:t>2.302</a:t>
            </a:r>
          </a:p>
          <a:p>
            <a:pPr lvl="2"/>
            <a:r>
              <a:rPr lang="cy-GB" dirty="0" smtClean="0"/>
              <a:t>Large </a:t>
            </a:r>
            <a:r>
              <a:rPr lang="cy-GB" dirty="0"/>
              <a:t>loss → bad </a:t>
            </a:r>
            <a:r>
              <a:rPr lang="cy-GB" dirty="0" smtClean="0"/>
              <a:t>prediction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124325375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0000" lnSpcReduction="20000"/>
          </a:bodyPr>
          <a:lstStyle/>
          <a:p>
            <a:r>
              <a:rPr lang="cy-GB" dirty="0" smtClean="0"/>
              <a:t>Types </a:t>
            </a:r>
            <a:r>
              <a:rPr lang="cy-GB" dirty="0"/>
              <a:t>of Cross </a:t>
            </a:r>
            <a:r>
              <a:rPr lang="cy-GB" dirty="0" smtClean="0"/>
              <a:t>Entropy</a:t>
            </a:r>
          </a:p>
          <a:p>
            <a:pPr lvl="1"/>
            <a:r>
              <a:rPr lang="cy-GB" dirty="0" smtClean="0"/>
              <a:t>Binary </a:t>
            </a:r>
            <a:r>
              <a:rPr lang="cy-GB" dirty="0"/>
              <a:t>Cross </a:t>
            </a:r>
            <a:r>
              <a:rPr lang="cy-GB" dirty="0" smtClean="0"/>
              <a:t>Entropy: Used </a:t>
            </a:r>
            <a:r>
              <a:rPr lang="cy-GB" dirty="0"/>
              <a:t>in binary </a:t>
            </a:r>
            <a:r>
              <a:rPr lang="cy-GB" dirty="0" smtClean="0"/>
              <a:t>classification</a:t>
            </a:r>
          </a:p>
          <a:p>
            <a:pPr lvl="1"/>
            <a:r>
              <a:rPr lang="cy-GB" dirty="0" smtClean="0"/>
              <a:t>Categorical </a:t>
            </a:r>
            <a:r>
              <a:rPr lang="cy-GB" dirty="0"/>
              <a:t>Cross </a:t>
            </a:r>
            <a:r>
              <a:rPr lang="cy-GB" dirty="0" smtClean="0"/>
              <a:t>Entropy: Used </a:t>
            </a:r>
            <a:r>
              <a:rPr lang="cy-GB" dirty="0"/>
              <a:t>in multiclass </a:t>
            </a:r>
            <a:r>
              <a:rPr lang="cy-GB" dirty="0" smtClean="0"/>
              <a:t>classification</a:t>
            </a:r>
          </a:p>
          <a:p>
            <a:pPr lvl="1"/>
            <a:r>
              <a:rPr lang="cy-GB" dirty="0" smtClean="0"/>
              <a:t>Sparse </a:t>
            </a:r>
            <a:r>
              <a:rPr lang="cy-GB" dirty="0"/>
              <a:t>Categorical Cross </a:t>
            </a:r>
            <a:r>
              <a:rPr lang="cy-GB" dirty="0" smtClean="0"/>
              <a:t>Entropy: Used </a:t>
            </a:r>
            <a:r>
              <a:rPr lang="cy-GB" dirty="0"/>
              <a:t>when labels are </a:t>
            </a:r>
            <a:r>
              <a:rPr lang="cy-GB" dirty="0" smtClean="0"/>
              <a:t>integers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Works </a:t>
            </a:r>
            <a:r>
              <a:rPr lang="cy-GB" dirty="0"/>
              <a:t>perfectly with probability </a:t>
            </a:r>
            <a:r>
              <a:rPr lang="cy-GB" dirty="0" smtClean="0"/>
              <a:t>outputs</a:t>
            </a:r>
          </a:p>
          <a:p>
            <a:pPr lvl="1"/>
            <a:r>
              <a:rPr lang="cy-GB" dirty="0" smtClean="0"/>
              <a:t>Penalizes </a:t>
            </a:r>
            <a:r>
              <a:rPr lang="cy-GB" dirty="0"/>
              <a:t>wrong confident predictions </a:t>
            </a:r>
            <a:r>
              <a:rPr lang="cy-GB" dirty="0" smtClean="0"/>
              <a:t>heavily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 (easy optimization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Used </a:t>
            </a:r>
            <a:r>
              <a:rPr lang="cy-GB" dirty="0"/>
              <a:t>in deep </a:t>
            </a:r>
            <a:r>
              <a:rPr lang="cy-GB" dirty="0" smtClean="0"/>
              <a:t>learning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Sensitive </a:t>
            </a:r>
            <a:r>
              <a:rPr lang="cy-GB" dirty="0"/>
              <a:t>to incorrect </a:t>
            </a:r>
            <a:r>
              <a:rPr lang="cy-GB" dirty="0" smtClean="0"/>
              <a:t>labels</a:t>
            </a:r>
          </a:p>
          <a:p>
            <a:pPr lvl="1"/>
            <a:r>
              <a:rPr lang="cy-GB" dirty="0" smtClean="0"/>
              <a:t>Harder </a:t>
            </a:r>
            <a:r>
              <a:rPr lang="cy-GB" dirty="0"/>
              <a:t>to understand intuitively than </a:t>
            </a:r>
            <a:r>
              <a:rPr lang="cy-GB" dirty="0" smtClean="0"/>
              <a:t>MSE</a:t>
            </a:r>
          </a:p>
          <a:p>
            <a:pPr lvl="1"/>
            <a:r>
              <a:rPr lang="cy-GB" dirty="0" smtClean="0"/>
              <a:t>Requires </a:t>
            </a:r>
            <a:r>
              <a:rPr lang="cy-GB" dirty="0"/>
              <a:t>probability </a:t>
            </a:r>
            <a:r>
              <a:rPr lang="cy-GB" dirty="0" smtClean="0"/>
              <a:t>outputs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Binary classification</a:t>
            </a:r>
          </a:p>
          <a:p>
            <a:pPr lvl="1"/>
            <a:r>
              <a:rPr lang="cy-GB" dirty="0" smtClean="0"/>
              <a:t>Multiclass classification</a:t>
            </a:r>
          </a:p>
          <a:p>
            <a:pPr lvl="1"/>
            <a:r>
              <a:rPr lang="cy-GB" dirty="0" smtClean="0"/>
              <a:t>Logistic regression</a:t>
            </a:r>
          </a:p>
          <a:p>
            <a:pPr lvl="1"/>
            <a:r>
              <a:rPr lang="cy-GB" dirty="0" smtClean="0"/>
              <a:t>Neural networks</a:t>
            </a:r>
          </a:p>
          <a:p>
            <a:pPr lvl="1"/>
            <a:r>
              <a:rPr lang="cy-GB" dirty="0" smtClean="0"/>
              <a:t>Deep learning</a:t>
            </a:r>
          </a:p>
          <a:p>
            <a:pPr lvl="1"/>
            <a:r>
              <a:rPr lang="cy-GB" dirty="0" smtClean="0"/>
              <a:t>Softmax </a:t>
            </a:r>
            <a:r>
              <a:rPr lang="cy-GB" dirty="0"/>
              <a:t>output </a:t>
            </a:r>
            <a:r>
              <a:rPr lang="cy-GB" dirty="0" smtClean="0"/>
              <a:t>layer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4163902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Cross </a:t>
            </a:r>
            <a:r>
              <a:rPr lang="cy-GB" dirty="0"/>
              <a:t>entropy comes from Information Theory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measures information difference between distributions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Mathematically</a:t>
            </a:r>
            <a:r>
              <a:rPr lang="cy-GB" dirty="0"/>
              <a:t>:𝐻(𝑝,𝑞)=−∑𝑝(𝑥)log⁡𝑞(𝑥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Where: p(x</a:t>
            </a:r>
            <a:r>
              <a:rPr lang="cy-GB" dirty="0"/>
              <a:t>) = true </a:t>
            </a:r>
            <a:r>
              <a:rPr lang="cy-GB" dirty="0" smtClean="0"/>
              <a:t>distribution, q(x</a:t>
            </a:r>
            <a:r>
              <a:rPr lang="cy-GB" dirty="0"/>
              <a:t>) = predicted </a:t>
            </a:r>
            <a:r>
              <a:rPr lang="cy-GB" dirty="0" smtClean="0"/>
              <a:t>distribution</a:t>
            </a:r>
          </a:p>
          <a:p>
            <a:pPr lvl="1"/>
            <a:r>
              <a:rPr lang="cy-GB" dirty="0" smtClean="0"/>
              <a:t>Goal </a:t>
            </a:r>
            <a:r>
              <a:rPr lang="cy-GB" dirty="0"/>
              <a:t>of ML</a:t>
            </a:r>
            <a:r>
              <a:rPr lang="cy-GB" dirty="0" smtClean="0"/>
              <a:t>: Make </a:t>
            </a:r>
            <a:r>
              <a:rPr lang="cy-GB" dirty="0"/>
              <a:t>predicted distribution match true distribution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minimizes cross entropy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Relationship </a:t>
            </a:r>
            <a:r>
              <a:rPr lang="cy-GB" dirty="0"/>
              <a:t>with Logistic </a:t>
            </a:r>
            <a:r>
              <a:rPr lang="cy-GB" dirty="0" smtClean="0"/>
              <a:t>Regression</a:t>
            </a:r>
          </a:p>
          <a:p>
            <a:pPr lvl="1"/>
            <a:r>
              <a:rPr lang="cy-GB" dirty="0" smtClean="0"/>
              <a:t>Logistic </a:t>
            </a:r>
            <a:r>
              <a:rPr lang="cy-GB" dirty="0"/>
              <a:t>regression uses cross entropy as loss function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𝐿𝑜𝑠𝑠</a:t>
            </a:r>
            <a:r>
              <a:rPr lang="cy-GB" dirty="0"/>
              <a:t>=−[𝑦log⁡(𝑝)+(1−𝑦)log⁡(1−𝑝</a:t>
            </a:r>
            <a:r>
              <a:rPr lang="cy-GB" dirty="0" smtClean="0"/>
              <a:t>)]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allows proper probability learning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Cross </a:t>
            </a:r>
            <a:r>
              <a:rPr lang="cy-GB" dirty="0"/>
              <a:t>entropy measures difference between predicted and true probabilities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is the most important loss function in classification and deep learning.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6927425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34: Gradient Descent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y-GB" dirty="0"/>
              <a:t>Gradient Descent is the most important optimization algorithm in all of Machine Learning and Deep Learning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Every </a:t>
            </a:r>
            <a:r>
              <a:rPr lang="cy-GB" dirty="0"/>
              <a:t>major ML model uses gradient descent or its variants to learn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is an algorithm used to minimize the loss function by adjusting model parameters step by step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Gradient </a:t>
            </a:r>
            <a:r>
              <a:rPr lang="cy-GB" dirty="0"/>
              <a:t>Descent helps the model find the best parameters that give the lowest error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models have parameters (weights</a:t>
            </a:r>
            <a:r>
              <a:rPr lang="cy-GB" dirty="0" smtClean="0"/>
              <a:t>).</a:t>
            </a:r>
          </a:p>
          <a:p>
            <a:pPr lvl="1"/>
            <a:r>
              <a:rPr lang="cy-GB" dirty="0" smtClean="0"/>
              <a:t>These </a:t>
            </a:r>
            <a:r>
              <a:rPr lang="cy-GB" dirty="0"/>
              <a:t>parameters determine prediction accuracy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We </a:t>
            </a:r>
            <a:r>
              <a:rPr lang="cy-GB" dirty="0"/>
              <a:t>need a systematic method to find the best parameters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does this by minimizing loss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044838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standing on a mountain in fog and trying to reach the lowest point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You </a:t>
            </a:r>
            <a:r>
              <a:rPr lang="cy-GB" dirty="0"/>
              <a:t>cannot see far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So </a:t>
            </a:r>
            <a:r>
              <a:rPr lang="cy-GB" dirty="0"/>
              <a:t>you take small steps downward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Eventually</a:t>
            </a:r>
            <a:r>
              <a:rPr lang="cy-GB" dirty="0"/>
              <a:t>, you reach the bottom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works exactly like this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update rule:𝑤=𝑤−𝛼∂</a:t>
            </a:r>
            <a:r>
              <a:rPr lang="cy-GB" dirty="0" smtClean="0"/>
              <a:t>𝐿/∂𝑤</a:t>
            </a:r>
            <a:r>
              <a:rPr lang="cy-GB" dirty="0"/>
              <a:t>	</a:t>
            </a:r>
            <a:r>
              <a:rPr lang="cy-GB" dirty="0" smtClean="0"/>
              <a:t>​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w </a:t>
            </a:r>
            <a:r>
              <a:rPr lang="cy-GB" dirty="0"/>
              <a:t>= model parameter (weight</a:t>
            </a:r>
            <a:r>
              <a:rPr lang="cy-GB" dirty="0" smtClean="0"/>
              <a:t>)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(</a:t>
            </a:r>
            <a:r>
              <a:rPr lang="cy-GB" dirty="0"/>
              <a:t>alpha) = learning </a:t>
            </a:r>
            <a:r>
              <a:rPr lang="cy-GB" dirty="0" smtClean="0"/>
              <a:t>rate</a:t>
            </a:r>
          </a:p>
          <a:p>
            <a:pPr lvl="1"/>
            <a:r>
              <a:rPr lang="cy-GB" dirty="0" smtClean="0"/>
              <a:t>L </a:t>
            </a:r>
            <a:r>
              <a:rPr lang="cy-GB" dirty="0"/>
              <a:t>= loss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∂</a:t>
            </a:r>
            <a:r>
              <a:rPr lang="cy-GB" dirty="0"/>
              <a:t>L/∂w = gradient (slope of loss function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tells direction of steepest increase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Subtracting </a:t>
            </a:r>
            <a:r>
              <a:rPr lang="cy-GB" dirty="0"/>
              <a:t>gradient moves toward minimum</a:t>
            </a:r>
            <a:r>
              <a:rPr lang="cy-GB" dirty="0" smtClean="0"/>
              <a:t>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10163211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Visual </a:t>
            </a:r>
            <a:r>
              <a:rPr lang="cy-GB" dirty="0"/>
              <a:t>explanation (CRITICAL DIAGRAM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Gradient descent moving toward </a:t>
            </a:r>
            <a:r>
              <a:rPr lang="cy-GB" dirty="0" smtClean="0"/>
              <a:t>minimum</a:t>
            </a:r>
          </a:p>
          <a:p>
            <a:pPr lvl="1"/>
            <a:r>
              <a:rPr lang="cy-GB" dirty="0" smtClean="0"/>
              <a:t>Explanation:Ball </a:t>
            </a:r>
            <a:r>
              <a:rPr lang="cy-GB" dirty="0"/>
              <a:t>rolls downhill toward minimum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Each </a:t>
            </a:r>
            <a:r>
              <a:rPr lang="cy-GB" dirty="0"/>
              <a:t>step reduces loss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loss function</a:t>
            </a:r>
            <a:r>
              <a:rPr lang="cy-GB" dirty="0" smtClean="0"/>
              <a:t>: 𝐿</a:t>
            </a:r>
            <a:r>
              <a:rPr lang="cy-GB" dirty="0"/>
              <a:t>(𝑤)=(𝑤−</a:t>
            </a:r>
            <a:r>
              <a:rPr lang="cy-GB" dirty="0" smtClean="0"/>
              <a:t>5)^2</a:t>
            </a:r>
          </a:p>
          <a:p>
            <a:pPr lvl="1"/>
            <a:r>
              <a:rPr lang="cy-GB" dirty="0" smtClean="0"/>
              <a:t>Goal</a:t>
            </a:r>
            <a:r>
              <a:rPr lang="cy-GB" dirty="0"/>
              <a:t>: find w that minimizes loss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Gradient: 𝑑𝐿/𝑑𝑤</a:t>
            </a:r>
            <a:r>
              <a:rPr lang="cy-GB" dirty="0"/>
              <a:t>=2(𝑤−</a:t>
            </a:r>
            <a:r>
              <a:rPr lang="cy-GB" dirty="0" smtClean="0"/>
              <a:t>5)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adjusts w until w = 5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 </a:t>
            </a:r>
            <a:r>
              <a:rPr lang="cy-GB" dirty="0"/>
              <a:t>of </a:t>
            </a:r>
            <a:r>
              <a:rPr lang="cy-GB" dirty="0" smtClean="0"/>
              <a:t>GradientDescent</a:t>
            </a:r>
          </a:p>
          <a:p>
            <a:pPr lvl="1"/>
            <a:r>
              <a:rPr lang="cy-GB" dirty="0" smtClean="0"/>
              <a:t>Batch </a:t>
            </a:r>
            <a:r>
              <a:rPr lang="cy-GB" dirty="0"/>
              <a:t>Gradient </a:t>
            </a:r>
            <a:r>
              <a:rPr lang="cy-GB" dirty="0" smtClean="0"/>
              <a:t>Descent: Uses </a:t>
            </a:r>
            <a:r>
              <a:rPr lang="cy-GB" dirty="0"/>
              <a:t>entire </a:t>
            </a:r>
            <a:r>
              <a:rPr lang="cy-GB" dirty="0" smtClean="0"/>
              <a:t>dataset</a:t>
            </a:r>
          </a:p>
          <a:p>
            <a:pPr lvl="1"/>
            <a:r>
              <a:rPr lang="cy-GB" dirty="0" smtClean="0"/>
              <a:t>Stochastic </a:t>
            </a:r>
            <a:r>
              <a:rPr lang="cy-GB" dirty="0"/>
              <a:t>Gradient Descent (SGD</a:t>
            </a:r>
            <a:r>
              <a:rPr lang="cy-GB" dirty="0" smtClean="0"/>
              <a:t>): Uses </a:t>
            </a:r>
            <a:r>
              <a:rPr lang="cy-GB" dirty="0"/>
              <a:t>one data point at a </a:t>
            </a:r>
            <a:r>
              <a:rPr lang="cy-GB" dirty="0" smtClean="0"/>
              <a:t>time</a:t>
            </a:r>
          </a:p>
          <a:p>
            <a:pPr lvl="1"/>
            <a:r>
              <a:rPr lang="cy-GB" dirty="0" smtClean="0"/>
              <a:t>Mini-batch </a:t>
            </a:r>
            <a:r>
              <a:rPr lang="cy-GB" dirty="0"/>
              <a:t>Gradient </a:t>
            </a:r>
            <a:r>
              <a:rPr lang="cy-GB" dirty="0" smtClean="0"/>
              <a:t>Descent: Uses </a:t>
            </a:r>
            <a:r>
              <a:rPr lang="cy-GB" dirty="0"/>
              <a:t>small batch of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Mini-batch </a:t>
            </a:r>
            <a:r>
              <a:rPr lang="cy-GB" dirty="0"/>
              <a:t>is most commonly used.</a:t>
            </a:r>
          </a:p>
          <a:p>
            <a:pPr marL="457200" lvl="1" indent="0">
              <a:buNone/>
            </a:pPr>
            <a:endParaRPr lang="cy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232" b="1"/>
          <a:stretch/>
        </p:blipFill>
        <p:spPr>
          <a:xfrm>
            <a:off x="7154125" y="1719287"/>
            <a:ext cx="5037875" cy="305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9760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Works </a:t>
            </a:r>
            <a:r>
              <a:rPr lang="cy-GB" dirty="0"/>
              <a:t>for large </a:t>
            </a:r>
            <a:r>
              <a:rPr lang="cy-GB" dirty="0" smtClean="0"/>
              <a:t>problems</a:t>
            </a:r>
          </a:p>
          <a:p>
            <a:pPr lvl="1"/>
            <a:r>
              <a:rPr lang="cy-GB" dirty="0" smtClean="0"/>
              <a:t>Guaranteed </a:t>
            </a:r>
            <a:r>
              <a:rPr lang="cy-GB" dirty="0"/>
              <a:t>convergence for convex </a:t>
            </a:r>
            <a:r>
              <a:rPr lang="cy-GB" dirty="0" smtClean="0"/>
              <a:t>functions</a:t>
            </a:r>
          </a:p>
          <a:p>
            <a:pPr lvl="1"/>
            <a:r>
              <a:rPr lang="cy-GB" dirty="0" smtClean="0"/>
              <a:t>Foundation </a:t>
            </a:r>
            <a:r>
              <a:rPr lang="cy-GB" dirty="0"/>
              <a:t>of deep </a:t>
            </a:r>
            <a:r>
              <a:rPr lang="cy-GB" dirty="0" smtClean="0"/>
              <a:t>learning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May </a:t>
            </a:r>
            <a:r>
              <a:rPr lang="cy-GB" dirty="0"/>
              <a:t>get stuck in local </a:t>
            </a:r>
            <a:r>
              <a:rPr lang="cy-GB" dirty="0" smtClean="0"/>
              <a:t>minima</a:t>
            </a:r>
          </a:p>
          <a:p>
            <a:pPr lvl="1"/>
            <a:r>
              <a:rPr lang="cy-GB" dirty="0" smtClean="0"/>
              <a:t>Slow </a:t>
            </a:r>
            <a:r>
              <a:rPr lang="cy-GB" dirty="0"/>
              <a:t>convergence </a:t>
            </a:r>
            <a:r>
              <a:rPr lang="cy-GB" dirty="0" smtClean="0"/>
              <a:t>sometimes</a:t>
            </a:r>
          </a:p>
          <a:p>
            <a:pPr lvl="1"/>
            <a:r>
              <a:rPr lang="cy-GB" dirty="0" smtClean="0"/>
              <a:t>Requires </a:t>
            </a:r>
            <a:r>
              <a:rPr lang="cy-GB" dirty="0"/>
              <a:t>learning rate </a:t>
            </a:r>
            <a:r>
              <a:rPr lang="cy-GB" dirty="0" smtClean="0"/>
              <a:t>tuning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Training </a:t>
            </a:r>
            <a:r>
              <a:rPr lang="cy-GB" dirty="0"/>
              <a:t>ML </a:t>
            </a:r>
            <a:r>
              <a:rPr lang="cy-GB" dirty="0" smtClean="0"/>
              <a:t>models</a:t>
            </a:r>
          </a:p>
          <a:p>
            <a:pPr lvl="1"/>
            <a:r>
              <a:rPr lang="cy-GB" dirty="0" smtClean="0"/>
              <a:t>Neural networks</a:t>
            </a:r>
          </a:p>
          <a:p>
            <a:pPr lvl="1"/>
            <a:r>
              <a:rPr lang="cy-GB" dirty="0" smtClean="0"/>
              <a:t>Regression</a:t>
            </a:r>
          </a:p>
          <a:p>
            <a:pPr lvl="1"/>
            <a:r>
              <a:rPr lang="cy-GB" dirty="0" smtClean="0"/>
              <a:t>Classification</a:t>
            </a:r>
          </a:p>
          <a:p>
            <a:pPr lvl="1"/>
            <a:r>
              <a:rPr lang="cy-GB" dirty="0" smtClean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34719723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When </a:t>
            </a:r>
            <a:r>
              <a:rPr lang="cy-GB" dirty="0"/>
              <a:t>analytical solution exists (rare</a:t>
            </a:r>
            <a:r>
              <a:rPr lang="cy-GB" dirty="0" smtClean="0"/>
              <a:t>)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is vector of partial derivatives</a:t>
            </a:r>
            <a:r>
              <a:rPr lang="cy-GB" dirty="0" smtClean="0"/>
              <a:t>: ∇</a:t>
            </a:r>
            <a:r>
              <a:rPr lang="cy-GB" dirty="0"/>
              <a:t>𝐿=(∂</a:t>
            </a:r>
            <a:r>
              <a:rPr lang="cy-GB" dirty="0" smtClean="0"/>
              <a:t>𝐿/∂</a:t>
            </a:r>
            <a:r>
              <a:rPr lang="cy-GB" dirty="0"/>
              <a:t>𝑤1,∂</a:t>
            </a:r>
            <a:r>
              <a:rPr lang="cy-GB" dirty="0" smtClean="0"/>
              <a:t>𝐿/∂</a:t>
            </a:r>
            <a:r>
              <a:rPr lang="cy-GB" dirty="0"/>
              <a:t>𝑤2</a:t>
            </a:r>
            <a:r>
              <a:rPr lang="cy-GB" dirty="0" smtClean="0"/>
              <a:t>,...)</a:t>
            </a:r>
          </a:p>
          <a:p>
            <a:pPr lvl="1"/>
            <a:r>
              <a:rPr lang="cy-GB" dirty="0" smtClean="0"/>
              <a:t>Update </a:t>
            </a:r>
            <a:r>
              <a:rPr lang="cy-GB" dirty="0"/>
              <a:t>rule:𝑤=𝑤−𝛼∇</a:t>
            </a:r>
            <a:r>
              <a:rPr lang="cy-GB" dirty="0" smtClean="0"/>
              <a:t>𝐿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moves parameters toward minimum loss</a:t>
            </a:r>
            <a:r>
              <a:rPr lang="cy-GB" dirty="0" smtClean="0"/>
              <a:t>.</a:t>
            </a:r>
          </a:p>
          <a:p>
            <a:r>
              <a:rPr lang="cy-GB" dirty="0" smtClean="0"/>
              <a:t>Convergence concept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repeats until</a:t>
            </a:r>
            <a:r>
              <a:rPr lang="cy-GB" dirty="0" smtClean="0"/>
              <a:t>: ∂𝐿/∂</a:t>
            </a:r>
            <a:r>
              <a:rPr lang="cy-GB" dirty="0"/>
              <a:t>𝑤≈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means minimum reached</a:t>
            </a:r>
            <a:r>
              <a:rPr lang="cy-GB" dirty="0" smtClean="0"/>
              <a:t>.</a:t>
            </a:r>
          </a:p>
          <a:p>
            <a:r>
              <a:rPr lang="cy-GB" dirty="0" smtClean="0"/>
              <a:t>Key </a:t>
            </a:r>
            <a:r>
              <a:rPr lang="cy-GB" dirty="0"/>
              <a:t>intuition </a:t>
            </a:r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= direction of steepest </a:t>
            </a:r>
            <a:r>
              <a:rPr lang="cy-GB" dirty="0" smtClean="0"/>
              <a:t>increase</a:t>
            </a:r>
          </a:p>
          <a:p>
            <a:pPr lvl="1"/>
            <a:r>
              <a:rPr lang="cy-GB" dirty="0" smtClean="0"/>
              <a:t>Negative </a:t>
            </a:r>
            <a:r>
              <a:rPr lang="cy-GB" dirty="0"/>
              <a:t>gradient = direction of steepest </a:t>
            </a:r>
            <a:r>
              <a:rPr lang="cy-GB" dirty="0" smtClean="0"/>
              <a:t>decrease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moves toward minimum loss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minimizes loss function step-by-step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is the foundation of ML and Deep Learning optimization.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238835067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TOPIC 35: 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Learning rate is one of the most critical hyperparameters in machine learning optimization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It </a:t>
            </a:r>
            <a:r>
              <a:rPr lang="cy-GB" dirty="0"/>
              <a:t>directly controls how fast or slow the model learns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 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is a hyperparameter that determines how big a step the model takes while updating parameters during gradient descent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Learning </a:t>
            </a:r>
            <a:r>
              <a:rPr lang="cy-GB" dirty="0"/>
              <a:t>rate controls how fast the model learns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existsGradient descent updates parameters step-by-step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controls step size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step size is too big → model may overshoot minimum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step size is too small → learning becomes very slow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287000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walking downhill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Large </a:t>
            </a:r>
            <a:r>
              <a:rPr lang="cy-GB" dirty="0"/>
              <a:t>steps → may miss lowest point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Small </a:t>
            </a:r>
            <a:r>
              <a:rPr lang="cy-GB" dirty="0"/>
              <a:t>steps → slow but precise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controls step size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update rule:𝑤=𝑤−𝛼∇</a:t>
            </a:r>
            <a:r>
              <a:rPr lang="cy-GB" dirty="0" smtClean="0"/>
              <a:t>𝐿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w </a:t>
            </a:r>
            <a:r>
              <a:rPr lang="cy-GB" dirty="0"/>
              <a:t>= model </a:t>
            </a:r>
            <a:r>
              <a:rPr lang="cy-GB" dirty="0" smtClean="0"/>
              <a:t>parameter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(</a:t>
            </a:r>
            <a:r>
              <a:rPr lang="cy-GB" dirty="0" smtClean="0"/>
              <a:t>alpha</a:t>
            </a:r>
            <a:r>
              <a:rPr lang="cy-GB" dirty="0"/>
              <a:t>) = learning </a:t>
            </a:r>
            <a:r>
              <a:rPr lang="cy-GB" dirty="0" smtClean="0"/>
              <a:t>rate</a:t>
            </a:r>
          </a:p>
          <a:p>
            <a:pPr lvl="1"/>
            <a:r>
              <a:rPr lang="cy-GB" dirty="0" smtClean="0"/>
              <a:t>∇</a:t>
            </a:r>
            <a:r>
              <a:rPr lang="cy-GB" dirty="0"/>
              <a:t>L = </a:t>
            </a:r>
            <a:r>
              <a:rPr lang="cy-GB" dirty="0" smtClean="0"/>
              <a:t>gradient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multiplies gradient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Controls </a:t>
            </a:r>
            <a:r>
              <a:rPr lang="cy-GB" dirty="0"/>
              <a:t>update size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551473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Explanation: </a:t>
            </a:r>
          </a:p>
          <a:p>
            <a:pPr lvl="1"/>
            <a:r>
              <a:rPr lang="cy-GB" dirty="0" smtClean="0"/>
              <a:t>Small </a:t>
            </a:r>
            <a:r>
              <a:rPr lang="cy-GB" dirty="0"/>
              <a:t>learning rate → slow </a:t>
            </a:r>
            <a:r>
              <a:rPr lang="cy-GB" dirty="0" smtClean="0"/>
              <a:t>convergence</a:t>
            </a:r>
          </a:p>
          <a:p>
            <a:pPr lvl="1"/>
            <a:r>
              <a:rPr lang="cy-GB" dirty="0" smtClean="0"/>
              <a:t>Optimal </a:t>
            </a:r>
            <a:r>
              <a:rPr lang="cy-GB" dirty="0"/>
              <a:t>learning rate → fast </a:t>
            </a:r>
            <a:r>
              <a:rPr lang="cy-GB" dirty="0" smtClean="0"/>
              <a:t>convergence</a:t>
            </a:r>
          </a:p>
          <a:p>
            <a:pPr lvl="1"/>
            <a:r>
              <a:rPr lang="cy-GB" dirty="0" smtClean="0"/>
              <a:t>Large </a:t>
            </a:r>
            <a:r>
              <a:rPr lang="cy-GB" dirty="0"/>
              <a:t>learning rate → </a:t>
            </a:r>
            <a:r>
              <a:rPr lang="cy-GB" dirty="0" smtClean="0"/>
              <a:t>overshooting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gradient = </a:t>
            </a:r>
            <a:r>
              <a:rPr lang="cy-GB" dirty="0" smtClean="0"/>
              <a:t>10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= </a:t>
            </a:r>
            <a:r>
              <a:rPr lang="cy-GB" dirty="0" smtClean="0"/>
              <a:t>0.1</a:t>
            </a:r>
          </a:p>
          <a:p>
            <a:pPr lvl="1"/>
            <a:r>
              <a:rPr lang="cy-GB" dirty="0" smtClean="0"/>
              <a:t>Update</a:t>
            </a:r>
            <a:r>
              <a:rPr lang="cy-GB" dirty="0"/>
              <a:t>:𝑤=𝑤−</a:t>
            </a:r>
            <a:r>
              <a:rPr lang="cy-GB" dirty="0" smtClean="0"/>
              <a:t>1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= </a:t>
            </a:r>
            <a:r>
              <a:rPr lang="cy-GB" dirty="0" smtClean="0"/>
              <a:t>0.001</a:t>
            </a:r>
          </a:p>
          <a:p>
            <a:pPr lvl="1"/>
            <a:r>
              <a:rPr lang="cy-GB" dirty="0" smtClean="0"/>
              <a:t>Update</a:t>
            </a:r>
            <a:r>
              <a:rPr lang="cy-GB" dirty="0"/>
              <a:t>:𝑤=𝑤−</a:t>
            </a:r>
            <a:r>
              <a:rPr lang="cy-GB" dirty="0" smtClean="0"/>
              <a:t>0.01</a:t>
            </a:r>
          </a:p>
          <a:p>
            <a:pPr lvl="1"/>
            <a:r>
              <a:rPr lang="cy-GB" dirty="0" smtClean="0"/>
              <a:t>Smaller </a:t>
            </a:r>
            <a:r>
              <a:rPr lang="cy-GB" dirty="0"/>
              <a:t>update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Constant </a:t>
            </a:r>
            <a:r>
              <a:rPr lang="cy-GB" dirty="0"/>
              <a:t>learning </a:t>
            </a:r>
            <a:r>
              <a:rPr lang="cy-GB" dirty="0" smtClean="0"/>
              <a:t>rate</a:t>
            </a:r>
          </a:p>
          <a:p>
            <a:pPr lvl="1"/>
            <a:r>
              <a:rPr lang="cy-GB" dirty="0" smtClean="0"/>
              <a:t>Adaptive </a:t>
            </a:r>
            <a:r>
              <a:rPr lang="cy-GB" dirty="0"/>
              <a:t>learning </a:t>
            </a:r>
            <a:r>
              <a:rPr lang="cy-GB" dirty="0" smtClean="0"/>
              <a:t>rate</a:t>
            </a:r>
          </a:p>
          <a:p>
            <a:pPr lvl="1"/>
            <a:r>
              <a:rPr lang="cy-GB" dirty="0" smtClean="0"/>
              <a:t>Examples:Adam optimizer, RMSProp</a:t>
            </a:r>
          </a:p>
        </p:txBody>
      </p:sp>
    </p:spTree>
    <p:extLst>
      <p:ext uri="{BB962C8B-B14F-4D97-AF65-F5344CB8AC3E}">
        <p14:creationId xmlns:p14="http://schemas.microsoft.com/office/powerpoint/2010/main" val="345426946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Advantages </a:t>
            </a:r>
            <a:r>
              <a:rPr lang="cy-GB" dirty="0"/>
              <a:t>of proper learning </a:t>
            </a:r>
            <a:r>
              <a:rPr lang="cy-GB" dirty="0" smtClean="0"/>
              <a:t>rate</a:t>
            </a:r>
          </a:p>
          <a:p>
            <a:pPr lvl="1"/>
            <a:r>
              <a:rPr lang="cy-GB" dirty="0" smtClean="0"/>
              <a:t>Faster training</a:t>
            </a:r>
          </a:p>
          <a:p>
            <a:pPr lvl="1"/>
            <a:r>
              <a:rPr lang="cy-GB" dirty="0" smtClean="0"/>
              <a:t>Better convergence</a:t>
            </a:r>
          </a:p>
          <a:p>
            <a:pPr lvl="1"/>
            <a:r>
              <a:rPr lang="cy-GB" dirty="0" smtClean="0"/>
              <a:t>Stable learning</a:t>
            </a:r>
          </a:p>
          <a:p>
            <a:r>
              <a:rPr lang="cy-GB" dirty="0" smtClean="0"/>
              <a:t>Disadvantages </a:t>
            </a:r>
            <a:r>
              <a:rPr lang="cy-GB" dirty="0"/>
              <a:t>of improper learning </a:t>
            </a:r>
            <a:r>
              <a:rPr lang="cy-GB" dirty="0" smtClean="0"/>
              <a:t>rate</a:t>
            </a:r>
          </a:p>
          <a:p>
            <a:pPr lvl="1"/>
            <a:r>
              <a:rPr lang="cy-GB" dirty="0" smtClean="0"/>
              <a:t>Too </a:t>
            </a:r>
            <a:r>
              <a:rPr lang="cy-GB" dirty="0"/>
              <a:t>large → </a:t>
            </a:r>
            <a:r>
              <a:rPr lang="cy-GB" dirty="0" smtClean="0"/>
              <a:t>divergence</a:t>
            </a:r>
          </a:p>
          <a:p>
            <a:pPr lvl="1"/>
            <a:r>
              <a:rPr lang="cy-GB" dirty="0" smtClean="0"/>
              <a:t>Too </a:t>
            </a:r>
            <a:r>
              <a:rPr lang="cy-GB" dirty="0"/>
              <a:t>small → slow </a:t>
            </a:r>
            <a:r>
              <a:rPr lang="cy-GB" dirty="0" smtClean="0"/>
              <a:t>learning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Always </a:t>
            </a:r>
            <a:r>
              <a:rPr lang="cy-GB" dirty="0"/>
              <a:t>used in gradient </a:t>
            </a:r>
            <a:r>
              <a:rPr lang="cy-GB" dirty="0" smtClean="0"/>
              <a:t>descent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Cannot </a:t>
            </a:r>
            <a:r>
              <a:rPr lang="cy-GB" dirty="0"/>
              <a:t>avoid learning rate in gradient </a:t>
            </a:r>
            <a:r>
              <a:rPr lang="cy-GB" dirty="0" smtClean="0"/>
              <a:t>descent</a:t>
            </a:r>
          </a:p>
        </p:txBody>
      </p:sp>
    </p:spTree>
    <p:extLst>
      <p:ext uri="{BB962C8B-B14F-4D97-AF65-F5344CB8AC3E}">
        <p14:creationId xmlns:p14="http://schemas.microsoft.com/office/powerpoint/2010/main" val="427286317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determines convergence speed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If </a:t>
            </a:r>
            <a:r>
              <a:rPr lang="el-GR" dirty="0"/>
              <a:t>α </a:t>
            </a:r>
            <a:r>
              <a:rPr lang="cy-GB" dirty="0"/>
              <a:t>too </a:t>
            </a:r>
            <a:r>
              <a:rPr lang="cy-GB" dirty="0" smtClean="0"/>
              <a:t>large: 𝐿𝑜𝑠𝑠</a:t>
            </a:r>
            <a:r>
              <a:rPr lang="cy-GB" dirty="0"/>
              <a:t>→</a:t>
            </a:r>
            <a:r>
              <a:rPr lang="cy-GB" dirty="0" smtClean="0"/>
              <a:t>𝑖𝑛𝑐𝑟𝑒𝑎𝑠𝑒</a:t>
            </a:r>
          </a:p>
          <a:p>
            <a:pPr lvl="1"/>
            <a:r>
              <a:rPr lang="cy-GB" dirty="0" smtClean="0"/>
              <a:t>If </a:t>
            </a:r>
            <a:r>
              <a:rPr lang="el-GR" dirty="0"/>
              <a:t>α </a:t>
            </a:r>
            <a:r>
              <a:rPr lang="cy-GB" dirty="0"/>
              <a:t>optimal:𝐿𝑜𝑠𝑠→</a:t>
            </a:r>
            <a:r>
              <a:rPr lang="cy-GB" dirty="0" smtClean="0"/>
              <a:t>𝑚𝑖𝑛𝑖𝑚𝑢𝑚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Learning </a:t>
            </a:r>
            <a:r>
              <a:rPr lang="cy-GB" dirty="0"/>
              <a:t>rate controls step size in optimization.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96649461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36: Convergence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Convergence determines when training stops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Convergence </a:t>
            </a:r>
            <a:r>
              <a:rPr lang="cy-GB" dirty="0"/>
              <a:t>occurs when the loss function stops decreasing and reaches minimum value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Model </a:t>
            </a:r>
            <a:r>
              <a:rPr lang="cy-GB" dirty="0"/>
              <a:t>has finished learning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updates parameters repeatedly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Eventually</a:t>
            </a:r>
            <a:r>
              <a:rPr lang="cy-GB" dirty="0"/>
              <a:t>, updates become very small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Model </a:t>
            </a:r>
            <a:r>
              <a:rPr lang="cy-GB" dirty="0"/>
              <a:t>reaches optimal point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Ball </a:t>
            </a:r>
            <a:r>
              <a:rPr lang="cy-GB" dirty="0"/>
              <a:t>rolling downhill eventually stops at lowest </a:t>
            </a:r>
            <a:r>
              <a:rPr lang="cy-GB" dirty="0" smtClean="0"/>
              <a:t>point.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is convergence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423836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Mathematical Condition</a:t>
            </a:r>
          </a:p>
          <a:p>
            <a:pPr lvl="1"/>
            <a:r>
              <a:rPr lang="cy-GB" dirty="0" smtClean="0"/>
              <a:t>Convergence condition:∇𝐿≈0</a:t>
            </a:r>
          </a:p>
          <a:p>
            <a:pPr lvl="1"/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∇</a:t>
            </a:r>
            <a:r>
              <a:rPr lang="cy-GB" dirty="0"/>
              <a:t>L = </a:t>
            </a:r>
            <a:r>
              <a:rPr lang="cy-GB" dirty="0" smtClean="0"/>
              <a:t>gradient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near zero means minimum reached</a:t>
            </a:r>
            <a:r>
              <a:rPr lang="cy-GB" dirty="0" smtClean="0"/>
              <a:t>.</a:t>
            </a:r>
          </a:p>
          <a:p>
            <a:r>
              <a:rPr lang="cy-GB" dirty="0" smtClean="0"/>
              <a:t>Visual explanation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gradient descent </a:t>
            </a:r>
            <a:r>
              <a:rPr lang="cy-GB" dirty="0" smtClean="0"/>
              <a:t>convergence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Loss values: 100, 50, 20, 5, 1, 0.9, 0.89, 0.889</a:t>
            </a:r>
          </a:p>
          <a:p>
            <a:pPr lvl="1"/>
            <a:r>
              <a:rPr lang="cy-GB" dirty="0" smtClean="0"/>
              <a:t>Changes </a:t>
            </a:r>
            <a:r>
              <a:rPr lang="cy-GB" dirty="0"/>
              <a:t>become very small → convergence</a:t>
            </a:r>
            <a:r>
              <a:rPr lang="cy-GB" dirty="0" smtClean="0"/>
              <a:t>.</a:t>
            </a:r>
          </a:p>
        </p:txBody>
      </p:sp>
      <p:pic>
        <p:nvPicPr>
          <p:cNvPr id="115714" name="Picture 2" descr="https://lwfiles.mycourse.app/6376aecb9f20781a7e4f224b-public/97caa85b56e8ece240a819c93c14752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2" r="11903"/>
          <a:stretch/>
        </p:blipFill>
        <p:spPr bwMode="auto">
          <a:xfrm>
            <a:off x="7260610" y="1821660"/>
            <a:ext cx="4626590" cy="317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6348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Fast convergence</a:t>
            </a:r>
          </a:p>
          <a:p>
            <a:pPr lvl="1"/>
            <a:r>
              <a:rPr lang="cy-GB" dirty="0" smtClean="0"/>
              <a:t>Slow convergence</a:t>
            </a:r>
          </a:p>
          <a:p>
            <a:pPr lvl="1"/>
            <a:r>
              <a:rPr lang="cy-GB" dirty="0" smtClean="0"/>
              <a:t>No convergence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Ensures </a:t>
            </a:r>
            <a:r>
              <a:rPr lang="cy-GB" dirty="0"/>
              <a:t>optimal </a:t>
            </a:r>
            <a:r>
              <a:rPr lang="cy-GB" dirty="0" smtClean="0"/>
              <a:t>solution</a:t>
            </a:r>
          </a:p>
          <a:p>
            <a:pPr lvl="1"/>
            <a:r>
              <a:rPr lang="cy-GB" dirty="0" smtClean="0"/>
              <a:t>Stable training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May </a:t>
            </a:r>
            <a:r>
              <a:rPr lang="cy-GB" dirty="0"/>
              <a:t>converge to wrong </a:t>
            </a:r>
            <a:r>
              <a:rPr lang="cy-GB" dirty="0" smtClean="0"/>
              <a:t>minimum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Always </a:t>
            </a:r>
            <a:r>
              <a:rPr lang="cy-GB" dirty="0"/>
              <a:t>monitored in </a:t>
            </a:r>
            <a:r>
              <a:rPr lang="cy-GB" dirty="0" smtClean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3095287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When </a:t>
            </a:r>
            <a:r>
              <a:rPr lang="cy-GB" dirty="0"/>
              <a:t>NOT to use</a:t>
            </a:r>
          </a:p>
          <a:p>
            <a:pPr lvl="1"/>
            <a:r>
              <a:rPr lang="cy-GB" dirty="0"/>
              <a:t>Cannot avoid convergence in optimization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Convergence </a:t>
            </a:r>
            <a:r>
              <a:rPr lang="cy-GB" dirty="0"/>
              <a:t>occurs when:∂</a:t>
            </a:r>
            <a:r>
              <a:rPr lang="cy-GB" dirty="0" smtClean="0"/>
              <a:t>𝐿/∂</a:t>
            </a:r>
            <a:r>
              <a:rPr lang="cy-GB" dirty="0"/>
              <a:t>𝑤→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Parameter </a:t>
            </a:r>
            <a:r>
              <a:rPr lang="cy-GB" dirty="0"/>
              <a:t>updates stop changing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Convergence </a:t>
            </a:r>
            <a:r>
              <a:rPr lang="cy-GB" dirty="0"/>
              <a:t>means training has reached minimum loss.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65896580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37: Local Minima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y-GB" dirty="0"/>
              <a:t>Local minima is one of the main challenges in machine learning optimization, especially in deep learning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A </a:t>
            </a:r>
            <a:r>
              <a:rPr lang="cy-GB" dirty="0"/>
              <a:t>Local Minimum is a point where the loss function is lower than nearby points, but not the lowest possible point overall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It </a:t>
            </a:r>
            <a:r>
              <a:rPr lang="cy-GB" dirty="0"/>
              <a:t>is a small valley, but not the deepest valley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Loss </a:t>
            </a:r>
            <a:r>
              <a:rPr lang="cy-GB" dirty="0"/>
              <a:t>functions in complex models are not smooth bowls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They </a:t>
            </a:r>
            <a:r>
              <a:rPr lang="cy-GB" dirty="0"/>
              <a:t>have many valleys.Gradient descent may stop at a smaller valley instead of the deepest valley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prevents the model from finding the best solution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hiking in mountains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You </a:t>
            </a:r>
            <a:r>
              <a:rPr lang="cy-GB" dirty="0"/>
              <a:t>go downhill and reach a valley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You </a:t>
            </a:r>
            <a:r>
              <a:rPr lang="cy-GB" dirty="0"/>
              <a:t>stop there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But </a:t>
            </a:r>
            <a:r>
              <a:rPr lang="cy-GB" dirty="0"/>
              <a:t>there may be a deeper valley elsewhere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is local minima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911905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Mathematical Condition</a:t>
            </a:r>
          </a:p>
          <a:p>
            <a:pPr lvl="1"/>
            <a:r>
              <a:rPr lang="cy-GB" dirty="0" smtClean="0"/>
              <a:t>Local </a:t>
            </a:r>
            <a:r>
              <a:rPr lang="cy-GB" dirty="0"/>
              <a:t>minimum condition:∇𝐿=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But: 𝐿𝑙𝑜𝑐𝑎𝑙</a:t>
            </a:r>
            <a:r>
              <a:rPr lang="cy-GB" dirty="0"/>
              <a:t>&gt;</a:t>
            </a:r>
            <a:r>
              <a:rPr lang="cy-GB" dirty="0" smtClean="0"/>
              <a:t>𝐿𝑔𝑙𝑜𝑏𝑎𝑙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∇</a:t>
            </a:r>
            <a:r>
              <a:rPr lang="cy-GB" dirty="0"/>
              <a:t>L = </a:t>
            </a:r>
            <a:r>
              <a:rPr lang="cy-GB" dirty="0" smtClean="0"/>
              <a:t>gradient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= 0 means minimum </a:t>
            </a:r>
            <a:r>
              <a:rPr lang="cy-GB" dirty="0" smtClean="0"/>
              <a:t>point</a:t>
            </a:r>
          </a:p>
          <a:p>
            <a:pPr lvl="1"/>
            <a:r>
              <a:rPr lang="cy-GB" dirty="0" smtClean="0"/>
              <a:t>But </a:t>
            </a:r>
            <a:r>
              <a:rPr lang="cy-GB" dirty="0"/>
              <a:t>loss at local minimum is higher than global minimum</a:t>
            </a:r>
            <a:r>
              <a:rPr lang="cy-GB" dirty="0" smtClean="0"/>
              <a:t>.</a:t>
            </a:r>
          </a:p>
          <a:p>
            <a:r>
              <a:rPr lang="cy-GB" dirty="0" smtClean="0"/>
              <a:t>Visual </a:t>
            </a:r>
            <a:r>
              <a:rPr lang="cy-GB" dirty="0"/>
              <a:t>explanation (VERY IMPORTANT DIAGRAM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Local vs Global </a:t>
            </a:r>
            <a:r>
              <a:rPr lang="cy-GB" dirty="0" smtClean="0"/>
              <a:t>minima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Neural </a:t>
            </a:r>
            <a:r>
              <a:rPr lang="cy-GB" dirty="0"/>
              <a:t>network loss function has many local minima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may stop early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Multiple </a:t>
            </a:r>
            <a:r>
              <a:rPr lang="cy-GB" dirty="0"/>
              <a:t>local </a:t>
            </a:r>
            <a:r>
              <a:rPr lang="cy-GB" dirty="0" smtClean="0"/>
              <a:t>minima</a:t>
            </a:r>
          </a:p>
          <a:p>
            <a:pPr lvl="1"/>
            <a:r>
              <a:rPr lang="cy-GB" dirty="0" smtClean="0"/>
              <a:t>Flat </a:t>
            </a:r>
            <a:r>
              <a:rPr lang="cy-GB" dirty="0"/>
              <a:t>local </a:t>
            </a:r>
            <a:r>
              <a:rPr lang="cy-GB" dirty="0" smtClean="0"/>
              <a:t>minima</a:t>
            </a:r>
          </a:p>
          <a:p>
            <a:pPr lvl="1"/>
            <a:r>
              <a:rPr lang="cy-GB" dirty="0" smtClean="0"/>
              <a:t>Sharp </a:t>
            </a:r>
            <a:r>
              <a:rPr lang="cy-GB" dirty="0"/>
              <a:t>local </a:t>
            </a:r>
            <a:r>
              <a:rPr lang="cy-GB" dirty="0" smtClean="0"/>
              <a:t>minima</a:t>
            </a:r>
          </a:p>
        </p:txBody>
      </p:sp>
      <p:pic>
        <p:nvPicPr>
          <p:cNvPr id="128002" name="Picture 2" descr="512px-Extrema_example_original.svg.png (512×41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860" y="3166920"/>
            <a:ext cx="4421875" cy="3540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63283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Some </a:t>
            </a:r>
            <a:r>
              <a:rPr lang="cy-GB" dirty="0"/>
              <a:t>local minima still provide good </a:t>
            </a:r>
            <a:r>
              <a:rPr lang="cy-GB" dirty="0" smtClean="0"/>
              <a:t>performance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May </a:t>
            </a:r>
            <a:r>
              <a:rPr lang="cy-GB" dirty="0"/>
              <a:t>prevent optimal </a:t>
            </a:r>
            <a:r>
              <a:rPr lang="cy-GB" dirty="0" smtClean="0"/>
              <a:t>performance</a:t>
            </a:r>
          </a:p>
          <a:p>
            <a:pPr lvl="1"/>
            <a:r>
              <a:rPr lang="cy-GB" dirty="0" smtClean="0"/>
              <a:t>Suboptimal solution</a:t>
            </a:r>
          </a:p>
          <a:p>
            <a:r>
              <a:rPr lang="cy-GB" dirty="0" smtClean="0"/>
              <a:t>When </a:t>
            </a:r>
            <a:r>
              <a:rPr lang="cy-GB" dirty="0"/>
              <a:t>local minima </a:t>
            </a:r>
            <a:r>
              <a:rPr lang="cy-GB" dirty="0" smtClean="0"/>
              <a:t>occurs</a:t>
            </a:r>
          </a:p>
          <a:p>
            <a:pPr lvl="1"/>
            <a:r>
              <a:rPr lang="cy-GB" dirty="0" smtClean="0"/>
              <a:t>Deep learning</a:t>
            </a:r>
          </a:p>
          <a:p>
            <a:pPr lvl="1"/>
            <a:r>
              <a:rPr lang="cy-GB" dirty="0" smtClean="0"/>
              <a:t>Non-convex </a:t>
            </a:r>
            <a:r>
              <a:rPr lang="cy-GB" dirty="0"/>
              <a:t>loss </a:t>
            </a:r>
            <a:r>
              <a:rPr lang="cy-GB" dirty="0" smtClean="0"/>
              <a:t>functions</a:t>
            </a:r>
          </a:p>
          <a:p>
            <a:pPr lvl="1"/>
            <a:r>
              <a:rPr lang="cy-GB" dirty="0" smtClean="0"/>
              <a:t>Complex models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occur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functions do not have local minima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Example: Linear </a:t>
            </a:r>
            <a:r>
              <a:rPr lang="cy-GB" dirty="0"/>
              <a:t>regression loss </a:t>
            </a:r>
            <a:r>
              <a:rPr lang="cy-GB" dirty="0" smtClean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962425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/>
              <a:t>Slide 14: Technical 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Local </a:t>
            </a:r>
            <a:r>
              <a:rPr lang="cy-GB" dirty="0"/>
              <a:t>minimum satisfies:∂</a:t>
            </a:r>
            <a:r>
              <a:rPr lang="cy-GB" dirty="0" smtClean="0"/>
              <a:t>𝐿/∂</a:t>
            </a:r>
            <a:r>
              <a:rPr lang="cy-GB" dirty="0"/>
              <a:t>𝑤=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But </a:t>
            </a:r>
            <a:r>
              <a:rPr lang="cy-GB" dirty="0"/>
              <a:t>second derivative test shows</a:t>
            </a:r>
            <a:r>
              <a:rPr lang="cy-GB" dirty="0" smtClean="0"/>
              <a:t>: Not </a:t>
            </a:r>
            <a:r>
              <a:rPr lang="cy-GB" dirty="0"/>
              <a:t>lowest possible value </a:t>
            </a:r>
            <a:r>
              <a:rPr lang="cy-GB" dirty="0" smtClean="0"/>
              <a:t>globally. 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Local </a:t>
            </a:r>
            <a:r>
              <a:rPr lang="cy-GB" dirty="0"/>
              <a:t>minimum is a suboptimal minimum point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may get stuck here.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413456756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38: Global Minima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y-GB" dirty="0"/>
              <a:t>Global minima is the ultimate goal of machine learning </a:t>
            </a:r>
            <a:r>
              <a:rPr lang="cy-GB" dirty="0" smtClean="0"/>
              <a:t>optimization.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Global </a:t>
            </a:r>
            <a:r>
              <a:rPr lang="cy-GB" dirty="0"/>
              <a:t>Minimum is the point where the loss function has the lowest possible value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It </a:t>
            </a:r>
            <a:r>
              <a:rPr lang="cy-GB" dirty="0"/>
              <a:t>is the deepest valley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Best </a:t>
            </a:r>
            <a:r>
              <a:rPr lang="cy-GB" dirty="0"/>
              <a:t>possible solution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Machine </a:t>
            </a:r>
            <a:r>
              <a:rPr lang="cy-GB" dirty="0"/>
              <a:t>learning tries to minimize loss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Global </a:t>
            </a:r>
            <a:r>
              <a:rPr lang="cy-GB" dirty="0"/>
              <a:t>minimum </a:t>
            </a:r>
            <a:r>
              <a:rPr lang="cy-GB" dirty="0" smtClean="0"/>
              <a:t>gives:</a:t>
            </a:r>
          </a:p>
          <a:p>
            <a:pPr lvl="2"/>
            <a:r>
              <a:rPr lang="cy-GB" dirty="0" smtClean="0"/>
              <a:t>Best </a:t>
            </a:r>
            <a:r>
              <a:rPr lang="cy-GB" dirty="0"/>
              <a:t>model </a:t>
            </a:r>
            <a:r>
              <a:rPr lang="cy-GB" dirty="0" smtClean="0"/>
              <a:t>parameters</a:t>
            </a:r>
          </a:p>
          <a:p>
            <a:pPr lvl="2"/>
            <a:r>
              <a:rPr lang="cy-GB" dirty="0" smtClean="0"/>
              <a:t>Best predictions</a:t>
            </a:r>
          </a:p>
          <a:p>
            <a:pPr lvl="2"/>
            <a:r>
              <a:rPr lang="cy-GB" dirty="0" smtClean="0"/>
              <a:t>Lowest </a:t>
            </a:r>
            <a:r>
              <a:rPr lang="cy-GB" dirty="0"/>
              <a:t>possible </a:t>
            </a:r>
            <a:r>
              <a:rPr lang="cy-GB" dirty="0" smtClean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208338274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the deepest point in entire mountain range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is global minimum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Condition</a:t>
            </a:r>
          </a:p>
          <a:p>
            <a:pPr lvl="1"/>
            <a:r>
              <a:rPr lang="cy-GB" dirty="0" smtClean="0"/>
              <a:t>Global </a:t>
            </a:r>
            <a:r>
              <a:rPr lang="cy-GB" dirty="0"/>
              <a:t>minimum satisfies</a:t>
            </a:r>
            <a:r>
              <a:rPr lang="cy-GB" dirty="0" smtClean="0"/>
              <a:t>: 𝐿</a:t>
            </a:r>
            <a:r>
              <a:rPr lang="cy-GB" dirty="0"/>
              <a:t>(𝑤∗)≤𝐿(𝑤</a:t>
            </a:r>
            <a:r>
              <a:rPr lang="cy-GB" dirty="0" smtClean="0"/>
              <a:t>) for </a:t>
            </a:r>
            <a:r>
              <a:rPr lang="cy-GB" dirty="0"/>
              <a:t>all </a:t>
            </a:r>
            <a:r>
              <a:rPr lang="cy-GB" dirty="0" smtClean="0"/>
              <a:t>w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w</a:t>
            </a:r>
            <a:r>
              <a:rPr lang="cy-GB" dirty="0"/>
              <a:t>* = optimal </a:t>
            </a:r>
            <a:r>
              <a:rPr lang="cy-GB" dirty="0" smtClean="0"/>
              <a:t>parameter</a:t>
            </a:r>
          </a:p>
          <a:p>
            <a:pPr lvl="1"/>
            <a:r>
              <a:rPr lang="cy-GB" dirty="0" smtClean="0"/>
              <a:t>L(w</a:t>
            </a:r>
            <a:r>
              <a:rPr lang="cy-GB" dirty="0"/>
              <a:t>*) = lowest </a:t>
            </a:r>
            <a:r>
              <a:rPr lang="cy-GB" dirty="0" smtClean="0"/>
              <a:t>loss</a:t>
            </a:r>
          </a:p>
          <a:p>
            <a:pPr lvl="1"/>
            <a:r>
              <a:rPr lang="cy-GB" dirty="0" smtClean="0"/>
              <a:t>All </a:t>
            </a:r>
            <a:r>
              <a:rPr lang="cy-GB" dirty="0"/>
              <a:t>other values have higher loss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Linear </a:t>
            </a:r>
            <a:r>
              <a:rPr lang="cy-GB" dirty="0"/>
              <a:t>regression loss function has global minimum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Gradient </a:t>
            </a:r>
            <a:r>
              <a:rPr lang="cy-GB" dirty="0"/>
              <a:t>descent always finds optimal solution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</a:t>
            </a:r>
          </a:p>
          <a:p>
            <a:pPr lvl="1"/>
            <a:r>
              <a:rPr lang="cy-GB" dirty="0" smtClean="0"/>
              <a:t>Unique </a:t>
            </a:r>
            <a:r>
              <a:rPr lang="cy-GB" dirty="0"/>
              <a:t>global </a:t>
            </a:r>
            <a:r>
              <a:rPr lang="cy-GB" dirty="0" smtClean="0"/>
              <a:t>minimum</a:t>
            </a:r>
          </a:p>
          <a:p>
            <a:pPr lvl="1"/>
            <a:r>
              <a:rPr lang="cy-GB" dirty="0" smtClean="0"/>
              <a:t>Multiple </a:t>
            </a:r>
            <a:r>
              <a:rPr lang="cy-GB" dirty="0"/>
              <a:t>global </a:t>
            </a:r>
            <a:r>
              <a:rPr lang="cy-GB" dirty="0" smtClean="0"/>
              <a:t>minima</a:t>
            </a:r>
          </a:p>
        </p:txBody>
      </p:sp>
    </p:spTree>
    <p:extLst>
      <p:ext uri="{BB962C8B-B14F-4D97-AF65-F5344CB8AC3E}">
        <p14:creationId xmlns:p14="http://schemas.microsoft.com/office/powerpoint/2010/main" val="22972208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Best </a:t>
            </a:r>
            <a:r>
              <a:rPr lang="cy-GB" dirty="0"/>
              <a:t>possible </a:t>
            </a:r>
            <a:r>
              <a:rPr lang="cy-GB" dirty="0" smtClean="0"/>
              <a:t>model</a:t>
            </a:r>
          </a:p>
          <a:p>
            <a:pPr lvl="1"/>
            <a:r>
              <a:rPr lang="cy-GB" dirty="0" smtClean="0"/>
              <a:t>Highest accuracy</a:t>
            </a:r>
          </a:p>
          <a:p>
            <a:pPr lvl="1"/>
            <a:r>
              <a:rPr lang="cy-GB" dirty="0" smtClean="0"/>
              <a:t>Optimal solution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Hard </a:t>
            </a:r>
            <a:r>
              <a:rPr lang="cy-GB" dirty="0"/>
              <a:t>to find in complex </a:t>
            </a:r>
            <a:r>
              <a:rPr lang="cy-GB" dirty="0" smtClean="0"/>
              <a:t>models</a:t>
            </a:r>
          </a:p>
          <a:p>
            <a:r>
              <a:rPr lang="cy-GB" dirty="0" smtClean="0"/>
              <a:t>When </a:t>
            </a:r>
            <a:r>
              <a:rPr lang="cy-GB" dirty="0"/>
              <a:t>global minima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loss </a:t>
            </a:r>
            <a:r>
              <a:rPr lang="cy-GB" dirty="0" smtClean="0"/>
              <a:t>functions</a:t>
            </a:r>
          </a:p>
          <a:p>
            <a:pPr lvl="1"/>
            <a:r>
              <a:rPr lang="cy-GB" dirty="0" smtClean="0"/>
              <a:t>Linear regression</a:t>
            </a:r>
          </a:p>
          <a:p>
            <a:pPr lvl="1"/>
            <a:r>
              <a:rPr lang="cy-GB" dirty="0" smtClean="0"/>
              <a:t>Logistic regression</a:t>
            </a:r>
          </a:p>
          <a:p>
            <a:r>
              <a:rPr lang="cy-GB" dirty="0" smtClean="0"/>
              <a:t>When </a:t>
            </a:r>
            <a:r>
              <a:rPr lang="cy-GB" dirty="0"/>
              <a:t>hard to </a:t>
            </a:r>
            <a:r>
              <a:rPr lang="cy-GB" dirty="0" smtClean="0"/>
              <a:t>find</a:t>
            </a:r>
          </a:p>
          <a:p>
            <a:pPr lvl="1"/>
            <a:r>
              <a:rPr lang="cy-GB" dirty="0" smtClean="0"/>
              <a:t>Deep learning</a:t>
            </a:r>
          </a:p>
          <a:p>
            <a:pPr lvl="1"/>
            <a:r>
              <a:rPr lang="cy-GB" dirty="0" smtClean="0"/>
              <a:t>Neural networks</a:t>
            </a:r>
          </a:p>
          <a:p>
            <a:pPr lvl="1"/>
            <a:r>
              <a:rPr lang="cy-GB" dirty="0" smtClean="0"/>
              <a:t>Non-convex functions</a:t>
            </a:r>
          </a:p>
        </p:txBody>
      </p:sp>
    </p:spTree>
    <p:extLst>
      <p:ext uri="{BB962C8B-B14F-4D97-AF65-F5344CB8AC3E}">
        <p14:creationId xmlns:p14="http://schemas.microsoft.com/office/powerpoint/2010/main" val="129861107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Convex </a:t>
            </a:r>
            <a:r>
              <a:rPr lang="cy-GB" dirty="0"/>
              <a:t>functions guarantee global minimum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Non-convex </a:t>
            </a:r>
            <a:r>
              <a:rPr lang="cy-GB" dirty="0"/>
              <a:t>functions may have multiple minima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Goal </a:t>
            </a:r>
            <a:r>
              <a:rPr lang="cy-GB" dirty="0"/>
              <a:t>of optimization</a:t>
            </a:r>
            <a:r>
              <a:rPr lang="cy-GB" dirty="0" smtClean="0"/>
              <a:t>: min</a:t>
            </a:r>
            <a:r>
              <a:rPr lang="cy-GB" dirty="0"/>
              <a:t>⁡𝐿(𝑤</a:t>
            </a:r>
            <a:r>
              <a:rPr lang="cy-GB" dirty="0" smtClean="0"/>
              <a:t>)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Global </a:t>
            </a:r>
            <a:r>
              <a:rPr lang="cy-GB" dirty="0"/>
              <a:t>minimum gives best possible solution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Goal </a:t>
            </a:r>
            <a:r>
              <a:rPr lang="cy-GB" dirty="0"/>
              <a:t>of machine learning optimization.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69658855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39: Activation Function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y-GB" dirty="0"/>
              <a:t>Activation functions are the core building blocks of neural networks and deep learning. Without activation functions, neural networks would behave like simple linear regression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An </a:t>
            </a:r>
            <a:r>
              <a:rPr lang="cy-GB" dirty="0"/>
              <a:t>Activation Function is a mathematical function applied to the output of a neuron to determine whether it should be activated or not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words:Activation function decides whether a neuron should pass information forward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Without </a:t>
            </a:r>
            <a:r>
              <a:rPr lang="cy-GB" dirty="0"/>
              <a:t>activation functions, neural networks can only learn linear relationships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But </a:t>
            </a:r>
            <a:r>
              <a:rPr lang="cy-GB" dirty="0"/>
              <a:t>real-world problems are nonlinear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Activation </a:t>
            </a:r>
            <a:r>
              <a:rPr lang="cy-GB" dirty="0"/>
              <a:t>functions introduce nonlinearity, allowing neural networks to learn complex patterns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4729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Human </a:t>
            </a:r>
            <a:r>
              <a:rPr lang="cy-GB" dirty="0"/>
              <a:t>brain neurons activate only when signal strength crosses a threshold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Similarly</a:t>
            </a:r>
            <a:r>
              <a:rPr lang="cy-GB" dirty="0"/>
              <a:t>, activation function decides whether neuron activates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Neuron </a:t>
            </a:r>
            <a:r>
              <a:rPr lang="cy-GB" dirty="0"/>
              <a:t>output</a:t>
            </a:r>
            <a:r>
              <a:rPr lang="cy-GB" dirty="0" smtClean="0"/>
              <a:t>: 𝑧</a:t>
            </a:r>
            <a:r>
              <a:rPr lang="cy-GB" dirty="0"/>
              <a:t>=𝑤𝑥+</a:t>
            </a:r>
            <a:r>
              <a:rPr lang="cy-GB" dirty="0" smtClean="0"/>
              <a:t>𝑏</a:t>
            </a:r>
          </a:p>
          <a:p>
            <a:pPr lvl="1"/>
            <a:r>
              <a:rPr lang="cy-GB" dirty="0" smtClean="0"/>
              <a:t>Activation </a:t>
            </a:r>
            <a:r>
              <a:rPr lang="cy-GB" dirty="0"/>
              <a:t>output</a:t>
            </a:r>
            <a:r>
              <a:rPr lang="cy-GB" dirty="0" smtClean="0"/>
              <a:t>: 𝑎</a:t>
            </a:r>
            <a:r>
              <a:rPr lang="cy-GB" dirty="0"/>
              <a:t>=𝑓(𝑧</a:t>
            </a:r>
            <a:r>
              <a:rPr lang="cy-GB" dirty="0" smtClean="0"/>
              <a:t>)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x </a:t>
            </a:r>
            <a:r>
              <a:rPr lang="cy-GB" dirty="0"/>
              <a:t>= </a:t>
            </a:r>
            <a:r>
              <a:rPr lang="cy-GB" dirty="0" smtClean="0"/>
              <a:t>input</a:t>
            </a:r>
          </a:p>
          <a:p>
            <a:pPr lvl="1"/>
            <a:r>
              <a:rPr lang="cy-GB" dirty="0" smtClean="0"/>
              <a:t>w </a:t>
            </a:r>
            <a:r>
              <a:rPr lang="cy-GB" dirty="0"/>
              <a:t>= </a:t>
            </a:r>
            <a:r>
              <a:rPr lang="cy-GB" dirty="0" smtClean="0"/>
              <a:t>weight</a:t>
            </a:r>
          </a:p>
          <a:p>
            <a:pPr lvl="1"/>
            <a:r>
              <a:rPr lang="cy-GB" dirty="0" smtClean="0"/>
              <a:t>b </a:t>
            </a:r>
            <a:r>
              <a:rPr lang="cy-GB" dirty="0"/>
              <a:t>= </a:t>
            </a:r>
            <a:r>
              <a:rPr lang="cy-GB" dirty="0" smtClean="0"/>
              <a:t>bias</a:t>
            </a:r>
          </a:p>
          <a:p>
            <a:pPr lvl="1"/>
            <a:r>
              <a:rPr lang="cy-GB" dirty="0" smtClean="0"/>
              <a:t>z </a:t>
            </a:r>
            <a:r>
              <a:rPr lang="cy-GB" dirty="0"/>
              <a:t>= linear </a:t>
            </a:r>
            <a:r>
              <a:rPr lang="cy-GB" dirty="0" smtClean="0"/>
              <a:t>combination</a:t>
            </a:r>
          </a:p>
          <a:p>
            <a:pPr lvl="1"/>
            <a:r>
              <a:rPr lang="cy-GB" dirty="0" smtClean="0"/>
              <a:t>f(z</a:t>
            </a:r>
            <a:r>
              <a:rPr lang="cy-GB" dirty="0"/>
              <a:t>) = activation </a:t>
            </a:r>
            <a:r>
              <a:rPr lang="cy-GB" dirty="0" smtClean="0"/>
              <a:t>function</a:t>
            </a:r>
          </a:p>
          <a:p>
            <a:pPr lvl="1"/>
            <a:r>
              <a:rPr lang="cy-GB" dirty="0" smtClean="0"/>
              <a:t>a </a:t>
            </a:r>
            <a:r>
              <a:rPr lang="cy-GB" dirty="0"/>
              <a:t>= final </a:t>
            </a:r>
            <a:r>
              <a:rPr lang="cy-GB" dirty="0" smtClean="0"/>
              <a:t>output</a:t>
            </a:r>
          </a:p>
          <a:p>
            <a:r>
              <a:rPr lang="cy-GB" dirty="0" smtClean="0"/>
              <a:t>Visual </a:t>
            </a:r>
            <a:r>
              <a:rPr lang="cy-GB" dirty="0"/>
              <a:t>explanation (CRITICAL DIAGRAM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neuron with activation </a:t>
            </a:r>
            <a:r>
              <a:rPr lang="cy-GB" dirty="0" smtClean="0"/>
              <a:t>functionImage</a:t>
            </a:r>
          </a:p>
          <a:p>
            <a:pPr lvl="1"/>
            <a:r>
              <a:rPr lang="cy-GB" dirty="0" smtClean="0"/>
              <a:t>Explanation:Input </a:t>
            </a:r>
            <a:r>
              <a:rPr lang="cy-GB" dirty="0"/>
              <a:t>→ Weighted sum → Activation function → </a:t>
            </a:r>
            <a:r>
              <a:rPr lang="cy-GB" dirty="0" smtClean="0"/>
              <a:t>Output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34" y="1663526"/>
            <a:ext cx="4473578" cy="349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4172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Without </a:t>
            </a:r>
            <a:r>
              <a:rPr lang="cy-GB" dirty="0"/>
              <a:t>activation function</a:t>
            </a:r>
            <a:r>
              <a:rPr lang="cy-GB" dirty="0" smtClean="0"/>
              <a:t>: </a:t>
            </a:r>
          </a:p>
          <a:p>
            <a:pPr lvl="2"/>
            <a:r>
              <a:rPr lang="cy-GB" dirty="0" smtClean="0"/>
              <a:t>Output </a:t>
            </a:r>
            <a:r>
              <a:rPr lang="cy-GB" dirty="0"/>
              <a:t>always linear</a:t>
            </a:r>
            <a:r>
              <a:rPr lang="cy-GB" dirty="0" smtClean="0"/>
              <a:t>.</a:t>
            </a:r>
          </a:p>
          <a:p>
            <a:pPr lvl="2"/>
            <a:r>
              <a:rPr lang="cy-GB" dirty="0" smtClean="0"/>
              <a:t>Cannot </a:t>
            </a:r>
            <a:r>
              <a:rPr lang="cy-GB" dirty="0"/>
              <a:t>recognize complex patterns like images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With </a:t>
            </a:r>
            <a:r>
              <a:rPr lang="cy-GB" dirty="0"/>
              <a:t>activation function</a:t>
            </a:r>
            <a:r>
              <a:rPr lang="cy-GB" dirty="0" smtClean="0"/>
              <a:t>:</a:t>
            </a:r>
          </a:p>
          <a:p>
            <a:pPr lvl="2"/>
            <a:r>
              <a:rPr lang="cy-GB" dirty="0" smtClean="0"/>
              <a:t>Neural </a:t>
            </a:r>
            <a:r>
              <a:rPr lang="cy-GB" dirty="0"/>
              <a:t>network can detect faces, speech, objects</a:t>
            </a:r>
            <a:r>
              <a:rPr lang="cy-GB" dirty="0" smtClean="0"/>
              <a:t>.</a:t>
            </a:r>
          </a:p>
          <a:p>
            <a:r>
              <a:rPr lang="cy-GB" dirty="0" smtClean="0"/>
              <a:t>Types </a:t>
            </a:r>
            <a:r>
              <a:rPr lang="cy-GB" dirty="0"/>
              <a:t>of Activation </a:t>
            </a:r>
            <a:r>
              <a:rPr lang="cy-GB" dirty="0" smtClean="0"/>
              <a:t>Functions</a:t>
            </a:r>
          </a:p>
          <a:p>
            <a:pPr lvl="1"/>
            <a:r>
              <a:rPr lang="cy-GB" dirty="0" smtClean="0"/>
              <a:t>Sigmoid</a:t>
            </a:r>
          </a:p>
          <a:p>
            <a:pPr lvl="1"/>
            <a:r>
              <a:rPr lang="cy-GB" dirty="0" smtClean="0"/>
              <a:t>Tanh</a:t>
            </a:r>
          </a:p>
          <a:p>
            <a:pPr lvl="1"/>
            <a:r>
              <a:rPr lang="cy-GB" dirty="0" smtClean="0"/>
              <a:t>ReLU</a:t>
            </a:r>
          </a:p>
          <a:p>
            <a:pPr lvl="1"/>
            <a:r>
              <a:rPr lang="cy-GB" dirty="0" smtClean="0"/>
              <a:t>Leaky ReLU</a:t>
            </a:r>
          </a:p>
          <a:p>
            <a:pPr lvl="1"/>
            <a:r>
              <a:rPr lang="cy-GB" dirty="0" smtClean="0"/>
              <a:t>Softmax</a:t>
            </a:r>
          </a:p>
          <a:p>
            <a:r>
              <a:rPr lang="cy-GB" dirty="0"/>
              <a:t>Advantages</a:t>
            </a:r>
          </a:p>
          <a:p>
            <a:pPr lvl="1"/>
            <a:r>
              <a:rPr lang="cy-GB" dirty="0"/>
              <a:t>Allows nonlinear learning</a:t>
            </a:r>
          </a:p>
          <a:p>
            <a:pPr lvl="1"/>
            <a:r>
              <a:rPr lang="cy-GB" dirty="0"/>
              <a:t>Enables deep learning</a:t>
            </a:r>
          </a:p>
          <a:p>
            <a:pPr lvl="1"/>
            <a:r>
              <a:rPr lang="cy-GB" dirty="0"/>
              <a:t>Improves model capability</a:t>
            </a:r>
          </a:p>
          <a:p>
            <a:pPr lvl="1"/>
            <a:endParaRPr lang="cy-GB" dirty="0" smtClean="0"/>
          </a:p>
        </p:txBody>
      </p:sp>
    </p:spTree>
    <p:extLst>
      <p:ext uri="{BB962C8B-B14F-4D97-AF65-F5344CB8AC3E}">
        <p14:creationId xmlns:p14="http://schemas.microsoft.com/office/powerpoint/2010/main" val="315765229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Some </a:t>
            </a:r>
            <a:r>
              <a:rPr lang="cy-GB" dirty="0"/>
              <a:t>activation functions cause training </a:t>
            </a:r>
            <a:r>
              <a:rPr lang="cy-GB" dirty="0" smtClean="0"/>
              <a:t>problems</a:t>
            </a:r>
          </a:p>
          <a:p>
            <a:pPr lvl="1"/>
            <a:r>
              <a:rPr lang="cy-GB" dirty="0" smtClean="0"/>
              <a:t>Example:Vanishing </a:t>
            </a:r>
            <a:r>
              <a:rPr lang="cy-GB" dirty="0"/>
              <a:t>gradient </a:t>
            </a:r>
            <a:r>
              <a:rPr lang="cy-GB" dirty="0" smtClean="0"/>
              <a:t>problem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Neural networks</a:t>
            </a:r>
          </a:p>
          <a:p>
            <a:pPr lvl="1"/>
            <a:r>
              <a:rPr lang="cy-GB" dirty="0" smtClean="0"/>
              <a:t>Deep learning</a:t>
            </a:r>
          </a:p>
          <a:p>
            <a:pPr lvl="1"/>
            <a:r>
              <a:rPr lang="cy-GB" dirty="0" smtClean="0"/>
              <a:t>Classification</a:t>
            </a:r>
          </a:p>
          <a:p>
            <a:pPr lvl="1"/>
            <a:r>
              <a:rPr lang="cy-GB" dirty="0" smtClean="0"/>
              <a:t>Computer vision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Simple </a:t>
            </a:r>
            <a:r>
              <a:rPr lang="cy-GB" dirty="0"/>
              <a:t>linear regression </a:t>
            </a:r>
            <a:r>
              <a:rPr lang="cy-GB" dirty="0" smtClean="0"/>
              <a:t>problems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Without </a:t>
            </a:r>
            <a:r>
              <a:rPr lang="cy-GB" dirty="0"/>
              <a:t>activation function</a:t>
            </a:r>
            <a:r>
              <a:rPr lang="cy-GB" dirty="0" smtClean="0"/>
              <a:t>: 𝑓</a:t>
            </a:r>
            <a:r>
              <a:rPr lang="cy-GB" dirty="0"/>
              <a:t>(𝑥)=𝑙𝑖𝑛𝑒𝑎𝑟 </a:t>
            </a:r>
            <a:r>
              <a:rPr lang="cy-GB" dirty="0" smtClean="0"/>
              <a:t>𝑓𝑢𝑛𝑐𝑡𝑖𝑜𝑛</a:t>
            </a:r>
          </a:p>
          <a:p>
            <a:pPr lvl="1"/>
            <a:r>
              <a:rPr lang="cy-GB" dirty="0" smtClean="0"/>
              <a:t>Stacking </a:t>
            </a:r>
            <a:r>
              <a:rPr lang="cy-GB" dirty="0"/>
              <a:t>linear functions still produces linear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Activation </a:t>
            </a:r>
            <a:r>
              <a:rPr lang="cy-GB" dirty="0"/>
              <a:t>functions introduce nonlinear transformation</a:t>
            </a:r>
            <a:r>
              <a:rPr lang="cy-GB" dirty="0" smtClean="0"/>
              <a:t>: 𝑓</a:t>
            </a:r>
            <a:r>
              <a:rPr lang="cy-GB" dirty="0"/>
              <a:t>(𝑥)=</a:t>
            </a:r>
            <a:r>
              <a:rPr lang="cy-GB" dirty="0" smtClean="0"/>
              <a:t>𝑛𝑜𝑛𝑙𝑖𝑛𝑒𝑎𝑟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enables learning of complex functions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Activation </a:t>
            </a:r>
            <a:r>
              <a:rPr lang="cy-GB" dirty="0"/>
              <a:t>functions introduce nonlinearity in neural networks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They </a:t>
            </a:r>
            <a:r>
              <a:rPr lang="cy-GB" dirty="0"/>
              <a:t>allow neural networks to learn complex real-world patterns.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65620335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40: Sigmoid Activation Function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Sigmoid is one of the most important and historically significant activation functions. It is widely used in logistic regression, binary classification, and neural networks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The </a:t>
            </a:r>
            <a:r>
              <a:rPr lang="cy-GB" dirty="0"/>
              <a:t>Sigmoid function is an activation function that converts any input value into a number between 0 and 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Sigmoid </a:t>
            </a:r>
            <a:r>
              <a:rPr lang="cy-GB" dirty="0"/>
              <a:t>converts output into probability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classification problems, we need probability outputs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Example: Spam </a:t>
            </a:r>
            <a:r>
              <a:rPr lang="cy-GB" dirty="0"/>
              <a:t>probability = </a:t>
            </a:r>
            <a:r>
              <a:rPr lang="cy-GB" dirty="0" smtClean="0"/>
              <a:t>0.9 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ensures output always lies between 0 and 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it perfect for binary classification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104526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exam probability</a:t>
            </a:r>
            <a:r>
              <a:rPr lang="cy-GB" dirty="0" smtClean="0"/>
              <a:t>: </a:t>
            </a:r>
          </a:p>
          <a:p>
            <a:pPr lvl="1"/>
            <a:r>
              <a:rPr lang="cy-GB" dirty="0" smtClean="0"/>
              <a:t>0 </a:t>
            </a:r>
            <a:r>
              <a:rPr lang="cy-GB" dirty="0"/>
              <a:t>→ definitely </a:t>
            </a:r>
            <a:r>
              <a:rPr lang="cy-GB" dirty="0" smtClean="0"/>
              <a:t>fail</a:t>
            </a:r>
          </a:p>
          <a:p>
            <a:pPr lvl="1"/>
            <a:r>
              <a:rPr lang="cy-GB" dirty="0" smtClean="0"/>
              <a:t>1 </a:t>
            </a:r>
            <a:r>
              <a:rPr lang="cy-GB" dirty="0"/>
              <a:t>→ definitely </a:t>
            </a:r>
            <a:r>
              <a:rPr lang="cy-GB" dirty="0" smtClean="0"/>
              <a:t>pass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converts raw score into probability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function formula:𝜎(𝑥)=</a:t>
            </a:r>
            <a:r>
              <a:rPr lang="cy-GB" dirty="0" smtClean="0"/>
              <a:t>1/1</a:t>
            </a:r>
            <a:r>
              <a:rPr lang="cy-GB" dirty="0"/>
              <a:t>+</a:t>
            </a:r>
            <a:r>
              <a:rPr lang="cy-GB" dirty="0" smtClean="0"/>
              <a:t>𝑒^−𝑥</a:t>
            </a:r>
            <a:r>
              <a:rPr lang="cy-GB" dirty="0"/>
              <a:t>	</a:t>
            </a:r>
            <a:endParaRPr lang="cy-GB" dirty="0" smtClean="0"/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el-GR" dirty="0" smtClean="0"/>
              <a:t>σ(</a:t>
            </a:r>
            <a:r>
              <a:rPr lang="cy-GB" dirty="0"/>
              <a:t>x) = sigmoid </a:t>
            </a:r>
            <a:r>
              <a:rPr lang="cy-GB" dirty="0" smtClean="0"/>
              <a:t>output</a:t>
            </a:r>
          </a:p>
          <a:p>
            <a:pPr lvl="1"/>
            <a:r>
              <a:rPr lang="cy-GB" dirty="0" smtClean="0"/>
              <a:t>x </a:t>
            </a:r>
            <a:r>
              <a:rPr lang="cy-GB" dirty="0"/>
              <a:t>= </a:t>
            </a:r>
            <a:r>
              <a:rPr lang="cy-GB" dirty="0" smtClean="0"/>
              <a:t>input</a:t>
            </a:r>
          </a:p>
          <a:p>
            <a:pPr lvl="1"/>
            <a:r>
              <a:rPr lang="cy-GB" dirty="0" smtClean="0"/>
              <a:t>e </a:t>
            </a:r>
            <a:r>
              <a:rPr lang="cy-GB" dirty="0"/>
              <a:t>= Euler’s number (≈ 2.718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range:0&lt;𝜎(𝑥)&lt;</a:t>
            </a:r>
            <a:r>
              <a:rPr lang="cy-GB" dirty="0" smtClean="0"/>
              <a:t>1</a:t>
            </a:r>
          </a:p>
          <a:p>
            <a:r>
              <a:rPr lang="cy-GB" dirty="0" smtClean="0"/>
              <a:t>Visual </a:t>
            </a:r>
            <a:r>
              <a:rPr lang="cy-GB" dirty="0"/>
              <a:t>explanation 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Sigmoid </a:t>
            </a:r>
            <a:r>
              <a:rPr lang="cy-GB" dirty="0" smtClean="0"/>
              <a:t>curve</a:t>
            </a:r>
          </a:p>
          <a:p>
            <a:pPr lvl="1"/>
            <a:r>
              <a:rPr lang="cy-GB" dirty="0" smtClean="0"/>
              <a:t>Explanation: S-shaped curve</a:t>
            </a:r>
          </a:p>
          <a:p>
            <a:pPr lvl="1"/>
            <a:r>
              <a:rPr lang="cy-GB" dirty="0" smtClean="0"/>
              <a:t>Negative </a:t>
            </a:r>
            <a:r>
              <a:rPr lang="cy-GB" dirty="0"/>
              <a:t>input → output near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Positive </a:t>
            </a:r>
            <a:r>
              <a:rPr lang="cy-GB" dirty="0"/>
              <a:t>input → output near </a:t>
            </a:r>
            <a:r>
              <a:rPr lang="cy-GB" dirty="0" smtClean="0"/>
              <a:t>1</a:t>
            </a:r>
          </a:p>
        </p:txBody>
      </p:sp>
      <p:pic>
        <p:nvPicPr>
          <p:cNvPr id="140290" name="Picture 2" descr="https://media.geeksforgeeks.org/wp-content/uploads/20250131185746649092/Sigmoid-Activation-Fun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910" y="2696760"/>
            <a:ext cx="6235890" cy="403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66901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Input: x </a:t>
            </a:r>
            <a:r>
              <a:rPr lang="cy-GB" dirty="0"/>
              <a:t>=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Output: 𝜎</a:t>
            </a:r>
            <a:r>
              <a:rPr lang="cy-GB" dirty="0"/>
              <a:t>(0)=</a:t>
            </a:r>
            <a:r>
              <a:rPr lang="cy-GB" dirty="0" smtClean="0"/>
              <a:t>1/2=0.5</a:t>
            </a:r>
            <a:endParaRPr lang="en-US" dirty="0" smtClean="0"/>
          </a:p>
          <a:p>
            <a:pPr lvl="1"/>
            <a:r>
              <a:rPr lang="cy-GB" dirty="0" smtClean="0"/>
              <a:t>Input: x </a:t>
            </a:r>
            <a:r>
              <a:rPr lang="cy-GB" dirty="0"/>
              <a:t>= </a:t>
            </a:r>
            <a:r>
              <a:rPr lang="cy-GB" dirty="0" smtClean="0"/>
              <a:t>5</a:t>
            </a:r>
          </a:p>
          <a:p>
            <a:pPr lvl="1"/>
            <a:r>
              <a:rPr lang="cy-GB" dirty="0" smtClean="0"/>
              <a:t>Output: 𝜎</a:t>
            </a:r>
            <a:r>
              <a:rPr lang="cy-GB" dirty="0"/>
              <a:t>(5)≈</a:t>
            </a:r>
            <a:r>
              <a:rPr lang="cy-GB" dirty="0" smtClean="0"/>
              <a:t>0.993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probability</a:t>
            </a:r>
            <a:r>
              <a:rPr lang="cy-GB" dirty="0" smtClean="0"/>
              <a:t>.</a:t>
            </a:r>
          </a:p>
          <a:p>
            <a:r>
              <a:rPr lang="cy-GB" dirty="0" smtClean="0"/>
              <a:t>Properties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range: (0,1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Nonlinear function</a:t>
            </a:r>
          </a:p>
          <a:p>
            <a:pPr lvl="1"/>
            <a:r>
              <a:rPr lang="cy-GB" dirty="0" smtClean="0"/>
              <a:t>Smooth </a:t>
            </a:r>
            <a:r>
              <a:rPr lang="cy-GB" dirty="0"/>
              <a:t>and </a:t>
            </a:r>
            <a:r>
              <a:rPr lang="cy-GB" dirty="0" smtClean="0"/>
              <a:t>differentiable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Produces </a:t>
            </a:r>
            <a:r>
              <a:rPr lang="cy-GB" dirty="0"/>
              <a:t>probability </a:t>
            </a:r>
            <a:r>
              <a:rPr lang="cy-GB" dirty="0" smtClean="0"/>
              <a:t>output</a:t>
            </a:r>
          </a:p>
          <a:p>
            <a:pPr lvl="1"/>
            <a:r>
              <a:rPr lang="cy-GB" dirty="0" smtClean="0"/>
              <a:t>Smooth gradient</a:t>
            </a:r>
          </a:p>
          <a:p>
            <a:pPr lvl="1"/>
            <a:r>
              <a:rPr lang="cy-GB" dirty="0" smtClean="0"/>
              <a:t>Useful </a:t>
            </a:r>
            <a:r>
              <a:rPr lang="cy-GB" dirty="0"/>
              <a:t>for binary </a:t>
            </a:r>
            <a:r>
              <a:rPr lang="cy-GB" dirty="0" smtClean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69956965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Vanishing </a:t>
            </a:r>
            <a:r>
              <a:rPr lang="cy-GB" dirty="0"/>
              <a:t>gradient </a:t>
            </a:r>
            <a:r>
              <a:rPr lang="cy-GB" dirty="0" smtClean="0"/>
              <a:t>problem</a:t>
            </a:r>
          </a:p>
          <a:p>
            <a:pPr lvl="1"/>
            <a:r>
              <a:rPr lang="cy-GB" dirty="0" smtClean="0"/>
              <a:t>Slow training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not centered at </a:t>
            </a:r>
            <a:r>
              <a:rPr lang="cy-GB" dirty="0" smtClean="0"/>
              <a:t>zero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Binary classification</a:t>
            </a:r>
          </a:p>
          <a:p>
            <a:pPr lvl="1"/>
            <a:r>
              <a:rPr lang="cy-GB" dirty="0" smtClean="0"/>
              <a:t>Logistic regression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layer of binary neural </a:t>
            </a:r>
            <a:r>
              <a:rPr lang="cy-GB" dirty="0" smtClean="0"/>
              <a:t>network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Hidden </a:t>
            </a:r>
            <a:r>
              <a:rPr lang="cy-GB" dirty="0"/>
              <a:t>layers of deep neural </a:t>
            </a:r>
            <a:r>
              <a:rPr lang="cy-GB" dirty="0" smtClean="0"/>
              <a:t>networks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works better there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546916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Derivative </a:t>
            </a:r>
            <a:r>
              <a:rPr lang="cy-GB" dirty="0"/>
              <a:t>of sigmoid:𝜎′(𝑥)=𝜎(𝑥)(1−𝜎(𝑥</a:t>
            </a:r>
            <a:r>
              <a:rPr lang="cy-GB" dirty="0" smtClean="0"/>
              <a:t>))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gradient computation easy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However</a:t>
            </a:r>
            <a:r>
              <a:rPr lang="cy-GB" dirty="0"/>
              <a:t>, when x is very large or small</a:t>
            </a:r>
            <a:r>
              <a:rPr lang="cy-GB" dirty="0" smtClean="0"/>
              <a:t>: Gradient </a:t>
            </a:r>
            <a:r>
              <a:rPr lang="cy-GB" dirty="0"/>
              <a:t>becomes very small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causes vanishing gradient problem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converts input into probability between 0 and 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Widely </a:t>
            </a:r>
            <a:r>
              <a:rPr lang="cy-GB" dirty="0"/>
              <a:t>used in binary classification.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258677974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41: </a:t>
            </a:r>
            <a:r>
              <a:rPr lang="en-US" dirty="0" err="1"/>
              <a:t>Tanh</a:t>
            </a:r>
            <a:r>
              <a:rPr lang="en-US" dirty="0"/>
              <a:t> Activation Function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Tanh (Hyperbolic Tangent) is an improved version of the sigmoid function. It is widely used in neural networks because it solves some major problems of sigmoid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The </a:t>
            </a:r>
            <a:r>
              <a:rPr lang="cy-GB" dirty="0"/>
              <a:t>Tanh function is an activation function that converts input values into outputs between −1 and +1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Tanh </a:t>
            </a:r>
            <a:r>
              <a:rPr lang="cy-GB" dirty="0"/>
              <a:t>outputs values between negative and positive range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outputs values between 0 and 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creates bias because outputs are always positive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Tanh </a:t>
            </a:r>
            <a:r>
              <a:rPr lang="cy-GB" dirty="0"/>
              <a:t>solves this by producing outputs centered around zero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improves neural network training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86143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Think </a:t>
            </a:r>
            <a:r>
              <a:rPr lang="cy-GB" dirty="0"/>
              <a:t>of temperature scale</a:t>
            </a:r>
            <a:r>
              <a:rPr lang="cy-GB" dirty="0" smtClean="0"/>
              <a:t>: Cold </a:t>
            </a:r>
            <a:r>
              <a:rPr lang="cy-GB" dirty="0"/>
              <a:t>= </a:t>
            </a:r>
            <a:r>
              <a:rPr lang="cy-GB" dirty="0" smtClean="0"/>
              <a:t>negative, Neutral </a:t>
            </a:r>
            <a:r>
              <a:rPr lang="cy-GB" dirty="0"/>
              <a:t>= </a:t>
            </a:r>
            <a:r>
              <a:rPr lang="cy-GB" dirty="0" smtClean="0"/>
              <a:t>zero, Hot </a:t>
            </a:r>
            <a:r>
              <a:rPr lang="cy-GB" dirty="0"/>
              <a:t>= </a:t>
            </a:r>
            <a:r>
              <a:rPr lang="cy-GB" dirty="0" smtClean="0"/>
              <a:t>positive</a:t>
            </a:r>
          </a:p>
          <a:p>
            <a:pPr lvl="1"/>
            <a:r>
              <a:rPr lang="cy-GB" dirty="0" smtClean="0"/>
              <a:t>Tanh </a:t>
            </a:r>
            <a:r>
              <a:rPr lang="cy-GB" dirty="0"/>
              <a:t>works the same way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Tanh </a:t>
            </a:r>
            <a:r>
              <a:rPr lang="cy-GB" dirty="0"/>
              <a:t>function formula</a:t>
            </a:r>
            <a:r>
              <a:rPr lang="cy-GB" dirty="0" smtClean="0"/>
              <a:t>: tanh</a:t>
            </a:r>
            <a:r>
              <a:rPr lang="cy-GB" dirty="0"/>
              <a:t>⁡(𝑥)=</a:t>
            </a:r>
            <a:r>
              <a:rPr lang="cy-GB" dirty="0" smtClean="0"/>
              <a:t>𝑒^𝑥</a:t>
            </a:r>
            <a:r>
              <a:rPr lang="cy-GB" dirty="0"/>
              <a:t>−</a:t>
            </a:r>
            <a:r>
              <a:rPr lang="cy-GB" dirty="0" smtClean="0"/>
              <a:t>𝑒^−𝑥/𝑒^𝑥</a:t>
            </a:r>
            <a:r>
              <a:rPr lang="cy-GB" dirty="0"/>
              <a:t>+</a:t>
            </a:r>
            <a:r>
              <a:rPr lang="cy-GB" dirty="0" smtClean="0"/>
              <a:t>𝑒^−𝑥</a:t>
            </a:r>
          </a:p>
          <a:p>
            <a:pPr lvl="1"/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tanh(x</a:t>
            </a:r>
            <a:r>
              <a:rPr lang="cy-GB" dirty="0"/>
              <a:t>) = </a:t>
            </a:r>
            <a:r>
              <a:rPr lang="cy-GB" dirty="0" smtClean="0"/>
              <a:t>output</a:t>
            </a:r>
          </a:p>
          <a:p>
            <a:pPr lvl="1"/>
            <a:r>
              <a:rPr lang="cy-GB" dirty="0" smtClean="0"/>
              <a:t>x </a:t>
            </a:r>
            <a:r>
              <a:rPr lang="cy-GB" dirty="0"/>
              <a:t>= </a:t>
            </a:r>
            <a:r>
              <a:rPr lang="cy-GB" dirty="0" smtClean="0"/>
              <a:t>input</a:t>
            </a:r>
          </a:p>
          <a:p>
            <a:pPr lvl="1"/>
            <a:r>
              <a:rPr lang="cy-GB" dirty="0" smtClean="0"/>
              <a:t>e </a:t>
            </a:r>
            <a:r>
              <a:rPr lang="cy-GB" dirty="0"/>
              <a:t>= Euler’s number (≈ 2.718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range</a:t>
            </a:r>
            <a:r>
              <a:rPr lang="cy-GB" dirty="0" smtClean="0"/>
              <a:t>: −</a:t>
            </a:r>
            <a:r>
              <a:rPr lang="cy-GB" dirty="0"/>
              <a:t>1&lt;𝑡𝑎𝑛ℎ(𝑥)&lt;</a:t>
            </a:r>
            <a:r>
              <a:rPr lang="cy-GB" dirty="0" smtClean="0"/>
              <a:t>1</a:t>
            </a:r>
          </a:p>
          <a:p>
            <a:r>
              <a:rPr lang="cy-GB" dirty="0" smtClean="0"/>
              <a:t>Slide </a:t>
            </a:r>
            <a:r>
              <a:rPr lang="cy-GB" dirty="0"/>
              <a:t>7: Visual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Tanh </a:t>
            </a:r>
            <a:r>
              <a:rPr lang="cy-GB" dirty="0" smtClean="0"/>
              <a:t>curve</a:t>
            </a:r>
          </a:p>
          <a:p>
            <a:pPr lvl="1"/>
            <a:r>
              <a:rPr lang="cy-GB" dirty="0" smtClean="0"/>
              <a:t>Explanation: S-shaped curve</a:t>
            </a:r>
          </a:p>
          <a:p>
            <a:pPr lvl="1"/>
            <a:r>
              <a:rPr lang="cy-GB" dirty="0" smtClean="0"/>
              <a:t>Centered </a:t>
            </a:r>
            <a:r>
              <a:rPr lang="cy-GB" dirty="0"/>
              <a:t>at </a:t>
            </a:r>
            <a:r>
              <a:rPr lang="cy-GB" dirty="0" smtClean="0"/>
              <a:t>zero</a:t>
            </a:r>
          </a:p>
          <a:p>
            <a:pPr lvl="1"/>
            <a:r>
              <a:rPr lang="cy-GB" dirty="0" smtClean="0"/>
              <a:t>Negative </a:t>
            </a:r>
            <a:r>
              <a:rPr lang="cy-GB" dirty="0"/>
              <a:t>input → negative </a:t>
            </a:r>
            <a:r>
              <a:rPr lang="cy-GB" dirty="0" smtClean="0"/>
              <a:t>output</a:t>
            </a:r>
          </a:p>
          <a:p>
            <a:pPr lvl="1"/>
            <a:r>
              <a:rPr lang="cy-GB" dirty="0" smtClean="0"/>
              <a:t>Positive </a:t>
            </a:r>
            <a:r>
              <a:rPr lang="cy-GB" dirty="0"/>
              <a:t>input → positive </a:t>
            </a:r>
            <a:r>
              <a:rPr lang="cy-GB" dirty="0" smtClean="0"/>
              <a:t>output</a:t>
            </a:r>
          </a:p>
        </p:txBody>
      </p:sp>
      <p:pic>
        <p:nvPicPr>
          <p:cNvPr id="145410" name="Picture 2" descr="https://media.geeksforgeeks.org/wp-content/uploads/20250214171817652462/tan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849" y="2548831"/>
            <a:ext cx="6587051" cy="388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49135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Input: x </a:t>
            </a:r>
            <a:r>
              <a:rPr lang="cy-GB" dirty="0"/>
              <a:t>=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Output: 𝑡𝑎𝑛</a:t>
            </a:r>
            <a:r>
              <a:rPr lang="cy-GB" dirty="0"/>
              <a:t>ℎ(0)=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Input: x </a:t>
            </a:r>
            <a:r>
              <a:rPr lang="cy-GB" dirty="0"/>
              <a:t>= </a:t>
            </a:r>
            <a:r>
              <a:rPr lang="cy-GB" dirty="0" smtClean="0"/>
              <a:t>3</a:t>
            </a:r>
          </a:p>
          <a:p>
            <a:pPr lvl="1"/>
            <a:r>
              <a:rPr lang="cy-GB" dirty="0" smtClean="0"/>
              <a:t>Output: 𝑡𝑎𝑛</a:t>
            </a:r>
            <a:r>
              <a:rPr lang="cy-GB" dirty="0"/>
              <a:t>ℎ(3)≈</a:t>
            </a:r>
            <a:r>
              <a:rPr lang="cy-GB" dirty="0" smtClean="0"/>
              <a:t>0.995</a:t>
            </a:r>
          </a:p>
          <a:p>
            <a:pPr lvl="1"/>
            <a:r>
              <a:rPr lang="cy-GB" dirty="0" smtClean="0"/>
              <a:t>Input: x </a:t>
            </a:r>
            <a:r>
              <a:rPr lang="cy-GB" dirty="0"/>
              <a:t>= -</a:t>
            </a:r>
            <a:r>
              <a:rPr lang="cy-GB" dirty="0" smtClean="0"/>
              <a:t>3</a:t>
            </a:r>
          </a:p>
          <a:p>
            <a:pPr lvl="1"/>
            <a:r>
              <a:rPr lang="cy-GB" dirty="0" smtClean="0"/>
              <a:t>Output: 𝑡𝑎𝑛</a:t>
            </a:r>
            <a:r>
              <a:rPr lang="cy-GB" dirty="0"/>
              <a:t>ℎ(−3)≈−</a:t>
            </a:r>
            <a:r>
              <a:rPr lang="cy-GB" dirty="0" smtClean="0"/>
              <a:t>0.995</a:t>
            </a:r>
          </a:p>
          <a:p>
            <a:r>
              <a:rPr lang="cy-GB" dirty="0" smtClean="0"/>
              <a:t>Properties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range: (-1, 1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Zero-centered</a:t>
            </a:r>
          </a:p>
          <a:p>
            <a:pPr lvl="1"/>
            <a:r>
              <a:rPr lang="cy-GB" dirty="0" smtClean="0"/>
              <a:t>Nonlinear</a:t>
            </a:r>
          </a:p>
          <a:p>
            <a:pPr lvl="1"/>
            <a:r>
              <a:rPr lang="cy-GB" dirty="0" smtClean="0"/>
              <a:t>Smooth </a:t>
            </a:r>
            <a:r>
              <a:rPr lang="cy-GB" dirty="0"/>
              <a:t>and </a:t>
            </a:r>
            <a:r>
              <a:rPr lang="cy-GB" dirty="0" smtClean="0"/>
              <a:t>differentiable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Zero-centered output</a:t>
            </a:r>
          </a:p>
          <a:p>
            <a:pPr lvl="1"/>
            <a:r>
              <a:rPr lang="cy-GB" dirty="0" smtClean="0"/>
              <a:t>Faster </a:t>
            </a:r>
            <a:r>
              <a:rPr lang="cy-GB" dirty="0"/>
              <a:t>training than </a:t>
            </a:r>
            <a:r>
              <a:rPr lang="cy-GB" dirty="0" smtClean="0"/>
              <a:t>sigmoid</a:t>
            </a:r>
          </a:p>
          <a:p>
            <a:pPr lvl="1"/>
            <a:r>
              <a:rPr lang="cy-GB" dirty="0" smtClean="0"/>
              <a:t>Better </a:t>
            </a:r>
            <a:r>
              <a:rPr lang="cy-GB" dirty="0"/>
              <a:t>gradient </a:t>
            </a:r>
            <a:r>
              <a:rPr lang="cy-GB" dirty="0" smtClean="0"/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92922779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Still </a:t>
            </a:r>
            <a:r>
              <a:rPr lang="cy-GB" dirty="0"/>
              <a:t>suffers from vanishing gradient </a:t>
            </a:r>
            <a:r>
              <a:rPr lang="cy-GB" dirty="0" smtClean="0"/>
              <a:t>problem</a:t>
            </a:r>
          </a:p>
          <a:p>
            <a:pPr lvl="1"/>
            <a:r>
              <a:rPr lang="cy-GB" dirty="0" smtClean="0"/>
              <a:t>Computationally </a:t>
            </a:r>
            <a:r>
              <a:rPr lang="cy-GB" dirty="0"/>
              <a:t>expensive compared to </a:t>
            </a:r>
            <a:r>
              <a:rPr lang="cy-GB" dirty="0" smtClean="0"/>
              <a:t>ReLU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Hidden </a:t>
            </a:r>
            <a:r>
              <a:rPr lang="cy-GB" dirty="0"/>
              <a:t>layers in neural </a:t>
            </a:r>
            <a:r>
              <a:rPr lang="cy-GB" dirty="0" smtClean="0"/>
              <a:t>networks</a:t>
            </a:r>
          </a:p>
          <a:p>
            <a:pPr lvl="1"/>
            <a:r>
              <a:rPr lang="cy-GB" dirty="0" smtClean="0"/>
              <a:t>When </a:t>
            </a:r>
            <a:r>
              <a:rPr lang="cy-GB" dirty="0"/>
              <a:t>negative output </a:t>
            </a:r>
            <a:r>
              <a:rPr lang="cy-GB" dirty="0" smtClean="0"/>
              <a:t>needed</a:t>
            </a:r>
          </a:p>
          <a:p>
            <a:pPr lvl="1"/>
            <a:r>
              <a:rPr lang="cy-GB" dirty="0" smtClean="0"/>
              <a:t>Recurrent </a:t>
            </a:r>
            <a:r>
              <a:rPr lang="cy-GB" dirty="0"/>
              <a:t>neural networks (RNN</a:t>
            </a:r>
            <a:r>
              <a:rPr lang="cy-GB" dirty="0" smtClean="0"/>
              <a:t>)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Very </a:t>
            </a:r>
            <a:r>
              <a:rPr lang="cy-GB" dirty="0"/>
              <a:t>deep neural </a:t>
            </a:r>
            <a:r>
              <a:rPr lang="cy-GB" dirty="0" smtClean="0"/>
              <a:t>networks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performs better there</a:t>
            </a:r>
            <a:r>
              <a:rPr lang="cy-GB" dirty="0" smtClean="0"/>
              <a:t>.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Derivative </a:t>
            </a:r>
            <a:r>
              <a:rPr lang="cy-GB" dirty="0"/>
              <a:t>of tanh:</a:t>
            </a:r>
            <a:r>
              <a:rPr lang="cy-GB" dirty="0" smtClean="0"/>
              <a:t>𝑑/𝑑𝑥*𝑡𝑎𝑛</a:t>
            </a:r>
            <a:r>
              <a:rPr lang="cy-GB" dirty="0"/>
              <a:t>ℎ(𝑥)=1−𝑡𝑎𝑛</a:t>
            </a:r>
            <a:r>
              <a:rPr lang="cy-GB" dirty="0" smtClean="0"/>
              <a:t>ℎ^2</a:t>
            </a:r>
            <a:r>
              <a:rPr lang="cy-GB" dirty="0"/>
              <a:t>(𝑥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Derivative </a:t>
            </a:r>
            <a:r>
              <a:rPr lang="cy-GB" dirty="0"/>
              <a:t>is larger than sigmoid derivative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improves gradient flow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However</a:t>
            </a:r>
            <a:r>
              <a:rPr lang="cy-GB" dirty="0"/>
              <a:t>, for very large inputs, gradient still becomes </a:t>
            </a:r>
            <a:r>
              <a:rPr lang="cy-GB" dirty="0" smtClean="0"/>
              <a:t>small.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Tanh </a:t>
            </a:r>
            <a:r>
              <a:rPr lang="cy-GB" dirty="0"/>
              <a:t>outputs values between −1 and +1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Better </a:t>
            </a:r>
            <a:r>
              <a:rPr lang="cy-GB" dirty="0"/>
              <a:t>than sigmoid but still has vanishing gradient problem.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95338158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42: </a:t>
            </a:r>
            <a:r>
              <a:rPr lang="en-US" dirty="0" err="1"/>
              <a:t>ReLU</a:t>
            </a:r>
            <a:r>
              <a:rPr lang="en-US" dirty="0"/>
              <a:t> (Rectified Linear Unit) Activation Function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y-GB" dirty="0"/>
              <a:t>ReLU is the most important and most widely used activation function in modern deep learning. It solved major problems that sigmoid and tanh could not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is an activation function that outputs the input directly if it is positive, and outputs zero if it is negative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Negative </a:t>
            </a:r>
            <a:r>
              <a:rPr lang="cy-GB" dirty="0"/>
              <a:t>input → output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Positive </a:t>
            </a:r>
            <a:r>
              <a:rPr lang="cy-GB" dirty="0"/>
              <a:t>input → output same </a:t>
            </a:r>
            <a:r>
              <a:rPr lang="cy-GB" dirty="0" smtClean="0"/>
              <a:t>value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and Tanh suffer from vanishing gradient problem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slows down or stops learning in deep neural networks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solves this by maintaining strong gradients for positive inputs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training faster and more efficient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5527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Think </a:t>
            </a:r>
            <a:r>
              <a:rPr lang="cy-GB" dirty="0"/>
              <a:t>of a gate that only allows positive signals to pass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Negative </a:t>
            </a:r>
            <a:r>
              <a:rPr lang="cy-GB" dirty="0"/>
              <a:t>signals are </a:t>
            </a:r>
            <a:r>
              <a:rPr lang="cy-GB" dirty="0" smtClean="0"/>
              <a:t>blocked.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works like this gate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Formula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function</a:t>
            </a:r>
            <a:r>
              <a:rPr lang="cy-GB" dirty="0" smtClean="0"/>
              <a:t>: 𝑓</a:t>
            </a:r>
            <a:r>
              <a:rPr lang="cy-GB" dirty="0"/>
              <a:t>(𝑥)=max⁡(0,𝑥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f(x</a:t>
            </a:r>
            <a:r>
              <a:rPr lang="cy-GB" dirty="0"/>
              <a:t>) = </a:t>
            </a:r>
            <a:r>
              <a:rPr lang="cy-GB" dirty="0" smtClean="0"/>
              <a:t>output</a:t>
            </a:r>
          </a:p>
          <a:p>
            <a:pPr lvl="1"/>
            <a:r>
              <a:rPr lang="cy-GB" dirty="0" smtClean="0"/>
              <a:t>x </a:t>
            </a:r>
            <a:r>
              <a:rPr lang="cy-GB" dirty="0"/>
              <a:t>= </a:t>
            </a:r>
            <a:r>
              <a:rPr lang="cy-GB" dirty="0" smtClean="0"/>
              <a:t>input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x ≥ 0 → f(x) = </a:t>
            </a:r>
            <a:r>
              <a:rPr lang="cy-GB" dirty="0" smtClean="0"/>
              <a:t>x</a:t>
            </a:r>
          </a:p>
          <a:p>
            <a:pPr lvl="1"/>
            <a:r>
              <a:rPr lang="cy-GB" dirty="0" smtClean="0"/>
              <a:t>If </a:t>
            </a:r>
            <a:r>
              <a:rPr lang="cy-GB" dirty="0"/>
              <a:t>x &lt; 0 → f(x) = </a:t>
            </a:r>
            <a:r>
              <a:rPr lang="cy-GB" dirty="0" smtClean="0"/>
              <a:t>0</a:t>
            </a:r>
          </a:p>
          <a:p>
            <a:r>
              <a:rPr lang="cy-GB" dirty="0" smtClean="0"/>
              <a:t>Visual </a:t>
            </a:r>
            <a:r>
              <a:rPr lang="cy-GB" dirty="0"/>
              <a:t>explanation </a:t>
            </a:r>
          </a:p>
          <a:p>
            <a:pPr lvl="1"/>
            <a:r>
              <a:rPr lang="cy-GB" dirty="0" smtClean="0"/>
              <a:t>Diagram</a:t>
            </a:r>
            <a:r>
              <a:rPr lang="cy-GB" dirty="0"/>
              <a:t>: ReLU function </a:t>
            </a:r>
            <a:r>
              <a:rPr lang="cy-GB" dirty="0" smtClean="0"/>
              <a:t>graph</a:t>
            </a:r>
          </a:p>
          <a:p>
            <a:pPr lvl="1"/>
            <a:r>
              <a:rPr lang="cy-GB" dirty="0" smtClean="0"/>
              <a:t>Explanation:Negative </a:t>
            </a:r>
            <a:r>
              <a:rPr lang="cy-GB" dirty="0"/>
              <a:t>side → flat at 0Positive side → straight </a:t>
            </a:r>
            <a:r>
              <a:rPr lang="cy-GB" dirty="0" smtClean="0"/>
              <a:t>line</a:t>
            </a:r>
          </a:p>
        </p:txBody>
      </p:sp>
      <p:pic>
        <p:nvPicPr>
          <p:cNvPr id="150530" name="Picture 2" descr="https://media.geeksforgeeks.org/wp-content/uploads/20250129162127770664/Relu-activation-func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36" y="1580209"/>
            <a:ext cx="6012076" cy="393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70260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Input: x </a:t>
            </a:r>
            <a:r>
              <a:rPr lang="cy-GB" dirty="0"/>
              <a:t>= -</a:t>
            </a:r>
            <a:r>
              <a:rPr lang="cy-GB" dirty="0" smtClean="0"/>
              <a:t>5</a:t>
            </a:r>
          </a:p>
          <a:p>
            <a:pPr lvl="1"/>
            <a:r>
              <a:rPr lang="cy-GB" dirty="0" smtClean="0"/>
              <a:t>Output: f(x</a:t>
            </a:r>
            <a:r>
              <a:rPr lang="cy-GB" dirty="0"/>
              <a:t>) =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Input:x </a:t>
            </a:r>
            <a:r>
              <a:rPr lang="cy-GB" dirty="0"/>
              <a:t>= </a:t>
            </a:r>
            <a:r>
              <a:rPr lang="cy-GB" dirty="0" smtClean="0"/>
              <a:t>3</a:t>
            </a:r>
          </a:p>
          <a:p>
            <a:pPr lvl="1"/>
            <a:r>
              <a:rPr lang="cy-GB" dirty="0" smtClean="0"/>
              <a:t>Output: f(x</a:t>
            </a:r>
            <a:r>
              <a:rPr lang="cy-GB" dirty="0"/>
              <a:t>) = </a:t>
            </a:r>
            <a:r>
              <a:rPr lang="cy-GB" dirty="0" smtClean="0"/>
              <a:t>3</a:t>
            </a:r>
          </a:p>
          <a:p>
            <a:r>
              <a:rPr lang="cy-GB" dirty="0" smtClean="0"/>
              <a:t>Properties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range: [0, ∞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Nonlinear</a:t>
            </a:r>
          </a:p>
          <a:p>
            <a:pPr lvl="1"/>
            <a:r>
              <a:rPr lang="cy-GB" dirty="0" smtClean="0"/>
              <a:t>Computationally simple</a:t>
            </a:r>
          </a:p>
          <a:p>
            <a:pPr lvl="1"/>
            <a:r>
              <a:rPr lang="cy-GB" dirty="0" smtClean="0"/>
              <a:t>Fast computation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Very </a:t>
            </a:r>
            <a:r>
              <a:rPr lang="cy-GB" dirty="0"/>
              <a:t>fast </a:t>
            </a:r>
            <a:r>
              <a:rPr lang="cy-GB" dirty="0" smtClean="0"/>
              <a:t>training</a:t>
            </a:r>
          </a:p>
          <a:p>
            <a:pPr lvl="1"/>
            <a:r>
              <a:rPr lang="cy-GB" dirty="0" smtClean="0"/>
              <a:t>Solves </a:t>
            </a:r>
            <a:r>
              <a:rPr lang="cy-GB" dirty="0"/>
              <a:t>vanishing gradient </a:t>
            </a:r>
            <a:r>
              <a:rPr lang="cy-GB" dirty="0" smtClean="0"/>
              <a:t>problem</a:t>
            </a:r>
          </a:p>
          <a:p>
            <a:pPr lvl="1"/>
            <a:r>
              <a:rPr lang="cy-GB" dirty="0" smtClean="0"/>
              <a:t>Simple computation</a:t>
            </a:r>
          </a:p>
          <a:p>
            <a:pPr lvl="1"/>
            <a:r>
              <a:rPr lang="cy-GB" dirty="0" smtClean="0"/>
              <a:t>Efficient </a:t>
            </a:r>
            <a:r>
              <a:rPr lang="cy-GB" dirty="0"/>
              <a:t>for deep </a:t>
            </a:r>
            <a:r>
              <a:rPr lang="cy-GB" dirty="0" smtClean="0"/>
              <a:t>networks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Dying </a:t>
            </a:r>
            <a:r>
              <a:rPr lang="cy-GB" dirty="0"/>
              <a:t>ReLU </a:t>
            </a:r>
            <a:r>
              <a:rPr lang="cy-GB" dirty="0" smtClean="0"/>
              <a:t>problem</a:t>
            </a:r>
          </a:p>
          <a:p>
            <a:pPr lvl="1"/>
            <a:r>
              <a:rPr lang="cy-GB" dirty="0" smtClean="0"/>
              <a:t>Some </a:t>
            </a:r>
            <a:r>
              <a:rPr lang="cy-GB" dirty="0"/>
              <a:t>neurons may permanently output </a:t>
            </a:r>
            <a:r>
              <a:rPr lang="cy-GB" dirty="0" smtClean="0"/>
              <a:t>zero</a:t>
            </a:r>
          </a:p>
        </p:txBody>
      </p:sp>
    </p:spTree>
    <p:extLst>
      <p:ext uri="{BB962C8B-B14F-4D97-AF65-F5344CB8AC3E}">
        <p14:creationId xmlns:p14="http://schemas.microsoft.com/office/powerpoint/2010/main" val="32049808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0000" lnSpcReduction="20000"/>
          </a:bodyPr>
          <a:lstStyle/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Hidden </a:t>
            </a:r>
            <a:r>
              <a:rPr lang="cy-GB" dirty="0"/>
              <a:t>layers in deep neural </a:t>
            </a:r>
            <a:r>
              <a:rPr lang="cy-GB" dirty="0" smtClean="0"/>
              <a:t>networks</a:t>
            </a:r>
          </a:p>
          <a:p>
            <a:pPr lvl="1"/>
            <a:r>
              <a:rPr lang="cy-GB" dirty="0" smtClean="0"/>
              <a:t>Computer vision</a:t>
            </a:r>
          </a:p>
          <a:p>
            <a:pPr lvl="1"/>
            <a:r>
              <a:rPr lang="cy-GB" dirty="0" smtClean="0"/>
              <a:t>Deep learning</a:t>
            </a:r>
          </a:p>
          <a:p>
            <a:pPr lvl="1"/>
            <a:r>
              <a:rPr lang="cy-GB" dirty="0" smtClean="0"/>
              <a:t>Most </a:t>
            </a:r>
            <a:r>
              <a:rPr lang="cy-GB" dirty="0"/>
              <a:t>neural networks use </a:t>
            </a:r>
            <a:r>
              <a:rPr lang="cy-GB" dirty="0" smtClean="0"/>
              <a:t>ReLU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Output </a:t>
            </a:r>
            <a:r>
              <a:rPr lang="cy-GB" dirty="0"/>
              <a:t>layer of classification </a:t>
            </a:r>
            <a:r>
              <a:rPr lang="cy-GB" dirty="0" smtClean="0"/>
              <a:t>problems</a:t>
            </a:r>
          </a:p>
          <a:p>
            <a:pPr lvl="1"/>
            <a:r>
              <a:rPr lang="cy-GB" dirty="0" smtClean="0"/>
              <a:t>Use </a:t>
            </a:r>
            <a:r>
              <a:rPr lang="cy-GB" dirty="0"/>
              <a:t>Softmax or Sigmoid instead</a:t>
            </a:r>
            <a:r>
              <a:rPr lang="cy-GB" dirty="0" smtClean="0"/>
              <a:t>.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Derivative </a:t>
            </a:r>
            <a:r>
              <a:rPr lang="cy-GB" dirty="0"/>
              <a:t>of ReLU:𝑓′(𝑥</a:t>
            </a:r>
            <a:r>
              <a:rPr lang="cy-GB" dirty="0" smtClean="0"/>
              <a:t>)=1</a:t>
            </a:r>
            <a:r>
              <a:rPr lang="cy-GB" dirty="0"/>
              <a:t>	𝑥&gt;</a:t>
            </a:r>
            <a:r>
              <a:rPr lang="cy-GB" dirty="0" smtClean="0"/>
              <a:t>0, 0 𝑥</a:t>
            </a:r>
            <a:r>
              <a:rPr lang="cy-GB" dirty="0"/>
              <a:t>&lt;</a:t>
            </a:r>
            <a:r>
              <a:rPr lang="cy-GB" dirty="0" smtClean="0"/>
              <a:t>0</a:t>
            </a:r>
            <a:r>
              <a:rPr lang="cy-GB" dirty="0"/>
              <a:t>	</a:t>
            </a:r>
            <a:endParaRPr lang="cy-GB" dirty="0" smtClean="0"/>
          </a:p>
          <a:p>
            <a:pPr lvl="1"/>
            <a:r>
              <a:rPr lang="cy-GB" dirty="0" smtClean="0"/>
              <a:t>​</a:t>
            </a:r>
            <a:r>
              <a:rPr lang="cy-GB" dirty="0"/>
              <a:t>This ensures strong gradient for positive inputs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training efficient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ReLU is better than Sigmoid and </a:t>
            </a:r>
            <a:r>
              <a:rPr lang="cy-GB" dirty="0" smtClean="0"/>
              <a:t>Tanh</a:t>
            </a:r>
          </a:p>
          <a:p>
            <a:pPr lvl="1"/>
            <a:r>
              <a:rPr lang="cy-GB" dirty="0" smtClean="0"/>
              <a:t>Sigmoid </a:t>
            </a:r>
            <a:r>
              <a:rPr lang="cy-GB" dirty="0"/>
              <a:t>gradient → very </a:t>
            </a:r>
            <a:r>
              <a:rPr lang="cy-GB" dirty="0" smtClean="0"/>
              <a:t>small</a:t>
            </a:r>
          </a:p>
          <a:p>
            <a:pPr lvl="1"/>
            <a:r>
              <a:rPr lang="cy-GB" dirty="0" smtClean="0"/>
              <a:t>Tanh </a:t>
            </a:r>
            <a:r>
              <a:rPr lang="cy-GB" dirty="0"/>
              <a:t>gradient → </a:t>
            </a:r>
            <a:r>
              <a:rPr lang="cy-GB" dirty="0" smtClean="0"/>
              <a:t>small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gradient → strong and </a:t>
            </a:r>
            <a:r>
              <a:rPr lang="cy-GB" dirty="0" smtClean="0"/>
              <a:t>stable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makes deep learning possible</a:t>
            </a:r>
            <a:r>
              <a:rPr lang="cy-GB" dirty="0" smtClean="0"/>
              <a:t>.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ReLU </a:t>
            </a:r>
            <a:r>
              <a:rPr lang="cy-GB" dirty="0"/>
              <a:t>is the most important activation function in deep learning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enables fast and efficient neural network training.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96476572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43: Leaky </a:t>
            </a:r>
            <a:r>
              <a:rPr lang="en-US" dirty="0" err="1"/>
              <a:t>ReLU</a:t>
            </a:r>
            <a:r>
              <a:rPr lang="en-US" dirty="0"/>
              <a:t> Activation Function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Leaky </a:t>
            </a:r>
            <a:r>
              <a:rPr lang="en-US" dirty="0" err="1"/>
              <a:t>ReLU</a:t>
            </a:r>
            <a:r>
              <a:rPr lang="en-US" dirty="0"/>
              <a:t> is an improved version of </a:t>
            </a:r>
            <a:r>
              <a:rPr lang="en-US" dirty="0" err="1"/>
              <a:t>ReLU</a:t>
            </a:r>
            <a:r>
              <a:rPr lang="en-US" dirty="0"/>
              <a:t> designed to solve one of </a:t>
            </a:r>
            <a:r>
              <a:rPr lang="en-US" dirty="0" err="1"/>
              <a:t>ReLU’s</a:t>
            </a:r>
            <a:r>
              <a:rPr lang="en-US" dirty="0"/>
              <a:t> biggest problems: the Dying </a:t>
            </a:r>
            <a:r>
              <a:rPr lang="en-US" dirty="0" err="1"/>
              <a:t>ReLU</a:t>
            </a:r>
            <a:r>
              <a:rPr lang="en-US" dirty="0"/>
              <a:t> problem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Leaky </a:t>
            </a:r>
            <a:r>
              <a:rPr lang="en-US" dirty="0" err="1"/>
              <a:t>ReLU</a:t>
            </a:r>
            <a:r>
              <a:rPr lang="en-US" dirty="0"/>
              <a:t> is an activation function that allows a small, non-zero output for negative inputs instead of outputting zero like </a:t>
            </a:r>
            <a:r>
              <a:rPr lang="en-US" dirty="0" err="1"/>
              <a:t>ReLU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Negative </a:t>
            </a:r>
            <a:r>
              <a:rPr lang="en-US" dirty="0"/>
              <a:t>input → small negative </a:t>
            </a:r>
            <a:r>
              <a:rPr lang="en-US" dirty="0" smtClean="0"/>
              <a:t>output, Positive </a:t>
            </a:r>
            <a:r>
              <a:rPr lang="en-US" dirty="0"/>
              <a:t>input → normal positive </a:t>
            </a:r>
            <a:r>
              <a:rPr lang="en-US" dirty="0" smtClean="0"/>
              <a:t>output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err="1" smtClean="0"/>
              <a:t>ReLU</a:t>
            </a:r>
            <a:r>
              <a:rPr lang="en-US" dirty="0" smtClean="0"/>
              <a:t> </a:t>
            </a:r>
            <a:r>
              <a:rPr lang="en-US" dirty="0"/>
              <a:t>outputs zero for all negative inputs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can cause neurons to stop learning permanently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called the Dying </a:t>
            </a:r>
            <a:r>
              <a:rPr lang="en-US" dirty="0" err="1"/>
              <a:t>ReLU</a:t>
            </a:r>
            <a:r>
              <a:rPr lang="en-US" dirty="0"/>
              <a:t> problem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Leaky </a:t>
            </a:r>
            <a:r>
              <a:rPr lang="en-US" dirty="0" err="1"/>
              <a:t>ReLU</a:t>
            </a:r>
            <a:r>
              <a:rPr lang="en-US" dirty="0"/>
              <a:t> solves this by allowing a small gradient for negative inputs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keeps neurons alive and learning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315712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Think </a:t>
            </a:r>
            <a:r>
              <a:rPr lang="en-US" dirty="0"/>
              <a:t>of a gate that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Fully </a:t>
            </a:r>
            <a:r>
              <a:rPr lang="en-US" dirty="0"/>
              <a:t>opens for positive </a:t>
            </a:r>
            <a:r>
              <a:rPr lang="en-US" dirty="0" smtClean="0"/>
              <a:t>signals</a:t>
            </a:r>
          </a:p>
          <a:p>
            <a:pPr lvl="1"/>
            <a:r>
              <a:rPr lang="en-US" dirty="0" smtClean="0"/>
              <a:t>Partially </a:t>
            </a:r>
            <a:r>
              <a:rPr lang="en-US" dirty="0"/>
              <a:t>opens for negative </a:t>
            </a:r>
            <a:r>
              <a:rPr lang="en-US" dirty="0" smtClean="0"/>
              <a:t>signals</a:t>
            </a:r>
          </a:p>
          <a:p>
            <a:pPr lvl="1"/>
            <a:r>
              <a:rPr lang="en-US" dirty="0" smtClean="0"/>
              <a:t>Instead </a:t>
            </a:r>
            <a:r>
              <a:rPr lang="en-US" dirty="0"/>
              <a:t>of completely blocking negative </a:t>
            </a:r>
            <a:r>
              <a:rPr lang="en-US" dirty="0" smtClean="0"/>
              <a:t>signals.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Leaky </a:t>
            </a:r>
            <a:r>
              <a:rPr lang="en-US" dirty="0" err="1"/>
              <a:t>ReLU</a:t>
            </a:r>
            <a:r>
              <a:rPr lang="en-US" dirty="0"/>
              <a:t> function</a:t>
            </a:r>
            <a:r>
              <a:rPr lang="en-US" dirty="0" smtClean="0"/>
              <a:t>:𝑓</a:t>
            </a:r>
            <a:r>
              <a:rPr lang="en-US" dirty="0"/>
              <a:t>(𝑥</a:t>
            </a:r>
            <a:r>
              <a:rPr lang="en-US" dirty="0" smtClean="0"/>
              <a:t>)=𝑥</a:t>
            </a:r>
            <a:r>
              <a:rPr lang="en-US" dirty="0"/>
              <a:t>	𝑥&gt;</a:t>
            </a:r>
            <a:r>
              <a:rPr lang="en-US" dirty="0" smtClean="0"/>
              <a:t>0, 𝛼𝑥</a:t>
            </a:r>
            <a:r>
              <a:rPr lang="en-US" dirty="0"/>
              <a:t>	𝑥≤</a:t>
            </a:r>
            <a:r>
              <a:rPr lang="en-US" dirty="0" smtClean="0"/>
              <a:t>0</a:t>
            </a:r>
            <a:r>
              <a:rPr lang="en-US" dirty="0"/>
              <a:t>	</a:t>
            </a:r>
            <a:r>
              <a:rPr lang="en-US" dirty="0" smtClean="0"/>
              <a:t>​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f(x</a:t>
            </a:r>
            <a:r>
              <a:rPr lang="en-US" dirty="0"/>
              <a:t>) = </a:t>
            </a:r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smtClean="0"/>
              <a:t>input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(</a:t>
            </a:r>
            <a:r>
              <a:rPr lang="en-US" dirty="0"/>
              <a:t>alpha) = small constant (usually 0.01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Example: If </a:t>
            </a:r>
            <a:r>
              <a:rPr lang="en-US" dirty="0"/>
              <a:t>x = -</a:t>
            </a:r>
            <a:r>
              <a:rPr lang="en-US" dirty="0" smtClean="0"/>
              <a:t>10</a:t>
            </a:r>
          </a:p>
          <a:p>
            <a:pPr lvl="1"/>
            <a:r>
              <a:rPr lang="en-US" dirty="0" smtClean="0"/>
              <a:t>Output</a:t>
            </a:r>
            <a:r>
              <a:rPr lang="en-US" dirty="0"/>
              <a:t>:𝑓(𝑥)=−</a:t>
            </a:r>
            <a:r>
              <a:rPr lang="en-US" dirty="0" smtClean="0"/>
              <a:t>0.1</a:t>
            </a:r>
          </a:p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Diagram: </a:t>
            </a:r>
            <a:r>
              <a:rPr lang="en-US" dirty="0" err="1" smtClean="0"/>
              <a:t>ReLU</a:t>
            </a:r>
            <a:r>
              <a:rPr lang="en-US" dirty="0" smtClean="0"/>
              <a:t> vs Leaky </a:t>
            </a:r>
            <a:r>
              <a:rPr lang="en-US" dirty="0" err="1" smtClean="0"/>
              <a:t>ReLU</a:t>
            </a:r>
            <a:endParaRPr lang="en-US" dirty="0" smtClean="0"/>
          </a:p>
          <a:p>
            <a:pPr lvl="1"/>
            <a:r>
              <a:rPr lang="en-US" dirty="0" smtClean="0"/>
              <a:t>Explanation: </a:t>
            </a:r>
          </a:p>
          <a:p>
            <a:pPr lvl="2"/>
            <a:r>
              <a:rPr lang="en-US" dirty="0" err="1" smtClean="0"/>
              <a:t>ReLU</a:t>
            </a:r>
            <a:r>
              <a:rPr lang="en-US" dirty="0" smtClean="0"/>
              <a:t> negative side = flat line</a:t>
            </a:r>
          </a:p>
          <a:p>
            <a:pPr lvl="2"/>
            <a:r>
              <a:rPr lang="en-US" dirty="0" smtClean="0"/>
              <a:t>Leaky </a:t>
            </a:r>
            <a:r>
              <a:rPr lang="en-US" dirty="0" err="1" smtClean="0"/>
              <a:t>ReLU</a:t>
            </a:r>
            <a:r>
              <a:rPr lang="en-US" dirty="0" smtClean="0"/>
              <a:t> negative side = small slope</a:t>
            </a:r>
          </a:p>
        </p:txBody>
      </p:sp>
      <p:pic>
        <p:nvPicPr>
          <p:cNvPr id="153602" name="Picture 2" descr="https://miro.medium.com/v2/1*y1Gri2Hlk6X465Sfs_34z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417" y="4118794"/>
            <a:ext cx="6609114" cy="230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65133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err="1" smtClean="0"/>
              <a:t>Input:x</a:t>
            </a:r>
            <a:r>
              <a:rPr lang="en-US" dirty="0" smtClean="0"/>
              <a:t> </a:t>
            </a:r>
            <a:r>
              <a:rPr lang="en-US" dirty="0"/>
              <a:t>= -</a:t>
            </a:r>
            <a:r>
              <a:rPr lang="en-US" dirty="0" smtClean="0"/>
              <a:t>5</a:t>
            </a:r>
          </a:p>
          <a:p>
            <a:pPr lvl="1"/>
            <a:r>
              <a:rPr lang="en-US" dirty="0" err="1" smtClean="0"/>
              <a:t>ReLU</a:t>
            </a:r>
            <a:r>
              <a:rPr lang="en-US" dirty="0" smtClean="0"/>
              <a:t> output: 0</a:t>
            </a:r>
          </a:p>
          <a:p>
            <a:pPr lvl="1"/>
            <a:r>
              <a:rPr lang="en-US" dirty="0" smtClean="0"/>
              <a:t>Leaky </a:t>
            </a:r>
            <a:r>
              <a:rPr lang="en-US" dirty="0" err="1"/>
              <a:t>ReLU</a:t>
            </a:r>
            <a:r>
              <a:rPr lang="en-US" dirty="0"/>
              <a:t> output</a:t>
            </a:r>
            <a:r>
              <a:rPr lang="en-US" dirty="0" smtClean="0"/>
              <a:t>: −0.05</a:t>
            </a:r>
          </a:p>
          <a:p>
            <a:pPr lvl="1"/>
            <a:r>
              <a:rPr lang="en-US" dirty="0" err="1" smtClean="0"/>
              <a:t>Input:x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5</a:t>
            </a:r>
          </a:p>
          <a:p>
            <a:pPr lvl="1"/>
            <a:r>
              <a:rPr lang="en-US" dirty="0" smtClean="0"/>
              <a:t>Output: 5</a:t>
            </a:r>
          </a:p>
          <a:p>
            <a:r>
              <a:rPr lang="en-US" dirty="0" smtClean="0"/>
              <a:t>Properties</a:t>
            </a:r>
          </a:p>
          <a:p>
            <a:pPr lvl="1"/>
            <a:r>
              <a:rPr lang="en-US" dirty="0" smtClean="0"/>
              <a:t>Output </a:t>
            </a:r>
            <a:r>
              <a:rPr lang="en-US" dirty="0"/>
              <a:t>range: (-∞, ∞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Nonlinear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small negative </a:t>
            </a:r>
            <a:r>
              <a:rPr lang="en-US" dirty="0" smtClean="0"/>
              <a:t>output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Solves </a:t>
            </a:r>
            <a:r>
              <a:rPr lang="en-US" dirty="0"/>
              <a:t>dying </a:t>
            </a:r>
            <a:r>
              <a:rPr lang="en-US" dirty="0" err="1"/>
              <a:t>ReLU</a:t>
            </a:r>
            <a:r>
              <a:rPr lang="en-US" dirty="0"/>
              <a:t> </a:t>
            </a:r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Better </a:t>
            </a:r>
            <a:r>
              <a:rPr lang="en-US" dirty="0"/>
              <a:t>gradient </a:t>
            </a:r>
            <a:r>
              <a:rPr lang="en-US" dirty="0" smtClean="0"/>
              <a:t>flow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deep network </a:t>
            </a:r>
            <a:r>
              <a:rPr lang="en-US" dirty="0" smtClean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13958470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Disadvantages</a:t>
            </a:r>
            <a:endParaRPr lang="en-US" dirty="0"/>
          </a:p>
          <a:p>
            <a:pPr lvl="1"/>
            <a:r>
              <a:rPr lang="en-US" dirty="0"/>
              <a:t>Slightly more complex than </a:t>
            </a:r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dirty="0"/>
              <a:t>Requires choosing alpha </a:t>
            </a:r>
            <a:r>
              <a:rPr lang="en-US" dirty="0" smtClean="0"/>
              <a:t>value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Deep </a:t>
            </a:r>
            <a:r>
              <a:rPr lang="en-US" dirty="0"/>
              <a:t>neural </a:t>
            </a:r>
            <a:r>
              <a:rPr lang="en-US" dirty="0" smtClean="0"/>
              <a:t>networks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dying </a:t>
            </a:r>
            <a:r>
              <a:rPr lang="en-US" dirty="0" err="1"/>
              <a:t>ReLU</a:t>
            </a:r>
            <a:r>
              <a:rPr lang="en-US" dirty="0"/>
              <a:t> problem </a:t>
            </a:r>
            <a:r>
              <a:rPr lang="en-US" dirty="0" smtClean="0"/>
              <a:t>occurs</a:t>
            </a:r>
          </a:p>
          <a:p>
            <a:pPr lvl="1"/>
            <a:r>
              <a:rPr lang="en-US" dirty="0" smtClean="0"/>
              <a:t>Computer vision</a:t>
            </a:r>
          </a:p>
          <a:p>
            <a:pPr lvl="1"/>
            <a:r>
              <a:rPr lang="en-US" dirty="0" smtClean="0"/>
              <a:t>Deep learning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neural </a:t>
            </a:r>
            <a:r>
              <a:rPr lang="en-US" dirty="0" smtClean="0"/>
              <a:t>networks</a:t>
            </a:r>
          </a:p>
          <a:p>
            <a:pPr lvl="1"/>
            <a:r>
              <a:rPr lang="en-US" dirty="0" smtClean="0"/>
              <a:t>When </a:t>
            </a:r>
            <a:r>
              <a:rPr lang="en-US" dirty="0" err="1"/>
              <a:t>ReLU</a:t>
            </a:r>
            <a:r>
              <a:rPr lang="en-US" dirty="0"/>
              <a:t> already works </a:t>
            </a:r>
            <a:r>
              <a:rPr lang="en-US" dirty="0" smtClean="0"/>
              <a:t>well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Derivative </a:t>
            </a:r>
            <a:r>
              <a:rPr lang="en-US" dirty="0"/>
              <a:t>of Leaky </a:t>
            </a:r>
            <a:r>
              <a:rPr lang="en-US" dirty="0" err="1"/>
              <a:t>ReLU</a:t>
            </a:r>
            <a:r>
              <a:rPr lang="en-US" dirty="0" smtClean="0"/>
              <a:t>: 𝑓</a:t>
            </a:r>
            <a:r>
              <a:rPr lang="en-US" dirty="0"/>
              <a:t>′(𝑥)={1	𝑥&gt;</a:t>
            </a:r>
            <a:r>
              <a:rPr lang="en-US" dirty="0" smtClean="0"/>
              <a:t>0, 𝛼</a:t>
            </a:r>
            <a:r>
              <a:rPr lang="en-US" dirty="0"/>
              <a:t>	𝑥≤</a:t>
            </a:r>
            <a:r>
              <a:rPr lang="en-US" dirty="0" smtClean="0"/>
              <a:t>0</a:t>
            </a:r>
          </a:p>
          <a:p>
            <a:pPr lvl="1"/>
            <a:r>
              <a:rPr lang="en-US" dirty="0" smtClean="0"/>
              <a:t>​</a:t>
            </a:r>
            <a:r>
              <a:rPr lang="en-US" dirty="0"/>
              <a:t>Unlike </a:t>
            </a:r>
            <a:r>
              <a:rPr lang="en-US" dirty="0" err="1"/>
              <a:t>ReLU</a:t>
            </a:r>
            <a:r>
              <a:rPr lang="en-US" dirty="0"/>
              <a:t>, gradient never becomes zero completely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continuous learning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Leaky </a:t>
            </a:r>
            <a:r>
              <a:rPr lang="en-US" dirty="0" err="1"/>
              <a:t>ReLU</a:t>
            </a:r>
            <a:r>
              <a:rPr lang="en-US" dirty="0"/>
              <a:t> solves dying </a:t>
            </a:r>
            <a:r>
              <a:rPr lang="en-US" dirty="0" err="1"/>
              <a:t>ReLU</a:t>
            </a:r>
            <a:r>
              <a:rPr lang="en-US" dirty="0"/>
              <a:t> problem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neural network training.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49868477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44: </a:t>
            </a:r>
            <a:r>
              <a:rPr lang="en-IN" dirty="0" err="1"/>
              <a:t>Softmax</a:t>
            </a:r>
            <a:r>
              <a:rPr lang="en-IN" dirty="0"/>
              <a:t> Activation Function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Softmax</a:t>
            </a:r>
            <a:r>
              <a:rPr lang="en-US" dirty="0"/>
              <a:t> is the most important activation function for multiclass classification problems. It converts outputs into probabilities that sum to 1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 </a:t>
            </a:r>
          </a:p>
          <a:p>
            <a:pPr lvl="1"/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is an activation function that converts multiple input values into probabilities that sum to 1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</a:t>
            </a:r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tells the probability of each class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multiclass classification, we need probability for each class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Cat </a:t>
            </a:r>
            <a:r>
              <a:rPr lang="en-US" dirty="0"/>
              <a:t>= </a:t>
            </a:r>
            <a:r>
              <a:rPr lang="en-US" dirty="0" smtClean="0"/>
              <a:t>0.7, Dog </a:t>
            </a:r>
            <a:r>
              <a:rPr lang="en-US" dirty="0"/>
              <a:t>= </a:t>
            </a:r>
            <a:r>
              <a:rPr lang="en-US" dirty="0" smtClean="0"/>
              <a:t>0.2, Bird </a:t>
            </a:r>
            <a:r>
              <a:rPr lang="en-US" dirty="0"/>
              <a:t>= </a:t>
            </a:r>
            <a:r>
              <a:rPr lang="en-US" dirty="0" smtClean="0"/>
              <a:t>0.1, Total </a:t>
            </a:r>
            <a:r>
              <a:rPr lang="en-US" dirty="0"/>
              <a:t>= </a:t>
            </a:r>
            <a:r>
              <a:rPr lang="en-US" dirty="0" smtClean="0"/>
              <a:t>1</a:t>
            </a:r>
          </a:p>
          <a:p>
            <a:pPr lvl="1"/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provides this probability distribution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Suppose </a:t>
            </a:r>
            <a:r>
              <a:rPr lang="en-US" dirty="0"/>
              <a:t>you predict weather</a:t>
            </a:r>
            <a:r>
              <a:rPr lang="en-US" dirty="0" smtClean="0"/>
              <a:t>: Sunny</a:t>
            </a:r>
            <a:r>
              <a:rPr lang="en-US" dirty="0"/>
              <a:t>: 70</a:t>
            </a:r>
            <a:r>
              <a:rPr lang="en-US" dirty="0" smtClean="0"/>
              <a:t>%, Rainy</a:t>
            </a:r>
            <a:r>
              <a:rPr lang="en-US" dirty="0"/>
              <a:t>: 20</a:t>
            </a:r>
            <a:r>
              <a:rPr lang="en-US" dirty="0" smtClean="0"/>
              <a:t>%, Cloudy</a:t>
            </a:r>
            <a:r>
              <a:rPr lang="en-US" dirty="0"/>
              <a:t>: 10</a:t>
            </a:r>
            <a:r>
              <a:rPr lang="en-US" dirty="0" smtClean="0"/>
              <a:t>%</a:t>
            </a:r>
          </a:p>
          <a:p>
            <a:pPr lvl="1"/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converts raw scores into probabilities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571698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function</a:t>
            </a:r>
            <a:r>
              <a:rPr lang="en-US" dirty="0" smtClean="0"/>
              <a:t>: 𝑆𝑜𝑓𝑡𝑚𝑎𝑥</a:t>
            </a:r>
            <a:r>
              <a:rPr lang="en-US" dirty="0"/>
              <a:t>(𝑥𝑖)=</a:t>
            </a:r>
            <a:r>
              <a:rPr lang="en-US" dirty="0" smtClean="0"/>
              <a:t>𝑒^𝑥𝑖/∑</a:t>
            </a:r>
            <a:r>
              <a:rPr lang="en-US" dirty="0"/>
              <a:t>𝑗=1</a:t>
            </a:r>
            <a:r>
              <a:rPr lang="en-US" dirty="0" smtClean="0"/>
              <a:t>𝑛*𝑒^𝑥𝑗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xᵢ </a:t>
            </a:r>
            <a:r>
              <a:rPr lang="en-US" dirty="0"/>
              <a:t>= input </a:t>
            </a:r>
            <a:r>
              <a:rPr lang="en-US" dirty="0" smtClean="0"/>
              <a:t>value</a:t>
            </a:r>
          </a:p>
          <a:p>
            <a:pPr lvl="1"/>
            <a:r>
              <a:rPr lang="en-US" dirty="0" smtClean="0"/>
              <a:t>e </a:t>
            </a:r>
            <a:r>
              <a:rPr lang="en-US" dirty="0"/>
              <a:t>= Euler’s number (≈ 2.718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 </a:t>
            </a:r>
            <a:r>
              <a:rPr lang="en-US" dirty="0"/>
              <a:t>= total number of </a:t>
            </a:r>
            <a:r>
              <a:rPr lang="en-US" dirty="0" smtClean="0"/>
              <a:t>classes</a:t>
            </a:r>
          </a:p>
          <a:p>
            <a:pPr lvl="1"/>
            <a:r>
              <a:rPr lang="en-US" dirty="0" smtClean="0"/>
              <a:t>Denominator </a:t>
            </a:r>
            <a:r>
              <a:rPr lang="en-US" dirty="0"/>
              <a:t>ensures sum of probabilities = </a:t>
            </a:r>
            <a:r>
              <a:rPr lang="en-US" dirty="0" smtClean="0"/>
              <a:t>1</a:t>
            </a:r>
          </a:p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</a:t>
            </a:r>
            <a:r>
              <a:rPr lang="en-US" dirty="0"/>
              <a:t>: </a:t>
            </a:r>
            <a:r>
              <a:rPr lang="en-US" dirty="0" err="1"/>
              <a:t>Softmax</a:t>
            </a:r>
            <a:r>
              <a:rPr lang="en-US" dirty="0"/>
              <a:t> probability </a:t>
            </a:r>
            <a:r>
              <a:rPr lang="en-US" dirty="0" smtClean="0"/>
              <a:t>distribution</a:t>
            </a:r>
          </a:p>
          <a:p>
            <a:pPr lvl="1"/>
            <a:r>
              <a:rPr lang="en-US" dirty="0" smtClean="0"/>
              <a:t>Explanation: Raw </a:t>
            </a:r>
            <a:r>
              <a:rPr lang="en-US" dirty="0"/>
              <a:t>scores converted into probability distribution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Practical example</a:t>
            </a:r>
          </a:p>
          <a:p>
            <a:r>
              <a:rPr lang="en-US" dirty="0" smtClean="0"/>
              <a:t>Input </a:t>
            </a:r>
            <a:r>
              <a:rPr lang="en-US" dirty="0"/>
              <a:t>scores</a:t>
            </a:r>
            <a:r>
              <a:rPr lang="en-US" dirty="0" smtClean="0"/>
              <a:t>: Cat </a:t>
            </a:r>
            <a:r>
              <a:rPr lang="en-US" dirty="0"/>
              <a:t>= </a:t>
            </a:r>
            <a:r>
              <a:rPr lang="en-US" dirty="0" smtClean="0"/>
              <a:t>2, Dog </a:t>
            </a:r>
            <a:r>
              <a:rPr lang="en-US" dirty="0"/>
              <a:t>= </a:t>
            </a:r>
            <a:r>
              <a:rPr lang="en-US" dirty="0" smtClean="0"/>
              <a:t>1, Bird </a:t>
            </a:r>
            <a:r>
              <a:rPr lang="en-US" dirty="0"/>
              <a:t>= </a:t>
            </a:r>
            <a:r>
              <a:rPr lang="en-US" dirty="0" smtClean="0"/>
              <a:t>0</a:t>
            </a:r>
          </a:p>
          <a:p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output</a:t>
            </a:r>
            <a:r>
              <a:rPr lang="en-US" dirty="0" smtClean="0"/>
              <a:t>: Cat </a:t>
            </a:r>
            <a:r>
              <a:rPr lang="en-US" dirty="0"/>
              <a:t>= </a:t>
            </a:r>
            <a:r>
              <a:rPr lang="en-US" dirty="0" smtClean="0"/>
              <a:t>0.67, Dog </a:t>
            </a:r>
            <a:r>
              <a:rPr lang="en-US" dirty="0"/>
              <a:t>= </a:t>
            </a:r>
            <a:r>
              <a:rPr lang="en-US" dirty="0" smtClean="0"/>
              <a:t>0.24, Bird </a:t>
            </a:r>
            <a:r>
              <a:rPr lang="en-US" dirty="0"/>
              <a:t>= </a:t>
            </a:r>
            <a:r>
              <a:rPr lang="en-US" dirty="0" smtClean="0"/>
              <a:t>0.09, Sum </a:t>
            </a:r>
            <a:r>
              <a:rPr lang="en-US" dirty="0"/>
              <a:t>= </a:t>
            </a:r>
            <a:r>
              <a:rPr lang="en-US" dirty="0" smtClean="0"/>
              <a:t>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08" y="1514900"/>
            <a:ext cx="4670270" cy="246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9589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Properties</a:t>
            </a:r>
          </a:p>
          <a:p>
            <a:pPr lvl="1"/>
            <a:r>
              <a:rPr lang="en-US" dirty="0" smtClean="0"/>
              <a:t>Output </a:t>
            </a:r>
            <a:r>
              <a:rPr lang="en-US" dirty="0"/>
              <a:t>range: (0,1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Sum </a:t>
            </a:r>
            <a:r>
              <a:rPr lang="en-US" dirty="0"/>
              <a:t>of outputs = 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Produces </a:t>
            </a:r>
            <a:r>
              <a:rPr lang="en-US" dirty="0"/>
              <a:t>probability </a:t>
            </a:r>
            <a:r>
              <a:rPr lang="en-US" dirty="0" smtClean="0"/>
              <a:t>distribution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probability for each </a:t>
            </a:r>
            <a:r>
              <a:rPr lang="en-US" dirty="0" smtClean="0"/>
              <a:t>class</a:t>
            </a:r>
          </a:p>
          <a:p>
            <a:pPr lvl="1"/>
            <a:r>
              <a:rPr lang="en-US" dirty="0" smtClean="0"/>
              <a:t>Perfect </a:t>
            </a:r>
            <a:r>
              <a:rPr lang="en-US" dirty="0"/>
              <a:t>for multiclass </a:t>
            </a:r>
            <a:r>
              <a:rPr lang="en-US" dirty="0" smtClean="0"/>
              <a:t>classification</a:t>
            </a:r>
          </a:p>
          <a:p>
            <a:pPr lvl="1"/>
            <a:r>
              <a:rPr lang="en-US" dirty="0" smtClean="0"/>
              <a:t>Works </a:t>
            </a:r>
            <a:r>
              <a:rPr lang="en-US" dirty="0"/>
              <a:t>well with cross entropy </a:t>
            </a:r>
            <a:r>
              <a:rPr lang="en-US" dirty="0" smtClean="0"/>
              <a:t>loss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Computationally expensive</a:t>
            </a:r>
          </a:p>
          <a:p>
            <a:pPr lvl="1"/>
            <a:r>
              <a:rPr lang="en-US" dirty="0" smtClean="0"/>
              <a:t>Sensitive </a:t>
            </a:r>
            <a:r>
              <a:rPr lang="en-US" dirty="0"/>
              <a:t>to large input </a:t>
            </a:r>
            <a:r>
              <a:rPr lang="en-US" dirty="0" smtClean="0"/>
              <a:t>values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Output </a:t>
            </a:r>
            <a:r>
              <a:rPr lang="en-US" dirty="0"/>
              <a:t>layer of neural </a:t>
            </a:r>
            <a:r>
              <a:rPr lang="en-US" dirty="0" smtClean="0"/>
              <a:t>networks</a:t>
            </a:r>
          </a:p>
          <a:p>
            <a:pPr lvl="1"/>
            <a:r>
              <a:rPr lang="en-US" dirty="0" smtClean="0"/>
              <a:t>Multiclass classification</a:t>
            </a:r>
          </a:p>
          <a:p>
            <a:pPr lvl="1"/>
            <a:r>
              <a:rPr lang="en-US" dirty="0" smtClean="0"/>
              <a:t>Deep learning</a:t>
            </a:r>
          </a:p>
          <a:p>
            <a:pPr lvl="1"/>
            <a:r>
              <a:rPr lang="en-US" dirty="0" smtClean="0"/>
              <a:t>Image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8562951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Binary classification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sigmoid instead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converts logits into probability distribution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Used </a:t>
            </a:r>
            <a:r>
              <a:rPr lang="en-US" dirty="0"/>
              <a:t>with cross entropy loss</a:t>
            </a:r>
            <a:r>
              <a:rPr lang="en-US" dirty="0" smtClean="0"/>
              <a:t>: 𝐿𝑜𝑠𝑠</a:t>
            </a:r>
            <a:r>
              <a:rPr lang="en-US" dirty="0"/>
              <a:t>=−∑𝑦𝑖log⁡(</a:t>
            </a:r>
            <a:r>
              <a:rPr lang="en-US" dirty="0" smtClean="0"/>
              <a:t>𝑦</a:t>
            </a:r>
            <a:r>
              <a:rPr lang="en-US" dirty="0"/>
              <a:t> 𝑖 </a:t>
            </a:r>
            <a:r>
              <a:rPr lang="en-US" dirty="0" smtClean="0"/>
              <a:t>^)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enables proper multiclass learning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converts outputs into probability distribution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Essential </a:t>
            </a:r>
            <a:r>
              <a:rPr lang="en-US" dirty="0"/>
              <a:t>for multiclass classification.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7790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</a:t>
            </a:r>
            <a:r>
              <a:rPr lang="en-US" dirty="0" smtClean="0"/>
              <a:t>45: </a:t>
            </a:r>
            <a:r>
              <a:rPr lang="en-US" dirty="0"/>
              <a:t>Confusion Matrix (FOUNDATION OF ALL EVALUATION METRICS)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Confusion </a:t>
            </a:r>
            <a:r>
              <a:rPr lang="en-US" dirty="0"/>
              <a:t>Matrix is the most important concept in evaluation metrics. All other metrics (Accuracy, Precision, Recall, F1) come from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Confusion Matrix is a table used to evaluate classification models by comparing actual values with predicted values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It </a:t>
            </a:r>
            <a:r>
              <a:rPr lang="en-US" dirty="0"/>
              <a:t>shows correct and incorrect predictions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Accuracy </a:t>
            </a:r>
            <a:r>
              <a:rPr lang="en-US" dirty="0"/>
              <a:t>alone is not enough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need detailed information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How many positives predicted </a:t>
            </a:r>
            <a:r>
              <a:rPr lang="en-US" dirty="0" smtClean="0"/>
              <a:t>correctly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How many negatives predicted </a:t>
            </a:r>
            <a:r>
              <a:rPr lang="en-US" dirty="0" smtClean="0"/>
              <a:t>correctly</a:t>
            </a:r>
          </a:p>
          <a:p>
            <a:pPr marL="914400" lvl="2" indent="0">
              <a:buNone/>
            </a:pPr>
            <a:r>
              <a:rPr lang="en-US" dirty="0" smtClean="0"/>
              <a:t>• </a:t>
            </a:r>
            <a:r>
              <a:rPr lang="en-US" dirty="0"/>
              <a:t>What mistakes were </a:t>
            </a:r>
            <a:r>
              <a:rPr lang="en-US" dirty="0" smtClean="0"/>
              <a:t>made</a:t>
            </a:r>
          </a:p>
          <a:p>
            <a:pPr lvl="1"/>
            <a:r>
              <a:rPr lang="en-US" dirty="0" smtClean="0"/>
              <a:t>Confusion </a:t>
            </a:r>
            <a:r>
              <a:rPr lang="en-US" dirty="0"/>
              <a:t>matrix provides complete breakdown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60373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Medical </a:t>
            </a:r>
            <a:r>
              <a:rPr lang="en-US" dirty="0"/>
              <a:t>test </a:t>
            </a:r>
            <a:r>
              <a:rPr lang="en-US" dirty="0" smtClean="0"/>
              <a:t>example: Actual → </a:t>
            </a:r>
            <a:r>
              <a:rPr lang="en-US" dirty="0"/>
              <a:t>Sick or </a:t>
            </a:r>
            <a:r>
              <a:rPr lang="en-US" dirty="0" smtClean="0"/>
              <a:t>Healthy, Predicted </a:t>
            </a:r>
            <a:r>
              <a:rPr lang="en-US" dirty="0"/>
              <a:t>→ Sick or </a:t>
            </a:r>
            <a:r>
              <a:rPr lang="en-US" dirty="0" smtClean="0"/>
              <a:t>Healthy</a:t>
            </a:r>
          </a:p>
          <a:p>
            <a:pPr lvl="1"/>
            <a:r>
              <a:rPr lang="en-US" dirty="0" smtClean="0"/>
              <a:t>Confusion </a:t>
            </a:r>
            <a:r>
              <a:rPr lang="en-US" dirty="0"/>
              <a:t>matrix shows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Correct diagnosis</a:t>
            </a:r>
          </a:p>
          <a:p>
            <a:pPr lvl="1"/>
            <a:r>
              <a:rPr lang="en-US" dirty="0" smtClean="0"/>
              <a:t>Wrong diagnosis</a:t>
            </a:r>
          </a:p>
          <a:p>
            <a:r>
              <a:rPr lang="en-US" dirty="0" smtClean="0"/>
              <a:t>Confusion </a:t>
            </a:r>
            <a:r>
              <a:rPr lang="en-US" dirty="0"/>
              <a:t>Matrix Structure	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𝑃𝑟𝑒𝑑𝑖𝑐𝑡𝑒𝑑 </a:t>
            </a:r>
            <a:r>
              <a:rPr lang="en-US" dirty="0"/>
              <a:t>𝑃𝑜𝑠𝑖𝑡𝑖𝑣𝑒	𝑃𝑟𝑒𝑑𝑖𝑐𝑡𝑒𝑑 </a:t>
            </a:r>
            <a:r>
              <a:rPr lang="en-US" dirty="0" smtClean="0"/>
              <a:t>𝑁𝑒𝑔𝑎𝑡𝑖𝑣𝑒</a:t>
            </a:r>
          </a:p>
          <a:p>
            <a:pPr marL="0" indent="0">
              <a:buNone/>
            </a:pPr>
            <a:r>
              <a:rPr lang="en-US" dirty="0" smtClean="0"/>
              <a:t>	𝐴𝑐𝑡𝑢𝑎𝑙 </a:t>
            </a:r>
            <a:r>
              <a:rPr lang="en-US" dirty="0"/>
              <a:t>𝑃𝑜𝑠𝑖𝑡𝑖𝑣𝑒	</a:t>
            </a:r>
            <a:r>
              <a:rPr lang="en-US" dirty="0" smtClean="0"/>
              <a:t>	𝑇𝑃</a:t>
            </a:r>
            <a:r>
              <a:rPr lang="en-US" dirty="0"/>
              <a:t>	</a:t>
            </a:r>
            <a:r>
              <a:rPr lang="en-US" dirty="0" smtClean="0"/>
              <a:t>		𝐹𝑁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𝐴𝑐𝑡𝑢𝑎𝑙 </a:t>
            </a:r>
            <a:r>
              <a:rPr lang="en-US" dirty="0"/>
              <a:t>𝑁𝑒𝑔𝑎𝑡𝑖𝑣𝑒	</a:t>
            </a:r>
            <a:r>
              <a:rPr lang="en-US" dirty="0" smtClean="0"/>
              <a:t>	𝐹𝑃</a:t>
            </a:r>
            <a:r>
              <a:rPr lang="en-US" dirty="0"/>
              <a:t>	</a:t>
            </a:r>
            <a:r>
              <a:rPr lang="en-US" dirty="0" smtClean="0"/>
              <a:t>		𝑇𝑁</a:t>
            </a:r>
          </a:p>
          <a:p>
            <a:r>
              <a:rPr lang="en-US" dirty="0" smtClean="0"/>
              <a:t>Explanation </a:t>
            </a:r>
            <a:r>
              <a:rPr lang="en-US" dirty="0"/>
              <a:t>of each term (CRITICAL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True </a:t>
            </a:r>
            <a:r>
              <a:rPr lang="en-US" dirty="0"/>
              <a:t>Positive (</a:t>
            </a:r>
            <a:r>
              <a:rPr lang="en-US" dirty="0" smtClean="0"/>
              <a:t>TP)</a:t>
            </a:r>
          </a:p>
          <a:p>
            <a:pPr lvl="2"/>
            <a:r>
              <a:rPr lang="en-US" dirty="0" smtClean="0"/>
              <a:t>Model </a:t>
            </a:r>
            <a:r>
              <a:rPr lang="en-US" dirty="0"/>
              <a:t>predicts positive and actual is </a:t>
            </a:r>
            <a:r>
              <a:rPr lang="en-US" dirty="0" smtClean="0"/>
              <a:t>positive</a:t>
            </a:r>
          </a:p>
          <a:p>
            <a:pPr lvl="2"/>
            <a:r>
              <a:rPr lang="en-US" dirty="0" smtClean="0"/>
              <a:t>Correct prediction</a:t>
            </a:r>
          </a:p>
          <a:p>
            <a:pPr lvl="2"/>
            <a:r>
              <a:rPr lang="en-US" dirty="0" smtClean="0"/>
              <a:t>Example</a:t>
            </a:r>
            <a:r>
              <a:rPr lang="en-US" dirty="0"/>
              <a:t>: Sick person predicted </a:t>
            </a:r>
            <a:r>
              <a:rPr lang="en-US" dirty="0" smtClean="0"/>
              <a:t>sick</a:t>
            </a:r>
          </a:p>
          <a:p>
            <a:pPr lvl="1"/>
            <a:r>
              <a:rPr lang="en-US" dirty="0" smtClean="0"/>
              <a:t>True </a:t>
            </a:r>
            <a:r>
              <a:rPr lang="en-US" dirty="0"/>
              <a:t>Negative (TN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Model </a:t>
            </a:r>
            <a:r>
              <a:rPr lang="en-US" dirty="0"/>
              <a:t>predicts negative and actual is </a:t>
            </a:r>
            <a:r>
              <a:rPr lang="en-US" dirty="0" smtClean="0"/>
              <a:t>negative</a:t>
            </a:r>
            <a:endParaRPr lang="en-US" dirty="0"/>
          </a:p>
          <a:p>
            <a:pPr lvl="2"/>
            <a:r>
              <a:rPr lang="en-US" dirty="0" smtClean="0"/>
              <a:t>Correct prediction</a:t>
            </a:r>
          </a:p>
          <a:p>
            <a:pPr lvl="2"/>
            <a:r>
              <a:rPr lang="en-US" dirty="0" smtClean="0"/>
              <a:t>Example</a:t>
            </a:r>
            <a:r>
              <a:rPr lang="en-US" dirty="0"/>
              <a:t>: Healthy person predicted </a:t>
            </a:r>
            <a:r>
              <a:rPr lang="en-US" dirty="0" smtClean="0"/>
              <a:t>healthy</a:t>
            </a:r>
          </a:p>
        </p:txBody>
      </p:sp>
    </p:spTree>
    <p:extLst>
      <p:ext uri="{BB962C8B-B14F-4D97-AF65-F5344CB8AC3E}">
        <p14:creationId xmlns:p14="http://schemas.microsoft.com/office/powerpoint/2010/main" val="10522336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dirty="0"/>
              <a:t>False Positive (FP)</a:t>
            </a:r>
          </a:p>
          <a:p>
            <a:pPr lvl="2"/>
            <a:r>
              <a:rPr lang="en-US" dirty="0"/>
              <a:t>Model predicts positive but actual is negative</a:t>
            </a:r>
          </a:p>
          <a:p>
            <a:pPr lvl="2"/>
            <a:r>
              <a:rPr lang="en-US" dirty="0"/>
              <a:t>Wrong prediction</a:t>
            </a:r>
          </a:p>
          <a:p>
            <a:pPr lvl="2"/>
            <a:r>
              <a:rPr lang="en-US" dirty="0"/>
              <a:t>Example: Healthy person predicted sick</a:t>
            </a:r>
          </a:p>
          <a:p>
            <a:pPr lvl="2"/>
            <a:r>
              <a:rPr lang="en-US" dirty="0"/>
              <a:t>Also called: Type I Error</a:t>
            </a:r>
          </a:p>
          <a:p>
            <a:pPr lvl="1"/>
            <a:r>
              <a:rPr lang="en-US" dirty="0"/>
              <a:t>False Negative (FN)</a:t>
            </a:r>
          </a:p>
          <a:p>
            <a:pPr lvl="2"/>
            <a:r>
              <a:rPr lang="en-US" dirty="0"/>
              <a:t>Model predicts negative but actual is positive</a:t>
            </a:r>
          </a:p>
          <a:p>
            <a:pPr lvl="2"/>
            <a:r>
              <a:rPr lang="en-US" dirty="0"/>
              <a:t>Wrong prediction</a:t>
            </a:r>
          </a:p>
          <a:p>
            <a:pPr lvl="2"/>
            <a:r>
              <a:rPr lang="en-US" dirty="0"/>
              <a:t>Example: Sick person predicted healthy</a:t>
            </a:r>
          </a:p>
          <a:p>
            <a:pPr lvl="2"/>
            <a:r>
              <a:rPr lang="en-US" dirty="0"/>
              <a:t>Also called: Type II Error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Suppose: TP </a:t>
            </a:r>
            <a:r>
              <a:rPr lang="en-US" dirty="0"/>
              <a:t>= </a:t>
            </a:r>
            <a:r>
              <a:rPr lang="en-US" dirty="0" smtClean="0"/>
              <a:t>40, TN </a:t>
            </a:r>
            <a:r>
              <a:rPr lang="en-US" dirty="0"/>
              <a:t>= </a:t>
            </a:r>
            <a:r>
              <a:rPr lang="en-US" dirty="0" smtClean="0"/>
              <a:t>50, FP </a:t>
            </a:r>
            <a:r>
              <a:rPr lang="en-US" dirty="0"/>
              <a:t>= </a:t>
            </a:r>
            <a:r>
              <a:rPr lang="en-US" dirty="0" smtClean="0"/>
              <a:t>5, FN </a:t>
            </a:r>
            <a:r>
              <a:rPr lang="en-US" dirty="0"/>
              <a:t>= </a:t>
            </a:r>
            <a:r>
              <a:rPr lang="en-US" dirty="0" smtClean="0"/>
              <a:t>5, Total </a:t>
            </a:r>
            <a:r>
              <a:rPr lang="en-US" dirty="0"/>
              <a:t>= </a:t>
            </a:r>
            <a:r>
              <a:rPr lang="en-US" dirty="0" smtClean="0"/>
              <a:t>100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matrix will be used to calculate all metrics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 </a:t>
            </a:r>
            <a:r>
              <a:rPr lang="en-US" dirty="0"/>
              <a:t>of confusion </a:t>
            </a:r>
            <a:r>
              <a:rPr lang="en-US" dirty="0" smtClean="0"/>
              <a:t>matrix</a:t>
            </a:r>
          </a:p>
          <a:p>
            <a:pPr lvl="1"/>
            <a:r>
              <a:rPr lang="en-US" dirty="0" smtClean="0"/>
              <a:t>Binary </a:t>
            </a:r>
            <a:r>
              <a:rPr lang="en-US" dirty="0"/>
              <a:t>confusion matrix (2 classes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Multiclass </a:t>
            </a:r>
            <a:r>
              <a:rPr lang="en-US" dirty="0"/>
              <a:t>confusion matrix (multiple classes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084848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full performance </a:t>
            </a:r>
            <a:r>
              <a:rPr lang="en-US" dirty="0" smtClean="0"/>
              <a:t>breakdown</a:t>
            </a:r>
          </a:p>
          <a:p>
            <a:pPr lvl="1"/>
            <a:r>
              <a:rPr lang="en-US" dirty="0" smtClean="0"/>
              <a:t>Foundation </a:t>
            </a:r>
            <a:r>
              <a:rPr lang="en-US" dirty="0"/>
              <a:t>of all evaluation </a:t>
            </a:r>
            <a:r>
              <a:rPr lang="en-US" dirty="0" smtClean="0"/>
              <a:t>metrics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Cannot </a:t>
            </a:r>
            <a:r>
              <a:rPr lang="en-US" dirty="0"/>
              <a:t>directly give single performance </a:t>
            </a:r>
            <a:r>
              <a:rPr lang="en-US" dirty="0" smtClean="0"/>
              <a:t>number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Always </a:t>
            </a:r>
            <a:r>
              <a:rPr lang="en-US" dirty="0"/>
              <a:t>used in classification </a:t>
            </a:r>
            <a:r>
              <a:rPr lang="en-US" dirty="0" smtClean="0"/>
              <a:t>problems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Regression problems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Confusion </a:t>
            </a:r>
            <a:r>
              <a:rPr lang="en-US" dirty="0"/>
              <a:t>matrix defines joint distribution</a:t>
            </a:r>
            <a:r>
              <a:rPr lang="en-US" dirty="0" smtClean="0"/>
              <a:t>: 𝑃</a:t>
            </a:r>
            <a:r>
              <a:rPr lang="en-US" dirty="0"/>
              <a:t>(𝑎𝑐𝑡𝑢𝑎𝑙,𝑝𝑟𝑒𝑑𝑖𝑐𝑡𝑒𝑑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Used </a:t>
            </a:r>
            <a:r>
              <a:rPr lang="en-US" dirty="0"/>
              <a:t>to derive all evaluation metrics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r>
              <a:rPr lang="en-US" dirty="0" smtClean="0"/>
              <a:t>Confusion </a:t>
            </a:r>
            <a:r>
              <a:rPr lang="en-US" dirty="0"/>
              <a:t>matrix is the foundation of all classification metrics.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70135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</a:t>
            </a:r>
            <a:r>
              <a:rPr lang="en-IN" dirty="0" smtClean="0"/>
              <a:t>46: </a:t>
            </a:r>
            <a:r>
              <a:rPr lang="en-IN" dirty="0"/>
              <a:t>Accuracy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Accuracy is the most basic and widely used evaluation metric in machine learning</a:t>
            </a:r>
            <a:r>
              <a:rPr lang="en-IN" dirty="0" smtClean="0"/>
              <a:t>.</a:t>
            </a:r>
          </a:p>
          <a:p>
            <a:r>
              <a:rPr lang="en-IN" dirty="0" smtClean="0"/>
              <a:t>Definition</a:t>
            </a:r>
          </a:p>
          <a:p>
            <a:pPr lvl="1"/>
            <a:r>
              <a:rPr lang="en-IN" dirty="0" smtClean="0"/>
              <a:t>Accuracy </a:t>
            </a:r>
            <a:r>
              <a:rPr lang="en-IN" dirty="0"/>
              <a:t>measures the percentage of correct predictions made by the model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In </a:t>
            </a:r>
            <a:r>
              <a:rPr lang="en-IN" dirty="0"/>
              <a:t>simple words</a:t>
            </a:r>
            <a:r>
              <a:rPr lang="en-IN" dirty="0" smtClean="0"/>
              <a:t>: Accuracy </a:t>
            </a:r>
            <a:r>
              <a:rPr lang="en-IN" dirty="0"/>
              <a:t>tells how often the model is correct</a:t>
            </a:r>
            <a:r>
              <a:rPr lang="en-IN" dirty="0" smtClean="0"/>
              <a:t>.</a:t>
            </a:r>
          </a:p>
          <a:p>
            <a:r>
              <a:rPr lang="en-IN" dirty="0" smtClean="0"/>
              <a:t>Why </a:t>
            </a:r>
            <a:r>
              <a:rPr lang="en-IN" dirty="0"/>
              <a:t>this concept </a:t>
            </a:r>
            <a:r>
              <a:rPr lang="en-IN" dirty="0" smtClean="0"/>
              <a:t>exists</a:t>
            </a:r>
          </a:p>
          <a:p>
            <a:pPr lvl="1"/>
            <a:r>
              <a:rPr lang="en-IN" dirty="0" smtClean="0"/>
              <a:t>Machine </a:t>
            </a:r>
            <a:r>
              <a:rPr lang="en-IN" dirty="0"/>
              <a:t>learning models make predictions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We </a:t>
            </a:r>
            <a:r>
              <a:rPr lang="en-IN" dirty="0"/>
              <a:t>need a way to measure how good the predictions are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Accuracy </a:t>
            </a:r>
            <a:r>
              <a:rPr lang="en-IN" dirty="0"/>
              <a:t>provides a simple performance measure</a:t>
            </a:r>
            <a:r>
              <a:rPr lang="en-IN" dirty="0" smtClean="0"/>
              <a:t>.</a:t>
            </a:r>
          </a:p>
          <a:p>
            <a:r>
              <a:rPr lang="en-IN" dirty="0" smtClean="0"/>
              <a:t>Real-life analogy</a:t>
            </a:r>
          </a:p>
          <a:p>
            <a:pPr lvl="1"/>
            <a:r>
              <a:rPr lang="en-IN" dirty="0" smtClean="0"/>
              <a:t>Suppose </a:t>
            </a:r>
            <a:r>
              <a:rPr lang="en-IN" dirty="0"/>
              <a:t>student answers 100 questions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Correct </a:t>
            </a:r>
            <a:r>
              <a:rPr lang="en-IN" dirty="0"/>
              <a:t>answers = </a:t>
            </a:r>
            <a:r>
              <a:rPr lang="en-IN" dirty="0" smtClean="0"/>
              <a:t>90</a:t>
            </a:r>
          </a:p>
          <a:p>
            <a:pPr lvl="1"/>
            <a:r>
              <a:rPr lang="en-IN" dirty="0" smtClean="0"/>
              <a:t>Accuracy </a:t>
            </a:r>
            <a:r>
              <a:rPr lang="en-IN" dirty="0"/>
              <a:t>= 90</a:t>
            </a:r>
            <a:r>
              <a:rPr lang="en-IN" dirty="0" smtClean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15047872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Mathematical Formula</a:t>
            </a:r>
          </a:p>
          <a:p>
            <a:pPr lvl="1"/>
            <a:r>
              <a:rPr lang="en-IN" dirty="0" smtClean="0"/>
              <a:t>𝐴𝑐𝑐𝑢𝑟𝑎𝑐𝑦</a:t>
            </a:r>
            <a:r>
              <a:rPr lang="en-IN" dirty="0"/>
              <a:t>=𝐶𝑜𝑟𝑟𝑒𝑐𝑡 </a:t>
            </a:r>
            <a:r>
              <a:rPr lang="en-IN" dirty="0" smtClean="0"/>
              <a:t>𝑃𝑟𝑒𝑑𝑖𝑐𝑡𝑖𝑜𝑛𝑠/𝑇𝑜𝑡𝑎𝑙 𝑃𝑟𝑒𝑑𝑖𝑐𝑡𝑖𝑜𝑛𝑠</a:t>
            </a:r>
          </a:p>
          <a:p>
            <a:pPr lvl="1"/>
            <a:r>
              <a:rPr lang="en-IN" dirty="0" smtClean="0"/>
              <a:t>Expanded </a:t>
            </a:r>
            <a:r>
              <a:rPr lang="en-IN" dirty="0"/>
              <a:t>Formula (Using Confusion Matrix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𝐴𝑐𝑐𝑢𝑟𝑎𝑐𝑦</a:t>
            </a:r>
            <a:r>
              <a:rPr lang="en-IN" dirty="0"/>
              <a:t>=𝑇𝑃+</a:t>
            </a:r>
            <a:r>
              <a:rPr lang="en-IN" dirty="0" smtClean="0"/>
              <a:t>𝑇𝑁/𝑇𝑃</a:t>
            </a:r>
            <a:r>
              <a:rPr lang="en-IN" dirty="0"/>
              <a:t>+𝑇𝑁+𝐹𝑃+</a:t>
            </a:r>
            <a:r>
              <a:rPr lang="en-IN" dirty="0" smtClean="0"/>
              <a:t>𝐹𝑁</a:t>
            </a:r>
          </a:p>
          <a:p>
            <a:r>
              <a:rPr lang="en-IN" dirty="0" smtClean="0"/>
              <a:t>Explanation </a:t>
            </a:r>
            <a:r>
              <a:rPr lang="en-IN" dirty="0"/>
              <a:t>of </a:t>
            </a:r>
            <a:r>
              <a:rPr lang="en-IN" dirty="0" smtClean="0"/>
              <a:t>symbols</a:t>
            </a:r>
          </a:p>
          <a:p>
            <a:pPr lvl="1"/>
            <a:r>
              <a:rPr lang="en-IN" dirty="0" smtClean="0"/>
              <a:t>TP </a:t>
            </a:r>
            <a:r>
              <a:rPr lang="en-IN" dirty="0"/>
              <a:t>= True </a:t>
            </a:r>
            <a:r>
              <a:rPr lang="en-IN" dirty="0" smtClean="0"/>
              <a:t>Positive, Correct </a:t>
            </a:r>
            <a:r>
              <a:rPr lang="en-IN" dirty="0"/>
              <a:t>positive </a:t>
            </a:r>
            <a:r>
              <a:rPr lang="en-IN" dirty="0" smtClean="0"/>
              <a:t>prediction</a:t>
            </a:r>
          </a:p>
          <a:p>
            <a:pPr lvl="1"/>
            <a:r>
              <a:rPr lang="en-IN" dirty="0" smtClean="0"/>
              <a:t>TN </a:t>
            </a:r>
            <a:r>
              <a:rPr lang="en-IN" dirty="0"/>
              <a:t>= True </a:t>
            </a:r>
            <a:r>
              <a:rPr lang="en-IN" dirty="0" smtClean="0"/>
              <a:t>Negative, Correct </a:t>
            </a:r>
            <a:r>
              <a:rPr lang="en-IN" dirty="0"/>
              <a:t>negative </a:t>
            </a:r>
            <a:r>
              <a:rPr lang="en-IN" dirty="0" smtClean="0"/>
              <a:t>prediction</a:t>
            </a:r>
          </a:p>
          <a:p>
            <a:pPr lvl="1"/>
            <a:r>
              <a:rPr lang="en-IN" dirty="0" smtClean="0"/>
              <a:t>FP </a:t>
            </a:r>
            <a:r>
              <a:rPr lang="en-IN" dirty="0"/>
              <a:t>= False </a:t>
            </a:r>
            <a:r>
              <a:rPr lang="en-IN" dirty="0" smtClean="0"/>
              <a:t>Positive, Wrong </a:t>
            </a:r>
            <a:r>
              <a:rPr lang="en-IN" dirty="0"/>
              <a:t>positive </a:t>
            </a:r>
            <a:r>
              <a:rPr lang="en-IN" dirty="0" smtClean="0"/>
              <a:t>prediction</a:t>
            </a:r>
          </a:p>
          <a:p>
            <a:pPr lvl="1"/>
            <a:r>
              <a:rPr lang="en-IN" dirty="0" smtClean="0"/>
              <a:t>FN </a:t>
            </a:r>
            <a:r>
              <a:rPr lang="en-IN" dirty="0"/>
              <a:t>= False </a:t>
            </a:r>
            <a:r>
              <a:rPr lang="en-IN" dirty="0" smtClean="0"/>
              <a:t>Negative, Wrong </a:t>
            </a:r>
            <a:r>
              <a:rPr lang="en-IN" dirty="0"/>
              <a:t>negative </a:t>
            </a:r>
            <a:r>
              <a:rPr lang="en-IN" dirty="0" smtClean="0"/>
              <a:t>prediction</a:t>
            </a:r>
          </a:p>
          <a:p>
            <a:r>
              <a:rPr lang="en-IN" dirty="0" smtClean="0"/>
              <a:t>Practical example</a:t>
            </a:r>
          </a:p>
          <a:p>
            <a:pPr lvl="1"/>
            <a:r>
              <a:rPr lang="en-IN" dirty="0" smtClean="0"/>
              <a:t>Total </a:t>
            </a:r>
            <a:r>
              <a:rPr lang="en-IN" dirty="0"/>
              <a:t>predictions = </a:t>
            </a:r>
            <a:r>
              <a:rPr lang="en-IN" dirty="0" smtClean="0"/>
              <a:t>100</a:t>
            </a:r>
          </a:p>
          <a:p>
            <a:pPr lvl="1"/>
            <a:r>
              <a:rPr lang="en-IN" dirty="0" smtClean="0"/>
              <a:t>Correct </a:t>
            </a:r>
            <a:r>
              <a:rPr lang="en-IN" dirty="0"/>
              <a:t>predictions = </a:t>
            </a:r>
            <a:r>
              <a:rPr lang="en-IN" dirty="0" smtClean="0"/>
              <a:t>90</a:t>
            </a:r>
          </a:p>
          <a:p>
            <a:pPr lvl="1"/>
            <a:r>
              <a:rPr lang="en-IN" dirty="0" smtClean="0"/>
              <a:t>Accuracy</a:t>
            </a:r>
            <a:r>
              <a:rPr lang="en-IN" dirty="0"/>
              <a:t>:𝐴𝑐𝑐𝑢𝑟𝑎𝑐𝑦=</a:t>
            </a:r>
            <a:r>
              <a:rPr lang="en-IN" dirty="0" smtClean="0"/>
              <a:t>90/100=90%</a:t>
            </a:r>
          </a:p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Simple </a:t>
            </a:r>
            <a:r>
              <a:rPr lang="en-IN" dirty="0"/>
              <a:t>to </a:t>
            </a:r>
            <a:r>
              <a:rPr lang="en-IN" dirty="0" smtClean="0"/>
              <a:t>understand</a:t>
            </a:r>
          </a:p>
          <a:p>
            <a:pPr lvl="1"/>
            <a:r>
              <a:rPr lang="en-IN" dirty="0" smtClean="0"/>
              <a:t>Easy </a:t>
            </a:r>
            <a:r>
              <a:rPr lang="en-IN" dirty="0"/>
              <a:t>to </a:t>
            </a:r>
            <a:r>
              <a:rPr lang="en-IN" dirty="0" smtClean="0"/>
              <a:t>calculate</a:t>
            </a:r>
          </a:p>
          <a:p>
            <a:pPr lvl="1"/>
            <a:r>
              <a:rPr lang="en-IN" dirty="0" smtClean="0"/>
              <a:t>Works </a:t>
            </a:r>
            <a:r>
              <a:rPr lang="en-IN" dirty="0"/>
              <a:t>well for balanced </a:t>
            </a:r>
            <a:r>
              <a:rPr lang="en-IN" dirty="0" smtClean="0"/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213491444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Misleading </a:t>
            </a:r>
            <a:r>
              <a:rPr lang="en-IN" dirty="0"/>
              <a:t>for imbalanced </a:t>
            </a:r>
            <a:r>
              <a:rPr lang="en-IN" dirty="0" smtClean="0"/>
              <a:t>datasets</a:t>
            </a:r>
          </a:p>
          <a:p>
            <a:pPr lvl="1"/>
            <a:r>
              <a:rPr lang="en-IN" dirty="0" smtClean="0"/>
              <a:t>Example: If </a:t>
            </a:r>
            <a:r>
              <a:rPr lang="en-IN" dirty="0"/>
              <a:t>95% data is negative, model predicting always negative gives 95% accuracy but is useless</a:t>
            </a:r>
            <a:r>
              <a:rPr lang="en-IN" dirty="0" smtClean="0"/>
              <a:t>.</a:t>
            </a:r>
          </a:p>
          <a:p>
            <a:r>
              <a:rPr lang="en-IN" dirty="0" smtClean="0"/>
              <a:t>When </a:t>
            </a:r>
            <a:r>
              <a:rPr lang="en-IN" dirty="0"/>
              <a:t>to </a:t>
            </a:r>
            <a:r>
              <a:rPr lang="en-IN" dirty="0" smtClean="0"/>
              <a:t>use</a:t>
            </a:r>
          </a:p>
          <a:p>
            <a:pPr lvl="1"/>
            <a:r>
              <a:rPr lang="en-IN" dirty="0" smtClean="0"/>
              <a:t>Balanced datasets</a:t>
            </a:r>
          </a:p>
          <a:p>
            <a:pPr lvl="1"/>
            <a:r>
              <a:rPr lang="en-IN" dirty="0" smtClean="0"/>
              <a:t>General </a:t>
            </a:r>
            <a:r>
              <a:rPr lang="en-IN" dirty="0"/>
              <a:t>model </a:t>
            </a:r>
            <a:r>
              <a:rPr lang="en-IN" dirty="0" smtClean="0"/>
              <a:t>evaluation</a:t>
            </a:r>
          </a:p>
          <a:p>
            <a:r>
              <a:rPr lang="en-IN" dirty="0" smtClean="0"/>
              <a:t>When </a:t>
            </a:r>
            <a:r>
              <a:rPr lang="en-IN" dirty="0"/>
              <a:t>NOT to </a:t>
            </a:r>
            <a:r>
              <a:rPr lang="en-IN" dirty="0" smtClean="0"/>
              <a:t>use</a:t>
            </a:r>
          </a:p>
          <a:p>
            <a:pPr lvl="1"/>
            <a:r>
              <a:rPr lang="en-IN" dirty="0" smtClean="0"/>
              <a:t>Imbalanced datasets</a:t>
            </a:r>
          </a:p>
          <a:p>
            <a:pPr lvl="1"/>
            <a:r>
              <a:rPr lang="en-IN" dirty="0" smtClean="0"/>
              <a:t>Example: Fraud detection, Disease detection</a:t>
            </a:r>
          </a:p>
          <a:p>
            <a:pPr lvl="1"/>
            <a:r>
              <a:rPr lang="en-IN" dirty="0" smtClean="0"/>
              <a:t>Use </a:t>
            </a:r>
            <a:r>
              <a:rPr lang="en-IN" dirty="0"/>
              <a:t>precision and recall instead</a:t>
            </a:r>
            <a:r>
              <a:rPr lang="en-IN" dirty="0" smtClean="0"/>
              <a:t>.</a:t>
            </a:r>
          </a:p>
          <a:p>
            <a:r>
              <a:rPr lang="en-IN" dirty="0" smtClean="0"/>
              <a:t>Technical </a:t>
            </a:r>
            <a:r>
              <a:rPr lang="en-IN" dirty="0"/>
              <a:t>deep </a:t>
            </a:r>
            <a:r>
              <a:rPr lang="en-IN" dirty="0" smtClean="0"/>
              <a:t>explanation</a:t>
            </a:r>
          </a:p>
          <a:p>
            <a:pPr lvl="1"/>
            <a:r>
              <a:rPr lang="en-IN" dirty="0" smtClean="0"/>
              <a:t>Accuracy </a:t>
            </a:r>
            <a:r>
              <a:rPr lang="en-IN" dirty="0"/>
              <a:t>measures overall correctness</a:t>
            </a:r>
            <a:r>
              <a:rPr lang="en-IN" dirty="0" smtClean="0"/>
              <a:t>: 𝐴𝑐𝑐𝑢𝑟𝑎𝑐𝑦</a:t>
            </a:r>
            <a:r>
              <a:rPr lang="en-IN" dirty="0"/>
              <a:t>=𝑃(𝑦^=𝑦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But </a:t>
            </a:r>
            <a:r>
              <a:rPr lang="en-IN" dirty="0"/>
              <a:t>does not measure type of errors</a:t>
            </a:r>
            <a:r>
              <a:rPr lang="en-IN" dirty="0" smtClean="0"/>
              <a:t>.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Accuracy </a:t>
            </a:r>
            <a:r>
              <a:rPr lang="en-IN" dirty="0"/>
              <a:t>measures percentage of correct predictions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Not </a:t>
            </a:r>
            <a:r>
              <a:rPr lang="en-IN" dirty="0"/>
              <a:t>reliable for imbalanced datasets.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4508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47: Precision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Precision is critical when False Positives are dangerous</a:t>
            </a:r>
            <a:r>
              <a:rPr lang="en-IN" dirty="0" smtClean="0"/>
              <a:t>.</a:t>
            </a:r>
          </a:p>
          <a:p>
            <a:r>
              <a:rPr lang="en-IN" dirty="0" smtClean="0"/>
              <a:t>Definition 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measures how many predicted positives are actually correct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In </a:t>
            </a:r>
            <a:r>
              <a:rPr lang="en-IN" dirty="0"/>
              <a:t>simple words</a:t>
            </a:r>
            <a:r>
              <a:rPr lang="en-IN" dirty="0" smtClean="0"/>
              <a:t>: Precision </a:t>
            </a:r>
            <a:r>
              <a:rPr lang="en-IN" dirty="0"/>
              <a:t>answers</a:t>
            </a:r>
            <a:r>
              <a:rPr lang="en-IN" dirty="0" smtClean="0"/>
              <a:t>: "</a:t>
            </a:r>
            <a:r>
              <a:rPr lang="en-IN" dirty="0"/>
              <a:t>When model predicts positive, how often is it correct</a:t>
            </a:r>
            <a:r>
              <a:rPr lang="en-IN" dirty="0" smtClean="0"/>
              <a:t>?“</a:t>
            </a:r>
          </a:p>
          <a:p>
            <a:r>
              <a:rPr lang="en-IN" dirty="0" smtClean="0"/>
              <a:t>Why </a:t>
            </a:r>
            <a:r>
              <a:rPr lang="en-IN" dirty="0"/>
              <a:t>this concept </a:t>
            </a:r>
            <a:r>
              <a:rPr lang="en-IN" dirty="0" smtClean="0"/>
              <a:t>exists</a:t>
            </a:r>
          </a:p>
          <a:p>
            <a:pPr lvl="1"/>
            <a:r>
              <a:rPr lang="en-IN" dirty="0" smtClean="0"/>
              <a:t>Accuracy </a:t>
            </a:r>
            <a:r>
              <a:rPr lang="en-IN" dirty="0"/>
              <a:t>does not differentiate error types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focuses on positive prediction correctness</a:t>
            </a:r>
            <a:r>
              <a:rPr lang="en-IN" dirty="0" smtClean="0"/>
              <a:t>.</a:t>
            </a:r>
          </a:p>
          <a:p>
            <a:r>
              <a:rPr lang="en-IN" dirty="0" smtClean="0"/>
              <a:t>Real-life analogy</a:t>
            </a:r>
          </a:p>
          <a:p>
            <a:pPr lvl="1"/>
            <a:r>
              <a:rPr lang="en-IN" dirty="0" smtClean="0"/>
              <a:t>Spam </a:t>
            </a:r>
            <a:r>
              <a:rPr lang="en-IN" dirty="0"/>
              <a:t>detection</a:t>
            </a:r>
            <a:r>
              <a:rPr lang="en-IN" dirty="0" smtClean="0"/>
              <a:t>: Model </a:t>
            </a:r>
            <a:r>
              <a:rPr lang="en-IN" dirty="0"/>
              <a:t>predicts 100 emails as </a:t>
            </a:r>
            <a:r>
              <a:rPr lang="en-IN" dirty="0" smtClean="0"/>
              <a:t>spam</a:t>
            </a:r>
          </a:p>
          <a:p>
            <a:pPr lvl="1"/>
            <a:r>
              <a:rPr lang="en-IN" dirty="0" smtClean="0"/>
              <a:t>Actually </a:t>
            </a:r>
            <a:r>
              <a:rPr lang="en-IN" dirty="0"/>
              <a:t>spam = </a:t>
            </a:r>
            <a:r>
              <a:rPr lang="en-IN" dirty="0" smtClean="0"/>
              <a:t>80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= 80</a:t>
            </a:r>
            <a:r>
              <a:rPr lang="en-IN" dirty="0" smtClean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55585444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Mathematical Formula</a:t>
            </a:r>
          </a:p>
          <a:p>
            <a:pPr lvl="1"/>
            <a:r>
              <a:rPr lang="en-IN" dirty="0" smtClean="0"/>
              <a:t>𝑃𝑟𝑒𝑐𝑖𝑠𝑖𝑜𝑛</a:t>
            </a:r>
            <a:r>
              <a:rPr lang="en-IN" dirty="0"/>
              <a:t>=</a:t>
            </a:r>
            <a:r>
              <a:rPr lang="en-IN" dirty="0" smtClean="0"/>
              <a:t>𝑇𝑃/𝑇𝑃</a:t>
            </a:r>
            <a:r>
              <a:rPr lang="en-IN" dirty="0"/>
              <a:t>+</a:t>
            </a:r>
            <a:r>
              <a:rPr lang="en-IN" dirty="0" smtClean="0"/>
              <a:t>𝐹𝑃</a:t>
            </a:r>
          </a:p>
          <a:p>
            <a:r>
              <a:rPr lang="en-IN" dirty="0" smtClean="0"/>
              <a:t>Explanation </a:t>
            </a:r>
            <a:r>
              <a:rPr lang="en-IN" dirty="0"/>
              <a:t>of </a:t>
            </a:r>
            <a:r>
              <a:rPr lang="en-IN" dirty="0" smtClean="0"/>
              <a:t>symbols</a:t>
            </a:r>
          </a:p>
          <a:p>
            <a:pPr lvl="1"/>
            <a:r>
              <a:rPr lang="en-IN" dirty="0" smtClean="0"/>
              <a:t>TP </a:t>
            </a:r>
            <a:r>
              <a:rPr lang="en-IN" dirty="0"/>
              <a:t>= True </a:t>
            </a:r>
            <a:r>
              <a:rPr lang="en-IN" dirty="0" smtClean="0"/>
              <a:t>Positive</a:t>
            </a:r>
          </a:p>
          <a:p>
            <a:pPr lvl="1"/>
            <a:r>
              <a:rPr lang="en-IN" dirty="0" smtClean="0"/>
              <a:t>FP </a:t>
            </a:r>
            <a:r>
              <a:rPr lang="en-IN" dirty="0"/>
              <a:t>= False </a:t>
            </a:r>
            <a:r>
              <a:rPr lang="en-IN" dirty="0" smtClean="0"/>
              <a:t>Positive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measures prediction correctness</a:t>
            </a:r>
            <a:r>
              <a:rPr lang="en-IN" dirty="0" smtClean="0"/>
              <a:t>.</a:t>
            </a:r>
          </a:p>
          <a:p>
            <a:r>
              <a:rPr lang="en-IN" dirty="0" smtClean="0"/>
              <a:t>Practical example</a:t>
            </a:r>
          </a:p>
          <a:p>
            <a:pPr lvl="1"/>
            <a:r>
              <a:rPr lang="en-IN" dirty="0" smtClean="0"/>
              <a:t>TP </a:t>
            </a:r>
            <a:r>
              <a:rPr lang="en-IN" dirty="0"/>
              <a:t>= </a:t>
            </a:r>
            <a:r>
              <a:rPr lang="en-IN" dirty="0" smtClean="0"/>
              <a:t>40</a:t>
            </a:r>
          </a:p>
          <a:p>
            <a:pPr lvl="1"/>
            <a:r>
              <a:rPr lang="en-IN" dirty="0" smtClean="0"/>
              <a:t>FP </a:t>
            </a:r>
            <a:r>
              <a:rPr lang="en-IN" dirty="0"/>
              <a:t>= </a:t>
            </a:r>
            <a:r>
              <a:rPr lang="en-IN" dirty="0" smtClean="0"/>
              <a:t>10</a:t>
            </a:r>
          </a:p>
          <a:p>
            <a:pPr lvl="1"/>
            <a:r>
              <a:rPr lang="en-IN" dirty="0" smtClean="0"/>
              <a:t>𝑃𝑟𝑒𝑐𝑖𝑠𝑖𝑜𝑛</a:t>
            </a:r>
            <a:r>
              <a:rPr lang="en-IN" dirty="0"/>
              <a:t>=</a:t>
            </a:r>
            <a:r>
              <a:rPr lang="en-IN" dirty="0" smtClean="0"/>
              <a:t>40/50=80%</a:t>
            </a:r>
          </a:p>
          <a:p>
            <a:r>
              <a:rPr lang="en-IN" dirty="0" smtClean="0"/>
              <a:t>Range</a:t>
            </a:r>
          </a:p>
          <a:p>
            <a:pPr lvl="1"/>
            <a:r>
              <a:rPr lang="en-IN" dirty="0" smtClean="0"/>
              <a:t>0</a:t>
            </a:r>
            <a:r>
              <a:rPr lang="en-IN" dirty="0"/>
              <a:t>≤𝑃𝑟𝑒𝑐𝑖𝑠𝑖𝑜𝑛≤</a:t>
            </a:r>
            <a:r>
              <a:rPr lang="en-IN" dirty="0" smtClean="0"/>
              <a:t>1</a:t>
            </a:r>
          </a:p>
          <a:p>
            <a:pPr lvl="1"/>
            <a:r>
              <a:rPr lang="en-IN" dirty="0" smtClean="0"/>
              <a:t>Higher </a:t>
            </a:r>
            <a:r>
              <a:rPr lang="en-IN" dirty="0"/>
              <a:t>precision = better </a:t>
            </a:r>
            <a:r>
              <a:rPr lang="en-IN" dirty="0" smtClean="0"/>
              <a:t>model</a:t>
            </a:r>
          </a:p>
          <a:p>
            <a:r>
              <a:rPr lang="en-IN" dirty="0"/>
              <a:t>Advantages</a:t>
            </a:r>
          </a:p>
          <a:p>
            <a:pPr lvl="1"/>
            <a:r>
              <a:rPr lang="en-IN" dirty="0"/>
              <a:t>Measures positive prediction accuracy</a:t>
            </a:r>
          </a:p>
          <a:p>
            <a:pPr lvl="1"/>
            <a:r>
              <a:rPr lang="en-IN" dirty="0"/>
              <a:t>Important when false positives are </a:t>
            </a:r>
            <a:r>
              <a:rPr lang="en-IN" dirty="0" smtClean="0"/>
              <a:t>costly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05910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Ignores </a:t>
            </a:r>
            <a:r>
              <a:rPr lang="en-IN" dirty="0"/>
              <a:t>false </a:t>
            </a:r>
            <a:r>
              <a:rPr lang="en-IN" dirty="0" smtClean="0"/>
              <a:t>negatives</a:t>
            </a:r>
          </a:p>
          <a:p>
            <a:r>
              <a:rPr lang="en-IN" dirty="0" smtClean="0"/>
              <a:t>When </a:t>
            </a:r>
            <a:r>
              <a:rPr lang="en-IN" dirty="0"/>
              <a:t>to </a:t>
            </a:r>
            <a:r>
              <a:rPr lang="en-IN" dirty="0" smtClean="0"/>
              <a:t>use</a:t>
            </a:r>
          </a:p>
          <a:p>
            <a:pPr lvl="1"/>
            <a:r>
              <a:rPr lang="en-IN" dirty="0" smtClean="0"/>
              <a:t>Spam detection</a:t>
            </a:r>
          </a:p>
          <a:p>
            <a:pPr lvl="1"/>
            <a:r>
              <a:rPr lang="en-IN" dirty="0" smtClean="0"/>
              <a:t>Fraud detection</a:t>
            </a:r>
          </a:p>
          <a:p>
            <a:pPr lvl="1"/>
            <a:r>
              <a:rPr lang="en-IN" dirty="0" smtClean="0"/>
              <a:t>Search engines</a:t>
            </a:r>
          </a:p>
          <a:p>
            <a:r>
              <a:rPr lang="en-IN" dirty="0" smtClean="0"/>
              <a:t>When </a:t>
            </a:r>
            <a:r>
              <a:rPr lang="en-IN" dirty="0"/>
              <a:t>NOT to </a:t>
            </a:r>
            <a:r>
              <a:rPr lang="en-IN" dirty="0" smtClean="0"/>
              <a:t>use</a:t>
            </a:r>
          </a:p>
          <a:p>
            <a:pPr lvl="1"/>
            <a:r>
              <a:rPr lang="en-IN" dirty="0" smtClean="0"/>
              <a:t>When </a:t>
            </a:r>
            <a:r>
              <a:rPr lang="en-IN" dirty="0"/>
              <a:t>false negatives are </a:t>
            </a:r>
            <a:r>
              <a:rPr lang="en-IN" dirty="0" smtClean="0"/>
              <a:t>critical</a:t>
            </a:r>
          </a:p>
          <a:p>
            <a:r>
              <a:rPr lang="en-IN" dirty="0" smtClean="0"/>
              <a:t>Technical </a:t>
            </a:r>
            <a:r>
              <a:rPr lang="en-IN" dirty="0"/>
              <a:t>deep </a:t>
            </a:r>
            <a:r>
              <a:rPr lang="en-IN" dirty="0" smtClean="0"/>
              <a:t>explanation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measures conditional probability</a:t>
            </a:r>
            <a:r>
              <a:rPr lang="en-IN" dirty="0" smtClean="0"/>
              <a:t>: 𝑃</a:t>
            </a:r>
            <a:r>
              <a:rPr lang="en-IN" dirty="0"/>
              <a:t>(𝑎𝑐𝑡𝑢𝑎𝑙 𝑝𝑜𝑠𝑖𝑡𝑖𝑣𝑒∣𝑝𝑟𝑒𝑑𝑖𝑐𝑡𝑒𝑑 𝑝𝑜𝑠𝑖𝑡𝑖𝑣𝑒</a:t>
            </a:r>
            <a:r>
              <a:rPr lang="en-IN" dirty="0" smtClean="0"/>
              <a:t>)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measures correctness of positive predictions.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5324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48: Recall (Sensitivity / True Positive Rate)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Recall is one of the most critical evaluation metrics, especially in medical diagnosis, fraud detection, and safety-critical systems</a:t>
            </a:r>
            <a:r>
              <a:rPr lang="en-IN" dirty="0" smtClean="0"/>
              <a:t>.</a:t>
            </a:r>
          </a:p>
          <a:p>
            <a:r>
              <a:rPr lang="en-IN" dirty="0" smtClean="0"/>
              <a:t>Definition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measures how many actual positive cases were correctly identified by the model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In </a:t>
            </a:r>
            <a:r>
              <a:rPr lang="en-IN" dirty="0"/>
              <a:t>simple words</a:t>
            </a:r>
            <a:r>
              <a:rPr lang="en-IN" dirty="0" smtClean="0"/>
              <a:t>: Recall </a:t>
            </a:r>
            <a:r>
              <a:rPr lang="en-IN" dirty="0"/>
              <a:t>answers</a:t>
            </a:r>
            <a:r>
              <a:rPr lang="en-IN" dirty="0" smtClean="0"/>
              <a:t>: "</a:t>
            </a:r>
            <a:r>
              <a:rPr lang="en-IN" dirty="0"/>
              <a:t>Out of all real positives, how many did the model detect</a:t>
            </a:r>
            <a:r>
              <a:rPr lang="en-IN" dirty="0" smtClean="0"/>
              <a:t>?“</a:t>
            </a:r>
          </a:p>
          <a:p>
            <a:r>
              <a:rPr lang="en-IN" dirty="0" smtClean="0"/>
              <a:t>Why </a:t>
            </a:r>
            <a:r>
              <a:rPr lang="en-IN" dirty="0"/>
              <a:t>this concept </a:t>
            </a:r>
            <a:r>
              <a:rPr lang="en-IN" dirty="0" smtClean="0"/>
              <a:t>exists</a:t>
            </a:r>
          </a:p>
          <a:p>
            <a:pPr lvl="1"/>
            <a:r>
              <a:rPr lang="en-IN" dirty="0" smtClean="0"/>
              <a:t>Some </a:t>
            </a:r>
            <a:r>
              <a:rPr lang="en-IN" dirty="0"/>
              <a:t>problems require detecting ALL positive cases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Missing </a:t>
            </a:r>
            <a:r>
              <a:rPr lang="en-IN" dirty="0"/>
              <a:t>positive cases can be dangerous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Example: Cancer detection</a:t>
            </a:r>
          </a:p>
          <a:p>
            <a:pPr lvl="1"/>
            <a:r>
              <a:rPr lang="en-IN" dirty="0" smtClean="0"/>
              <a:t>Missing </a:t>
            </a:r>
            <a:r>
              <a:rPr lang="en-IN" dirty="0"/>
              <a:t>cancer patient = </a:t>
            </a:r>
            <a:r>
              <a:rPr lang="en-IN" dirty="0" smtClean="0"/>
              <a:t>dangerous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helps measure detection ability</a:t>
            </a:r>
            <a:r>
              <a:rPr lang="en-IN" dirty="0" smtClean="0"/>
              <a:t>.</a:t>
            </a:r>
          </a:p>
          <a:p>
            <a:r>
              <a:rPr lang="en-IN" dirty="0" smtClean="0"/>
              <a:t>Real-life analogy</a:t>
            </a:r>
          </a:p>
          <a:p>
            <a:pPr lvl="1"/>
            <a:r>
              <a:rPr lang="en-IN" dirty="0" smtClean="0"/>
              <a:t>Suppose:100 </a:t>
            </a:r>
            <a:r>
              <a:rPr lang="en-IN" dirty="0"/>
              <a:t>people have </a:t>
            </a:r>
            <a:r>
              <a:rPr lang="en-IN" dirty="0" smtClean="0"/>
              <a:t>cancer</a:t>
            </a:r>
          </a:p>
          <a:p>
            <a:pPr lvl="1"/>
            <a:r>
              <a:rPr lang="en-IN" dirty="0" smtClean="0"/>
              <a:t>Model </a:t>
            </a:r>
            <a:r>
              <a:rPr lang="en-IN" dirty="0"/>
              <a:t>detects </a:t>
            </a:r>
            <a:r>
              <a:rPr lang="en-IN" dirty="0" smtClean="0"/>
              <a:t>90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= 90</a:t>
            </a:r>
            <a:r>
              <a:rPr lang="en-IN" dirty="0" smtClean="0"/>
              <a:t>%</a:t>
            </a:r>
          </a:p>
          <a:p>
            <a:pPr lvl="1"/>
            <a:r>
              <a:rPr lang="en-IN" dirty="0" smtClean="0"/>
              <a:t>10 </a:t>
            </a:r>
            <a:r>
              <a:rPr lang="en-IN" dirty="0"/>
              <a:t>people missed → </a:t>
            </a:r>
            <a:r>
              <a:rPr lang="en-IN" dirty="0" smtClean="0"/>
              <a:t>dangerous</a:t>
            </a:r>
          </a:p>
        </p:txBody>
      </p:sp>
    </p:spTree>
    <p:extLst>
      <p:ext uri="{BB962C8B-B14F-4D97-AF65-F5344CB8AC3E}">
        <p14:creationId xmlns:p14="http://schemas.microsoft.com/office/powerpoint/2010/main" val="243621951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Mathematical Formula</a:t>
            </a:r>
          </a:p>
          <a:p>
            <a:pPr lvl="1"/>
            <a:r>
              <a:rPr lang="en-IN" dirty="0" smtClean="0"/>
              <a:t>𝑅𝑒𝑐𝑎𝑙𝑙</a:t>
            </a:r>
            <a:r>
              <a:rPr lang="en-IN" dirty="0"/>
              <a:t>=</a:t>
            </a:r>
            <a:r>
              <a:rPr lang="en-IN" dirty="0" smtClean="0"/>
              <a:t>𝑇𝑃/𝑇𝑃</a:t>
            </a:r>
            <a:r>
              <a:rPr lang="en-IN" dirty="0"/>
              <a:t>+</a:t>
            </a:r>
            <a:r>
              <a:rPr lang="en-IN" dirty="0" smtClean="0"/>
              <a:t>𝐹𝑁</a:t>
            </a:r>
          </a:p>
          <a:p>
            <a:r>
              <a:rPr lang="en-IN" dirty="0" smtClean="0"/>
              <a:t>Explanation </a:t>
            </a:r>
            <a:r>
              <a:rPr lang="en-IN" dirty="0"/>
              <a:t>of </a:t>
            </a:r>
            <a:r>
              <a:rPr lang="en-IN" dirty="0" smtClean="0"/>
              <a:t>symbols</a:t>
            </a:r>
          </a:p>
          <a:p>
            <a:pPr lvl="1"/>
            <a:r>
              <a:rPr lang="en-IN" dirty="0" smtClean="0"/>
              <a:t>TP </a:t>
            </a:r>
            <a:r>
              <a:rPr lang="en-IN" dirty="0"/>
              <a:t>= True </a:t>
            </a:r>
            <a:r>
              <a:rPr lang="en-IN" dirty="0" smtClean="0"/>
              <a:t>Positive, Correctly </a:t>
            </a:r>
            <a:r>
              <a:rPr lang="en-IN" dirty="0"/>
              <a:t>predicted </a:t>
            </a:r>
            <a:r>
              <a:rPr lang="en-IN" dirty="0" smtClean="0"/>
              <a:t>positive</a:t>
            </a:r>
          </a:p>
          <a:p>
            <a:pPr lvl="1"/>
            <a:r>
              <a:rPr lang="en-IN" dirty="0" smtClean="0"/>
              <a:t>FN </a:t>
            </a:r>
            <a:r>
              <a:rPr lang="en-IN" dirty="0"/>
              <a:t>= False </a:t>
            </a:r>
            <a:r>
              <a:rPr lang="en-IN" dirty="0" smtClean="0"/>
              <a:t>Negative, Missed positive</a:t>
            </a:r>
          </a:p>
          <a:p>
            <a:pPr lvl="1"/>
            <a:r>
              <a:rPr lang="en-IN" dirty="0" smtClean="0"/>
              <a:t>TP </a:t>
            </a:r>
            <a:r>
              <a:rPr lang="en-IN" dirty="0"/>
              <a:t>+ FN = total actual </a:t>
            </a:r>
            <a:r>
              <a:rPr lang="en-IN" dirty="0" smtClean="0"/>
              <a:t>positives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measures detection ability</a:t>
            </a:r>
            <a:r>
              <a:rPr lang="en-IN" dirty="0" smtClean="0"/>
              <a:t>.</a:t>
            </a:r>
          </a:p>
          <a:p>
            <a:r>
              <a:rPr lang="en-IN" dirty="0" smtClean="0"/>
              <a:t>Practical example</a:t>
            </a:r>
          </a:p>
          <a:p>
            <a:pPr lvl="1"/>
            <a:r>
              <a:rPr lang="en-IN" dirty="0" smtClean="0"/>
              <a:t>Suppose: Actual </a:t>
            </a:r>
            <a:r>
              <a:rPr lang="en-IN" dirty="0"/>
              <a:t>cancer patients = </a:t>
            </a:r>
            <a:r>
              <a:rPr lang="en-IN" dirty="0" smtClean="0"/>
              <a:t>100</a:t>
            </a:r>
          </a:p>
          <a:p>
            <a:pPr lvl="1"/>
            <a:r>
              <a:rPr lang="en-IN" dirty="0" smtClean="0"/>
              <a:t>Model </a:t>
            </a:r>
            <a:r>
              <a:rPr lang="en-IN" dirty="0"/>
              <a:t>detects = </a:t>
            </a:r>
            <a:r>
              <a:rPr lang="en-IN" dirty="0" smtClean="0"/>
              <a:t>90</a:t>
            </a:r>
          </a:p>
          <a:p>
            <a:pPr lvl="1"/>
            <a:r>
              <a:rPr lang="en-IN" dirty="0" smtClean="0"/>
              <a:t>Missed </a:t>
            </a:r>
            <a:r>
              <a:rPr lang="en-IN" dirty="0"/>
              <a:t>= </a:t>
            </a:r>
            <a:r>
              <a:rPr lang="en-IN" dirty="0" smtClean="0"/>
              <a:t>10</a:t>
            </a:r>
          </a:p>
          <a:p>
            <a:pPr lvl="1"/>
            <a:r>
              <a:rPr lang="en-IN" dirty="0" smtClean="0"/>
              <a:t>𝑅𝑒𝑐𝑎𝑙𝑙</a:t>
            </a:r>
            <a:r>
              <a:rPr lang="en-IN" dirty="0"/>
              <a:t>=</a:t>
            </a:r>
            <a:r>
              <a:rPr lang="en-IN" dirty="0" smtClean="0"/>
              <a:t>90/100=0.9=90%</a:t>
            </a:r>
          </a:p>
          <a:p>
            <a:r>
              <a:rPr lang="en-IN" dirty="0" smtClean="0"/>
              <a:t>Range </a:t>
            </a:r>
            <a:r>
              <a:rPr lang="en-IN" dirty="0"/>
              <a:t>and </a:t>
            </a:r>
            <a:r>
              <a:rPr lang="en-IN" dirty="0" smtClean="0"/>
              <a:t>interpretation</a:t>
            </a:r>
          </a:p>
          <a:p>
            <a:pPr lvl="1"/>
            <a:r>
              <a:rPr lang="en-IN" dirty="0" smtClean="0"/>
              <a:t>0</a:t>
            </a:r>
            <a:r>
              <a:rPr lang="en-IN" dirty="0"/>
              <a:t>≤𝑅𝑒𝑐𝑎𝑙𝑙≤</a:t>
            </a:r>
            <a:r>
              <a:rPr lang="en-IN" dirty="0" smtClean="0"/>
              <a:t>1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= 1 → perfect </a:t>
            </a:r>
            <a:r>
              <a:rPr lang="en-IN" dirty="0" smtClean="0"/>
              <a:t>detection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= 0 → detects </a:t>
            </a:r>
            <a:r>
              <a:rPr lang="en-IN" dirty="0" smtClean="0"/>
              <a:t>nothing</a:t>
            </a:r>
          </a:p>
          <a:p>
            <a:pPr lvl="1"/>
            <a:r>
              <a:rPr lang="en-IN" dirty="0" smtClean="0"/>
              <a:t>Higher </a:t>
            </a:r>
            <a:r>
              <a:rPr lang="en-IN" dirty="0"/>
              <a:t>recall = better </a:t>
            </a:r>
            <a:r>
              <a:rPr lang="en-IN" dirty="0" smtClean="0"/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202259628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Detects </a:t>
            </a:r>
            <a:r>
              <a:rPr lang="en-IN" dirty="0"/>
              <a:t>most positive </a:t>
            </a:r>
            <a:r>
              <a:rPr lang="en-IN" dirty="0" smtClean="0"/>
              <a:t>cases</a:t>
            </a:r>
          </a:p>
          <a:p>
            <a:pPr lvl="1"/>
            <a:r>
              <a:rPr lang="en-IN" dirty="0" smtClean="0"/>
              <a:t>Critical </a:t>
            </a:r>
            <a:r>
              <a:rPr lang="en-IN" dirty="0"/>
              <a:t>for safety </a:t>
            </a:r>
            <a:r>
              <a:rPr lang="en-IN" dirty="0" smtClean="0"/>
              <a:t>systems</a:t>
            </a:r>
          </a:p>
          <a:p>
            <a:pPr lvl="1"/>
            <a:r>
              <a:rPr lang="en-IN" dirty="0" smtClean="0"/>
              <a:t>Useful </a:t>
            </a:r>
            <a:r>
              <a:rPr lang="en-IN" dirty="0"/>
              <a:t>in medical </a:t>
            </a:r>
            <a:r>
              <a:rPr lang="en-IN" dirty="0" smtClean="0"/>
              <a:t>diagnosis</a:t>
            </a:r>
          </a:p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May increase false positives</a:t>
            </a:r>
          </a:p>
          <a:p>
            <a:pPr lvl="1"/>
            <a:r>
              <a:rPr lang="en-IN" dirty="0" smtClean="0"/>
              <a:t>High recall does not guarantee accuracy</a:t>
            </a:r>
          </a:p>
          <a:p>
            <a:pPr lvl="1"/>
            <a:r>
              <a:rPr lang="en-IN" dirty="0" smtClean="0"/>
              <a:t>Example: Predict everything as positive → Recall = 100%</a:t>
            </a:r>
          </a:p>
          <a:p>
            <a:pPr lvl="1"/>
            <a:r>
              <a:rPr lang="en-IN" dirty="0" smtClean="0"/>
              <a:t>But useless model.</a:t>
            </a:r>
          </a:p>
          <a:p>
            <a:r>
              <a:rPr lang="en-IN" dirty="0" smtClean="0"/>
              <a:t>When </a:t>
            </a:r>
            <a:r>
              <a:rPr lang="en-IN" dirty="0"/>
              <a:t>to use (VERY IMPORTANT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Use </a:t>
            </a:r>
            <a:r>
              <a:rPr lang="en-IN" dirty="0"/>
              <a:t>when False Negatives are </a:t>
            </a:r>
            <a:r>
              <a:rPr lang="en-IN" dirty="0" smtClean="0"/>
              <a:t>dangerous: Medical diagnosis, Fraud detection, Security systems, Disease detection</a:t>
            </a:r>
          </a:p>
          <a:p>
            <a:pPr lvl="1"/>
            <a:r>
              <a:rPr lang="en-IN" dirty="0" smtClean="0"/>
              <a:t>Example: Missing </a:t>
            </a:r>
            <a:r>
              <a:rPr lang="en-IN" dirty="0"/>
              <a:t>fraud = </a:t>
            </a:r>
            <a:r>
              <a:rPr lang="en-IN" dirty="0" smtClean="0"/>
              <a:t>dangerous</a:t>
            </a:r>
          </a:p>
          <a:p>
            <a:r>
              <a:rPr lang="en-IN" dirty="0" smtClean="0"/>
              <a:t>When </a:t>
            </a:r>
            <a:r>
              <a:rPr lang="en-IN" dirty="0"/>
              <a:t>NOT to </a:t>
            </a:r>
            <a:r>
              <a:rPr lang="en-IN" dirty="0" smtClean="0"/>
              <a:t>use</a:t>
            </a:r>
          </a:p>
          <a:p>
            <a:pPr lvl="1"/>
            <a:r>
              <a:rPr lang="en-IN" dirty="0" smtClean="0"/>
              <a:t>When </a:t>
            </a:r>
            <a:r>
              <a:rPr lang="en-IN" dirty="0"/>
              <a:t>false positives are more </a:t>
            </a:r>
            <a:r>
              <a:rPr lang="en-IN" dirty="0" smtClean="0"/>
              <a:t>dangerous</a:t>
            </a:r>
          </a:p>
          <a:p>
            <a:pPr lvl="1"/>
            <a:r>
              <a:rPr lang="en-IN" dirty="0" smtClean="0"/>
              <a:t>Example: Spam </a:t>
            </a:r>
            <a:r>
              <a:rPr lang="en-IN" dirty="0"/>
              <a:t>detection (precision more important</a:t>
            </a:r>
            <a:r>
              <a:rPr lang="en-I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384709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Slide 14: Technical deep explanation (Probability interpretation)</a:t>
            </a:r>
          </a:p>
          <a:p>
            <a:pPr lvl="1"/>
            <a:r>
              <a:rPr lang="en-IN" dirty="0"/>
              <a:t>Recall measures conditional probability:𝑅𝑒𝑐𝑎𝑙𝑙=𝑃(𝑃𝑟𝑒𝑑𝑖𝑐𝑡𝑒𝑑 𝑃𝑜𝑠𝑖𝑡𝑖𝑣𝑒∣𝐴𝑐𝑡𝑢𝑎𝑙 𝑃𝑜𝑠𝑖𝑡𝑖𝑣𝑒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This </a:t>
            </a:r>
            <a:r>
              <a:rPr lang="en-IN" dirty="0"/>
              <a:t>means</a:t>
            </a:r>
            <a:r>
              <a:rPr lang="en-IN" dirty="0" smtClean="0"/>
              <a:t>: Probability </a:t>
            </a:r>
            <a:r>
              <a:rPr lang="en-IN" dirty="0"/>
              <a:t>model detects positive when positive exists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Also </a:t>
            </a:r>
            <a:r>
              <a:rPr lang="en-IN" dirty="0"/>
              <a:t>called</a:t>
            </a:r>
            <a:r>
              <a:rPr lang="en-IN" dirty="0" smtClean="0"/>
              <a:t>: True </a:t>
            </a:r>
            <a:r>
              <a:rPr lang="en-IN" dirty="0"/>
              <a:t>Positive Rate (TPR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Used </a:t>
            </a:r>
            <a:r>
              <a:rPr lang="en-IN" dirty="0"/>
              <a:t>in ROC curve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Threshold </a:t>
            </a:r>
            <a:r>
              <a:rPr lang="en-IN" dirty="0"/>
              <a:t>effect on </a:t>
            </a:r>
            <a:r>
              <a:rPr lang="en-IN" dirty="0" smtClean="0"/>
              <a:t>Recall</a:t>
            </a:r>
          </a:p>
          <a:p>
            <a:pPr lvl="1"/>
            <a:r>
              <a:rPr lang="en-IN" dirty="0" smtClean="0"/>
              <a:t>Classification </a:t>
            </a:r>
            <a:r>
              <a:rPr lang="en-IN" dirty="0"/>
              <a:t>uses threshold</a:t>
            </a:r>
            <a:r>
              <a:rPr lang="en-IN" dirty="0" smtClean="0"/>
              <a:t>: Default </a:t>
            </a:r>
            <a:r>
              <a:rPr lang="en-IN" dirty="0"/>
              <a:t>threshold = </a:t>
            </a:r>
            <a:r>
              <a:rPr lang="en-IN" dirty="0" smtClean="0"/>
              <a:t>0.5</a:t>
            </a:r>
          </a:p>
          <a:p>
            <a:pPr lvl="1"/>
            <a:r>
              <a:rPr lang="en-IN" dirty="0" smtClean="0"/>
              <a:t>Lower </a:t>
            </a:r>
            <a:r>
              <a:rPr lang="en-IN" dirty="0"/>
              <a:t>threshold → Higher </a:t>
            </a:r>
            <a:r>
              <a:rPr lang="en-IN" dirty="0" smtClean="0"/>
              <a:t>recall</a:t>
            </a:r>
          </a:p>
          <a:p>
            <a:pPr lvl="1"/>
            <a:r>
              <a:rPr lang="en-IN" dirty="0" smtClean="0"/>
              <a:t>Higher </a:t>
            </a:r>
            <a:r>
              <a:rPr lang="en-IN" dirty="0"/>
              <a:t>threshold → Lower </a:t>
            </a:r>
            <a:r>
              <a:rPr lang="en-IN" dirty="0" smtClean="0"/>
              <a:t>recall</a:t>
            </a:r>
          </a:p>
          <a:p>
            <a:pPr lvl="1"/>
            <a:r>
              <a:rPr lang="en-IN" dirty="0" smtClean="0"/>
              <a:t>Example: Threshold </a:t>
            </a:r>
            <a:r>
              <a:rPr lang="en-IN" dirty="0"/>
              <a:t>= 0.2 → model detects more positives → recall </a:t>
            </a:r>
            <a:r>
              <a:rPr lang="en-IN" dirty="0" smtClean="0"/>
              <a:t>increases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measures model’s ability to detect positive cases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Critical </a:t>
            </a:r>
            <a:r>
              <a:rPr lang="en-IN" dirty="0"/>
              <a:t>in medical, fraud, and safety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93084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49: F1 Score (Balanced Metric)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F1 Score is one of the most important metrics when dealing with imbalanced datasets</a:t>
            </a:r>
            <a:r>
              <a:rPr lang="en-IN" dirty="0" smtClean="0"/>
              <a:t>.</a:t>
            </a:r>
          </a:p>
          <a:p>
            <a:r>
              <a:rPr lang="en-IN" dirty="0" smtClean="0"/>
              <a:t>Definition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Score is the harmonic mean of Precision and Recall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In </a:t>
            </a:r>
            <a:r>
              <a:rPr lang="en-IN" dirty="0"/>
              <a:t>simple words</a:t>
            </a:r>
            <a:r>
              <a:rPr lang="en-IN" dirty="0" smtClean="0"/>
              <a:t>: F1 </a:t>
            </a:r>
            <a:r>
              <a:rPr lang="en-IN" dirty="0"/>
              <a:t>Score balances Precision and Recall</a:t>
            </a:r>
            <a:r>
              <a:rPr lang="en-IN" dirty="0" smtClean="0"/>
              <a:t>.</a:t>
            </a:r>
          </a:p>
          <a:p>
            <a:r>
              <a:rPr lang="en-IN" dirty="0" smtClean="0"/>
              <a:t>Why </a:t>
            </a:r>
            <a:r>
              <a:rPr lang="en-IN" dirty="0"/>
              <a:t>this concept </a:t>
            </a:r>
            <a:r>
              <a:rPr lang="en-IN" dirty="0" smtClean="0"/>
              <a:t>exists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alone is not </a:t>
            </a:r>
            <a:r>
              <a:rPr lang="en-IN" dirty="0" smtClean="0"/>
              <a:t>enough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alone is not </a:t>
            </a:r>
            <a:r>
              <a:rPr lang="en-IN" dirty="0" smtClean="0"/>
              <a:t>enough</a:t>
            </a:r>
          </a:p>
          <a:p>
            <a:pPr lvl="1"/>
            <a:r>
              <a:rPr lang="en-IN" dirty="0" smtClean="0"/>
              <a:t>We </a:t>
            </a:r>
            <a:r>
              <a:rPr lang="en-IN" dirty="0"/>
              <a:t>need balance between both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Score provides balanced evaluation</a:t>
            </a:r>
            <a:r>
              <a:rPr lang="en-IN" dirty="0" smtClean="0"/>
              <a:t>.</a:t>
            </a:r>
          </a:p>
          <a:p>
            <a:r>
              <a:rPr lang="en-IN" dirty="0" smtClean="0"/>
              <a:t>Slide </a:t>
            </a:r>
            <a:r>
              <a:rPr lang="en-IN" dirty="0"/>
              <a:t>4: Real-life </a:t>
            </a:r>
            <a:r>
              <a:rPr lang="en-IN" dirty="0" smtClean="0"/>
              <a:t>analogy</a:t>
            </a:r>
          </a:p>
          <a:p>
            <a:pPr lvl="1"/>
            <a:r>
              <a:rPr lang="en-IN" dirty="0" smtClean="0"/>
              <a:t>Suppose: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= 100</a:t>
            </a:r>
            <a:r>
              <a:rPr lang="en-IN" dirty="0" smtClean="0"/>
              <a:t>%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= 0</a:t>
            </a:r>
            <a:r>
              <a:rPr lang="en-IN" dirty="0" smtClean="0"/>
              <a:t>%</a:t>
            </a:r>
          </a:p>
          <a:p>
            <a:pPr lvl="1"/>
            <a:r>
              <a:rPr lang="en-IN" dirty="0" smtClean="0"/>
              <a:t>Model </a:t>
            </a:r>
            <a:r>
              <a:rPr lang="en-IN" dirty="0"/>
              <a:t>useless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score reflects this problem</a:t>
            </a:r>
            <a:r>
              <a:rPr lang="en-I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452690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Mathematical Formula</a:t>
            </a:r>
          </a:p>
          <a:p>
            <a:pPr lvl="1"/>
            <a:r>
              <a:rPr lang="en-IN" dirty="0" smtClean="0"/>
              <a:t>𝐹</a:t>
            </a:r>
            <a:r>
              <a:rPr lang="en-IN" dirty="0"/>
              <a:t>1=2×𝑃𝑟𝑒𝑐𝑖𝑠𝑖𝑜𝑛×</a:t>
            </a:r>
            <a:r>
              <a:rPr lang="en-IN" dirty="0" smtClean="0"/>
              <a:t>𝑅𝑒𝑐𝑎𝑙𝑙/𝑃𝑟𝑒𝑐𝑖𝑠𝑖𝑜𝑛</a:t>
            </a:r>
            <a:r>
              <a:rPr lang="en-IN" dirty="0"/>
              <a:t>+</a:t>
            </a:r>
            <a:r>
              <a:rPr lang="en-IN" dirty="0" smtClean="0"/>
              <a:t>𝑅𝑒𝑐𝑎𝑙𝑙</a:t>
            </a:r>
          </a:p>
          <a:p>
            <a:pPr lvl="1"/>
            <a:r>
              <a:rPr lang="en-IN" dirty="0" smtClean="0"/>
              <a:t>Alternative </a:t>
            </a:r>
            <a:r>
              <a:rPr lang="en-IN" dirty="0"/>
              <a:t>formula using confusion </a:t>
            </a:r>
            <a:r>
              <a:rPr lang="en-IN" dirty="0" smtClean="0"/>
              <a:t>matrix</a:t>
            </a:r>
          </a:p>
          <a:p>
            <a:pPr lvl="1"/>
            <a:r>
              <a:rPr lang="en-IN" dirty="0" smtClean="0"/>
              <a:t>𝐹</a:t>
            </a:r>
            <a:r>
              <a:rPr lang="en-IN" dirty="0"/>
              <a:t>1=2</a:t>
            </a:r>
            <a:r>
              <a:rPr lang="en-IN" dirty="0" smtClean="0"/>
              <a:t>𝑇𝑃/2</a:t>
            </a:r>
            <a:r>
              <a:rPr lang="en-IN" dirty="0"/>
              <a:t>𝑇𝑃+𝐹𝑃+</a:t>
            </a:r>
            <a:r>
              <a:rPr lang="en-IN" dirty="0" smtClean="0"/>
              <a:t>𝐹𝑁</a:t>
            </a:r>
            <a:r>
              <a:rPr lang="en-IN" dirty="0"/>
              <a:t>	</a:t>
            </a:r>
            <a:r>
              <a:rPr lang="en-IN" dirty="0" smtClean="0"/>
              <a:t>​</a:t>
            </a:r>
          </a:p>
          <a:p>
            <a:r>
              <a:rPr lang="en-IN" dirty="0" smtClean="0"/>
              <a:t>Explanation </a:t>
            </a:r>
            <a:r>
              <a:rPr lang="en-IN" dirty="0"/>
              <a:t>of </a:t>
            </a:r>
            <a:r>
              <a:rPr lang="en-IN" dirty="0" smtClean="0"/>
              <a:t>symbols</a:t>
            </a:r>
          </a:p>
          <a:p>
            <a:pPr lvl="1"/>
            <a:r>
              <a:rPr lang="en-IN" dirty="0" smtClean="0"/>
              <a:t>TP </a:t>
            </a:r>
            <a:r>
              <a:rPr lang="en-IN" dirty="0"/>
              <a:t>= True </a:t>
            </a:r>
            <a:r>
              <a:rPr lang="en-IN" dirty="0" smtClean="0"/>
              <a:t>Positive</a:t>
            </a:r>
          </a:p>
          <a:p>
            <a:pPr lvl="1"/>
            <a:r>
              <a:rPr lang="en-IN" dirty="0" smtClean="0"/>
              <a:t>FP </a:t>
            </a:r>
            <a:r>
              <a:rPr lang="en-IN" dirty="0"/>
              <a:t>= False </a:t>
            </a:r>
            <a:r>
              <a:rPr lang="en-IN" dirty="0" smtClean="0"/>
              <a:t>Positive</a:t>
            </a:r>
          </a:p>
          <a:p>
            <a:pPr lvl="1"/>
            <a:r>
              <a:rPr lang="en-IN" dirty="0" smtClean="0"/>
              <a:t>FN </a:t>
            </a:r>
            <a:r>
              <a:rPr lang="en-IN" dirty="0"/>
              <a:t>= False </a:t>
            </a:r>
            <a:r>
              <a:rPr lang="en-IN" dirty="0" smtClean="0"/>
              <a:t>Negative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balances both error types</a:t>
            </a:r>
            <a:r>
              <a:rPr lang="en-IN" dirty="0" smtClean="0"/>
              <a:t>.</a:t>
            </a:r>
          </a:p>
          <a:p>
            <a:r>
              <a:rPr lang="en-IN" dirty="0" smtClean="0"/>
              <a:t>Slide </a:t>
            </a:r>
            <a:r>
              <a:rPr lang="en-IN" dirty="0"/>
              <a:t>8: Why harmonic mean is used (CRITICAL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Harmonic </a:t>
            </a:r>
            <a:r>
              <a:rPr lang="en-IN" dirty="0"/>
              <a:t>mean punishes imbalance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Example: Precision </a:t>
            </a:r>
            <a:r>
              <a:rPr lang="en-IN" dirty="0"/>
              <a:t>= </a:t>
            </a:r>
            <a:r>
              <a:rPr lang="en-IN" dirty="0" smtClean="0"/>
              <a:t>1, Recall </a:t>
            </a:r>
            <a:r>
              <a:rPr lang="en-IN" dirty="0"/>
              <a:t>= </a:t>
            </a:r>
            <a:r>
              <a:rPr lang="en-IN" dirty="0" smtClean="0"/>
              <a:t>0, F1 </a:t>
            </a:r>
            <a:r>
              <a:rPr lang="en-IN" dirty="0"/>
              <a:t>= </a:t>
            </a:r>
            <a:r>
              <a:rPr lang="en-IN" dirty="0" smtClean="0"/>
              <a:t>0</a:t>
            </a:r>
          </a:p>
          <a:p>
            <a:pPr lvl="1"/>
            <a:r>
              <a:rPr lang="en-IN" dirty="0" smtClean="0"/>
              <a:t>Arithmetic </a:t>
            </a:r>
            <a:r>
              <a:rPr lang="en-IN" dirty="0"/>
              <a:t>mean would give misleading result</a:t>
            </a:r>
            <a:r>
              <a:rPr lang="en-IN" dirty="0" smtClean="0"/>
              <a:t>.</a:t>
            </a:r>
          </a:p>
          <a:p>
            <a:r>
              <a:rPr lang="en-IN" dirty="0" smtClean="0"/>
              <a:t>Practical example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/>
              <a:t>= </a:t>
            </a:r>
            <a:r>
              <a:rPr lang="en-IN" dirty="0" smtClean="0"/>
              <a:t>0.8</a:t>
            </a:r>
          </a:p>
          <a:p>
            <a:pPr lvl="1"/>
            <a:r>
              <a:rPr lang="en-IN" dirty="0" smtClean="0"/>
              <a:t>Recall </a:t>
            </a:r>
            <a:r>
              <a:rPr lang="en-IN" dirty="0"/>
              <a:t>= </a:t>
            </a:r>
            <a:r>
              <a:rPr lang="en-IN" dirty="0" smtClean="0"/>
              <a:t>0.6</a:t>
            </a:r>
          </a:p>
          <a:p>
            <a:pPr lvl="1"/>
            <a:r>
              <a:rPr lang="en-IN" dirty="0" smtClean="0"/>
              <a:t>𝐹1=2×0.8×0.6/0.8+0.6=0.685</a:t>
            </a:r>
          </a:p>
        </p:txBody>
      </p:sp>
    </p:spTree>
    <p:extLst>
      <p:ext uri="{BB962C8B-B14F-4D97-AF65-F5344CB8AC3E}">
        <p14:creationId xmlns:p14="http://schemas.microsoft.com/office/powerpoint/2010/main" val="277564628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/>
              <a:t>Range and </a:t>
            </a:r>
            <a:r>
              <a:rPr lang="en-IN" dirty="0" smtClean="0"/>
              <a:t>interpretation</a:t>
            </a:r>
          </a:p>
          <a:p>
            <a:pPr lvl="1"/>
            <a:r>
              <a:rPr lang="en-IN" dirty="0" smtClean="0"/>
              <a:t>0</a:t>
            </a:r>
            <a:r>
              <a:rPr lang="en-IN" dirty="0"/>
              <a:t>≤𝐹1≤</a:t>
            </a:r>
            <a:r>
              <a:rPr lang="en-IN" dirty="0" smtClean="0"/>
              <a:t>1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= 1 → perfect </a:t>
            </a:r>
            <a:r>
              <a:rPr lang="en-IN" dirty="0" smtClean="0"/>
              <a:t>model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= 0 → worst </a:t>
            </a:r>
            <a:r>
              <a:rPr lang="en-IN" dirty="0" smtClean="0"/>
              <a:t>model</a:t>
            </a:r>
          </a:p>
          <a:p>
            <a:pPr lvl="1"/>
            <a:r>
              <a:rPr lang="en-IN" dirty="0" smtClean="0"/>
              <a:t>Higher </a:t>
            </a:r>
            <a:r>
              <a:rPr lang="en-IN" dirty="0"/>
              <a:t>F1 = better balanced </a:t>
            </a:r>
            <a:r>
              <a:rPr lang="en-IN" dirty="0" smtClean="0"/>
              <a:t>performance</a:t>
            </a:r>
          </a:p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Best </a:t>
            </a:r>
            <a:r>
              <a:rPr lang="en-IN" dirty="0"/>
              <a:t>metric for imbalanced </a:t>
            </a:r>
            <a:r>
              <a:rPr lang="en-IN" dirty="0" smtClean="0"/>
              <a:t>datasets</a:t>
            </a:r>
          </a:p>
          <a:p>
            <a:pPr lvl="1"/>
            <a:r>
              <a:rPr lang="en-IN" dirty="0" smtClean="0"/>
              <a:t>Balances </a:t>
            </a:r>
            <a:r>
              <a:rPr lang="en-IN" dirty="0"/>
              <a:t>precision and </a:t>
            </a:r>
            <a:r>
              <a:rPr lang="en-IN" dirty="0" smtClean="0"/>
              <a:t>recall</a:t>
            </a:r>
          </a:p>
          <a:p>
            <a:pPr lvl="1"/>
            <a:r>
              <a:rPr lang="en-IN" dirty="0" smtClean="0"/>
              <a:t>Widely </a:t>
            </a:r>
            <a:r>
              <a:rPr lang="en-IN" dirty="0"/>
              <a:t>used in ML </a:t>
            </a:r>
            <a:r>
              <a:rPr lang="en-IN" dirty="0" smtClean="0"/>
              <a:t>competitions</a:t>
            </a:r>
          </a:p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Does </a:t>
            </a:r>
            <a:r>
              <a:rPr lang="en-IN" dirty="0"/>
              <a:t>not include true </a:t>
            </a:r>
            <a:r>
              <a:rPr lang="en-IN" dirty="0" smtClean="0"/>
              <a:t>negatives</a:t>
            </a:r>
          </a:p>
          <a:p>
            <a:pPr lvl="1"/>
            <a:r>
              <a:rPr lang="en-IN" dirty="0" smtClean="0"/>
              <a:t>May </a:t>
            </a:r>
            <a:r>
              <a:rPr lang="en-IN" dirty="0"/>
              <a:t>hide individual precision and recall </a:t>
            </a:r>
            <a:r>
              <a:rPr lang="en-IN" dirty="0" smtClean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74485299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When to use (VERY IMPORTANT)</a:t>
            </a:r>
          </a:p>
          <a:p>
            <a:pPr lvl="1"/>
            <a:r>
              <a:rPr lang="en-IN" dirty="0"/>
              <a:t>Imbalanced datasets</a:t>
            </a:r>
          </a:p>
          <a:p>
            <a:pPr lvl="1"/>
            <a:r>
              <a:rPr lang="en-IN" dirty="0"/>
              <a:t>Fraud detection</a:t>
            </a:r>
          </a:p>
          <a:p>
            <a:pPr lvl="1"/>
            <a:r>
              <a:rPr lang="en-IN" dirty="0"/>
              <a:t>Medical diagnosis</a:t>
            </a:r>
          </a:p>
          <a:p>
            <a:pPr lvl="1"/>
            <a:r>
              <a:rPr lang="en-IN" dirty="0"/>
              <a:t>Search engines</a:t>
            </a:r>
          </a:p>
          <a:p>
            <a:pPr lvl="1"/>
            <a:r>
              <a:rPr lang="en-IN" dirty="0"/>
              <a:t>NLP classification</a:t>
            </a:r>
          </a:p>
          <a:p>
            <a:r>
              <a:rPr lang="en-IN" dirty="0" smtClean="0"/>
              <a:t>When </a:t>
            </a:r>
            <a:r>
              <a:rPr lang="en-IN" dirty="0"/>
              <a:t>NOT to </a:t>
            </a:r>
            <a:r>
              <a:rPr lang="en-IN" dirty="0" smtClean="0"/>
              <a:t>use</a:t>
            </a:r>
          </a:p>
          <a:p>
            <a:pPr lvl="1"/>
            <a:r>
              <a:rPr lang="en-IN" dirty="0" smtClean="0"/>
              <a:t>When </a:t>
            </a:r>
            <a:r>
              <a:rPr lang="en-IN" dirty="0"/>
              <a:t>true negatives </a:t>
            </a:r>
            <a:r>
              <a:rPr lang="en-IN" dirty="0" smtClean="0"/>
              <a:t>important</a:t>
            </a:r>
          </a:p>
          <a:p>
            <a:pPr lvl="1"/>
            <a:r>
              <a:rPr lang="en-IN" dirty="0" smtClean="0"/>
              <a:t>Example: General </a:t>
            </a:r>
            <a:r>
              <a:rPr lang="en-IN" dirty="0"/>
              <a:t>accuracy </a:t>
            </a:r>
            <a:r>
              <a:rPr lang="en-IN" dirty="0" smtClean="0"/>
              <a:t>problems</a:t>
            </a:r>
          </a:p>
          <a:p>
            <a:r>
              <a:rPr lang="en-IN" dirty="0" smtClean="0"/>
              <a:t>Technical </a:t>
            </a:r>
            <a:r>
              <a:rPr lang="en-IN" dirty="0"/>
              <a:t>deep </a:t>
            </a:r>
            <a:r>
              <a:rPr lang="en-IN" dirty="0" smtClean="0"/>
              <a:t>explanation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Score minimizes both error types</a:t>
            </a:r>
            <a:r>
              <a:rPr lang="en-IN" dirty="0" smtClean="0"/>
              <a:t>: False positives, False negatives</a:t>
            </a:r>
          </a:p>
          <a:p>
            <a:pPr lvl="1"/>
            <a:r>
              <a:rPr lang="en-IN" dirty="0" smtClean="0"/>
              <a:t>Used </a:t>
            </a:r>
            <a:r>
              <a:rPr lang="en-IN" dirty="0"/>
              <a:t>in optimization</a:t>
            </a:r>
            <a:r>
              <a:rPr lang="en-IN" dirty="0" smtClean="0"/>
              <a:t>: max</a:t>
            </a:r>
            <a:r>
              <a:rPr lang="en-IN" dirty="0"/>
              <a:t>⁡𝐹</a:t>
            </a:r>
            <a:r>
              <a:rPr lang="en-IN" dirty="0" smtClean="0"/>
              <a:t>1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F1 </a:t>
            </a:r>
            <a:r>
              <a:rPr lang="en-IN" dirty="0"/>
              <a:t>Score balances precision and recall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Best </a:t>
            </a:r>
            <a:r>
              <a:rPr lang="en-IN" dirty="0"/>
              <a:t>metric for imbalanced datasets.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026511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50: Specificity (True Negative Rate)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Specificity is the opposite of Recall. It measures how well the model detects negatives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Specificity </a:t>
            </a:r>
            <a:r>
              <a:rPr lang="en-US" dirty="0"/>
              <a:t>measures how many actual negative cases were correctly identified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Specificity </a:t>
            </a:r>
            <a:r>
              <a:rPr lang="en-US" dirty="0"/>
              <a:t>answers</a:t>
            </a:r>
            <a:r>
              <a:rPr lang="en-US" dirty="0" smtClean="0"/>
              <a:t>: "</a:t>
            </a:r>
            <a:r>
              <a:rPr lang="en-US" dirty="0"/>
              <a:t>Out of all real negatives, how many did the model correctly detect</a:t>
            </a:r>
            <a:r>
              <a:rPr lang="en-US" dirty="0" smtClean="0"/>
              <a:t>?“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some problems, detecting negatives correctly is important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Fraud detection</a:t>
            </a:r>
          </a:p>
          <a:p>
            <a:pPr lvl="1"/>
            <a:r>
              <a:rPr lang="en-US" dirty="0" smtClean="0"/>
              <a:t>Wrongly </a:t>
            </a:r>
            <a:r>
              <a:rPr lang="en-US" dirty="0"/>
              <a:t>marking legitimate transaction as fraud is bad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Specificity </a:t>
            </a:r>
            <a:r>
              <a:rPr lang="en-US" dirty="0"/>
              <a:t>measures this 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Suppose:100 </a:t>
            </a:r>
            <a:r>
              <a:rPr lang="en-US" dirty="0"/>
              <a:t>healthy </a:t>
            </a:r>
            <a:r>
              <a:rPr lang="en-US" dirty="0" smtClean="0"/>
              <a:t>people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correctly identifies 90 </a:t>
            </a:r>
            <a:r>
              <a:rPr lang="en-US" dirty="0" smtClean="0"/>
              <a:t>healthy</a:t>
            </a:r>
          </a:p>
          <a:p>
            <a:pPr lvl="1"/>
            <a:r>
              <a:rPr lang="en-US" dirty="0" smtClean="0"/>
              <a:t>Specificity </a:t>
            </a:r>
            <a:r>
              <a:rPr lang="en-US" dirty="0"/>
              <a:t>= 90</a:t>
            </a:r>
            <a:r>
              <a:rPr lang="en-US" dirty="0" smtClean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49239128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𝑆𝑝𝑒𝑐𝑖𝑓𝑖𝑐𝑖𝑡𝑦</a:t>
            </a:r>
            <a:r>
              <a:rPr lang="en-US" dirty="0"/>
              <a:t>=</a:t>
            </a:r>
            <a:r>
              <a:rPr lang="en-US" dirty="0" smtClean="0"/>
              <a:t>𝑇𝑁/𝑇𝑁</a:t>
            </a:r>
            <a:r>
              <a:rPr lang="en-US" dirty="0"/>
              <a:t>+</a:t>
            </a:r>
            <a:r>
              <a:rPr lang="en-US" dirty="0" smtClean="0"/>
              <a:t>𝐹𝑃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TN </a:t>
            </a:r>
            <a:r>
              <a:rPr lang="en-US" dirty="0"/>
              <a:t>= True </a:t>
            </a:r>
            <a:r>
              <a:rPr lang="en-US" dirty="0" smtClean="0"/>
              <a:t>Negative</a:t>
            </a:r>
          </a:p>
          <a:p>
            <a:pPr lvl="1"/>
            <a:r>
              <a:rPr lang="en-US" dirty="0" smtClean="0"/>
              <a:t>FP </a:t>
            </a:r>
            <a:r>
              <a:rPr lang="en-US" dirty="0"/>
              <a:t>= False </a:t>
            </a:r>
            <a:r>
              <a:rPr lang="en-US" dirty="0" smtClean="0"/>
              <a:t>Positive</a:t>
            </a:r>
          </a:p>
          <a:p>
            <a:pPr lvl="1"/>
            <a:r>
              <a:rPr lang="en-US" dirty="0" smtClean="0"/>
              <a:t>TN </a:t>
            </a:r>
            <a:r>
              <a:rPr lang="en-US" dirty="0"/>
              <a:t>+ FP = total actual </a:t>
            </a:r>
            <a:r>
              <a:rPr lang="en-US" dirty="0" smtClean="0"/>
              <a:t>negatives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TN </a:t>
            </a:r>
            <a:r>
              <a:rPr lang="en-US" dirty="0"/>
              <a:t>= </a:t>
            </a:r>
            <a:r>
              <a:rPr lang="en-US" dirty="0" smtClean="0"/>
              <a:t>90</a:t>
            </a:r>
          </a:p>
          <a:p>
            <a:pPr lvl="1"/>
            <a:r>
              <a:rPr lang="en-US" dirty="0" smtClean="0"/>
              <a:t>FP </a:t>
            </a:r>
            <a:r>
              <a:rPr lang="en-US" dirty="0"/>
              <a:t>= </a:t>
            </a:r>
            <a:r>
              <a:rPr lang="en-US" dirty="0" smtClean="0"/>
              <a:t>10</a:t>
            </a:r>
          </a:p>
          <a:p>
            <a:pPr lvl="1"/>
            <a:r>
              <a:rPr lang="en-US" dirty="0" smtClean="0"/>
              <a:t>𝑆𝑝𝑒𝑐𝑖𝑓𝑖𝑐𝑖𝑡𝑦</a:t>
            </a:r>
            <a:r>
              <a:rPr lang="en-US" dirty="0"/>
              <a:t>=</a:t>
            </a:r>
            <a:r>
              <a:rPr lang="en-US" dirty="0" smtClean="0"/>
              <a:t>90/100=90%</a:t>
            </a:r>
          </a:p>
          <a:p>
            <a:r>
              <a:rPr lang="en-US" dirty="0" smtClean="0"/>
              <a:t>Range</a:t>
            </a:r>
          </a:p>
          <a:p>
            <a:pPr lvl="1"/>
            <a:r>
              <a:rPr lang="en-US" dirty="0" smtClean="0"/>
              <a:t>0</a:t>
            </a:r>
            <a:r>
              <a:rPr lang="en-US" dirty="0"/>
              <a:t>≤𝑆𝑝𝑒𝑐𝑖𝑓𝑖𝑐𝑖𝑡𝑦≤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Higher </a:t>
            </a:r>
            <a:r>
              <a:rPr lang="en-US" dirty="0"/>
              <a:t>specificity = better negative </a:t>
            </a:r>
            <a:r>
              <a:rPr lang="en-US" dirty="0" smtClean="0"/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158844586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Measures </a:t>
            </a:r>
            <a:r>
              <a:rPr lang="en-US" dirty="0"/>
              <a:t>negative detection </a:t>
            </a:r>
            <a:r>
              <a:rPr lang="en-US" dirty="0" smtClean="0"/>
              <a:t>ability</a:t>
            </a:r>
          </a:p>
          <a:p>
            <a:pPr lvl="1"/>
            <a:r>
              <a:rPr lang="en-US" dirty="0" smtClean="0"/>
              <a:t>Important </a:t>
            </a:r>
            <a:r>
              <a:rPr lang="en-US" dirty="0"/>
              <a:t>in fraud </a:t>
            </a:r>
            <a:r>
              <a:rPr lang="en-US" dirty="0" smtClean="0"/>
              <a:t>detection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Does </a:t>
            </a:r>
            <a:r>
              <a:rPr lang="en-US" dirty="0"/>
              <a:t>not measure positive </a:t>
            </a:r>
            <a:r>
              <a:rPr lang="en-US" dirty="0" smtClean="0"/>
              <a:t>detection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Fraud detection</a:t>
            </a:r>
          </a:p>
          <a:p>
            <a:pPr lvl="1"/>
            <a:r>
              <a:rPr lang="en-US" dirty="0" smtClean="0"/>
              <a:t>Spam filtering</a:t>
            </a:r>
          </a:p>
          <a:p>
            <a:pPr lvl="1"/>
            <a:r>
              <a:rPr lang="en-US" dirty="0" smtClean="0"/>
              <a:t>Security systems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positive detection more </a:t>
            </a:r>
            <a:r>
              <a:rPr lang="en-US" dirty="0" smtClean="0"/>
              <a:t>important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Specificity </a:t>
            </a:r>
            <a:r>
              <a:rPr lang="en-US" dirty="0"/>
              <a:t>measures:𝑃(𝑃𝑟𝑒𝑑𝑖𝑐𝑡𝑒𝑑 𝑁𝑒𝑔𝑎𝑡𝑖𝑣𝑒∣𝐴𝑐𝑡𝑢𝑎𝑙 𝑁𝑒𝑔𝑎𝑡𝑖𝑣𝑒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Also </a:t>
            </a:r>
            <a:r>
              <a:rPr lang="en-US" dirty="0"/>
              <a:t>called True Negative Rate (TNR</a:t>
            </a:r>
            <a:r>
              <a:rPr lang="en-US" dirty="0" smtClean="0"/>
              <a:t>)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Specificity </a:t>
            </a:r>
            <a:r>
              <a:rPr lang="en-US" dirty="0"/>
              <a:t>measures how well model detects negatives.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44057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51: False Positive Rate (FPR)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FPR is critical for understanding false alarms made by the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False </a:t>
            </a:r>
            <a:r>
              <a:rPr lang="en-US" dirty="0"/>
              <a:t>Positive Rate measures how many actual negative cases were incorrectly predicted as positive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FPR </a:t>
            </a:r>
            <a:r>
              <a:rPr lang="en-US" dirty="0"/>
              <a:t>answers</a:t>
            </a:r>
            <a:r>
              <a:rPr lang="en-US" dirty="0" smtClean="0"/>
              <a:t>: "</a:t>
            </a:r>
            <a:r>
              <a:rPr lang="en-US" dirty="0"/>
              <a:t>Out of all real negatives, how many were falsely predicted as positive</a:t>
            </a:r>
            <a:r>
              <a:rPr lang="en-US" dirty="0" smtClean="0"/>
              <a:t>?“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False </a:t>
            </a:r>
            <a:r>
              <a:rPr lang="en-US" dirty="0"/>
              <a:t>positives can be dangerous or costly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Examples: </a:t>
            </a:r>
          </a:p>
          <a:p>
            <a:pPr lvl="1"/>
            <a:r>
              <a:rPr lang="en-US" dirty="0" smtClean="0"/>
              <a:t>Fraud </a:t>
            </a:r>
            <a:r>
              <a:rPr lang="en-US" dirty="0"/>
              <a:t>detection → legitimate transaction </a:t>
            </a:r>
            <a:r>
              <a:rPr lang="en-US" dirty="0" smtClean="0"/>
              <a:t>blocked</a:t>
            </a:r>
          </a:p>
          <a:p>
            <a:pPr lvl="1"/>
            <a:r>
              <a:rPr lang="en-US" dirty="0" smtClean="0"/>
              <a:t>Medical </a:t>
            </a:r>
            <a:r>
              <a:rPr lang="en-US" dirty="0"/>
              <a:t>test → healthy person diagnosed </a:t>
            </a:r>
            <a:r>
              <a:rPr lang="en-US" dirty="0" smtClean="0"/>
              <a:t>sick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measures false alarm rate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Airport </a:t>
            </a:r>
            <a:r>
              <a:rPr lang="en-US" dirty="0"/>
              <a:t>security scanner</a:t>
            </a:r>
            <a:r>
              <a:rPr lang="en-US" dirty="0" smtClean="0"/>
              <a:t>: 100 </a:t>
            </a:r>
            <a:r>
              <a:rPr lang="en-US" dirty="0"/>
              <a:t>safe </a:t>
            </a:r>
            <a:r>
              <a:rPr lang="en-US" dirty="0" smtClean="0"/>
              <a:t>passengers</a:t>
            </a:r>
          </a:p>
          <a:p>
            <a:pPr lvl="1"/>
            <a:r>
              <a:rPr lang="en-US" dirty="0" smtClean="0"/>
              <a:t>Scanner </a:t>
            </a:r>
            <a:r>
              <a:rPr lang="en-US" dirty="0"/>
              <a:t>wrongly flags </a:t>
            </a:r>
            <a:r>
              <a:rPr lang="en-US" dirty="0" smtClean="0"/>
              <a:t>5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= 5</a:t>
            </a:r>
            <a:r>
              <a:rPr lang="en-US" dirty="0" smtClean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13908174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𝐹𝑃𝑅</a:t>
            </a:r>
            <a:r>
              <a:rPr lang="en-US" dirty="0"/>
              <a:t>=</a:t>
            </a:r>
            <a:r>
              <a:rPr lang="en-US" dirty="0" smtClean="0"/>
              <a:t>𝐹𝑃/𝐹𝑃</a:t>
            </a:r>
            <a:r>
              <a:rPr lang="en-US" dirty="0"/>
              <a:t>+</a:t>
            </a:r>
            <a:r>
              <a:rPr lang="en-US" dirty="0" smtClean="0"/>
              <a:t>𝑇𝑁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FP </a:t>
            </a:r>
            <a:r>
              <a:rPr lang="en-US" dirty="0"/>
              <a:t>= False </a:t>
            </a:r>
            <a:r>
              <a:rPr lang="en-US" dirty="0" smtClean="0"/>
              <a:t>Positive</a:t>
            </a:r>
          </a:p>
          <a:p>
            <a:pPr lvl="1"/>
            <a:r>
              <a:rPr lang="en-US" dirty="0" smtClean="0"/>
              <a:t>TN </a:t>
            </a:r>
            <a:r>
              <a:rPr lang="en-US" dirty="0"/>
              <a:t>= True </a:t>
            </a:r>
            <a:r>
              <a:rPr lang="en-US" dirty="0" smtClean="0"/>
              <a:t>Negative</a:t>
            </a:r>
          </a:p>
          <a:p>
            <a:pPr lvl="1"/>
            <a:r>
              <a:rPr lang="en-US" dirty="0" smtClean="0"/>
              <a:t>FP </a:t>
            </a:r>
            <a:r>
              <a:rPr lang="en-US" dirty="0"/>
              <a:t>+ TN = total actual </a:t>
            </a:r>
            <a:r>
              <a:rPr lang="en-US" dirty="0" smtClean="0"/>
              <a:t>negatives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= proportion of false </a:t>
            </a:r>
            <a:r>
              <a:rPr lang="en-US" dirty="0" smtClean="0"/>
              <a:t>alarms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Suppose:</a:t>
            </a:r>
          </a:p>
          <a:p>
            <a:pPr lvl="1"/>
            <a:r>
              <a:rPr lang="en-US" dirty="0" smtClean="0"/>
              <a:t>FP </a:t>
            </a:r>
            <a:r>
              <a:rPr lang="en-US" dirty="0"/>
              <a:t>= </a:t>
            </a:r>
            <a:r>
              <a:rPr lang="en-US" dirty="0" smtClean="0"/>
              <a:t>20</a:t>
            </a:r>
          </a:p>
          <a:p>
            <a:pPr lvl="1"/>
            <a:r>
              <a:rPr lang="en-US" dirty="0" smtClean="0"/>
              <a:t>TN </a:t>
            </a:r>
            <a:r>
              <a:rPr lang="en-US" dirty="0"/>
              <a:t>= </a:t>
            </a:r>
            <a:r>
              <a:rPr lang="en-US" dirty="0" smtClean="0"/>
              <a:t>180</a:t>
            </a:r>
          </a:p>
          <a:p>
            <a:pPr lvl="1"/>
            <a:r>
              <a:rPr lang="en-US" dirty="0" smtClean="0"/>
              <a:t>𝐹𝑃𝑅</a:t>
            </a:r>
            <a:r>
              <a:rPr lang="en-US" dirty="0"/>
              <a:t>=</a:t>
            </a:r>
            <a:r>
              <a:rPr lang="en-US" dirty="0" smtClean="0"/>
              <a:t>20/200=0.1=10%</a:t>
            </a:r>
          </a:p>
          <a:p>
            <a:r>
              <a:rPr lang="en-US" dirty="0" smtClean="0"/>
              <a:t>Range </a:t>
            </a:r>
            <a:r>
              <a:rPr lang="en-US" dirty="0"/>
              <a:t>and </a:t>
            </a:r>
            <a:r>
              <a:rPr lang="en-US" dirty="0" smtClean="0"/>
              <a:t>interpretation</a:t>
            </a:r>
          </a:p>
          <a:p>
            <a:pPr lvl="1"/>
            <a:r>
              <a:rPr lang="en-US" dirty="0" smtClean="0"/>
              <a:t>0</a:t>
            </a:r>
            <a:r>
              <a:rPr lang="en-US" dirty="0"/>
              <a:t>≤𝐹𝑃𝑅≤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= 0 → perfect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= 1 → worst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Lower </a:t>
            </a:r>
            <a:r>
              <a:rPr lang="en-US" dirty="0"/>
              <a:t>FPR = </a:t>
            </a:r>
            <a:r>
              <a:rPr lang="en-US" dirty="0" smtClean="0"/>
              <a:t>better</a:t>
            </a:r>
          </a:p>
          <a:p>
            <a:r>
              <a:rPr lang="en-US" dirty="0" smtClean="0"/>
              <a:t>Relationship </a:t>
            </a:r>
            <a:r>
              <a:rPr lang="en-US" dirty="0"/>
              <a:t>with </a:t>
            </a:r>
            <a:r>
              <a:rPr lang="en-US" dirty="0" smtClean="0"/>
              <a:t>Specificity</a:t>
            </a:r>
          </a:p>
          <a:p>
            <a:pPr lvl="1"/>
            <a:r>
              <a:rPr lang="en-US" dirty="0" smtClean="0"/>
              <a:t>𝐹𝑃𝑅</a:t>
            </a:r>
            <a:r>
              <a:rPr lang="en-US" dirty="0"/>
              <a:t>=1−</a:t>
            </a:r>
            <a:r>
              <a:rPr lang="en-US" dirty="0" smtClean="0"/>
              <a:t>𝑆𝑝𝑒𝑐𝑖𝑓𝑖𝑐𝑖𝑡𝑦</a:t>
            </a:r>
          </a:p>
          <a:p>
            <a:pPr lvl="1"/>
            <a:r>
              <a:rPr lang="en-US" dirty="0" smtClean="0"/>
              <a:t>Specificity </a:t>
            </a:r>
            <a:r>
              <a:rPr lang="en-US" dirty="0"/>
              <a:t>= TN/(TN+FP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78902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Measures </a:t>
            </a:r>
            <a:r>
              <a:rPr lang="en-US" dirty="0"/>
              <a:t>false alarm </a:t>
            </a:r>
            <a:r>
              <a:rPr lang="en-US" dirty="0" smtClean="0"/>
              <a:t>rate</a:t>
            </a:r>
          </a:p>
          <a:p>
            <a:pPr lvl="1"/>
            <a:r>
              <a:rPr lang="en-US" dirty="0" smtClean="0"/>
              <a:t>Important </a:t>
            </a:r>
            <a:r>
              <a:rPr lang="en-US" dirty="0"/>
              <a:t>for safety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Does </a:t>
            </a:r>
            <a:r>
              <a:rPr lang="en-US" dirty="0"/>
              <a:t>not measure detection </a:t>
            </a:r>
            <a:r>
              <a:rPr lang="en-US" dirty="0" smtClean="0"/>
              <a:t>ability</a:t>
            </a:r>
          </a:p>
          <a:p>
            <a:pPr lvl="1"/>
            <a:r>
              <a:rPr lang="en-US" dirty="0" smtClean="0"/>
              <a:t>Need </a:t>
            </a:r>
            <a:r>
              <a:rPr lang="en-US" dirty="0"/>
              <a:t>recall also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Fraud detection</a:t>
            </a:r>
          </a:p>
          <a:p>
            <a:pPr lvl="1"/>
            <a:r>
              <a:rPr lang="en-US" dirty="0" smtClean="0"/>
              <a:t>Medical testing</a:t>
            </a:r>
          </a:p>
          <a:p>
            <a:pPr lvl="1"/>
            <a:r>
              <a:rPr lang="en-US" dirty="0" smtClean="0"/>
              <a:t>Security systems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explanation (Probability interpretation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measures conditional probability</a:t>
            </a:r>
            <a:r>
              <a:rPr lang="en-US" dirty="0" smtClean="0"/>
              <a:t>: 𝐹𝑃𝑅</a:t>
            </a:r>
            <a:r>
              <a:rPr lang="en-US" dirty="0"/>
              <a:t>=𝑃(𝑃𝑟𝑒𝑑𝑖𝑐𝑡𝑒𝑑 𝑃𝑜𝑠𝑖𝑡𝑖𝑣𝑒∣𝐴𝑐𝑡𝑢𝑎𝑙 𝑁𝑒𝑔𝑎𝑡𝑖𝑣𝑒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measures incorrect positive prediction probability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measures false alarm rate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Lower </a:t>
            </a:r>
            <a:r>
              <a:rPr lang="en-US" dirty="0"/>
              <a:t>FPR means better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0732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52: ROC Curve (Receiver Operating Characteristic Curve)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ROC curve is one of the most important tools in classification evaluation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is a graph showing model performance across different classification </a:t>
            </a:r>
            <a:r>
              <a:rPr lang="en-US" dirty="0" smtClean="0"/>
              <a:t>thresholds.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plots</a:t>
            </a:r>
            <a:r>
              <a:rPr lang="en-US" dirty="0" smtClean="0"/>
              <a:t>: True </a:t>
            </a:r>
            <a:r>
              <a:rPr lang="en-US" dirty="0"/>
              <a:t>Positive Rate vs False Positive </a:t>
            </a:r>
            <a:r>
              <a:rPr lang="en-US" dirty="0" smtClean="0"/>
              <a:t>Rate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Classification </a:t>
            </a:r>
            <a:r>
              <a:rPr lang="en-US" dirty="0"/>
              <a:t>models output probabilities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Different </a:t>
            </a:r>
            <a:r>
              <a:rPr lang="en-US" dirty="0"/>
              <a:t>thresholds produce different results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shows performance across ALL thresholds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Suppose </a:t>
            </a:r>
            <a:r>
              <a:rPr lang="en-US" dirty="0"/>
              <a:t>cancer detection </a:t>
            </a:r>
            <a:r>
              <a:rPr lang="en-US" dirty="0" smtClean="0"/>
              <a:t>threshold:</a:t>
            </a:r>
          </a:p>
          <a:p>
            <a:pPr lvl="1"/>
            <a:r>
              <a:rPr lang="en-US" dirty="0" smtClean="0"/>
              <a:t>Threshold </a:t>
            </a:r>
            <a:r>
              <a:rPr lang="en-US" dirty="0"/>
              <a:t>= 0.5 → moderate </a:t>
            </a:r>
            <a:r>
              <a:rPr lang="en-US" dirty="0" smtClean="0"/>
              <a:t>detection</a:t>
            </a:r>
          </a:p>
          <a:p>
            <a:pPr lvl="1"/>
            <a:r>
              <a:rPr lang="en-US" dirty="0" smtClean="0"/>
              <a:t>Threshold </a:t>
            </a:r>
            <a:r>
              <a:rPr lang="en-US" dirty="0"/>
              <a:t>= 0.2 → detects more </a:t>
            </a:r>
            <a:r>
              <a:rPr lang="en-US" dirty="0" smtClean="0"/>
              <a:t>cancer</a:t>
            </a:r>
          </a:p>
          <a:p>
            <a:pPr lvl="1"/>
            <a:r>
              <a:rPr lang="en-US" dirty="0" smtClean="0"/>
              <a:t>Threshold </a:t>
            </a:r>
            <a:r>
              <a:rPr lang="en-US" dirty="0"/>
              <a:t>= 0.8 → detects fewer </a:t>
            </a:r>
            <a:r>
              <a:rPr lang="en-US" dirty="0" smtClean="0"/>
              <a:t>cancer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shows all possible threshold performance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27506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Mathematical Definition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plots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Y-axis</a:t>
            </a:r>
            <a:r>
              <a:rPr lang="en-US" dirty="0"/>
              <a:t>:𝑇𝑃𝑅=</a:t>
            </a:r>
            <a:r>
              <a:rPr lang="en-US" dirty="0" smtClean="0"/>
              <a:t>𝑇𝑃/𝑇𝑃</a:t>
            </a:r>
            <a:r>
              <a:rPr lang="en-US" dirty="0"/>
              <a:t>+</a:t>
            </a:r>
            <a:r>
              <a:rPr lang="en-US" dirty="0" smtClean="0"/>
              <a:t>𝐹𝑁</a:t>
            </a:r>
            <a:r>
              <a:rPr lang="en-US" dirty="0"/>
              <a:t>	</a:t>
            </a:r>
            <a:r>
              <a:rPr lang="en-US" dirty="0" smtClean="0"/>
              <a:t>​</a:t>
            </a:r>
          </a:p>
          <a:p>
            <a:pPr lvl="1"/>
            <a:r>
              <a:rPr lang="en-US" dirty="0" smtClean="0"/>
              <a:t>X-axis</a:t>
            </a:r>
            <a:r>
              <a:rPr lang="en-US" dirty="0"/>
              <a:t>:𝐹𝑃𝑅=</a:t>
            </a:r>
            <a:r>
              <a:rPr lang="en-US" dirty="0" smtClean="0"/>
              <a:t>𝐹𝑃/𝐹𝑃</a:t>
            </a:r>
            <a:r>
              <a:rPr lang="en-US" dirty="0"/>
              <a:t>+</a:t>
            </a:r>
            <a:r>
              <a:rPr lang="en-US" dirty="0" smtClean="0"/>
              <a:t>𝑇𝑁</a:t>
            </a:r>
            <a:r>
              <a:rPr lang="en-US" dirty="0"/>
              <a:t>	</a:t>
            </a:r>
            <a:endParaRPr lang="en-US" dirty="0" smtClean="0"/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TPR </a:t>
            </a:r>
            <a:r>
              <a:rPr lang="en-US" dirty="0"/>
              <a:t>= </a:t>
            </a:r>
            <a:r>
              <a:rPr lang="en-US" dirty="0" smtClean="0"/>
              <a:t>Recall</a:t>
            </a:r>
          </a:p>
          <a:p>
            <a:pPr lvl="1"/>
            <a:r>
              <a:rPr lang="en-US" dirty="0" smtClean="0"/>
              <a:t>FPR </a:t>
            </a:r>
            <a:r>
              <a:rPr lang="en-US" dirty="0"/>
              <a:t>= False positive </a:t>
            </a:r>
            <a:r>
              <a:rPr lang="en-US" dirty="0" smtClean="0"/>
              <a:t>rate</a:t>
            </a:r>
          </a:p>
          <a:p>
            <a:pPr lvl="1"/>
            <a:r>
              <a:rPr lang="en-US" dirty="0" smtClean="0"/>
              <a:t>Each </a:t>
            </a:r>
            <a:r>
              <a:rPr lang="en-US" dirty="0"/>
              <a:t>threshold gives one point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Curve </a:t>
            </a:r>
            <a:r>
              <a:rPr lang="en-US" dirty="0"/>
              <a:t>connects all points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interpretation </a:t>
            </a:r>
            <a:r>
              <a:rPr lang="en-US" dirty="0" smtClean="0"/>
              <a:t>points</a:t>
            </a:r>
          </a:p>
          <a:p>
            <a:pPr lvl="1"/>
            <a:r>
              <a:rPr lang="en-US" dirty="0" smtClean="0"/>
              <a:t>Top-left </a:t>
            </a:r>
            <a:r>
              <a:rPr lang="en-US" dirty="0"/>
              <a:t>corner = perfect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Diagonal </a:t>
            </a:r>
            <a:r>
              <a:rPr lang="en-US" dirty="0"/>
              <a:t>line = random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Closer </a:t>
            </a:r>
            <a:r>
              <a:rPr lang="en-US" dirty="0"/>
              <a:t>to top-left = better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Threshold </a:t>
            </a:r>
            <a:r>
              <a:rPr lang="en-US" dirty="0"/>
              <a:t>effect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Threshold </a:t>
            </a:r>
            <a:r>
              <a:rPr lang="en-US" dirty="0"/>
              <a:t>= 0 → everything </a:t>
            </a:r>
            <a:r>
              <a:rPr lang="en-US" dirty="0" smtClean="0"/>
              <a:t>positive</a:t>
            </a:r>
          </a:p>
          <a:p>
            <a:pPr lvl="1"/>
            <a:r>
              <a:rPr lang="en-US" dirty="0" smtClean="0"/>
              <a:t>TPR </a:t>
            </a:r>
            <a:r>
              <a:rPr lang="en-US" dirty="0"/>
              <a:t>= 1, FPR = 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Threshold </a:t>
            </a:r>
            <a:r>
              <a:rPr lang="en-US" dirty="0"/>
              <a:t>= 1 → everything </a:t>
            </a:r>
            <a:r>
              <a:rPr lang="en-US" dirty="0" smtClean="0"/>
              <a:t>negative</a:t>
            </a:r>
          </a:p>
          <a:p>
            <a:pPr lvl="1"/>
            <a:r>
              <a:rPr lang="en-US" dirty="0" smtClean="0"/>
              <a:t>TPR </a:t>
            </a:r>
            <a:r>
              <a:rPr lang="en-US" dirty="0"/>
              <a:t>= 0, FPR = </a:t>
            </a:r>
            <a:r>
              <a:rPr lang="en-US" dirty="0" smtClean="0"/>
              <a:t>0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connects these</a:t>
            </a:r>
            <a:r>
              <a:rPr lang="en-US" dirty="0" smtClean="0"/>
              <a:t>.</a:t>
            </a:r>
          </a:p>
        </p:txBody>
      </p:sp>
      <p:pic>
        <p:nvPicPr>
          <p:cNvPr id="184322" name="Picture 2" descr="https://upload.wikimedia.org/wikipedia/commons/thumb/1/13/Roc_curve.svg/512px-Roc_curv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565" y="660086"/>
            <a:ext cx="5498235" cy="549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04081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Shows </a:t>
            </a:r>
            <a:r>
              <a:rPr lang="en-US" dirty="0"/>
              <a:t>full model </a:t>
            </a:r>
            <a:r>
              <a:rPr lang="en-US" dirty="0" smtClean="0"/>
              <a:t>performance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/>
              <a:t>of </a:t>
            </a:r>
            <a:r>
              <a:rPr lang="en-US" dirty="0" smtClean="0"/>
              <a:t>threshold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Hard </a:t>
            </a:r>
            <a:r>
              <a:rPr lang="en-US" dirty="0"/>
              <a:t>to interpret </a:t>
            </a:r>
            <a:r>
              <a:rPr lang="en-US" dirty="0" smtClean="0"/>
              <a:t>numerically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AUC </a:t>
            </a:r>
            <a:r>
              <a:rPr lang="en-US" dirty="0" smtClean="0"/>
              <a:t>score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Classification </a:t>
            </a:r>
            <a:r>
              <a:rPr lang="en-US" dirty="0"/>
              <a:t>model </a:t>
            </a:r>
            <a:r>
              <a:rPr lang="en-US" dirty="0" smtClean="0"/>
              <a:t>evaluation</a:t>
            </a:r>
          </a:p>
          <a:p>
            <a:pPr lvl="1"/>
            <a:r>
              <a:rPr lang="en-US" dirty="0" smtClean="0"/>
              <a:t>Model comparison</a:t>
            </a:r>
          </a:p>
          <a:p>
            <a:pPr lvl="1"/>
            <a:r>
              <a:rPr lang="en-US" dirty="0" smtClean="0"/>
              <a:t>Medical diagnosis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Regression problems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shows tradeoff</a:t>
            </a:r>
            <a:r>
              <a:rPr lang="en-US" dirty="0" smtClean="0"/>
              <a:t>: Increasing </a:t>
            </a:r>
            <a:r>
              <a:rPr lang="en-US" dirty="0"/>
              <a:t>recall increases FPR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performance evaluated across full probability distribution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shows performance at all thresholds.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27882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53: AUC (Area Under ROC Curve)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AUC converts ROC curve into single number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AUC </a:t>
            </a:r>
            <a:r>
              <a:rPr lang="en-US" dirty="0"/>
              <a:t>measures the total area under ROC curve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represents overall classification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ROC </a:t>
            </a:r>
            <a:r>
              <a:rPr lang="en-US" dirty="0"/>
              <a:t>curve is graphical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need numerical score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AUC </a:t>
            </a:r>
            <a:r>
              <a:rPr lang="en-US" dirty="0"/>
              <a:t>provides this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AUC </a:t>
            </a:r>
            <a:r>
              <a:rPr lang="en-US" dirty="0"/>
              <a:t>measures overall ability of model to distinguish between positive and negative cases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Mathematical Definition</a:t>
            </a:r>
          </a:p>
          <a:p>
            <a:pPr lvl="1"/>
            <a:r>
              <a:rPr lang="en-US" dirty="0" smtClean="0"/>
              <a:t>𝐴𝑈𝐶</a:t>
            </a:r>
            <a:r>
              <a:rPr lang="en-US" dirty="0"/>
              <a:t>=∫𝑇𝑃𝑅 𝑑(𝐹𝑃𝑅</a:t>
            </a:r>
            <a:r>
              <a:rPr lang="en-US" dirty="0" smtClean="0"/>
              <a:t>)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Integral </a:t>
            </a:r>
            <a:r>
              <a:rPr lang="en-US" dirty="0"/>
              <a:t>measures area under ROC curve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Higher </a:t>
            </a:r>
            <a:r>
              <a:rPr lang="en-US" dirty="0"/>
              <a:t>area = better </a:t>
            </a:r>
            <a:r>
              <a:rPr lang="en-US" dirty="0" smtClean="0"/>
              <a:t>performance.</a:t>
            </a:r>
          </a:p>
        </p:txBody>
      </p:sp>
    </p:spTree>
    <p:extLst>
      <p:ext uri="{BB962C8B-B14F-4D97-AF65-F5344CB8AC3E}">
        <p14:creationId xmlns:p14="http://schemas.microsoft.com/office/powerpoint/2010/main" val="27723152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Range </a:t>
            </a:r>
            <a:r>
              <a:rPr lang="en-US" dirty="0"/>
              <a:t>and </a:t>
            </a:r>
            <a:r>
              <a:rPr lang="en-US" dirty="0" smtClean="0"/>
              <a:t>interpretation</a:t>
            </a:r>
          </a:p>
          <a:p>
            <a:pPr lvl="1"/>
            <a:r>
              <a:rPr lang="en-US" dirty="0" smtClean="0"/>
              <a:t>0</a:t>
            </a:r>
            <a:r>
              <a:rPr lang="en-US" dirty="0"/>
              <a:t>≤𝐴𝑈𝐶≤</a:t>
            </a:r>
            <a:r>
              <a:rPr lang="en-US" dirty="0" smtClean="0"/>
              <a:t>1</a:t>
            </a:r>
          </a:p>
          <a:p>
            <a:r>
              <a:rPr lang="en-US" dirty="0" smtClean="0"/>
              <a:t>Interpretation table</a:t>
            </a:r>
          </a:p>
          <a:p>
            <a:pPr marL="457200" lvl="1" indent="0">
              <a:buNone/>
            </a:pPr>
            <a:r>
              <a:rPr lang="en-US" dirty="0" smtClean="0"/>
              <a:t>AUC</a:t>
            </a:r>
            <a:r>
              <a:rPr lang="en-US" dirty="0"/>
              <a:t>	</a:t>
            </a:r>
            <a:r>
              <a:rPr lang="en-US" dirty="0" smtClean="0"/>
              <a:t>Meaning</a:t>
            </a:r>
          </a:p>
          <a:p>
            <a:pPr marL="457200" lvl="1" indent="0">
              <a:buNone/>
            </a:pPr>
            <a:r>
              <a:rPr lang="en-US" dirty="0" smtClean="0"/>
              <a:t>1.0</a:t>
            </a:r>
            <a:r>
              <a:rPr lang="en-US" dirty="0"/>
              <a:t>	</a:t>
            </a:r>
            <a:r>
              <a:rPr lang="en-US" dirty="0" smtClean="0"/>
              <a:t>	Perfect model</a:t>
            </a:r>
          </a:p>
          <a:p>
            <a:pPr marL="457200" lvl="1" indent="0">
              <a:buNone/>
            </a:pPr>
            <a:r>
              <a:rPr lang="en-US" dirty="0" smtClean="0"/>
              <a:t>0.9–0.99</a:t>
            </a:r>
            <a:r>
              <a:rPr lang="en-US" dirty="0"/>
              <a:t>	</a:t>
            </a:r>
            <a:r>
              <a:rPr lang="en-US" dirty="0" smtClean="0"/>
              <a:t>Excellent</a:t>
            </a:r>
          </a:p>
          <a:p>
            <a:pPr marL="457200" lvl="1" indent="0">
              <a:buNone/>
            </a:pPr>
            <a:r>
              <a:rPr lang="en-US" dirty="0" smtClean="0"/>
              <a:t>0.8–0.89</a:t>
            </a:r>
            <a:r>
              <a:rPr lang="en-US" dirty="0"/>
              <a:t>	</a:t>
            </a:r>
            <a:r>
              <a:rPr lang="en-US" dirty="0" smtClean="0"/>
              <a:t>Good</a:t>
            </a:r>
          </a:p>
          <a:p>
            <a:pPr marL="457200" lvl="1" indent="0">
              <a:buNone/>
            </a:pPr>
            <a:r>
              <a:rPr lang="en-US" dirty="0" smtClean="0"/>
              <a:t>0.7–0.79</a:t>
            </a:r>
            <a:r>
              <a:rPr lang="en-US" dirty="0"/>
              <a:t>	</a:t>
            </a:r>
            <a:r>
              <a:rPr lang="en-US" dirty="0" smtClean="0"/>
              <a:t>Fair</a:t>
            </a:r>
          </a:p>
          <a:p>
            <a:pPr marL="457200" lvl="1" indent="0">
              <a:buNone/>
            </a:pPr>
            <a:r>
              <a:rPr lang="en-US" dirty="0" smtClean="0"/>
              <a:t>0.5–0.69</a:t>
            </a:r>
            <a:r>
              <a:rPr lang="en-US" dirty="0"/>
              <a:t>	</a:t>
            </a:r>
            <a:r>
              <a:rPr lang="en-US" dirty="0" smtClean="0"/>
              <a:t>Poor</a:t>
            </a:r>
          </a:p>
          <a:p>
            <a:pPr marL="457200" lvl="1" indent="0">
              <a:buNone/>
            </a:pPr>
            <a:r>
              <a:rPr lang="en-US" dirty="0" smtClean="0"/>
              <a:t>0.5	</a:t>
            </a:r>
            <a:r>
              <a:rPr lang="en-US" dirty="0"/>
              <a:t>	</a:t>
            </a:r>
            <a:r>
              <a:rPr lang="en-US" dirty="0" smtClean="0"/>
              <a:t>Random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Single </a:t>
            </a:r>
            <a:r>
              <a:rPr lang="en-US" dirty="0"/>
              <a:t>performance </a:t>
            </a:r>
            <a:r>
              <a:rPr lang="en-US" dirty="0" smtClean="0"/>
              <a:t>score</a:t>
            </a:r>
          </a:p>
          <a:p>
            <a:pPr lvl="1"/>
            <a:r>
              <a:rPr lang="en-US" dirty="0" smtClean="0"/>
              <a:t>Threshold independent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Does </a:t>
            </a:r>
            <a:r>
              <a:rPr lang="en-US" dirty="0"/>
              <a:t>not show specific threshold </a:t>
            </a:r>
            <a:r>
              <a:rPr lang="en-US" dirty="0" smtClean="0"/>
              <a:t>performance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Model comparison</a:t>
            </a:r>
          </a:p>
          <a:p>
            <a:pPr lvl="1"/>
            <a:r>
              <a:rPr lang="en-US" dirty="0" smtClean="0"/>
              <a:t>Binary classification</a:t>
            </a:r>
          </a:p>
        </p:txBody>
      </p:sp>
      <p:pic>
        <p:nvPicPr>
          <p:cNvPr id="191490" name="Picture 2" descr="https://miro.medium.com/v2/1*3W_D0VQhVs5S_02Q7ql35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774" y="1364748"/>
            <a:ext cx="4886026" cy="408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51167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NOT to use</a:t>
            </a:r>
          </a:p>
          <a:p>
            <a:pPr lvl="1"/>
            <a:r>
              <a:rPr lang="en-US" dirty="0"/>
              <a:t>Regression </a:t>
            </a:r>
            <a:r>
              <a:rPr lang="en-US" dirty="0" smtClean="0"/>
              <a:t>problems</a:t>
            </a:r>
          </a:p>
          <a:p>
            <a:r>
              <a:rPr lang="en-US" dirty="0" smtClean="0"/>
              <a:t>Technical </a:t>
            </a:r>
            <a:r>
              <a:rPr lang="en-US" dirty="0"/>
              <a:t>deep explanation (Probability interpretation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AUC </a:t>
            </a:r>
            <a:r>
              <a:rPr lang="en-US" dirty="0"/>
              <a:t>measures probability:𝑃(𝑀𝑜𝑑𝑒𝑙 𝑟𝑎𝑛𝑘𝑠 𝑝𝑜𝑠𝑖𝑡𝑖𝑣𝑒 ℎ𝑖𝑔ℎ𝑒𝑟 𝑡ℎ𝑎𝑛 𝑛𝑒𝑔𝑎𝑡𝑖𝑣𝑒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means model separates classes correctly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AUC </a:t>
            </a:r>
            <a:r>
              <a:rPr lang="en-US" dirty="0"/>
              <a:t>measures overall model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03410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TOPIC </a:t>
            </a:r>
            <a:r>
              <a:rPr lang="en-IN" dirty="0" smtClean="0"/>
              <a:t>54: </a:t>
            </a:r>
            <a:r>
              <a:rPr lang="en-IN" dirty="0"/>
              <a:t>Regularization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Regularization is a core technique used to improve model generalization and prevent overfitting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is a technique used to prevent overfitting by adding a penalty to the model for being too complex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simple words</a:t>
            </a:r>
            <a:r>
              <a:rPr lang="en-US" dirty="0" smtClean="0"/>
              <a:t>: Regularization </a:t>
            </a:r>
            <a:r>
              <a:rPr lang="en-US" dirty="0"/>
              <a:t>discourages the model from memorizing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this concept </a:t>
            </a:r>
            <a:r>
              <a:rPr lang="en-US" dirty="0" smtClean="0"/>
              <a:t>exists</a:t>
            </a:r>
          </a:p>
          <a:p>
            <a:pPr lvl="1"/>
            <a:r>
              <a:rPr lang="en-US" dirty="0" smtClean="0"/>
              <a:t>Machine </a:t>
            </a:r>
            <a:r>
              <a:rPr lang="en-US" dirty="0"/>
              <a:t>learning models can become too complex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Complex </a:t>
            </a:r>
            <a:r>
              <a:rPr lang="en-US" dirty="0"/>
              <a:t>models memorize training data → overfitting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forces model to stay simple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improves performance on new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</a:t>
            </a:r>
            <a:r>
              <a:rPr lang="en-US" dirty="0"/>
              <a:t>fitting a flexible wire through points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Without </a:t>
            </a:r>
            <a:r>
              <a:rPr lang="en-US" dirty="0"/>
              <a:t>restriction → wire bends too much (overfitting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With </a:t>
            </a:r>
            <a:r>
              <a:rPr lang="en-US" dirty="0"/>
              <a:t>restriction → smoother wire (better generalization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acts like </a:t>
            </a:r>
            <a:r>
              <a:rPr lang="en-US" dirty="0" smtClean="0"/>
              <a:t>restriction.</a:t>
            </a:r>
          </a:p>
        </p:txBody>
      </p:sp>
    </p:spTree>
    <p:extLst>
      <p:ext uri="{BB962C8B-B14F-4D97-AF65-F5344CB8AC3E}">
        <p14:creationId xmlns:p14="http://schemas.microsoft.com/office/powerpoint/2010/main" val="239901828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Mathematical </a:t>
            </a:r>
            <a:r>
              <a:rPr lang="en-US" dirty="0"/>
              <a:t>Formula (General Form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Regularized </a:t>
            </a:r>
            <a:r>
              <a:rPr lang="en-US" dirty="0"/>
              <a:t>loss function</a:t>
            </a:r>
            <a:r>
              <a:rPr lang="en-US" dirty="0" smtClean="0"/>
              <a:t>: 𝐿𝑜𝑠𝑠</a:t>
            </a:r>
            <a:r>
              <a:rPr lang="en-US" dirty="0"/>
              <a:t>=𝑂𝑟𝑖𝑔𝑖𝑛𝑎𝑙 𝐿𝑜𝑠𝑠+𝜆×</a:t>
            </a:r>
            <a:r>
              <a:rPr lang="en-US" dirty="0" smtClean="0"/>
              <a:t>𝑃𝑒𝑛𝑎𝑙𝑡𝑦</a:t>
            </a:r>
          </a:p>
          <a:p>
            <a:r>
              <a:rPr lang="en-US" dirty="0" smtClean="0"/>
              <a:t>Explanation </a:t>
            </a:r>
            <a:r>
              <a:rPr lang="en-US" dirty="0"/>
              <a:t>of </a:t>
            </a:r>
            <a:r>
              <a:rPr lang="en-US" dirty="0" smtClean="0"/>
              <a:t>symbols</a:t>
            </a:r>
          </a:p>
          <a:p>
            <a:pPr lvl="1"/>
            <a:r>
              <a:rPr lang="en-US" dirty="0" smtClean="0"/>
              <a:t>Original </a:t>
            </a:r>
            <a:r>
              <a:rPr lang="en-US" dirty="0"/>
              <a:t>Loss = error between prediction and actual </a:t>
            </a:r>
            <a:r>
              <a:rPr lang="en-US" dirty="0" smtClean="0"/>
              <a:t>value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(</a:t>
            </a:r>
            <a:r>
              <a:rPr lang="en-US" dirty="0"/>
              <a:t>lambda) = regularization </a:t>
            </a:r>
            <a:r>
              <a:rPr lang="en-US" dirty="0" smtClean="0"/>
              <a:t>parameter</a:t>
            </a:r>
          </a:p>
          <a:p>
            <a:pPr lvl="1"/>
            <a:r>
              <a:rPr lang="en-US" dirty="0" smtClean="0"/>
              <a:t>Penalty </a:t>
            </a:r>
            <a:r>
              <a:rPr lang="en-US" dirty="0"/>
              <a:t>= complexity </a:t>
            </a:r>
            <a:r>
              <a:rPr lang="en-US" dirty="0" smtClean="0"/>
              <a:t>penalty</a:t>
            </a:r>
          </a:p>
          <a:p>
            <a:pPr lvl="1"/>
            <a:r>
              <a:rPr lang="en-US" dirty="0" smtClean="0"/>
              <a:t>Higher </a:t>
            </a:r>
            <a:r>
              <a:rPr lang="el-GR" dirty="0"/>
              <a:t>λ → </a:t>
            </a:r>
            <a:r>
              <a:rPr lang="en-US" dirty="0"/>
              <a:t>simpler </a:t>
            </a:r>
            <a:r>
              <a:rPr lang="en-US" dirty="0" smtClean="0"/>
              <a:t>model</a:t>
            </a:r>
          </a:p>
          <a:p>
            <a:pPr lvl="1"/>
            <a:r>
              <a:rPr lang="en-US" dirty="0" smtClean="0"/>
              <a:t>Lower </a:t>
            </a:r>
            <a:r>
              <a:rPr lang="el-GR" dirty="0"/>
              <a:t>λ → </a:t>
            </a:r>
            <a:r>
              <a:rPr lang="en-US" dirty="0"/>
              <a:t>complex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Visual </a:t>
            </a:r>
            <a:r>
              <a:rPr lang="en-US" dirty="0"/>
              <a:t>explanation (CRITICAL DIAGRAM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Diagram</a:t>
            </a:r>
            <a:r>
              <a:rPr lang="en-US" dirty="0"/>
              <a:t>: Regularization effect on </a:t>
            </a:r>
            <a:r>
              <a:rPr lang="en-US" dirty="0" smtClean="0"/>
              <a:t>regression</a:t>
            </a:r>
          </a:p>
          <a:p>
            <a:pPr lvl="1"/>
            <a:r>
              <a:rPr lang="en-US" dirty="0" smtClean="0"/>
              <a:t>Explanation:</a:t>
            </a:r>
          </a:p>
          <a:p>
            <a:pPr lvl="1"/>
            <a:r>
              <a:rPr lang="en-US" dirty="0" smtClean="0"/>
              <a:t>Without </a:t>
            </a:r>
            <a:r>
              <a:rPr lang="en-US" dirty="0"/>
              <a:t>regularization → overfitting </a:t>
            </a:r>
            <a:r>
              <a:rPr lang="en-US" dirty="0" smtClean="0"/>
              <a:t>curve</a:t>
            </a:r>
          </a:p>
          <a:p>
            <a:pPr lvl="1"/>
            <a:r>
              <a:rPr lang="en-US" dirty="0" smtClean="0"/>
              <a:t>With </a:t>
            </a:r>
            <a:r>
              <a:rPr lang="en-US" dirty="0"/>
              <a:t>regularization → smoother </a:t>
            </a:r>
            <a:r>
              <a:rPr lang="en-US" dirty="0" smtClean="0"/>
              <a:t>curve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Without regularization: Model </a:t>
            </a:r>
            <a:r>
              <a:rPr lang="en-US" dirty="0"/>
              <a:t>fits noise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With regularization: Model </a:t>
            </a:r>
            <a:r>
              <a:rPr lang="en-US" dirty="0"/>
              <a:t>captures true pattern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Better </a:t>
            </a:r>
            <a:r>
              <a:rPr lang="en-US" dirty="0"/>
              <a:t>generalization</a:t>
            </a:r>
            <a:r>
              <a:rPr lang="en-US" dirty="0" smtClean="0"/>
              <a:t>.</a:t>
            </a:r>
          </a:p>
        </p:txBody>
      </p:sp>
      <p:pic>
        <p:nvPicPr>
          <p:cNvPr id="193538" name="Picture 2" descr="https://editor.analyticsvidhya.com/uploads/83837impact%20of%20re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488" y="2033345"/>
            <a:ext cx="5112461" cy="299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47521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Types of Regularization:</a:t>
            </a:r>
          </a:p>
          <a:p>
            <a:pPr lvl="1"/>
            <a:r>
              <a:rPr lang="en-US" dirty="0"/>
              <a:t>L1 Regularization → Lasso Regression</a:t>
            </a:r>
          </a:p>
          <a:p>
            <a:pPr lvl="1"/>
            <a:r>
              <a:rPr lang="en-US" dirty="0"/>
              <a:t>L2 Regularization → Ridge Regression</a:t>
            </a:r>
          </a:p>
          <a:p>
            <a:pPr lvl="1"/>
            <a:r>
              <a:rPr lang="en-US" dirty="0"/>
              <a:t>Elastic Net → combination of both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Prevents overfitting</a:t>
            </a:r>
          </a:p>
          <a:p>
            <a:pPr lvl="1"/>
            <a:r>
              <a:rPr lang="en-US" dirty="0" smtClean="0"/>
              <a:t>Improves generalization</a:t>
            </a:r>
          </a:p>
          <a:p>
            <a:pPr lvl="1"/>
            <a:r>
              <a:rPr lang="en-US" dirty="0" smtClean="0"/>
              <a:t>Reduces </a:t>
            </a:r>
            <a:r>
              <a:rPr lang="en-US" dirty="0"/>
              <a:t>model </a:t>
            </a:r>
            <a:r>
              <a:rPr lang="en-US" dirty="0" smtClean="0"/>
              <a:t>complexity</a:t>
            </a:r>
          </a:p>
          <a:p>
            <a:pPr lvl="1"/>
            <a:r>
              <a:rPr lang="en-US" dirty="0" smtClean="0"/>
              <a:t>Improves stability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May </a:t>
            </a:r>
            <a:r>
              <a:rPr lang="en-US" dirty="0"/>
              <a:t>cause </a:t>
            </a:r>
            <a:r>
              <a:rPr lang="en-US" dirty="0" err="1"/>
              <a:t>underfitting</a:t>
            </a:r>
            <a:r>
              <a:rPr lang="en-US" dirty="0"/>
              <a:t> if too </a:t>
            </a:r>
            <a:r>
              <a:rPr lang="en-US" dirty="0" smtClean="0"/>
              <a:t>strong</a:t>
            </a:r>
          </a:p>
          <a:p>
            <a:pPr lvl="1"/>
            <a:r>
              <a:rPr lang="en-US" dirty="0" smtClean="0"/>
              <a:t>Requires </a:t>
            </a:r>
            <a:r>
              <a:rPr lang="en-US" dirty="0"/>
              <a:t>tuning </a:t>
            </a:r>
            <a:r>
              <a:rPr lang="el-GR" dirty="0"/>
              <a:t>λ </a:t>
            </a:r>
            <a:r>
              <a:rPr lang="en-US" dirty="0" smtClean="0"/>
              <a:t>parameter</a:t>
            </a:r>
          </a:p>
          <a:p>
            <a:r>
              <a:rPr lang="en-US" dirty="0" smtClean="0"/>
              <a:t>When </a:t>
            </a:r>
            <a:r>
              <a:rPr lang="en-US" dirty="0"/>
              <a:t>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Overfitting problems</a:t>
            </a:r>
          </a:p>
          <a:p>
            <a:pPr lvl="1"/>
            <a:r>
              <a:rPr lang="en-US" dirty="0" smtClean="0"/>
              <a:t>High-dimensional data</a:t>
            </a:r>
          </a:p>
          <a:p>
            <a:pPr lvl="1"/>
            <a:r>
              <a:rPr lang="en-US" dirty="0" smtClean="0"/>
              <a:t>Regression models</a:t>
            </a:r>
          </a:p>
          <a:p>
            <a:pPr lvl="1"/>
            <a:r>
              <a:rPr lang="en-US" dirty="0" smtClean="0"/>
              <a:t>Neural networks</a:t>
            </a:r>
          </a:p>
          <a:p>
            <a:r>
              <a:rPr lang="en-US" dirty="0" smtClean="0"/>
              <a:t>When </a:t>
            </a:r>
            <a:r>
              <a:rPr lang="en-US" dirty="0"/>
              <a:t>NOT to </a:t>
            </a:r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Very </a:t>
            </a:r>
            <a:r>
              <a:rPr lang="en-US" dirty="0"/>
              <a:t>simple </a:t>
            </a:r>
            <a:r>
              <a:rPr lang="en-US" dirty="0" smtClean="0"/>
              <a:t>models</a:t>
            </a:r>
          </a:p>
          <a:p>
            <a:pPr lvl="1"/>
            <a:r>
              <a:rPr lang="en-US" dirty="0" smtClean="0"/>
              <a:t>Small </a:t>
            </a:r>
            <a:r>
              <a:rPr lang="en-US" dirty="0"/>
              <a:t>feature </a:t>
            </a:r>
            <a:r>
              <a:rPr lang="en-US" dirty="0" smtClean="0"/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199143392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Technical </a:t>
            </a:r>
            <a:r>
              <a:rPr lang="en-US" dirty="0"/>
              <a:t>deep 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modifies optimization problem</a:t>
            </a:r>
            <a:r>
              <a:rPr lang="en-US" dirty="0" smtClean="0"/>
              <a:t>: Original </a:t>
            </a:r>
            <a:r>
              <a:rPr lang="en-US" dirty="0"/>
              <a:t>objective</a:t>
            </a:r>
            <a:r>
              <a:rPr lang="en-US" dirty="0" smtClean="0"/>
              <a:t>: min</a:t>
            </a:r>
            <a:r>
              <a:rPr lang="en-US" dirty="0"/>
              <a:t>⁡</a:t>
            </a:r>
            <a:r>
              <a:rPr lang="en-US" dirty="0" smtClean="0"/>
              <a:t>𝐿𝑜𝑠𝑠</a:t>
            </a:r>
          </a:p>
          <a:p>
            <a:pPr lvl="1"/>
            <a:r>
              <a:rPr lang="en-US" dirty="0" smtClean="0"/>
              <a:t>Regularized </a:t>
            </a:r>
            <a:r>
              <a:rPr lang="en-US" dirty="0"/>
              <a:t>objective</a:t>
            </a:r>
            <a:r>
              <a:rPr lang="en-US" dirty="0" smtClean="0"/>
              <a:t>: min</a:t>
            </a:r>
            <a:r>
              <a:rPr lang="en-US" dirty="0"/>
              <a:t>⁡(𝐿𝑜𝑠𝑠+𝜆𝑃𝑒𝑛𝑎𝑙𝑡𝑦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Penalty </a:t>
            </a:r>
            <a:r>
              <a:rPr lang="en-US" dirty="0"/>
              <a:t>discourages large weights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Large </a:t>
            </a:r>
            <a:r>
              <a:rPr lang="en-US" dirty="0"/>
              <a:t>weights cause overfitting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Effect </a:t>
            </a:r>
            <a:r>
              <a:rPr lang="en-US" dirty="0"/>
              <a:t>on </a:t>
            </a:r>
            <a:r>
              <a:rPr lang="en-US" dirty="0" smtClean="0"/>
              <a:t>weights</a:t>
            </a:r>
          </a:p>
          <a:p>
            <a:pPr lvl="1"/>
            <a:r>
              <a:rPr lang="en-US" dirty="0" smtClean="0"/>
              <a:t>Without </a:t>
            </a:r>
            <a:r>
              <a:rPr lang="en-US" dirty="0"/>
              <a:t>regularization</a:t>
            </a:r>
            <a:r>
              <a:rPr lang="en-US" dirty="0" smtClean="0"/>
              <a:t>: Weights </a:t>
            </a:r>
            <a:r>
              <a:rPr lang="en-US" dirty="0"/>
              <a:t>can become very large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With </a:t>
            </a:r>
            <a:r>
              <a:rPr lang="en-US" dirty="0"/>
              <a:t>regularization</a:t>
            </a:r>
            <a:r>
              <a:rPr lang="en-US" dirty="0" smtClean="0"/>
              <a:t>: Weights </a:t>
            </a:r>
            <a:r>
              <a:rPr lang="en-US" dirty="0"/>
              <a:t>become smaller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Smaller </a:t>
            </a:r>
            <a:r>
              <a:rPr lang="en-US" dirty="0"/>
              <a:t>weights = simpler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Relationship </a:t>
            </a:r>
            <a:r>
              <a:rPr lang="en-US" dirty="0"/>
              <a:t>with Bias and </a:t>
            </a:r>
            <a:r>
              <a:rPr lang="en-US" dirty="0" smtClean="0"/>
              <a:t>Variance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increases bias slightly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reduces variance significantly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Overall </a:t>
            </a:r>
            <a:r>
              <a:rPr lang="en-US" dirty="0"/>
              <a:t>effect</a:t>
            </a:r>
            <a:r>
              <a:rPr lang="en-US" dirty="0" smtClean="0"/>
              <a:t>: Better </a:t>
            </a:r>
            <a:r>
              <a:rPr lang="en-US" dirty="0"/>
              <a:t>generalization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Regularization </a:t>
            </a:r>
            <a:r>
              <a:rPr lang="en-US" dirty="0"/>
              <a:t>prevents overfitting by penalizing complex models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Improves </a:t>
            </a:r>
            <a:r>
              <a:rPr lang="en-US" dirty="0"/>
              <a:t>performance on unseen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5223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</a:t>
            </a:r>
            <a:r>
              <a:rPr lang="en-US" dirty="0" smtClean="0"/>
              <a:t>55: </a:t>
            </a:r>
            <a:r>
              <a:rPr lang="en-US" dirty="0"/>
              <a:t>Ridge Regression (L2 Regularization)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Ridge Regression is one of the most important regularization techniques used to prevent overfitting in regression models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Regression is a regression technique that adds a penalty equal to the square of the weights to the loss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Ridge </a:t>
            </a:r>
            <a:r>
              <a:rPr lang="cy-GB" dirty="0"/>
              <a:t>Regression reduces model complexity by shrinking weights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Linear </a:t>
            </a:r>
            <a:r>
              <a:rPr lang="cy-GB" dirty="0"/>
              <a:t>regression can overfit when</a:t>
            </a:r>
            <a:r>
              <a:rPr lang="cy-GB" dirty="0" smtClean="0"/>
              <a:t>: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Too many </a:t>
            </a:r>
            <a:r>
              <a:rPr lang="cy-GB" dirty="0" smtClean="0"/>
              <a:t>features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High feature </a:t>
            </a:r>
            <a:r>
              <a:rPr lang="cy-GB" dirty="0" smtClean="0"/>
              <a:t>correlation</a:t>
            </a:r>
          </a:p>
          <a:p>
            <a:pPr marL="914400" lvl="2" indent="0">
              <a:buNone/>
            </a:pPr>
            <a:r>
              <a:rPr lang="cy-GB" dirty="0" smtClean="0"/>
              <a:t>• </a:t>
            </a:r>
            <a:r>
              <a:rPr lang="cy-GB" dirty="0"/>
              <a:t>Noisy dataRidge Regression solves this by limiting weight size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prevents extreme weight values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892153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assigning importance to factors affecting house price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Size </a:t>
            </a:r>
            <a:r>
              <a:rPr lang="cy-GB" dirty="0"/>
              <a:t>→ </a:t>
            </a:r>
            <a:r>
              <a:rPr lang="cy-GB" dirty="0" smtClean="0"/>
              <a:t>important</a:t>
            </a:r>
          </a:p>
          <a:p>
            <a:pPr lvl="1"/>
            <a:r>
              <a:rPr lang="cy-GB" dirty="0" smtClean="0"/>
              <a:t>Color </a:t>
            </a:r>
            <a:r>
              <a:rPr lang="cy-GB" dirty="0"/>
              <a:t>→ less </a:t>
            </a:r>
            <a:r>
              <a:rPr lang="cy-GB" dirty="0" smtClean="0"/>
              <a:t>important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reduces importance of less useful features instead of removing them completely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</a:t>
            </a:r>
            <a:r>
              <a:rPr lang="cy-GB" dirty="0"/>
              <a:t>Formula (Linear Regression Loss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Original </a:t>
            </a:r>
            <a:r>
              <a:rPr lang="cy-GB" dirty="0"/>
              <a:t>loss:𝐿𝑜𝑠𝑠=∑(𝑦−𝑦</a:t>
            </a:r>
            <a:r>
              <a:rPr lang="cy-GB" dirty="0" smtClean="0"/>
              <a:t>^)^2</a:t>
            </a:r>
          </a:p>
          <a:p>
            <a:r>
              <a:rPr lang="cy-GB" dirty="0" smtClean="0"/>
              <a:t>Ridge </a:t>
            </a:r>
            <a:r>
              <a:rPr lang="cy-GB" dirty="0"/>
              <a:t>Regression </a:t>
            </a:r>
            <a:r>
              <a:rPr lang="cy-GB" dirty="0" smtClean="0"/>
              <a:t>Formula</a:t>
            </a:r>
          </a:p>
          <a:p>
            <a:pPr lvl="1"/>
            <a:r>
              <a:rPr lang="cy-GB" dirty="0" smtClean="0"/>
              <a:t>𝐿𝑜𝑠𝑠</a:t>
            </a:r>
            <a:r>
              <a:rPr lang="cy-GB" dirty="0"/>
              <a:t>=∑(𝑦−𝑦</a:t>
            </a:r>
            <a:r>
              <a:rPr lang="cy-GB" dirty="0" smtClean="0"/>
              <a:t>^)^2</a:t>
            </a:r>
            <a:r>
              <a:rPr lang="cy-GB" dirty="0"/>
              <a:t>+</a:t>
            </a:r>
            <a:r>
              <a:rPr lang="cy-GB" dirty="0" smtClean="0"/>
              <a:t>𝜆∑𝑤𝑖^2 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wᵢ </a:t>
            </a:r>
            <a:r>
              <a:rPr lang="cy-GB" dirty="0"/>
              <a:t>= model </a:t>
            </a:r>
            <a:r>
              <a:rPr lang="cy-GB" dirty="0" smtClean="0"/>
              <a:t>weights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= </a:t>
            </a:r>
            <a:r>
              <a:rPr lang="cy-GB" dirty="0"/>
              <a:t>regularization </a:t>
            </a:r>
            <a:r>
              <a:rPr lang="cy-GB" dirty="0" smtClean="0"/>
              <a:t>parameter</a:t>
            </a:r>
          </a:p>
          <a:p>
            <a:pPr lvl="1"/>
            <a:r>
              <a:rPr lang="cy-GB" dirty="0" smtClean="0"/>
              <a:t>Second </a:t>
            </a:r>
            <a:r>
              <a:rPr lang="cy-GB" dirty="0"/>
              <a:t>term is penalty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Penalty </a:t>
            </a:r>
            <a:r>
              <a:rPr lang="cy-GB" dirty="0"/>
              <a:t>increases when weights increase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659346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weights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Without Ridge: w</a:t>
            </a:r>
            <a:r>
              <a:rPr lang="cy-GB" dirty="0"/>
              <a:t>₁ = </a:t>
            </a:r>
            <a:r>
              <a:rPr lang="cy-GB" dirty="0" smtClean="0"/>
              <a:t>100, w</a:t>
            </a:r>
            <a:r>
              <a:rPr lang="cy-GB" dirty="0"/>
              <a:t>₂ = </a:t>
            </a:r>
            <a:r>
              <a:rPr lang="cy-GB" dirty="0" smtClean="0"/>
              <a:t>200</a:t>
            </a:r>
          </a:p>
          <a:p>
            <a:pPr lvl="1"/>
            <a:r>
              <a:rPr lang="cy-GB" dirty="0" smtClean="0"/>
              <a:t>With Ridge: w</a:t>
            </a:r>
            <a:r>
              <a:rPr lang="cy-GB" dirty="0"/>
              <a:t>₁ = </a:t>
            </a:r>
            <a:r>
              <a:rPr lang="cy-GB" dirty="0" smtClean="0"/>
              <a:t>10, w</a:t>
            </a:r>
            <a:r>
              <a:rPr lang="cy-GB" dirty="0"/>
              <a:t>₂ = </a:t>
            </a:r>
            <a:r>
              <a:rPr lang="cy-GB" dirty="0" smtClean="0"/>
              <a:t>20</a:t>
            </a:r>
          </a:p>
          <a:p>
            <a:pPr lvl="1"/>
            <a:r>
              <a:rPr lang="cy-GB" dirty="0" smtClean="0"/>
              <a:t>Weights </a:t>
            </a:r>
            <a:r>
              <a:rPr lang="cy-GB" dirty="0"/>
              <a:t>shrink</a:t>
            </a:r>
            <a:r>
              <a:rPr lang="cy-GB" dirty="0" smtClean="0"/>
              <a:t>.</a:t>
            </a:r>
          </a:p>
          <a:p>
            <a:r>
              <a:rPr lang="cy-GB" dirty="0" smtClean="0"/>
              <a:t>Effect </a:t>
            </a:r>
            <a:r>
              <a:rPr lang="cy-GB" dirty="0"/>
              <a:t>on </a:t>
            </a:r>
            <a:r>
              <a:rPr lang="cy-GB" dirty="0" smtClean="0"/>
              <a:t>weights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regression</a:t>
            </a:r>
            <a:r>
              <a:rPr lang="cy-GB" dirty="0" smtClean="0"/>
              <a:t>: Reduces </a:t>
            </a:r>
            <a:r>
              <a:rPr lang="cy-GB" dirty="0"/>
              <a:t>weight </a:t>
            </a:r>
            <a:r>
              <a:rPr lang="cy-GB" dirty="0" smtClean="0"/>
              <a:t>magnitude</a:t>
            </a:r>
          </a:p>
          <a:p>
            <a:pPr lvl="1"/>
            <a:r>
              <a:rPr lang="cy-GB" dirty="0" smtClean="0"/>
              <a:t>Does </a:t>
            </a:r>
            <a:r>
              <a:rPr lang="cy-GB" dirty="0"/>
              <a:t>NOT make weights </a:t>
            </a:r>
            <a:r>
              <a:rPr lang="cy-GB" dirty="0" smtClean="0"/>
              <a:t>zero</a:t>
            </a:r>
          </a:p>
          <a:p>
            <a:pPr lvl="1"/>
            <a:r>
              <a:rPr lang="cy-GB" dirty="0" smtClean="0"/>
              <a:t>All </a:t>
            </a:r>
            <a:r>
              <a:rPr lang="cy-GB" dirty="0"/>
              <a:t>features remain in model</a:t>
            </a:r>
            <a:r>
              <a:rPr lang="cy-GB" dirty="0" smtClean="0"/>
              <a:t>.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Prevents overfitting</a:t>
            </a:r>
          </a:p>
          <a:p>
            <a:pPr lvl="1"/>
            <a:r>
              <a:rPr lang="cy-GB" dirty="0" smtClean="0"/>
              <a:t>Works </a:t>
            </a:r>
            <a:r>
              <a:rPr lang="cy-GB" dirty="0"/>
              <a:t>well with </a:t>
            </a:r>
            <a:r>
              <a:rPr lang="cy-GB" dirty="0" smtClean="0"/>
              <a:t>multicollinearity</a:t>
            </a:r>
          </a:p>
          <a:p>
            <a:pPr lvl="1"/>
            <a:r>
              <a:rPr lang="cy-GB" dirty="0" smtClean="0"/>
              <a:t>Keeps </a:t>
            </a:r>
            <a:r>
              <a:rPr lang="cy-GB" dirty="0"/>
              <a:t>all </a:t>
            </a:r>
            <a:r>
              <a:rPr lang="cy-GB" dirty="0" smtClean="0"/>
              <a:t>features</a:t>
            </a:r>
          </a:p>
          <a:p>
            <a:pPr lvl="1"/>
            <a:r>
              <a:rPr lang="cy-GB" dirty="0" smtClean="0"/>
              <a:t>Stable solution</a:t>
            </a:r>
          </a:p>
        </p:txBody>
      </p:sp>
    </p:spTree>
    <p:extLst>
      <p:ext uri="{BB962C8B-B14F-4D97-AF65-F5344CB8AC3E}">
        <p14:creationId xmlns:p14="http://schemas.microsoft.com/office/powerpoint/2010/main" val="223460728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Does </a:t>
            </a:r>
            <a:r>
              <a:rPr lang="cy-GB" dirty="0"/>
              <a:t>not perform feature </a:t>
            </a:r>
            <a:r>
              <a:rPr lang="cy-GB" dirty="0" smtClean="0"/>
              <a:t>selection</a:t>
            </a:r>
          </a:p>
          <a:p>
            <a:pPr lvl="1"/>
            <a:r>
              <a:rPr lang="cy-GB" dirty="0" smtClean="0"/>
              <a:t>All </a:t>
            </a:r>
            <a:r>
              <a:rPr lang="cy-GB" dirty="0"/>
              <a:t>features remain even if </a:t>
            </a:r>
            <a:r>
              <a:rPr lang="cy-GB" dirty="0" smtClean="0"/>
              <a:t>irrelevant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Many </a:t>
            </a:r>
            <a:r>
              <a:rPr lang="cy-GB" dirty="0"/>
              <a:t>correlated </a:t>
            </a:r>
            <a:r>
              <a:rPr lang="cy-GB" dirty="0" smtClean="0"/>
              <a:t>features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dimensional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Multicollinearity problems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When </a:t>
            </a:r>
            <a:r>
              <a:rPr lang="cy-GB" dirty="0"/>
              <a:t>feature selection </a:t>
            </a:r>
            <a:r>
              <a:rPr lang="cy-GB" dirty="0" smtClean="0"/>
              <a:t>required</a:t>
            </a:r>
          </a:p>
          <a:p>
            <a:pPr lvl="1"/>
            <a:r>
              <a:rPr lang="cy-GB" dirty="0" smtClean="0"/>
              <a:t>Use </a:t>
            </a:r>
            <a:r>
              <a:rPr lang="cy-GB" dirty="0"/>
              <a:t>Lasso instead</a:t>
            </a:r>
            <a:r>
              <a:rPr lang="cy-GB" dirty="0" smtClean="0"/>
              <a:t>.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minimizes</a:t>
            </a:r>
            <a:r>
              <a:rPr lang="cy-GB" dirty="0" smtClean="0"/>
              <a:t>: min</a:t>
            </a:r>
            <a:r>
              <a:rPr lang="cy-GB" dirty="0"/>
              <a:t>⁡(∑(𝑦−𝑦</a:t>
            </a:r>
            <a:r>
              <a:rPr lang="cy-GB" dirty="0" smtClean="0"/>
              <a:t>^)^2</a:t>
            </a:r>
            <a:r>
              <a:rPr lang="cy-GB" dirty="0"/>
              <a:t>+𝜆∑</a:t>
            </a:r>
            <a:r>
              <a:rPr lang="cy-GB" dirty="0" smtClean="0"/>
              <a:t>𝑤^2) </a:t>
            </a:r>
          </a:p>
          <a:p>
            <a:pPr lvl="1"/>
            <a:r>
              <a:rPr lang="cy-GB" dirty="0" smtClean="0"/>
              <a:t>Derivative</a:t>
            </a:r>
            <a:r>
              <a:rPr lang="cy-GB" dirty="0"/>
              <a:t>:𝑤=(</a:t>
            </a:r>
            <a:r>
              <a:rPr lang="cy-GB" dirty="0" smtClean="0"/>
              <a:t>𝑋^𝑇*𝑋</a:t>
            </a:r>
            <a:r>
              <a:rPr lang="cy-GB" dirty="0"/>
              <a:t>+𝜆𝐼</a:t>
            </a:r>
            <a:r>
              <a:rPr lang="cy-GB" dirty="0" smtClean="0"/>
              <a:t>)^−1*𝑋^𝑇*𝑦 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stabilizes matrix inversion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825545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/>
              <a:t>Geometry interpretation</a:t>
            </a:r>
          </a:p>
          <a:p>
            <a:pPr lvl="1"/>
            <a:r>
              <a:rPr lang="cy-GB" dirty="0"/>
              <a:t>Ridge constraint creates circular constraint region.</a:t>
            </a:r>
          </a:p>
          <a:p>
            <a:pPr lvl="1"/>
            <a:r>
              <a:rPr lang="cy-GB" dirty="0"/>
              <a:t>Solution lies inside circle.</a:t>
            </a:r>
          </a:p>
          <a:p>
            <a:pPr lvl="1"/>
            <a:r>
              <a:rPr lang="cy-GB" dirty="0"/>
              <a:t>Prevents large weights.</a:t>
            </a:r>
          </a:p>
          <a:p>
            <a:r>
              <a:rPr lang="cy-GB" dirty="0" smtClean="0"/>
              <a:t>Effect </a:t>
            </a:r>
            <a:r>
              <a:rPr lang="cy-GB" dirty="0"/>
              <a:t>of lambda (CRITICAL</a:t>
            </a:r>
            <a:r>
              <a:rPr lang="cy-GB" dirty="0" smtClean="0"/>
              <a:t>)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= 0 → </a:t>
            </a:r>
            <a:r>
              <a:rPr lang="cy-GB" dirty="0"/>
              <a:t>normal linear </a:t>
            </a:r>
            <a:r>
              <a:rPr lang="cy-GB" dirty="0" smtClean="0"/>
              <a:t>regression</a:t>
            </a:r>
          </a:p>
          <a:p>
            <a:pPr lvl="1"/>
            <a:r>
              <a:rPr lang="el-GR" dirty="0" smtClean="0"/>
              <a:t>λ </a:t>
            </a:r>
            <a:r>
              <a:rPr lang="cy-GB" dirty="0"/>
              <a:t>large → very small </a:t>
            </a:r>
            <a:r>
              <a:rPr lang="cy-GB" dirty="0" smtClean="0"/>
              <a:t>weights</a:t>
            </a:r>
          </a:p>
          <a:p>
            <a:pPr lvl="1"/>
            <a:r>
              <a:rPr lang="el-GR" dirty="0" smtClean="0"/>
              <a:t>λ </a:t>
            </a:r>
            <a:r>
              <a:rPr lang="cy-GB" dirty="0"/>
              <a:t>very large → </a:t>
            </a:r>
            <a:r>
              <a:rPr lang="cy-GB" dirty="0" smtClean="0"/>
              <a:t>underfitting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Regression reduces weight size but keeps all features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Prevents </a:t>
            </a:r>
            <a:r>
              <a:rPr lang="cy-GB" dirty="0"/>
              <a:t>overfitting and improves generalization.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60907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</a:t>
            </a:r>
            <a:r>
              <a:rPr lang="en-US" dirty="0" smtClean="0"/>
              <a:t>56: </a:t>
            </a:r>
            <a:r>
              <a:rPr lang="en-US" dirty="0"/>
              <a:t>Lasso Regression (L1 Regularization)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y-GB" dirty="0"/>
              <a:t>Lasso Regression is one of the most powerful regularization techniques because it not only prevents overfitting but also performs automatic feature selection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 </a:t>
            </a:r>
            <a:r>
              <a:rPr lang="cy-GB" dirty="0"/>
              <a:t>(Simple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Regression is a regression technique that adds a penalty equal to the absolute value of the weights to the loss function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</a:t>
            </a:r>
            <a:r>
              <a:rPr lang="cy-GB" dirty="0" smtClean="0"/>
              <a:t>words: Lasso </a:t>
            </a:r>
            <a:r>
              <a:rPr lang="cy-GB" dirty="0"/>
              <a:t>reduces weights and can completely remove unimportant features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existsIn many datasets, some features are useless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Normal </a:t>
            </a:r>
            <a:r>
              <a:rPr lang="cy-GB" dirty="0"/>
              <a:t>regression keeps all features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Regression automatically removes useless features by making their weights zero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simplifies the model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679168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/>
              <a:t>Real-life analogy</a:t>
            </a:r>
          </a:p>
          <a:p>
            <a:pPr lvl="1"/>
            <a:r>
              <a:rPr lang="cy-GB" dirty="0"/>
              <a:t>Imagine predicting salary using:</a:t>
            </a:r>
          </a:p>
          <a:p>
            <a:pPr lvl="1"/>
            <a:r>
              <a:rPr lang="cy-GB" dirty="0"/>
              <a:t>Experience → important</a:t>
            </a:r>
          </a:p>
          <a:p>
            <a:pPr lvl="1"/>
            <a:r>
              <a:rPr lang="cy-GB" dirty="0"/>
              <a:t>Height → not important</a:t>
            </a:r>
          </a:p>
          <a:p>
            <a:pPr lvl="1"/>
            <a:r>
              <a:rPr lang="cy-GB" dirty="0"/>
              <a:t>Lasso reduces weight of height to zero and removes it from model.</a:t>
            </a:r>
          </a:p>
          <a:p>
            <a:r>
              <a:rPr lang="cy-GB" dirty="0" smtClean="0"/>
              <a:t>Mathematical </a:t>
            </a:r>
            <a:r>
              <a:rPr lang="cy-GB" dirty="0"/>
              <a:t>Formula (Original Loss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Linear </a:t>
            </a:r>
            <a:r>
              <a:rPr lang="cy-GB" dirty="0"/>
              <a:t>regression loss</a:t>
            </a:r>
            <a:r>
              <a:rPr lang="cy-GB" dirty="0" smtClean="0"/>
              <a:t>: 𝐿𝑜𝑠𝑠</a:t>
            </a:r>
            <a:r>
              <a:rPr lang="cy-GB" dirty="0"/>
              <a:t>=∑(𝑦−𝑦</a:t>
            </a:r>
            <a:r>
              <a:rPr lang="cy-GB" dirty="0" smtClean="0"/>
              <a:t>^)^2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Regression </a:t>
            </a:r>
            <a:r>
              <a:rPr lang="cy-GB" dirty="0" smtClean="0"/>
              <a:t>Formula: 𝐿𝑜𝑠𝑠</a:t>
            </a:r>
            <a:r>
              <a:rPr lang="cy-GB" dirty="0"/>
              <a:t>=∑(𝑦−𝑦</a:t>
            </a:r>
            <a:r>
              <a:rPr lang="cy-GB" dirty="0" smtClean="0"/>
              <a:t>^)^2</a:t>
            </a:r>
            <a:r>
              <a:rPr lang="cy-GB" dirty="0"/>
              <a:t>+𝜆∑∣𝑤𝑖</a:t>
            </a:r>
            <a:r>
              <a:rPr lang="cy-GB" dirty="0" smtClean="0"/>
              <a:t>∣ 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wᵢ </a:t>
            </a:r>
            <a:r>
              <a:rPr lang="cy-GB" dirty="0"/>
              <a:t>= model </a:t>
            </a:r>
            <a:r>
              <a:rPr lang="cy-GB" dirty="0" smtClean="0"/>
              <a:t>weights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= </a:t>
            </a:r>
            <a:r>
              <a:rPr lang="cy-GB" dirty="0"/>
              <a:t>regularization </a:t>
            </a:r>
            <a:r>
              <a:rPr lang="cy-GB" dirty="0" smtClean="0"/>
              <a:t>parameter</a:t>
            </a:r>
          </a:p>
          <a:p>
            <a:pPr lvl="1"/>
            <a:r>
              <a:rPr lang="cy-GB" dirty="0" smtClean="0"/>
              <a:t>|</a:t>
            </a:r>
            <a:r>
              <a:rPr lang="cy-GB" dirty="0"/>
              <a:t>wᵢ| = absolute value of </a:t>
            </a:r>
            <a:r>
              <a:rPr lang="cy-GB" dirty="0" smtClean="0"/>
              <a:t>weights</a:t>
            </a:r>
          </a:p>
          <a:p>
            <a:pPr lvl="1"/>
            <a:r>
              <a:rPr lang="cy-GB" dirty="0" smtClean="0"/>
              <a:t>Penalty </a:t>
            </a:r>
            <a:r>
              <a:rPr lang="cy-GB" dirty="0"/>
              <a:t>encourages weights to become zero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42333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model has weights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Before </a:t>
            </a:r>
            <a:r>
              <a:rPr lang="cy-GB" dirty="0"/>
              <a:t>Lasso</a:t>
            </a:r>
            <a:r>
              <a:rPr lang="cy-GB" dirty="0" smtClean="0"/>
              <a:t>: w</a:t>
            </a:r>
            <a:r>
              <a:rPr lang="cy-GB" dirty="0"/>
              <a:t>₁ = </a:t>
            </a:r>
            <a:r>
              <a:rPr lang="cy-GB" dirty="0" smtClean="0"/>
              <a:t>100, w</a:t>
            </a:r>
            <a:r>
              <a:rPr lang="cy-GB" dirty="0"/>
              <a:t>₂ = </a:t>
            </a:r>
            <a:r>
              <a:rPr lang="cy-GB" dirty="0" smtClean="0"/>
              <a:t>50, w</a:t>
            </a:r>
            <a:r>
              <a:rPr lang="cy-GB" dirty="0"/>
              <a:t>₃ = </a:t>
            </a:r>
            <a:r>
              <a:rPr lang="cy-GB" dirty="0" smtClean="0"/>
              <a:t>0.1</a:t>
            </a:r>
          </a:p>
          <a:p>
            <a:pPr lvl="1"/>
            <a:r>
              <a:rPr lang="cy-GB" dirty="0" smtClean="0"/>
              <a:t>After </a:t>
            </a:r>
            <a:r>
              <a:rPr lang="cy-GB" dirty="0"/>
              <a:t>Lasso</a:t>
            </a:r>
            <a:r>
              <a:rPr lang="cy-GB" dirty="0" smtClean="0"/>
              <a:t>: w</a:t>
            </a:r>
            <a:r>
              <a:rPr lang="cy-GB" dirty="0"/>
              <a:t>₁ = </a:t>
            </a:r>
            <a:r>
              <a:rPr lang="cy-GB" dirty="0" smtClean="0"/>
              <a:t>10, w</a:t>
            </a:r>
            <a:r>
              <a:rPr lang="cy-GB" dirty="0"/>
              <a:t>₂ = </a:t>
            </a:r>
            <a:r>
              <a:rPr lang="cy-GB" dirty="0" smtClean="0"/>
              <a:t>5, w</a:t>
            </a:r>
            <a:r>
              <a:rPr lang="cy-GB" dirty="0"/>
              <a:t>₃ =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Feature </a:t>
            </a:r>
            <a:r>
              <a:rPr lang="cy-GB" dirty="0"/>
              <a:t>3 removed</a:t>
            </a:r>
            <a:r>
              <a:rPr lang="cy-GB" dirty="0" smtClean="0"/>
              <a:t>.</a:t>
            </a:r>
          </a:p>
          <a:p>
            <a:r>
              <a:rPr lang="cy-GB" dirty="0" smtClean="0"/>
              <a:t>Effect </a:t>
            </a:r>
            <a:r>
              <a:rPr lang="cy-GB" dirty="0"/>
              <a:t>on weights (CRITICAL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can</a:t>
            </a:r>
            <a:r>
              <a:rPr lang="cy-GB" dirty="0" smtClean="0"/>
              <a:t>: </a:t>
            </a:r>
          </a:p>
          <a:p>
            <a:pPr lvl="1"/>
            <a:r>
              <a:rPr lang="cy-GB" dirty="0" smtClean="0"/>
              <a:t>Reduce weights</a:t>
            </a:r>
          </a:p>
          <a:p>
            <a:pPr lvl="1"/>
            <a:r>
              <a:rPr lang="cy-GB" dirty="0" smtClean="0"/>
              <a:t>Make </a:t>
            </a:r>
            <a:r>
              <a:rPr lang="cy-GB" dirty="0"/>
              <a:t>weights exactly </a:t>
            </a:r>
            <a:r>
              <a:rPr lang="cy-GB" dirty="0" smtClean="0"/>
              <a:t>zero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removes features automatically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is called feature selection</a:t>
            </a:r>
            <a:r>
              <a:rPr lang="cy-GB" dirty="0" smtClean="0"/>
              <a:t>.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Prevents overfitting</a:t>
            </a:r>
          </a:p>
          <a:p>
            <a:pPr lvl="1"/>
            <a:r>
              <a:rPr lang="cy-GB" dirty="0" smtClean="0"/>
              <a:t>Performs </a:t>
            </a:r>
            <a:r>
              <a:rPr lang="cy-GB" dirty="0"/>
              <a:t>feature </a:t>
            </a:r>
            <a:r>
              <a:rPr lang="cy-GB" dirty="0" smtClean="0"/>
              <a:t>selection</a:t>
            </a:r>
          </a:p>
          <a:p>
            <a:pPr lvl="1"/>
            <a:r>
              <a:rPr lang="cy-GB" dirty="0" smtClean="0"/>
              <a:t>Simplifies model</a:t>
            </a:r>
          </a:p>
          <a:p>
            <a:pPr lvl="1"/>
            <a:r>
              <a:rPr lang="cy-GB" dirty="0" smtClean="0"/>
              <a:t>Improves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271685093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May </a:t>
            </a:r>
            <a:r>
              <a:rPr lang="cy-GB" dirty="0"/>
              <a:t>remove useful features </a:t>
            </a:r>
            <a:r>
              <a:rPr lang="cy-GB" dirty="0" smtClean="0"/>
              <a:t>accidentally</a:t>
            </a:r>
          </a:p>
          <a:p>
            <a:pPr lvl="1"/>
            <a:r>
              <a:rPr lang="cy-GB" dirty="0" smtClean="0"/>
              <a:t>Unstable </a:t>
            </a:r>
            <a:r>
              <a:rPr lang="cy-GB" dirty="0"/>
              <a:t>when features highly </a:t>
            </a:r>
            <a:r>
              <a:rPr lang="cy-GB" dirty="0" smtClean="0"/>
              <a:t>correlated</a:t>
            </a:r>
          </a:p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Feature </a:t>
            </a:r>
            <a:r>
              <a:rPr lang="cy-GB" dirty="0"/>
              <a:t>selection </a:t>
            </a:r>
            <a:r>
              <a:rPr lang="cy-GB" dirty="0" smtClean="0"/>
              <a:t>required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dimensional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Sparse datasets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Highly </a:t>
            </a:r>
            <a:r>
              <a:rPr lang="cy-GB" dirty="0"/>
              <a:t>correlated </a:t>
            </a:r>
            <a:r>
              <a:rPr lang="cy-GB" dirty="0" smtClean="0"/>
              <a:t>features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works better there</a:t>
            </a:r>
            <a:r>
              <a:rPr lang="cy-GB" dirty="0" smtClean="0"/>
              <a:t>.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minimizes</a:t>
            </a:r>
            <a:r>
              <a:rPr lang="cy-GB" dirty="0" smtClean="0"/>
              <a:t>: min</a:t>
            </a:r>
            <a:r>
              <a:rPr lang="cy-GB" dirty="0"/>
              <a:t>⁡(∑(𝑦−𝑦</a:t>
            </a:r>
            <a:r>
              <a:rPr lang="cy-GB" dirty="0" smtClean="0"/>
              <a:t>^)^2</a:t>
            </a:r>
            <a:r>
              <a:rPr lang="cy-GB" dirty="0"/>
              <a:t>+𝜆∑∣𝑤∣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L1 </a:t>
            </a:r>
            <a:r>
              <a:rPr lang="cy-GB" dirty="0"/>
              <a:t>penalty creates sparse solution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Sparse </a:t>
            </a:r>
            <a:r>
              <a:rPr lang="cy-GB" dirty="0"/>
              <a:t>means many weights become zero</a:t>
            </a:r>
            <a:r>
              <a:rPr lang="cy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534598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Geometry interpretation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constraint region is diamond-shaped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Corners </a:t>
            </a:r>
            <a:r>
              <a:rPr lang="cy-GB" dirty="0"/>
              <a:t>encourage weights to become zero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creates sparse model</a:t>
            </a:r>
            <a:r>
              <a:rPr lang="cy-GB" dirty="0" smtClean="0"/>
              <a:t>.</a:t>
            </a:r>
          </a:p>
          <a:p>
            <a:r>
              <a:rPr lang="cy-GB" dirty="0" smtClean="0"/>
              <a:t>Effect </a:t>
            </a:r>
            <a:r>
              <a:rPr lang="cy-GB" dirty="0"/>
              <a:t>of </a:t>
            </a:r>
            <a:r>
              <a:rPr lang="cy-GB" dirty="0" smtClean="0"/>
              <a:t>lambda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= 0 → </a:t>
            </a:r>
            <a:r>
              <a:rPr lang="cy-GB" dirty="0"/>
              <a:t>normal </a:t>
            </a:r>
            <a:r>
              <a:rPr lang="cy-GB" dirty="0" smtClean="0"/>
              <a:t>regression</a:t>
            </a:r>
          </a:p>
          <a:p>
            <a:pPr lvl="1"/>
            <a:r>
              <a:rPr lang="el-GR" dirty="0" smtClean="0"/>
              <a:t>λ </a:t>
            </a:r>
            <a:r>
              <a:rPr lang="cy-GB" dirty="0"/>
              <a:t>increases → more weights become </a:t>
            </a:r>
            <a:r>
              <a:rPr lang="cy-GB" dirty="0" smtClean="0"/>
              <a:t>zero</a:t>
            </a:r>
          </a:p>
          <a:p>
            <a:pPr lvl="1"/>
            <a:r>
              <a:rPr lang="el-GR" dirty="0" smtClean="0"/>
              <a:t>λ </a:t>
            </a:r>
            <a:r>
              <a:rPr lang="cy-GB" dirty="0"/>
              <a:t>very large → </a:t>
            </a:r>
            <a:r>
              <a:rPr lang="cy-GB" dirty="0" smtClean="0"/>
              <a:t>underfitting</a:t>
            </a:r>
          </a:p>
          <a:p>
            <a:r>
              <a:rPr lang="cy-GB" dirty="0" smtClean="0"/>
              <a:t>Ridge </a:t>
            </a:r>
            <a:r>
              <a:rPr lang="cy-GB" dirty="0"/>
              <a:t>vs Lasso comparison (IMPORTANT</a:t>
            </a:r>
            <a:r>
              <a:rPr lang="cy-GB" dirty="0" smtClean="0"/>
              <a:t>)</a:t>
            </a:r>
          </a:p>
          <a:p>
            <a:pPr marL="457200" lvl="1" indent="0">
              <a:buNone/>
            </a:pPr>
            <a:r>
              <a:rPr lang="cy-GB" dirty="0" smtClean="0"/>
              <a:t>Feature</a:t>
            </a:r>
            <a:r>
              <a:rPr lang="cy-GB" dirty="0"/>
              <a:t>	</a:t>
            </a:r>
            <a:r>
              <a:rPr lang="cy-GB" dirty="0" smtClean="0"/>
              <a:t>	Ridge</a:t>
            </a:r>
            <a:r>
              <a:rPr lang="cy-GB" dirty="0"/>
              <a:t>	</a:t>
            </a:r>
            <a:r>
              <a:rPr lang="cy-GB" dirty="0" smtClean="0"/>
              <a:t>		Lasso</a:t>
            </a:r>
          </a:p>
          <a:p>
            <a:pPr marL="457200" lvl="1" indent="0">
              <a:buNone/>
            </a:pPr>
            <a:r>
              <a:rPr lang="cy-GB" dirty="0" smtClean="0"/>
              <a:t>Penalty</a:t>
            </a:r>
            <a:r>
              <a:rPr lang="cy-GB" dirty="0"/>
              <a:t>	</a:t>
            </a:r>
            <a:r>
              <a:rPr lang="cy-GB" dirty="0" smtClean="0"/>
              <a:t>	w²</a:t>
            </a:r>
            <a:r>
              <a:rPr lang="cy-GB" dirty="0"/>
              <a:t>	</a:t>
            </a:r>
            <a:r>
              <a:rPr lang="cy-GB" dirty="0" smtClean="0"/>
              <a:t>		|</a:t>
            </a:r>
            <a:r>
              <a:rPr lang="cy-GB" dirty="0"/>
              <a:t>w</a:t>
            </a:r>
            <a:r>
              <a:rPr lang="cy-GB" dirty="0" smtClean="0"/>
              <a:t>|</a:t>
            </a:r>
          </a:p>
          <a:p>
            <a:pPr marL="457200" lvl="1" indent="0">
              <a:buNone/>
            </a:pPr>
            <a:r>
              <a:rPr lang="cy-GB" dirty="0" smtClean="0"/>
              <a:t>Feature </a:t>
            </a:r>
            <a:r>
              <a:rPr lang="cy-GB" dirty="0"/>
              <a:t>selection	No	</a:t>
            </a:r>
            <a:r>
              <a:rPr lang="cy-GB" dirty="0" smtClean="0"/>
              <a:t>		Yes</a:t>
            </a:r>
          </a:p>
          <a:p>
            <a:pPr marL="457200" lvl="1" indent="0">
              <a:buNone/>
            </a:pPr>
            <a:r>
              <a:rPr lang="cy-GB" dirty="0" smtClean="0"/>
              <a:t>Removes </a:t>
            </a:r>
            <a:r>
              <a:rPr lang="cy-GB" dirty="0"/>
              <a:t>features	No	</a:t>
            </a:r>
            <a:r>
              <a:rPr lang="cy-GB" dirty="0" smtClean="0"/>
              <a:t>		Yes</a:t>
            </a:r>
          </a:p>
          <a:p>
            <a:pPr marL="457200" lvl="1" indent="0">
              <a:buNone/>
            </a:pPr>
            <a:r>
              <a:rPr lang="cy-GB" dirty="0" smtClean="0"/>
              <a:t>Best </a:t>
            </a:r>
            <a:r>
              <a:rPr lang="cy-GB" dirty="0"/>
              <a:t>for	</a:t>
            </a:r>
            <a:r>
              <a:rPr lang="cy-GB" dirty="0" smtClean="0"/>
              <a:t>	Correlated </a:t>
            </a:r>
            <a:r>
              <a:rPr lang="cy-GB" dirty="0"/>
              <a:t>features	Sparse </a:t>
            </a:r>
            <a:r>
              <a:rPr lang="cy-GB" dirty="0" smtClean="0"/>
              <a:t>features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Regression performs regularization and feature selection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It </a:t>
            </a:r>
            <a:r>
              <a:rPr lang="cy-GB" dirty="0"/>
              <a:t>simplifies model by removing useless features.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396966388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</a:t>
            </a:r>
            <a:r>
              <a:rPr lang="en-US" dirty="0" smtClean="0"/>
              <a:t>57: </a:t>
            </a:r>
            <a:r>
              <a:rPr lang="en-US" dirty="0"/>
              <a:t>Elastic Net Regularization</a:t>
            </a:r>
            <a:endParaRPr lang="cy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y-GB" dirty="0"/>
              <a:t>Elastic Net is one of the most powerful regularization techniques because it combines the strengths of both Ridge Regression (L2) and Lasso Regression (L1</a:t>
            </a:r>
            <a:r>
              <a:rPr lang="cy-GB" dirty="0" smtClean="0"/>
              <a:t>).</a:t>
            </a:r>
          </a:p>
          <a:p>
            <a:r>
              <a:rPr lang="cy-GB" dirty="0" smtClean="0"/>
              <a:t>It </a:t>
            </a:r>
            <a:r>
              <a:rPr lang="cy-GB" dirty="0"/>
              <a:t>solves their individual limitations</a:t>
            </a:r>
            <a:r>
              <a:rPr lang="cy-GB" dirty="0" smtClean="0"/>
              <a:t>.</a:t>
            </a:r>
          </a:p>
          <a:p>
            <a:r>
              <a:rPr lang="cy-GB" dirty="0" smtClean="0"/>
              <a:t>Definition</a:t>
            </a:r>
          </a:p>
          <a:p>
            <a:pPr lvl="1"/>
            <a:r>
              <a:rPr lang="cy-GB" dirty="0" smtClean="0"/>
              <a:t>Elastic </a:t>
            </a:r>
            <a:r>
              <a:rPr lang="cy-GB" dirty="0"/>
              <a:t>Net is a regularization technique that combines both L1 penalty (Lasso) and L2 penalty (Ridge</a:t>
            </a:r>
            <a:r>
              <a:rPr lang="cy-GB" dirty="0" smtClean="0"/>
              <a:t>).</a:t>
            </a:r>
          </a:p>
          <a:p>
            <a:pPr lvl="1"/>
            <a:r>
              <a:rPr lang="cy-GB" dirty="0" smtClean="0"/>
              <a:t>In </a:t>
            </a:r>
            <a:r>
              <a:rPr lang="cy-GB" dirty="0"/>
              <a:t>simple words</a:t>
            </a:r>
            <a:r>
              <a:rPr lang="cy-GB" dirty="0" smtClean="0"/>
              <a:t>: Elastic </a:t>
            </a:r>
            <a:r>
              <a:rPr lang="cy-GB" dirty="0"/>
              <a:t>Net both shrinks weights and removes useless features</a:t>
            </a:r>
            <a:r>
              <a:rPr lang="cy-GB" dirty="0" smtClean="0"/>
              <a:t>.</a:t>
            </a:r>
          </a:p>
          <a:p>
            <a:r>
              <a:rPr lang="cy-GB" dirty="0" smtClean="0"/>
              <a:t>Why </a:t>
            </a:r>
            <a:r>
              <a:rPr lang="cy-GB" dirty="0"/>
              <a:t>this concept </a:t>
            </a:r>
            <a:r>
              <a:rPr lang="cy-GB" dirty="0" smtClean="0"/>
              <a:t>exists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Regression problem</a:t>
            </a:r>
            <a:r>
              <a:rPr lang="cy-GB" dirty="0" smtClean="0"/>
              <a:t>: Does </a:t>
            </a:r>
            <a:r>
              <a:rPr lang="cy-GB" dirty="0"/>
              <a:t>not remove features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Regression problem</a:t>
            </a:r>
            <a:r>
              <a:rPr lang="cy-GB" dirty="0" smtClean="0"/>
              <a:t>: Unstable </a:t>
            </a:r>
            <a:r>
              <a:rPr lang="cy-GB" dirty="0"/>
              <a:t>when features are highly correlated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Elastic </a:t>
            </a:r>
            <a:r>
              <a:rPr lang="cy-GB" dirty="0"/>
              <a:t>Net solves both problems by combining </a:t>
            </a:r>
            <a:r>
              <a:rPr lang="cy-GB" dirty="0" smtClean="0"/>
              <a:t>them.</a:t>
            </a:r>
          </a:p>
        </p:txBody>
      </p:sp>
    </p:spTree>
    <p:extLst>
      <p:ext uri="{BB962C8B-B14F-4D97-AF65-F5344CB8AC3E}">
        <p14:creationId xmlns:p14="http://schemas.microsoft.com/office/powerpoint/2010/main" val="3887275162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7500" lnSpcReduction="20000"/>
          </a:bodyPr>
          <a:lstStyle/>
          <a:p>
            <a:r>
              <a:rPr lang="cy-GB" dirty="0" smtClean="0"/>
              <a:t>Real-life analogy</a:t>
            </a:r>
          </a:p>
          <a:p>
            <a:pPr lvl="1"/>
            <a:r>
              <a:rPr lang="cy-GB" dirty="0" smtClean="0"/>
              <a:t>Imagine </a:t>
            </a:r>
            <a:r>
              <a:rPr lang="cy-GB" dirty="0"/>
              <a:t>managing employees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Ridge </a:t>
            </a:r>
            <a:r>
              <a:rPr lang="cy-GB" dirty="0"/>
              <a:t>→ reduces salaries but keeps all </a:t>
            </a:r>
            <a:r>
              <a:rPr lang="cy-GB" dirty="0" smtClean="0"/>
              <a:t>employees</a:t>
            </a:r>
          </a:p>
          <a:p>
            <a:pPr lvl="1"/>
            <a:r>
              <a:rPr lang="cy-GB" dirty="0" smtClean="0"/>
              <a:t>Lasso </a:t>
            </a:r>
            <a:r>
              <a:rPr lang="cy-GB" dirty="0"/>
              <a:t>→ fires some </a:t>
            </a:r>
            <a:r>
              <a:rPr lang="cy-GB" dirty="0" smtClean="0"/>
              <a:t>employees</a:t>
            </a:r>
          </a:p>
          <a:p>
            <a:pPr lvl="1"/>
            <a:r>
              <a:rPr lang="cy-GB" dirty="0" smtClean="0"/>
              <a:t>Elastic </a:t>
            </a:r>
            <a:r>
              <a:rPr lang="cy-GB" dirty="0"/>
              <a:t>Net → reduces salaries and fires unnecessary </a:t>
            </a:r>
            <a:r>
              <a:rPr lang="cy-GB" dirty="0" smtClean="0"/>
              <a:t>employees</a:t>
            </a:r>
          </a:p>
          <a:p>
            <a:pPr lvl="1"/>
            <a:r>
              <a:rPr lang="cy-GB" dirty="0" smtClean="0"/>
              <a:t>Balanced </a:t>
            </a:r>
            <a:r>
              <a:rPr lang="cy-GB" dirty="0"/>
              <a:t>approach</a:t>
            </a:r>
            <a:r>
              <a:rPr lang="cy-GB" dirty="0" smtClean="0"/>
              <a:t>.</a:t>
            </a:r>
          </a:p>
          <a:p>
            <a:r>
              <a:rPr lang="cy-GB" dirty="0" smtClean="0"/>
              <a:t>Mathematical </a:t>
            </a:r>
            <a:r>
              <a:rPr lang="cy-GB" dirty="0"/>
              <a:t>Formula (General Loss</a:t>
            </a:r>
            <a:r>
              <a:rPr lang="cy-GB" dirty="0" smtClean="0"/>
              <a:t>)</a:t>
            </a:r>
          </a:p>
          <a:p>
            <a:pPr lvl="1"/>
            <a:r>
              <a:rPr lang="cy-GB" dirty="0" smtClean="0"/>
              <a:t>Original </a:t>
            </a:r>
            <a:r>
              <a:rPr lang="cy-GB" dirty="0"/>
              <a:t>loss</a:t>
            </a:r>
            <a:r>
              <a:rPr lang="cy-GB" dirty="0" smtClean="0"/>
              <a:t>: 𝐿𝑜𝑠𝑠</a:t>
            </a:r>
            <a:r>
              <a:rPr lang="cy-GB" dirty="0"/>
              <a:t>=∑(𝑦−𝑦</a:t>
            </a:r>
            <a:r>
              <a:rPr lang="cy-GB" dirty="0" smtClean="0"/>
              <a:t>^)^2</a:t>
            </a:r>
          </a:p>
          <a:p>
            <a:pPr lvl="1"/>
            <a:r>
              <a:rPr lang="cy-GB" dirty="0" smtClean="0"/>
              <a:t>Elastic </a:t>
            </a:r>
            <a:r>
              <a:rPr lang="cy-GB" dirty="0"/>
              <a:t>Net Formula𝐿𝑜𝑠𝑠=∑(𝑦−𝑦</a:t>
            </a:r>
            <a:r>
              <a:rPr lang="cy-GB" dirty="0" smtClean="0"/>
              <a:t>^)^2</a:t>
            </a:r>
            <a:r>
              <a:rPr lang="cy-GB" dirty="0"/>
              <a:t>+𝜆1∑∣𝑤∣+</a:t>
            </a:r>
            <a:r>
              <a:rPr lang="cy-GB" dirty="0" smtClean="0"/>
              <a:t>𝜆^2</a:t>
            </a:r>
            <a:r>
              <a:rPr lang="cy-GB" dirty="0"/>
              <a:t>∑</a:t>
            </a:r>
            <a:r>
              <a:rPr lang="cy-GB" dirty="0" smtClean="0"/>
              <a:t>𝑤^2</a:t>
            </a:r>
          </a:p>
          <a:p>
            <a:pPr lvl="1"/>
            <a:r>
              <a:rPr lang="cy-GB" dirty="0" smtClean="0"/>
              <a:t>Alternative </a:t>
            </a:r>
            <a:r>
              <a:rPr lang="cy-GB" dirty="0"/>
              <a:t>simplified formula𝐿𝑜𝑠𝑠=∑(𝑦−𝑦</a:t>
            </a:r>
            <a:r>
              <a:rPr lang="cy-GB" dirty="0" smtClean="0"/>
              <a:t>^)^2</a:t>
            </a:r>
            <a:r>
              <a:rPr lang="cy-GB" dirty="0"/>
              <a:t>+𝜆(𝛼∑∣𝑤∣+(1−𝛼)∑</a:t>
            </a:r>
            <a:r>
              <a:rPr lang="cy-GB" dirty="0" smtClean="0"/>
              <a:t>𝑤^2)</a:t>
            </a:r>
          </a:p>
          <a:p>
            <a:r>
              <a:rPr lang="cy-GB" dirty="0" smtClean="0"/>
              <a:t>Explanation </a:t>
            </a:r>
            <a:r>
              <a:rPr lang="cy-GB" dirty="0"/>
              <a:t>of </a:t>
            </a:r>
            <a:r>
              <a:rPr lang="cy-GB" dirty="0" smtClean="0"/>
              <a:t>symbols</a:t>
            </a:r>
          </a:p>
          <a:p>
            <a:pPr lvl="1"/>
            <a:r>
              <a:rPr lang="cy-GB" dirty="0" smtClean="0"/>
              <a:t>y </a:t>
            </a:r>
            <a:r>
              <a:rPr lang="cy-GB" dirty="0"/>
              <a:t>= actual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ŷ </a:t>
            </a:r>
            <a:r>
              <a:rPr lang="cy-GB" dirty="0"/>
              <a:t>= predicted </a:t>
            </a:r>
            <a:r>
              <a:rPr lang="cy-GB" dirty="0" smtClean="0"/>
              <a:t>value</a:t>
            </a:r>
          </a:p>
          <a:p>
            <a:pPr lvl="1"/>
            <a:r>
              <a:rPr lang="cy-GB" dirty="0" smtClean="0"/>
              <a:t>w </a:t>
            </a:r>
            <a:r>
              <a:rPr lang="cy-GB" dirty="0"/>
              <a:t>= </a:t>
            </a:r>
            <a:r>
              <a:rPr lang="cy-GB" dirty="0" smtClean="0"/>
              <a:t>weights</a:t>
            </a:r>
          </a:p>
          <a:p>
            <a:pPr lvl="1"/>
            <a:r>
              <a:rPr lang="el-GR" dirty="0" smtClean="0"/>
              <a:t>λ </a:t>
            </a:r>
            <a:r>
              <a:rPr lang="el-GR" dirty="0"/>
              <a:t>= </a:t>
            </a:r>
            <a:r>
              <a:rPr lang="cy-GB" dirty="0"/>
              <a:t>overall regularization </a:t>
            </a:r>
            <a:r>
              <a:rPr lang="cy-GB" dirty="0" smtClean="0"/>
              <a:t>strength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= </a:t>
            </a:r>
            <a:r>
              <a:rPr lang="cy-GB" dirty="0"/>
              <a:t>balance </a:t>
            </a:r>
            <a:r>
              <a:rPr lang="cy-GB" dirty="0" smtClean="0"/>
              <a:t>parameter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= 1 → </a:t>
            </a:r>
            <a:r>
              <a:rPr lang="cy-GB" dirty="0" smtClean="0"/>
              <a:t>Lasso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= 0 → </a:t>
            </a:r>
            <a:r>
              <a:rPr lang="cy-GB" dirty="0" smtClean="0"/>
              <a:t>Ridge</a:t>
            </a:r>
          </a:p>
          <a:p>
            <a:pPr lvl="1"/>
            <a:r>
              <a:rPr lang="cy-GB" dirty="0" smtClean="0"/>
              <a:t>0 </a:t>
            </a:r>
            <a:r>
              <a:rPr lang="cy-GB" dirty="0"/>
              <a:t>&lt; </a:t>
            </a:r>
            <a:r>
              <a:rPr lang="el-GR" dirty="0"/>
              <a:t>α &lt; 1 → </a:t>
            </a:r>
            <a:r>
              <a:rPr lang="cy-GB" dirty="0"/>
              <a:t>Elastic </a:t>
            </a:r>
            <a:r>
              <a:rPr lang="cy-GB" dirty="0" smtClean="0"/>
              <a:t>Net</a:t>
            </a:r>
          </a:p>
        </p:txBody>
      </p:sp>
    </p:spTree>
    <p:extLst>
      <p:ext uri="{BB962C8B-B14F-4D97-AF65-F5344CB8AC3E}">
        <p14:creationId xmlns:p14="http://schemas.microsoft.com/office/powerpoint/2010/main" val="13700768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cy-GB" dirty="0" smtClean="0"/>
              <a:t>Practical example</a:t>
            </a:r>
          </a:p>
          <a:p>
            <a:pPr lvl="1"/>
            <a:r>
              <a:rPr lang="cy-GB" dirty="0" smtClean="0"/>
              <a:t>Suppose </a:t>
            </a:r>
            <a:r>
              <a:rPr lang="cy-GB" dirty="0"/>
              <a:t>weights</a:t>
            </a:r>
            <a:r>
              <a:rPr lang="cy-GB" dirty="0" smtClean="0"/>
              <a:t>:</a:t>
            </a:r>
          </a:p>
          <a:p>
            <a:pPr lvl="1"/>
            <a:r>
              <a:rPr lang="cy-GB" dirty="0" smtClean="0"/>
              <a:t>Before </a:t>
            </a:r>
            <a:r>
              <a:rPr lang="cy-GB" dirty="0"/>
              <a:t>regularization</a:t>
            </a:r>
            <a:r>
              <a:rPr lang="cy-GB" dirty="0" smtClean="0"/>
              <a:t>: w</a:t>
            </a:r>
            <a:r>
              <a:rPr lang="cy-GB" dirty="0"/>
              <a:t>₁ = </a:t>
            </a:r>
            <a:r>
              <a:rPr lang="cy-GB" dirty="0" smtClean="0"/>
              <a:t>100, w</a:t>
            </a:r>
            <a:r>
              <a:rPr lang="cy-GB" dirty="0"/>
              <a:t>₂ = </a:t>
            </a:r>
            <a:r>
              <a:rPr lang="cy-GB" dirty="0" smtClean="0"/>
              <a:t>50, w</a:t>
            </a:r>
            <a:r>
              <a:rPr lang="cy-GB" dirty="0"/>
              <a:t>₃ = </a:t>
            </a:r>
            <a:r>
              <a:rPr lang="cy-GB" dirty="0" smtClean="0"/>
              <a:t>10</a:t>
            </a:r>
          </a:p>
          <a:p>
            <a:pPr lvl="1"/>
            <a:r>
              <a:rPr lang="cy-GB" dirty="0" smtClean="0"/>
              <a:t>After </a:t>
            </a:r>
            <a:r>
              <a:rPr lang="cy-GB" dirty="0"/>
              <a:t>Elastic Net</a:t>
            </a:r>
            <a:r>
              <a:rPr lang="cy-GB" dirty="0" smtClean="0"/>
              <a:t>: w</a:t>
            </a:r>
            <a:r>
              <a:rPr lang="cy-GB" dirty="0"/>
              <a:t>₁ = </a:t>
            </a:r>
            <a:r>
              <a:rPr lang="cy-GB" dirty="0" smtClean="0"/>
              <a:t>20, w</a:t>
            </a:r>
            <a:r>
              <a:rPr lang="cy-GB" dirty="0"/>
              <a:t>₂ = </a:t>
            </a:r>
            <a:r>
              <a:rPr lang="cy-GB" dirty="0" smtClean="0"/>
              <a:t>5, w</a:t>
            </a:r>
            <a:r>
              <a:rPr lang="cy-GB" dirty="0"/>
              <a:t>₃ = </a:t>
            </a:r>
            <a:r>
              <a:rPr lang="cy-GB" dirty="0" smtClean="0"/>
              <a:t>0</a:t>
            </a:r>
          </a:p>
          <a:p>
            <a:pPr lvl="1"/>
            <a:r>
              <a:rPr lang="cy-GB" dirty="0" smtClean="0"/>
              <a:t>Some </a:t>
            </a:r>
            <a:r>
              <a:rPr lang="cy-GB" dirty="0"/>
              <a:t>weights reduced, some removed</a:t>
            </a:r>
            <a:r>
              <a:rPr lang="cy-GB" dirty="0" smtClean="0"/>
              <a:t>.</a:t>
            </a:r>
          </a:p>
          <a:p>
            <a:r>
              <a:rPr lang="cy-GB" dirty="0" smtClean="0"/>
              <a:t>Advantages</a:t>
            </a:r>
          </a:p>
          <a:p>
            <a:pPr lvl="1"/>
            <a:r>
              <a:rPr lang="cy-GB" dirty="0" smtClean="0"/>
              <a:t>Prevents overfitting</a:t>
            </a:r>
          </a:p>
          <a:p>
            <a:pPr lvl="1"/>
            <a:r>
              <a:rPr lang="cy-GB" dirty="0" smtClean="0"/>
              <a:t>Performs </a:t>
            </a:r>
            <a:r>
              <a:rPr lang="cy-GB" dirty="0"/>
              <a:t>feature </a:t>
            </a:r>
            <a:r>
              <a:rPr lang="cy-GB" dirty="0" smtClean="0"/>
              <a:t>selection</a:t>
            </a:r>
          </a:p>
          <a:p>
            <a:pPr lvl="1"/>
            <a:r>
              <a:rPr lang="cy-GB" dirty="0" smtClean="0"/>
              <a:t>Handles </a:t>
            </a:r>
            <a:r>
              <a:rPr lang="cy-GB" dirty="0"/>
              <a:t>correlated features </a:t>
            </a:r>
            <a:r>
              <a:rPr lang="cy-GB" dirty="0" smtClean="0"/>
              <a:t>well</a:t>
            </a:r>
          </a:p>
          <a:p>
            <a:pPr lvl="1"/>
            <a:r>
              <a:rPr lang="cy-GB" dirty="0" smtClean="0"/>
              <a:t>More </a:t>
            </a:r>
            <a:r>
              <a:rPr lang="cy-GB" dirty="0"/>
              <a:t>stable than </a:t>
            </a:r>
            <a:r>
              <a:rPr lang="cy-GB" dirty="0" smtClean="0"/>
              <a:t>Lasso</a:t>
            </a:r>
          </a:p>
          <a:p>
            <a:pPr lvl="1"/>
            <a:r>
              <a:rPr lang="cy-GB" dirty="0" smtClean="0"/>
              <a:t>More </a:t>
            </a:r>
            <a:r>
              <a:rPr lang="cy-GB" dirty="0"/>
              <a:t>flexible than </a:t>
            </a:r>
            <a:r>
              <a:rPr lang="cy-GB" dirty="0" smtClean="0"/>
              <a:t>Ridge</a:t>
            </a:r>
          </a:p>
          <a:p>
            <a:r>
              <a:rPr lang="cy-GB" dirty="0" smtClean="0"/>
              <a:t>Disadvantages</a:t>
            </a:r>
          </a:p>
          <a:p>
            <a:pPr lvl="1"/>
            <a:r>
              <a:rPr lang="cy-GB" dirty="0" smtClean="0"/>
              <a:t>Requires </a:t>
            </a:r>
            <a:r>
              <a:rPr lang="cy-GB" dirty="0"/>
              <a:t>tuning two parameters (</a:t>
            </a:r>
            <a:r>
              <a:rPr lang="el-GR" dirty="0"/>
              <a:t>λ </a:t>
            </a:r>
            <a:r>
              <a:rPr lang="cy-GB" dirty="0"/>
              <a:t>and </a:t>
            </a:r>
            <a:r>
              <a:rPr lang="el-GR" dirty="0"/>
              <a:t>α</a:t>
            </a:r>
            <a:r>
              <a:rPr lang="el-GR" dirty="0" smtClean="0"/>
              <a:t>)</a:t>
            </a:r>
            <a:endParaRPr lang="en-US" dirty="0" smtClean="0"/>
          </a:p>
          <a:p>
            <a:pPr lvl="1"/>
            <a:r>
              <a:rPr lang="cy-GB" dirty="0" smtClean="0"/>
              <a:t>More </a:t>
            </a:r>
            <a:r>
              <a:rPr lang="cy-GB" dirty="0"/>
              <a:t>complex than Ridge or </a:t>
            </a:r>
            <a:r>
              <a:rPr lang="cy-GB" dirty="0" smtClean="0"/>
              <a:t>Lasso</a:t>
            </a:r>
          </a:p>
        </p:txBody>
      </p:sp>
    </p:spTree>
    <p:extLst>
      <p:ext uri="{BB962C8B-B14F-4D97-AF65-F5344CB8AC3E}">
        <p14:creationId xmlns:p14="http://schemas.microsoft.com/office/powerpoint/2010/main" val="211745069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cy-GB" dirty="0" smtClean="0"/>
              <a:t>When </a:t>
            </a:r>
            <a:r>
              <a:rPr lang="cy-GB" dirty="0"/>
              <a:t>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dimensional </a:t>
            </a:r>
            <a:r>
              <a:rPr lang="cy-GB" dirty="0" smtClean="0"/>
              <a:t>datasets</a:t>
            </a:r>
          </a:p>
          <a:p>
            <a:pPr lvl="1"/>
            <a:r>
              <a:rPr lang="cy-GB" dirty="0" smtClean="0"/>
              <a:t>Correlated features</a:t>
            </a:r>
          </a:p>
          <a:p>
            <a:pPr lvl="1"/>
            <a:r>
              <a:rPr lang="cy-GB" dirty="0" smtClean="0"/>
              <a:t>Feature </a:t>
            </a:r>
            <a:r>
              <a:rPr lang="cy-GB" dirty="0"/>
              <a:t>selection </a:t>
            </a:r>
            <a:r>
              <a:rPr lang="cy-GB" dirty="0" smtClean="0"/>
              <a:t>required</a:t>
            </a:r>
          </a:p>
          <a:p>
            <a:pPr lvl="1"/>
            <a:r>
              <a:rPr lang="cy-GB" dirty="0" smtClean="0"/>
              <a:t>Best </a:t>
            </a:r>
            <a:r>
              <a:rPr lang="cy-GB" dirty="0"/>
              <a:t>general-purpose regularization </a:t>
            </a:r>
            <a:r>
              <a:rPr lang="cy-GB" dirty="0" smtClean="0"/>
              <a:t>method</a:t>
            </a:r>
          </a:p>
          <a:p>
            <a:r>
              <a:rPr lang="cy-GB" dirty="0" smtClean="0"/>
              <a:t>When </a:t>
            </a:r>
            <a:r>
              <a:rPr lang="cy-GB" dirty="0"/>
              <a:t>NOT to </a:t>
            </a:r>
            <a:r>
              <a:rPr lang="cy-GB" dirty="0" smtClean="0"/>
              <a:t>use</a:t>
            </a:r>
          </a:p>
          <a:p>
            <a:pPr lvl="1"/>
            <a:r>
              <a:rPr lang="cy-GB" dirty="0" smtClean="0"/>
              <a:t>Very </a:t>
            </a:r>
            <a:r>
              <a:rPr lang="cy-GB" dirty="0"/>
              <a:t>simple </a:t>
            </a:r>
            <a:r>
              <a:rPr lang="cy-GB" dirty="0" smtClean="0"/>
              <a:t>datasets</a:t>
            </a:r>
          </a:p>
          <a:p>
            <a:pPr lvl="1"/>
            <a:r>
              <a:rPr lang="cy-GB" dirty="0" smtClean="0"/>
              <a:t>Small datasets</a:t>
            </a:r>
          </a:p>
          <a:p>
            <a:r>
              <a:rPr lang="cy-GB" dirty="0" smtClean="0"/>
              <a:t>Technical </a:t>
            </a:r>
            <a:r>
              <a:rPr lang="cy-GB" dirty="0"/>
              <a:t>deep </a:t>
            </a:r>
            <a:r>
              <a:rPr lang="cy-GB" dirty="0" smtClean="0"/>
              <a:t>explanation</a:t>
            </a:r>
          </a:p>
          <a:p>
            <a:pPr lvl="1"/>
            <a:r>
              <a:rPr lang="cy-GB" dirty="0" smtClean="0"/>
              <a:t>Elastic </a:t>
            </a:r>
            <a:r>
              <a:rPr lang="cy-GB" dirty="0"/>
              <a:t>Net optimization problem</a:t>
            </a:r>
            <a:r>
              <a:rPr lang="cy-GB" dirty="0" smtClean="0"/>
              <a:t>: min</a:t>
            </a:r>
            <a:r>
              <a:rPr lang="cy-GB" dirty="0"/>
              <a:t>⁡(𝐿𝑜𝑠𝑠+𝜆1∣∣𝑤∣∣1+𝜆2∣∣𝑤∣∣</a:t>
            </a:r>
            <a:r>
              <a:rPr lang="cy-GB" dirty="0" smtClean="0"/>
              <a:t>2^2) </a:t>
            </a:r>
          </a:p>
          <a:p>
            <a:pPr lvl="1"/>
            <a:r>
              <a:rPr lang="cy-GB" dirty="0" smtClean="0"/>
              <a:t>This </a:t>
            </a:r>
            <a:r>
              <a:rPr lang="cy-GB" dirty="0"/>
              <a:t>creates sparse but stable solution</a:t>
            </a:r>
            <a:r>
              <a:rPr lang="cy-GB" dirty="0" smtClean="0"/>
              <a:t>.</a:t>
            </a:r>
          </a:p>
          <a:p>
            <a:r>
              <a:rPr lang="cy-GB" smtClean="0"/>
              <a:t>Ridge </a:t>
            </a:r>
            <a:r>
              <a:rPr lang="cy-GB" dirty="0"/>
              <a:t>vs Lasso vs Elastic Net comparison (CRITICAL TABLE</a:t>
            </a:r>
            <a:r>
              <a:rPr lang="cy-GB" dirty="0" smtClean="0"/>
              <a:t>)</a:t>
            </a:r>
          </a:p>
          <a:p>
            <a:pPr marL="457200" lvl="1" indent="0">
              <a:buNone/>
            </a:pPr>
            <a:r>
              <a:rPr lang="cy-GB" dirty="0" smtClean="0"/>
              <a:t>Feature</a:t>
            </a:r>
            <a:r>
              <a:rPr lang="cy-GB" dirty="0"/>
              <a:t>	</a:t>
            </a:r>
            <a:r>
              <a:rPr lang="cy-GB" dirty="0" smtClean="0"/>
              <a:t>	Ridge</a:t>
            </a:r>
            <a:r>
              <a:rPr lang="cy-GB" dirty="0"/>
              <a:t>	</a:t>
            </a:r>
            <a:r>
              <a:rPr lang="cy-GB" dirty="0" smtClean="0"/>
              <a:t>	Lasso</a:t>
            </a:r>
            <a:r>
              <a:rPr lang="cy-GB" dirty="0"/>
              <a:t>	</a:t>
            </a:r>
            <a:r>
              <a:rPr lang="cy-GB" dirty="0" smtClean="0"/>
              <a:t>	Elastic Net</a:t>
            </a:r>
          </a:p>
          <a:p>
            <a:pPr marL="457200" lvl="1" indent="0">
              <a:buNone/>
            </a:pPr>
            <a:r>
              <a:rPr lang="cy-GB" dirty="0" smtClean="0"/>
              <a:t>Shrinks </a:t>
            </a:r>
            <a:r>
              <a:rPr lang="cy-GB" dirty="0"/>
              <a:t>weights	Yes	</a:t>
            </a:r>
            <a:r>
              <a:rPr lang="cy-GB" dirty="0" smtClean="0"/>
              <a:t>	Yes</a:t>
            </a:r>
            <a:r>
              <a:rPr lang="cy-GB" dirty="0"/>
              <a:t>	</a:t>
            </a:r>
            <a:r>
              <a:rPr lang="cy-GB" dirty="0" smtClean="0"/>
              <a:t>	Yes</a:t>
            </a:r>
          </a:p>
          <a:p>
            <a:pPr marL="457200" lvl="1" indent="0">
              <a:buNone/>
            </a:pPr>
            <a:r>
              <a:rPr lang="cy-GB" dirty="0" smtClean="0"/>
              <a:t>Removes </a:t>
            </a:r>
            <a:r>
              <a:rPr lang="cy-GB" dirty="0"/>
              <a:t>features	No	</a:t>
            </a:r>
            <a:r>
              <a:rPr lang="cy-GB" dirty="0" smtClean="0"/>
              <a:t>	Yes</a:t>
            </a:r>
            <a:r>
              <a:rPr lang="cy-GB" dirty="0"/>
              <a:t>	</a:t>
            </a:r>
            <a:r>
              <a:rPr lang="cy-GB" dirty="0" smtClean="0"/>
              <a:t>	Yes</a:t>
            </a:r>
          </a:p>
          <a:p>
            <a:pPr marL="457200" lvl="1" indent="0">
              <a:buNone/>
            </a:pPr>
            <a:r>
              <a:rPr lang="cy-GB" dirty="0" smtClean="0"/>
              <a:t>Handles </a:t>
            </a:r>
            <a:r>
              <a:rPr lang="cy-GB" dirty="0"/>
              <a:t>correlation	Yes	</a:t>
            </a:r>
            <a:r>
              <a:rPr lang="cy-GB" dirty="0" smtClean="0"/>
              <a:t>	Poor</a:t>
            </a:r>
            <a:r>
              <a:rPr lang="cy-GB" dirty="0"/>
              <a:t>	</a:t>
            </a:r>
            <a:r>
              <a:rPr lang="cy-GB" dirty="0" smtClean="0"/>
              <a:t>	Best</a:t>
            </a:r>
          </a:p>
          <a:p>
            <a:pPr marL="457200" lvl="1" indent="0">
              <a:buNone/>
            </a:pPr>
            <a:r>
              <a:rPr lang="cy-GB" dirty="0" smtClean="0"/>
              <a:t>Stability</a:t>
            </a:r>
            <a:r>
              <a:rPr lang="cy-GB" dirty="0"/>
              <a:t>	</a:t>
            </a:r>
            <a:r>
              <a:rPr lang="cy-GB" dirty="0" smtClean="0"/>
              <a:t>	High</a:t>
            </a:r>
            <a:r>
              <a:rPr lang="cy-GB" dirty="0"/>
              <a:t>	</a:t>
            </a:r>
            <a:r>
              <a:rPr lang="cy-GB" dirty="0" smtClean="0"/>
              <a:t>	Medium</a:t>
            </a:r>
            <a:r>
              <a:rPr lang="cy-GB" dirty="0"/>
              <a:t>	</a:t>
            </a:r>
            <a:r>
              <a:rPr lang="cy-GB" dirty="0" smtClean="0"/>
              <a:t>	High</a:t>
            </a:r>
          </a:p>
          <a:p>
            <a:pPr marL="457200" lvl="1" indent="0">
              <a:buNone/>
            </a:pPr>
            <a:r>
              <a:rPr lang="cy-GB" dirty="0" smtClean="0"/>
              <a:t>Feature </a:t>
            </a:r>
            <a:r>
              <a:rPr lang="cy-GB" dirty="0"/>
              <a:t>selection	No	</a:t>
            </a:r>
            <a:r>
              <a:rPr lang="cy-GB" dirty="0" smtClean="0"/>
              <a:t>	Yes</a:t>
            </a:r>
            <a:r>
              <a:rPr lang="cy-GB" dirty="0"/>
              <a:t>	</a:t>
            </a:r>
            <a:r>
              <a:rPr lang="cy-GB" dirty="0" smtClean="0"/>
              <a:t>	Yes</a:t>
            </a:r>
          </a:p>
        </p:txBody>
      </p:sp>
    </p:spTree>
    <p:extLst>
      <p:ext uri="{BB962C8B-B14F-4D97-AF65-F5344CB8AC3E}">
        <p14:creationId xmlns:p14="http://schemas.microsoft.com/office/powerpoint/2010/main" val="17934014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cy-GB" dirty="0" smtClean="0"/>
              <a:t>Effect </a:t>
            </a:r>
            <a:r>
              <a:rPr lang="cy-GB" dirty="0"/>
              <a:t>of alpha </a:t>
            </a:r>
            <a:r>
              <a:rPr lang="cy-GB" dirty="0" smtClean="0"/>
              <a:t>parameter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= 0 → </a:t>
            </a:r>
            <a:r>
              <a:rPr lang="cy-GB" dirty="0"/>
              <a:t>Ridge </a:t>
            </a:r>
            <a:r>
              <a:rPr lang="cy-GB" dirty="0" smtClean="0"/>
              <a:t>behavior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= 1 → </a:t>
            </a:r>
            <a:r>
              <a:rPr lang="cy-GB" dirty="0"/>
              <a:t>Lasso </a:t>
            </a:r>
            <a:r>
              <a:rPr lang="cy-GB" dirty="0" smtClean="0"/>
              <a:t>behavior</a:t>
            </a:r>
          </a:p>
          <a:p>
            <a:pPr lvl="1"/>
            <a:r>
              <a:rPr lang="el-GR" dirty="0" smtClean="0"/>
              <a:t>α </a:t>
            </a:r>
            <a:r>
              <a:rPr lang="el-GR" dirty="0"/>
              <a:t>= 0.5 → </a:t>
            </a:r>
            <a:r>
              <a:rPr lang="cy-GB" dirty="0"/>
              <a:t>Balanced Elastic </a:t>
            </a:r>
            <a:r>
              <a:rPr lang="cy-GB" dirty="0" smtClean="0"/>
              <a:t>Net</a:t>
            </a:r>
          </a:p>
          <a:p>
            <a:r>
              <a:rPr lang="cy-GB" dirty="0" smtClean="0"/>
              <a:t>When </a:t>
            </a:r>
            <a:r>
              <a:rPr lang="cy-GB" dirty="0"/>
              <a:t>Elastic Net is BEST </a:t>
            </a:r>
            <a:r>
              <a:rPr lang="cy-GB" dirty="0" smtClean="0"/>
              <a:t>choice</a:t>
            </a:r>
          </a:p>
          <a:p>
            <a:pPr lvl="1"/>
            <a:r>
              <a:rPr lang="cy-GB" dirty="0" smtClean="0"/>
              <a:t>High </a:t>
            </a:r>
            <a:r>
              <a:rPr lang="cy-GB" dirty="0"/>
              <a:t>dimensional </a:t>
            </a:r>
            <a:r>
              <a:rPr lang="cy-GB" dirty="0" smtClean="0"/>
              <a:t>data</a:t>
            </a:r>
          </a:p>
          <a:p>
            <a:pPr lvl="1"/>
            <a:r>
              <a:rPr lang="cy-GB" dirty="0" smtClean="0"/>
              <a:t>Correlated features</a:t>
            </a:r>
          </a:p>
          <a:p>
            <a:pPr lvl="1"/>
            <a:r>
              <a:rPr lang="cy-GB" dirty="0" smtClean="0"/>
              <a:t>Feature </a:t>
            </a:r>
            <a:r>
              <a:rPr lang="cy-GB" dirty="0"/>
              <a:t>selection </a:t>
            </a:r>
            <a:r>
              <a:rPr lang="cy-GB" dirty="0" smtClean="0"/>
              <a:t>required</a:t>
            </a:r>
          </a:p>
          <a:p>
            <a:pPr lvl="1"/>
            <a:r>
              <a:rPr lang="cy-GB" dirty="0" smtClean="0"/>
              <a:t>Complex </a:t>
            </a:r>
            <a:r>
              <a:rPr lang="cy-GB" dirty="0"/>
              <a:t>ML </a:t>
            </a:r>
            <a:r>
              <a:rPr lang="cy-GB" dirty="0" smtClean="0"/>
              <a:t>problems</a:t>
            </a:r>
          </a:p>
          <a:p>
            <a:r>
              <a:rPr lang="cy-GB" dirty="0" smtClean="0"/>
              <a:t>Summary</a:t>
            </a:r>
          </a:p>
          <a:p>
            <a:pPr lvl="1"/>
            <a:r>
              <a:rPr lang="cy-GB" dirty="0" smtClean="0"/>
              <a:t>Elastic </a:t>
            </a:r>
            <a:r>
              <a:rPr lang="cy-GB" dirty="0"/>
              <a:t>Net combines Ridge and Lasso</a:t>
            </a:r>
            <a:r>
              <a:rPr lang="cy-GB" dirty="0" smtClean="0"/>
              <a:t>.</a:t>
            </a:r>
          </a:p>
          <a:p>
            <a:pPr lvl="1"/>
            <a:r>
              <a:rPr lang="cy-GB" dirty="0" smtClean="0"/>
              <a:t>Provides </a:t>
            </a:r>
            <a:r>
              <a:rPr lang="cy-GB" dirty="0"/>
              <a:t>best balance between stability and feature selection.</a:t>
            </a: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2639705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5844</TotalTime>
  <Words>15119</Words>
  <Application>Microsoft Office PowerPoint</Application>
  <PresentationFormat>Widescreen</PresentationFormat>
  <Paragraphs>2909</Paragraphs>
  <Slides>223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223</vt:i4>
      </vt:variant>
    </vt:vector>
  </HeadingPairs>
  <TitlesOfParts>
    <vt:vector size="227" baseType="lpstr">
      <vt:lpstr>Arial</vt:lpstr>
      <vt:lpstr>Calibri</vt:lpstr>
      <vt:lpstr>Calibri Light</vt:lpstr>
      <vt:lpstr>Office Theme</vt:lpstr>
      <vt:lpstr>CORE MACHINE LEARNING FOUNDATIONS</vt:lpstr>
      <vt:lpstr>TOPIC 1: Artificial Intelligence (AI)</vt:lpstr>
      <vt:lpstr>PowerPoint Presentation</vt:lpstr>
      <vt:lpstr>PowerPoint Presentation</vt:lpstr>
      <vt:lpstr>PowerPoint Presentation</vt:lpstr>
      <vt:lpstr>PowerPoint Presentation</vt:lpstr>
      <vt:lpstr>TOPIC 2: Machine Learning (ML)</vt:lpstr>
      <vt:lpstr>PowerPoint Presentation</vt:lpstr>
      <vt:lpstr>PowerPoint Presentation</vt:lpstr>
      <vt:lpstr>PowerPoint Presentation</vt:lpstr>
      <vt:lpstr>TOPIC 3: Deep Learning (DL)</vt:lpstr>
      <vt:lpstr>PowerPoint Presentation</vt:lpstr>
      <vt:lpstr>PowerPoint Presentation</vt:lpstr>
      <vt:lpstr>TOPIC 4: Supervised Learning (SL)</vt:lpstr>
      <vt:lpstr>PowerPoint Presentation</vt:lpstr>
      <vt:lpstr>PowerPoint Presentation</vt:lpstr>
      <vt:lpstr>PowerPoint Presentation</vt:lpstr>
      <vt:lpstr>TOPIC 5: Unsupervised Learning (USL)</vt:lpstr>
      <vt:lpstr>PowerPoint Presentation</vt:lpstr>
      <vt:lpstr>PowerPoint Presentation</vt:lpstr>
      <vt:lpstr>TOPIC 6: Semi-Supervised Learning (SSL)</vt:lpstr>
      <vt:lpstr>PowerPoint Presentation</vt:lpstr>
      <vt:lpstr>PowerPoint Presentation</vt:lpstr>
      <vt:lpstr>PowerPoint Presentation</vt:lpstr>
      <vt:lpstr>PowerPoint Presentation</vt:lpstr>
      <vt:lpstr>TOPIC 7: Reinforcement Learning (RL)</vt:lpstr>
      <vt:lpstr>PowerPoint Presentation</vt:lpstr>
      <vt:lpstr>PowerPoint Presentation</vt:lpstr>
      <vt:lpstr>PowerPoint Presentation</vt:lpstr>
      <vt:lpstr>PowerPoint Presentation</vt:lpstr>
      <vt:lpstr>TOPIC 8: Dataset</vt:lpstr>
      <vt:lpstr>PowerPoint Presentation</vt:lpstr>
      <vt:lpstr>PowerPoint Presentation</vt:lpstr>
      <vt:lpstr>PowerPoint Presentation</vt:lpstr>
      <vt:lpstr>TOPIC 9: Independent Variable (Feature / Predictor Variable)</vt:lpstr>
      <vt:lpstr>PowerPoint Presentation</vt:lpstr>
      <vt:lpstr>PowerPoint Presentation</vt:lpstr>
      <vt:lpstr>TOPIC 10: Dependent Variable (Target Variable)</vt:lpstr>
      <vt:lpstr>PowerPoint Presentation</vt:lpstr>
      <vt:lpstr>PowerPoint Presentation</vt:lpstr>
      <vt:lpstr>TOPIC 11: Labeled Data</vt:lpstr>
      <vt:lpstr>PowerPoint Presentation</vt:lpstr>
      <vt:lpstr>PowerPoint Presentation</vt:lpstr>
      <vt:lpstr>PowerPoint Presentation</vt:lpstr>
      <vt:lpstr>TOPIC 12: Regression</vt:lpstr>
      <vt:lpstr>PowerPoint Presentation</vt:lpstr>
      <vt:lpstr>PowerPoint Presentation</vt:lpstr>
      <vt:lpstr>PowerPoint Presentation</vt:lpstr>
      <vt:lpstr>TOPIC 13: Classification</vt:lpstr>
      <vt:lpstr>PowerPoint Presentation</vt:lpstr>
      <vt:lpstr>PowerPoint Presentation</vt:lpstr>
      <vt:lpstr>TOPIC 14: Clustering</vt:lpstr>
      <vt:lpstr>PowerPoint Presentation</vt:lpstr>
      <vt:lpstr>PowerPoint Presentation</vt:lpstr>
      <vt:lpstr>PowerPoint Presentation</vt:lpstr>
      <vt:lpstr>PowerPoint Presentation</vt:lpstr>
      <vt:lpstr>TOPIC 15: Binary Variable</vt:lpstr>
      <vt:lpstr>PowerPoint Presentation</vt:lpstr>
      <vt:lpstr>PowerPoint Presentation</vt:lpstr>
      <vt:lpstr>PowerPoint Presentation</vt:lpstr>
      <vt:lpstr>TOPIC 16: Categorical Variable</vt:lpstr>
      <vt:lpstr>PowerPoint Presentation</vt:lpstr>
      <vt:lpstr>PowerPoint Presentation</vt:lpstr>
      <vt:lpstr>PowerPoint Presentation</vt:lpstr>
      <vt:lpstr>TOPIC 17: Continuous Variable</vt:lpstr>
      <vt:lpstr>PowerPoint Presentation</vt:lpstr>
      <vt:lpstr>PowerPoint Presentation</vt:lpstr>
      <vt:lpstr>TOPIC 18: Bias</vt:lpstr>
      <vt:lpstr>PowerPoint Presentation</vt:lpstr>
      <vt:lpstr>PowerPoint Presentation</vt:lpstr>
      <vt:lpstr>PowerPoint Presentation</vt:lpstr>
      <vt:lpstr>TOPIC 19: Variance</vt:lpstr>
      <vt:lpstr>PowerPoint Presentation</vt:lpstr>
      <vt:lpstr>PowerPoint Presentation</vt:lpstr>
      <vt:lpstr>TOPIC 20: Bias–Variance Tradeoff</vt:lpstr>
      <vt:lpstr>PowerPoint Presentation</vt:lpstr>
      <vt:lpstr>PowerPoint Presentation</vt:lpstr>
      <vt:lpstr>PowerPoint Presentation</vt:lpstr>
      <vt:lpstr>PowerPoint Presentation</vt:lpstr>
      <vt:lpstr>TOPIC 21: Overfitting</vt:lpstr>
      <vt:lpstr>PowerPoint Presentation</vt:lpstr>
      <vt:lpstr>PowerPoint Presentation</vt:lpstr>
      <vt:lpstr>PowerPoint Presentation</vt:lpstr>
      <vt:lpstr>TOPIC 22: Underfitting</vt:lpstr>
      <vt:lpstr>PowerPoint Presentation</vt:lpstr>
      <vt:lpstr>PowerPoint Presentation</vt:lpstr>
      <vt:lpstr>PowerPoint Presentation</vt:lpstr>
      <vt:lpstr>TOPIC 23: Residual</vt:lpstr>
      <vt:lpstr>PowerPoint Presentation</vt:lpstr>
      <vt:lpstr>PowerPoint Presentation</vt:lpstr>
      <vt:lpstr>TOPIC 24: Hyperparameter</vt:lpstr>
      <vt:lpstr>PowerPoint Presentation</vt:lpstr>
      <vt:lpstr>PowerPoint Presentation</vt:lpstr>
      <vt:lpstr>PowerPoint Presentation</vt:lpstr>
      <vt:lpstr>TOPIC 25: Cross Validation</vt:lpstr>
      <vt:lpstr>PowerPoint Presentation</vt:lpstr>
      <vt:lpstr>PowerPoint Presentation</vt:lpstr>
      <vt:lpstr>PowerPoint Presentation</vt:lpstr>
      <vt:lpstr>TOPIC 26: Convex Function</vt:lpstr>
      <vt:lpstr>PowerPoint Presentation</vt:lpstr>
      <vt:lpstr>PowerPoint Presentation</vt:lpstr>
      <vt:lpstr>PowerPoint Presentation</vt:lpstr>
      <vt:lpstr>TOPIC 27: Loss Function</vt:lpstr>
      <vt:lpstr>PowerPoint Presentation</vt:lpstr>
      <vt:lpstr>PowerPoint Presentation</vt:lpstr>
      <vt:lpstr>TOPIC 28: SSE (Sum of Squared Errors)</vt:lpstr>
      <vt:lpstr>PowerPoint Presentation</vt:lpstr>
      <vt:lpstr>PowerPoint Presentation</vt:lpstr>
      <vt:lpstr>PowerPoint Presentation</vt:lpstr>
      <vt:lpstr>TOPIC 29: Mean Squared Error (MSE)</vt:lpstr>
      <vt:lpstr>PowerPoint Presentation</vt:lpstr>
      <vt:lpstr>PowerPoint Presentation</vt:lpstr>
      <vt:lpstr>TOPIC 30: Mean Absolute Error (MAE)</vt:lpstr>
      <vt:lpstr>PowerPoint Presentation</vt:lpstr>
      <vt:lpstr>TOPIC 31: Root Mean Squared Error (RMSE)</vt:lpstr>
      <vt:lpstr>PowerPoint Presentation</vt:lpstr>
      <vt:lpstr>PowerPoint Presentation</vt:lpstr>
      <vt:lpstr>PowerPoint Presentation</vt:lpstr>
      <vt:lpstr>TOPIC 32: Log Loss (Logarithmic Loss)</vt:lpstr>
      <vt:lpstr>PowerPoint Presentation</vt:lpstr>
      <vt:lpstr>PowerPoint Presentation</vt:lpstr>
      <vt:lpstr>PowerPoint Presentation</vt:lpstr>
      <vt:lpstr>TOPIC 33: Cross Entropy Loss</vt:lpstr>
      <vt:lpstr>PowerPoint Presentation</vt:lpstr>
      <vt:lpstr>PowerPoint Presentation</vt:lpstr>
      <vt:lpstr>PowerPoint Presentation</vt:lpstr>
      <vt:lpstr>PowerPoint Presentation</vt:lpstr>
      <vt:lpstr>TOPIC 34: Gradient Descent</vt:lpstr>
      <vt:lpstr>PowerPoint Presentation</vt:lpstr>
      <vt:lpstr>PowerPoint Presentation</vt:lpstr>
      <vt:lpstr>PowerPoint Presentation</vt:lpstr>
      <vt:lpstr>PowerPoint Presentation</vt:lpstr>
      <vt:lpstr>TOPIC 35: Learning Rate</vt:lpstr>
      <vt:lpstr>PowerPoint Presentation</vt:lpstr>
      <vt:lpstr>PowerPoint Presentation</vt:lpstr>
      <vt:lpstr>PowerPoint Presentation</vt:lpstr>
      <vt:lpstr>PowerPoint Presentation</vt:lpstr>
      <vt:lpstr>TOPIC 36: Convergence</vt:lpstr>
      <vt:lpstr>PowerPoint Presentation</vt:lpstr>
      <vt:lpstr>PowerPoint Presentation</vt:lpstr>
      <vt:lpstr>PowerPoint Presentation</vt:lpstr>
      <vt:lpstr>TOPIC 37: Local Minima</vt:lpstr>
      <vt:lpstr>PowerPoint Presentation</vt:lpstr>
      <vt:lpstr>PowerPoint Presentation</vt:lpstr>
      <vt:lpstr>PowerPoint Presentation</vt:lpstr>
      <vt:lpstr>TOPIC 38: Global Minima</vt:lpstr>
      <vt:lpstr>PowerPoint Presentation</vt:lpstr>
      <vt:lpstr>PowerPoint Presentation</vt:lpstr>
      <vt:lpstr>PowerPoint Presentation</vt:lpstr>
      <vt:lpstr>TOPIC 39: Activation Function</vt:lpstr>
      <vt:lpstr>PowerPoint Presentation</vt:lpstr>
      <vt:lpstr>PowerPoint Presentation</vt:lpstr>
      <vt:lpstr>PowerPoint Presentation</vt:lpstr>
      <vt:lpstr>TOPIC 40: Sigmoid Activation Function</vt:lpstr>
      <vt:lpstr>PowerPoint Presentation</vt:lpstr>
      <vt:lpstr>PowerPoint Presentation</vt:lpstr>
      <vt:lpstr>PowerPoint Presentation</vt:lpstr>
      <vt:lpstr>PowerPoint Presentation</vt:lpstr>
      <vt:lpstr>TOPIC 41: Tanh Activation Function</vt:lpstr>
      <vt:lpstr>PowerPoint Presentation</vt:lpstr>
      <vt:lpstr>PowerPoint Presentation</vt:lpstr>
      <vt:lpstr>PowerPoint Presentation</vt:lpstr>
      <vt:lpstr>TOPIC 42: ReLU (Rectified Linear Unit) Activation Function</vt:lpstr>
      <vt:lpstr>PowerPoint Presentation</vt:lpstr>
      <vt:lpstr>PowerPoint Presentation</vt:lpstr>
      <vt:lpstr>PowerPoint Presentation</vt:lpstr>
      <vt:lpstr>TOPIC 43: Leaky ReLU Activation Function</vt:lpstr>
      <vt:lpstr>PowerPoint Presentation</vt:lpstr>
      <vt:lpstr>PowerPoint Presentation</vt:lpstr>
      <vt:lpstr>PowerPoint Presentation</vt:lpstr>
      <vt:lpstr>TOPIC 44: Softmax Activation Function</vt:lpstr>
      <vt:lpstr>PowerPoint Presentation</vt:lpstr>
      <vt:lpstr>PowerPoint Presentation</vt:lpstr>
      <vt:lpstr>PowerPoint Presentation</vt:lpstr>
      <vt:lpstr>TOPIC 45: Confusion Matrix (FOUNDATION OF ALL EVALUATION METRICS)</vt:lpstr>
      <vt:lpstr>PowerPoint Presentation</vt:lpstr>
      <vt:lpstr>PowerPoint Presentation</vt:lpstr>
      <vt:lpstr>PowerPoint Presentation</vt:lpstr>
      <vt:lpstr>TOPIC 46: Accuracy</vt:lpstr>
      <vt:lpstr>PowerPoint Presentation</vt:lpstr>
      <vt:lpstr>PowerPoint Presentation</vt:lpstr>
      <vt:lpstr>TOPIC 47: Precision</vt:lpstr>
      <vt:lpstr>PowerPoint Presentation</vt:lpstr>
      <vt:lpstr>PowerPoint Presentation</vt:lpstr>
      <vt:lpstr>TOPIC 48: Recall (Sensitivity / True Positive Rate)</vt:lpstr>
      <vt:lpstr>PowerPoint Presentation</vt:lpstr>
      <vt:lpstr>PowerPoint Presentation</vt:lpstr>
      <vt:lpstr>PowerPoint Presentation</vt:lpstr>
      <vt:lpstr>TOPIC 49: F1 Score (Balanced Metric)</vt:lpstr>
      <vt:lpstr>PowerPoint Presentation</vt:lpstr>
      <vt:lpstr>PowerPoint Presentation</vt:lpstr>
      <vt:lpstr>PowerPoint Presentation</vt:lpstr>
      <vt:lpstr>TOPIC 50: Specificity (True Negative Rate)</vt:lpstr>
      <vt:lpstr>PowerPoint Presentation</vt:lpstr>
      <vt:lpstr>PowerPoint Presentation</vt:lpstr>
      <vt:lpstr>TOPIC 51: False Positive Rate (FPR)</vt:lpstr>
      <vt:lpstr>PowerPoint Presentation</vt:lpstr>
      <vt:lpstr>PowerPoint Presentation</vt:lpstr>
      <vt:lpstr>TOPIC 52: ROC Curve (Receiver Operating Characteristic Curve)</vt:lpstr>
      <vt:lpstr>PowerPoint Presentation</vt:lpstr>
      <vt:lpstr>PowerPoint Presentation</vt:lpstr>
      <vt:lpstr>TOPIC 53: AUC (Area Under ROC Curve)</vt:lpstr>
      <vt:lpstr>PowerPoint Presentation</vt:lpstr>
      <vt:lpstr>PowerPoint Presentation</vt:lpstr>
      <vt:lpstr>TOPIC 54: Regularization</vt:lpstr>
      <vt:lpstr>PowerPoint Presentation</vt:lpstr>
      <vt:lpstr>PowerPoint Presentation</vt:lpstr>
      <vt:lpstr>PowerPoint Presentation</vt:lpstr>
      <vt:lpstr>TOPIC 55: Ridge Regression (L2 Regularization)</vt:lpstr>
      <vt:lpstr>PowerPoint Presentation</vt:lpstr>
      <vt:lpstr>PowerPoint Presentation</vt:lpstr>
      <vt:lpstr>PowerPoint Presentation</vt:lpstr>
      <vt:lpstr>PowerPoint Presentation</vt:lpstr>
      <vt:lpstr>TOPIC 56: Lasso Regression (L1 Regularization)</vt:lpstr>
      <vt:lpstr>PowerPoint Presentation</vt:lpstr>
      <vt:lpstr>PowerPoint Presentation</vt:lpstr>
      <vt:lpstr>PowerPoint Presentation</vt:lpstr>
      <vt:lpstr>PowerPoint Presentation</vt:lpstr>
      <vt:lpstr>TOPIC 57: Elastic Net Regularization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97</cp:revision>
  <dcterms:created xsi:type="dcterms:W3CDTF">2026-02-13T06:25:49Z</dcterms:created>
  <dcterms:modified xsi:type="dcterms:W3CDTF">2026-02-17T07:53:31Z</dcterms:modified>
</cp:coreProperties>
</file>