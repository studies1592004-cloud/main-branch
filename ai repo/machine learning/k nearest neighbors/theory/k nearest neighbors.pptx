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69" r:id="rId4"/>
    <p:sldId id="368" r:id="rId5"/>
    <p:sldId id="370" r:id="rId6"/>
    <p:sldId id="379" r:id="rId7"/>
    <p:sldId id="385" r:id="rId8"/>
    <p:sldId id="386" r:id="rId9"/>
    <p:sldId id="387" r:id="rId10"/>
    <p:sldId id="382" r:id="rId11"/>
    <p:sldId id="377" r:id="rId12"/>
    <p:sldId id="373" r:id="rId13"/>
    <p:sldId id="374" r:id="rId14"/>
    <p:sldId id="375" r:id="rId15"/>
    <p:sldId id="384" r:id="rId16"/>
    <p:sldId id="388" r:id="rId17"/>
    <p:sldId id="3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K-NEAREST NEIGHBORS (KNN)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1. What is KNN</a:t>
            </a:r>
          </a:p>
          <a:p>
            <a:pPr lvl="1"/>
            <a:r>
              <a:rPr lang="en-US" sz="3600" dirty="0"/>
              <a:t>K-Nearest Neighbors (KNN) is a </a:t>
            </a:r>
            <a:r>
              <a:rPr lang="en-US" sz="3600" b="1" dirty="0"/>
              <a:t>supervised, instance-based, non-parametric learning algorithm</a:t>
            </a:r>
            <a:r>
              <a:rPr lang="en-US" sz="3600" dirty="0"/>
              <a:t> used for </a:t>
            </a:r>
            <a:r>
              <a:rPr lang="en-US" sz="3600" b="1" dirty="0"/>
              <a:t>classification and regression</a:t>
            </a:r>
            <a:r>
              <a:rPr lang="en-US" sz="3600" dirty="0"/>
              <a:t>.</a:t>
            </a:r>
          </a:p>
          <a:p>
            <a:pPr lvl="1"/>
            <a:r>
              <a:rPr lang="en-US" sz="3600" dirty="0"/>
              <a:t>It makes predictions by </a:t>
            </a:r>
            <a:r>
              <a:rPr lang="en-US" sz="3600" b="1" dirty="0"/>
              <a:t>looking at the K closest data points</a:t>
            </a:r>
            <a:r>
              <a:rPr lang="en-US" sz="3600" dirty="0"/>
              <a:t> in the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2. Purpose</a:t>
            </a:r>
          </a:p>
          <a:p>
            <a:pPr lvl="1"/>
            <a:r>
              <a:rPr lang="en-US" sz="3600" b="1" dirty="0"/>
              <a:t>To predict the class or value of a data point based on similarity</a:t>
            </a:r>
            <a:r>
              <a:rPr lang="en-US" sz="3600" dirty="0"/>
              <a:t> to nearby data points.</a:t>
            </a:r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3. Why it is Used</a:t>
            </a:r>
          </a:p>
          <a:p>
            <a:pPr lvl="1"/>
            <a:r>
              <a:rPr lang="en-US" sz="3600" dirty="0"/>
              <a:t>Simple and intuitive</a:t>
            </a:r>
          </a:p>
          <a:p>
            <a:pPr lvl="1"/>
            <a:r>
              <a:rPr lang="en-US" sz="3600" dirty="0"/>
              <a:t>No training phase</a:t>
            </a:r>
          </a:p>
          <a:p>
            <a:pPr lvl="1"/>
            <a:r>
              <a:rPr lang="en-US" sz="3600" dirty="0"/>
              <a:t>Works well with small datasets</a:t>
            </a:r>
          </a:p>
          <a:p>
            <a:pPr lvl="1"/>
            <a:r>
              <a:rPr lang="en-US" sz="3600" dirty="0"/>
              <a:t>Effective when decision boundary is irregular</a:t>
            </a:r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How KNN Works (Algorithm)</a:t>
            </a:r>
          </a:p>
          <a:p>
            <a:pPr marL="457200" lvl="1" indent="0">
              <a:buNone/>
            </a:pPr>
            <a:r>
              <a:rPr lang="en-US" b="1" dirty="0"/>
              <a:t>Step-by-Step:</a:t>
            </a:r>
          </a:p>
          <a:p>
            <a:pPr lvl="1"/>
            <a:r>
              <a:rPr lang="en-US" dirty="0"/>
              <a:t>Choose the value of </a:t>
            </a:r>
            <a:r>
              <a:rPr lang="en-US" b="1" dirty="0"/>
              <a:t>K</a:t>
            </a:r>
            <a:endParaRPr lang="en-US" dirty="0"/>
          </a:p>
          <a:p>
            <a:pPr lvl="1"/>
            <a:r>
              <a:rPr lang="en-US" dirty="0"/>
              <a:t>Compute distance between test point and all training points</a:t>
            </a:r>
          </a:p>
          <a:p>
            <a:pPr lvl="1"/>
            <a:r>
              <a:rPr lang="en-US" dirty="0"/>
              <a:t>Select the </a:t>
            </a:r>
            <a:r>
              <a:rPr lang="en-US" b="1" dirty="0"/>
              <a:t>K nearest neighbors</a:t>
            </a:r>
            <a:endParaRPr lang="en-US" dirty="0"/>
          </a:p>
          <a:p>
            <a:pPr lvl="1"/>
            <a:r>
              <a:rPr lang="en-US" dirty="0"/>
              <a:t>Aggregate their outputs:</a:t>
            </a:r>
          </a:p>
          <a:p>
            <a:pPr lvl="2"/>
            <a:r>
              <a:rPr lang="en-US" dirty="0"/>
              <a:t>Classification → majority vote</a:t>
            </a:r>
          </a:p>
          <a:p>
            <a:pPr lvl="2"/>
            <a:r>
              <a:rPr lang="en-US" dirty="0"/>
              <a:t>Regression → mean/median</a:t>
            </a:r>
          </a:p>
          <a:p>
            <a:pPr lvl="1"/>
            <a:r>
              <a:rPr lang="en-US" dirty="0"/>
              <a:t>Output final prediction</a:t>
            </a:r>
          </a:p>
        </p:txBody>
      </p:sp>
    </p:spTree>
    <p:extLst>
      <p:ext uri="{BB962C8B-B14F-4D97-AF65-F5344CB8AC3E}">
        <p14:creationId xmlns:p14="http://schemas.microsoft.com/office/powerpoint/2010/main" val="38992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5. Distance Metrics</a:t>
            </a:r>
            <a:endParaRPr lang="en-IN" sz="28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763844"/>
              </p:ext>
            </p:extLst>
          </p:nvPr>
        </p:nvGraphicFramePr>
        <p:xfrm>
          <a:off x="1588827" y="1468488"/>
          <a:ext cx="9206552" cy="4708475"/>
        </p:xfrm>
        <a:graphic>
          <a:graphicData uri="http://schemas.openxmlformats.org/drawingml/2006/table">
            <a:tbl>
              <a:tblPr/>
              <a:tblGrid>
                <a:gridCol w="4603276"/>
                <a:gridCol w="4603276"/>
              </a:tblGrid>
              <a:tr h="941695">
                <a:tc>
                  <a:txBody>
                    <a:bodyPr/>
                    <a:lstStyle/>
                    <a:p>
                      <a:r>
                        <a:rPr lang="en-IN" b="1" dirty="0"/>
                        <a:t>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695">
                <a:tc>
                  <a:txBody>
                    <a:bodyPr/>
                    <a:lstStyle/>
                    <a:p>
                      <a:r>
                        <a:rPr lang="en-IN" b="1"/>
                        <a:t>Euclidean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)=√∑</a:t>
                      </a:r>
                      <a:r>
                        <a:rPr lang="en-IN" sz="1800" b="0" i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​(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​−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​)2​</a:t>
                      </a:r>
                      <a:endParaRPr lang="nn-NO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695">
                <a:tc>
                  <a:txBody>
                    <a:bodyPr/>
                    <a:lstStyle/>
                    <a:p>
                      <a:r>
                        <a:rPr lang="en-IN" b="1"/>
                        <a:t>Manhattan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)=∑</a:t>
                      </a:r>
                      <a:r>
                        <a:rPr lang="en-IN" sz="1800" b="0" i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​∣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​−</a:t>
                      </a:r>
                      <a:r>
                        <a:rPr lang="en-IN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​∣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695">
                <a:tc>
                  <a:txBody>
                    <a:bodyPr/>
                    <a:lstStyle/>
                    <a:p>
                      <a:r>
                        <a:rPr lang="en-IN" b="1"/>
                        <a:t>Minkowski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pt-BR" dirty="0" smtClean="0">
                          <a:effectLst/>
                        </a:rPr>
                        <a:t>(</a:t>
                      </a:r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pt-BR" dirty="0" smtClean="0">
                          <a:effectLst/>
                        </a:rPr>
                        <a:t>,</a:t>
                      </a:r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pt-BR" dirty="0" smtClean="0">
                          <a:effectLst/>
                        </a:rPr>
                        <a:t>)=(</a:t>
                      </a:r>
                      <a:r>
                        <a:rPr lang="pt-B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∑</a:t>
                      </a:r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pt-BR" dirty="0" smtClean="0">
                          <a:effectLst/>
                        </a:rPr>
                        <a:t>=1</a:t>
                      </a:r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pt-BR" dirty="0" smtClean="0">
                          <a:effectLst/>
                        </a:rPr>
                        <a:t>​∣</a:t>
                      </a:r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lang="pt-BR" dirty="0" smtClean="0">
                          <a:effectLst/>
                        </a:rPr>
                        <a:t>​−</a:t>
                      </a:r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</a:t>
                      </a:r>
                      <a:r>
                        <a:rPr lang="pt-BR" dirty="0" smtClean="0">
                          <a:effectLst/>
                        </a:rPr>
                        <a:t>​∣</a:t>
                      </a:r>
                      <a:r>
                        <a:rPr lang="pt-BR" sz="180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pt-BR" dirty="0" smtClean="0">
                          <a:effectLst/>
                        </a:rPr>
                        <a:t>)</a:t>
                      </a:r>
                      <a:r>
                        <a:rPr lang="pt-BR" sz="1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pt-B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1​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695">
                <a:tc>
                  <a:txBody>
                    <a:bodyPr/>
                    <a:lstStyle/>
                    <a:p>
                      <a:r>
                        <a:rPr lang="en-IN" b="1" dirty="0"/>
                        <a:t>Cosine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( 1 </a:t>
                      </a:r>
                      <a:r>
                        <a:rPr lang="en-IN" dirty="0" smtClean="0"/>
                        <a:t>– {{x . </a:t>
                      </a:r>
                      <a:r>
                        <a:rPr lang="en-IN" dirty="0"/>
                        <a:t>y</a:t>
                      </a:r>
                      <a:r>
                        <a:rPr lang="en-IN" dirty="0" smtClean="0"/>
                        <a:t>}/{|</a:t>
                      </a:r>
                      <a:r>
                        <a:rPr lang="en-IN" dirty="0"/>
                        <a:t>x||y</a:t>
                      </a:r>
                      <a:r>
                        <a:rPr lang="en-IN" dirty="0" smtClean="0"/>
                        <a:t>|}} 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20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6. Formula / Mathematical Representation</a:t>
            </a:r>
          </a:p>
          <a:p>
            <a:pPr lvl="1"/>
            <a:r>
              <a:rPr lang="en-IN" b="1" dirty="0"/>
              <a:t>Classification:</a:t>
            </a:r>
          </a:p>
          <a:p>
            <a:pPr marL="914400" lvl="2" indent="0">
              <a:buNone/>
            </a:pPr>
            <a:r>
              <a:rPr lang="en-IN" dirty="0"/>
              <a:t>y^=mode{y1,y2,...,</a:t>
            </a:r>
            <a:r>
              <a:rPr lang="en-IN" dirty="0" err="1"/>
              <a:t>yK</a:t>
            </a:r>
            <a:r>
              <a:rPr lang="en-IN" dirty="0" smtClean="0"/>
              <a:t>}  </a:t>
            </a:r>
          </a:p>
          <a:p>
            <a:pPr lvl="1"/>
            <a:r>
              <a:rPr lang="en-IN" b="1" dirty="0" smtClean="0"/>
              <a:t>Regression</a:t>
            </a:r>
            <a:r>
              <a:rPr lang="en-IN" b="1" dirty="0"/>
              <a:t>:</a:t>
            </a:r>
          </a:p>
          <a:p>
            <a:pPr marL="914400" lvl="2" indent="0">
              <a:buNone/>
            </a:pPr>
            <a:r>
              <a:rPr lang="en-IN" dirty="0"/>
              <a:t>y^=</a:t>
            </a:r>
            <a:r>
              <a:rPr lang="en-IN" dirty="0" smtClean="0"/>
              <a:t>1/</a:t>
            </a:r>
            <a:r>
              <a:rPr lang="en-IN" dirty="0" err="1" smtClean="0"/>
              <a:t>K∑i</a:t>
            </a:r>
            <a:r>
              <a:rPr lang="en-IN" dirty="0" smtClean="0"/>
              <a:t>=1Kyi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08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7. Technical Details</a:t>
            </a:r>
          </a:p>
          <a:p>
            <a:pPr marL="457200" lvl="1" indent="0">
              <a:buNone/>
            </a:pPr>
            <a:r>
              <a:rPr lang="en-IN" b="1" dirty="0"/>
              <a:t>Learning Type:</a:t>
            </a:r>
          </a:p>
          <a:p>
            <a:pPr lvl="1"/>
            <a:r>
              <a:rPr lang="en-IN" b="1" dirty="0"/>
              <a:t>Lazy Learning</a:t>
            </a:r>
            <a:r>
              <a:rPr lang="en-IN" dirty="0"/>
              <a:t> (no explicit training)</a:t>
            </a:r>
          </a:p>
          <a:p>
            <a:pPr lvl="1"/>
            <a:r>
              <a:rPr lang="en-IN" b="1" dirty="0"/>
              <a:t>Instance-based learning</a:t>
            </a:r>
            <a:endParaRPr lang="en-IN" dirty="0"/>
          </a:p>
          <a:p>
            <a:pPr marL="457200" lvl="1" indent="0">
              <a:buNone/>
            </a:pPr>
            <a:r>
              <a:rPr lang="en-IN" b="1" dirty="0"/>
              <a:t>Complexity:</a:t>
            </a:r>
          </a:p>
          <a:p>
            <a:pPr lvl="1"/>
            <a:r>
              <a:rPr lang="en-IN" dirty="0"/>
              <a:t>Training time → O(1</a:t>
            </a:r>
            <a:r>
              <a:rPr lang="en-IN" dirty="0" smtClean="0"/>
              <a:t>)</a:t>
            </a:r>
            <a:endParaRPr lang="en-IN" dirty="0"/>
          </a:p>
          <a:p>
            <a:pPr lvl="1"/>
            <a:r>
              <a:rPr lang="en-IN" dirty="0"/>
              <a:t>Prediction time → O(</a:t>
            </a:r>
            <a:r>
              <a:rPr lang="en-IN" dirty="0" err="1"/>
              <a:t>n⋅d</a:t>
            </a:r>
            <a:r>
              <a:rPr lang="en-IN" dirty="0" smtClean="0"/>
              <a:t>)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Where:</a:t>
            </a:r>
          </a:p>
          <a:p>
            <a:pPr lvl="1"/>
            <a:r>
              <a:rPr lang="en-IN" dirty="0" smtClean="0"/>
              <a:t>n </a:t>
            </a:r>
            <a:r>
              <a:rPr lang="en-IN" dirty="0"/>
              <a:t>= number of samples</a:t>
            </a:r>
          </a:p>
          <a:p>
            <a:pPr lvl="1"/>
            <a:r>
              <a:rPr lang="en-IN" dirty="0" smtClean="0"/>
              <a:t>d </a:t>
            </a:r>
            <a:r>
              <a:rPr lang="en-IN" dirty="0"/>
              <a:t>= number of features</a:t>
            </a:r>
          </a:p>
        </p:txBody>
      </p:sp>
    </p:spTree>
    <p:extLst>
      <p:ext uri="{BB962C8B-B14F-4D97-AF65-F5344CB8AC3E}">
        <p14:creationId xmlns:p14="http://schemas.microsoft.com/office/powerpoint/2010/main" val="123814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8. Parameters</a:t>
            </a:r>
          </a:p>
          <a:p>
            <a:pPr marL="457200" lvl="1" indent="0">
              <a:buNone/>
            </a:pPr>
            <a:r>
              <a:rPr lang="en-US" b="1" dirty="0"/>
              <a:t>Model Parameters:</a:t>
            </a:r>
          </a:p>
          <a:p>
            <a:pPr lvl="1"/>
            <a:r>
              <a:rPr lang="en-US" dirty="0"/>
              <a:t>Training dataset itself (stored in memory)</a:t>
            </a:r>
          </a:p>
          <a:p>
            <a:pPr marL="457200" lvl="1" indent="0">
              <a:buNone/>
            </a:pPr>
            <a:r>
              <a:rPr lang="en-US" b="1" dirty="0" err="1" smtClean="0"/>
              <a:t>Hyperparameters</a:t>
            </a:r>
            <a:r>
              <a:rPr lang="en-US" b="1" dirty="0" smtClean="0"/>
              <a:t>:</a:t>
            </a:r>
          </a:p>
          <a:p>
            <a:pPr marL="457200" lvl="1" indent="0">
              <a:buNone/>
            </a:pPr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439977"/>
              </p:ext>
            </p:extLst>
          </p:nvPr>
        </p:nvGraphicFramePr>
        <p:xfrm>
          <a:off x="1382972" y="2459094"/>
          <a:ext cx="9658068" cy="3090070"/>
        </p:xfrm>
        <a:graphic>
          <a:graphicData uri="http://schemas.openxmlformats.org/drawingml/2006/table">
            <a:tbl>
              <a:tblPr/>
              <a:tblGrid>
                <a:gridCol w="4829034"/>
                <a:gridCol w="4829034"/>
              </a:tblGrid>
              <a:tr h="618014">
                <a:tc>
                  <a:txBody>
                    <a:bodyPr/>
                    <a:lstStyle/>
                    <a:p>
                      <a:r>
                        <a:rPr lang="en-IN" b="1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014">
                <a:tc>
                  <a:txBody>
                    <a:bodyPr/>
                    <a:lstStyle/>
                    <a:p>
                      <a:r>
                        <a:rPr lang="en-IN" b="1"/>
                        <a:t>n_neighbors (K)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Number of neighbors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014">
                <a:tc>
                  <a:txBody>
                    <a:bodyPr/>
                    <a:lstStyle/>
                    <a:p>
                      <a:r>
                        <a:rPr lang="en-IN" b="1"/>
                        <a:t>distance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Euclidean, Manhattan,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014">
                <a:tc>
                  <a:txBody>
                    <a:bodyPr/>
                    <a:lstStyle/>
                    <a:p>
                      <a:r>
                        <a:rPr lang="en-IN" b="1"/>
                        <a:t>weights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Uniform / distance-based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014">
                <a:tc>
                  <a:txBody>
                    <a:bodyPr/>
                    <a:lstStyle/>
                    <a:p>
                      <a:r>
                        <a:rPr lang="en-IN" b="1" dirty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brute, </a:t>
                      </a:r>
                      <a:r>
                        <a:rPr lang="en-IN" dirty="0" err="1"/>
                        <a:t>kd</a:t>
                      </a:r>
                      <a:r>
                        <a:rPr lang="en-IN" dirty="0"/>
                        <a:t>-tree, ball-tree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77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641445"/>
            <a:ext cx="9493155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9. Assumptions</a:t>
            </a:r>
          </a:p>
          <a:p>
            <a:pPr lvl="1"/>
            <a:r>
              <a:rPr lang="en-US" dirty="0"/>
              <a:t>Similar points have similar outputs</a:t>
            </a:r>
          </a:p>
          <a:p>
            <a:pPr lvl="1"/>
            <a:r>
              <a:rPr lang="en-US" dirty="0"/>
              <a:t>Distance metric captures similarity correctly</a:t>
            </a:r>
          </a:p>
          <a:p>
            <a:pPr lvl="1"/>
            <a:r>
              <a:rPr lang="en-US" dirty="0"/>
              <a:t>Features are properly scaled</a:t>
            </a:r>
          </a:p>
        </p:txBody>
      </p:sp>
    </p:spTree>
    <p:extLst>
      <p:ext uri="{BB962C8B-B14F-4D97-AF65-F5344CB8AC3E}">
        <p14:creationId xmlns:p14="http://schemas.microsoft.com/office/powerpoint/2010/main" val="159213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40701170624/Random-Forest-Algorith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https://media.geeksforgeeks.org/wp-content/uploads/20251216121929631349/random_forest_algorithm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002" y="993800"/>
            <a:ext cx="9744502" cy="484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10. Pros</a:t>
            </a:r>
          </a:p>
          <a:p>
            <a:pPr lvl="1"/>
            <a:r>
              <a:rPr lang="en-US" sz="3600" dirty="0"/>
              <a:t>Simple to understand</a:t>
            </a:r>
          </a:p>
          <a:p>
            <a:pPr lvl="1"/>
            <a:r>
              <a:rPr lang="en-US" sz="3600" dirty="0"/>
              <a:t>No training required</a:t>
            </a:r>
          </a:p>
          <a:p>
            <a:pPr lvl="1"/>
            <a:r>
              <a:rPr lang="en-US" sz="3600" dirty="0"/>
              <a:t>Flexible decision boundaries</a:t>
            </a:r>
          </a:p>
          <a:p>
            <a:pPr lvl="1"/>
            <a:r>
              <a:rPr lang="en-US" sz="3600" dirty="0"/>
              <a:t>Adapts easily to multi-class problems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11. Cons</a:t>
            </a:r>
          </a:p>
          <a:p>
            <a:pPr lvl="1"/>
            <a:r>
              <a:rPr lang="en-US" sz="3600" dirty="0"/>
              <a:t>Computationally expensive at inference</a:t>
            </a:r>
          </a:p>
          <a:p>
            <a:pPr lvl="1"/>
            <a:r>
              <a:rPr lang="en-US" sz="3600" dirty="0"/>
              <a:t>Sensitive to feature scaling</a:t>
            </a:r>
          </a:p>
          <a:p>
            <a:pPr lvl="1"/>
            <a:r>
              <a:rPr lang="en-US" sz="3600" dirty="0"/>
              <a:t>Poor performance with high-dimensional data</a:t>
            </a:r>
          </a:p>
          <a:p>
            <a:pPr lvl="1"/>
            <a:r>
              <a:rPr lang="en-US" sz="3600" dirty="0"/>
              <a:t>Requires large memory</a:t>
            </a:r>
          </a:p>
          <a:p>
            <a:pPr lvl="1"/>
            <a:r>
              <a:rPr lang="en-US" sz="3600" dirty="0"/>
              <a:t>Sensitive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/>
              <a:t>12. KNN vs Other Models</a:t>
            </a:r>
            <a:endParaRPr lang="en-IN" sz="4000" b="1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342252"/>
              </p:ext>
            </p:extLst>
          </p:nvPr>
        </p:nvGraphicFramePr>
        <p:xfrm>
          <a:off x="946242" y="1624082"/>
          <a:ext cx="10407558" cy="4237630"/>
        </p:xfrm>
        <a:graphic>
          <a:graphicData uri="http://schemas.openxmlformats.org/drawingml/2006/table">
            <a:tbl>
              <a:tblPr/>
              <a:tblGrid>
                <a:gridCol w="5203779"/>
                <a:gridCol w="5203779"/>
              </a:tblGrid>
              <a:tr h="847526">
                <a:tc>
                  <a:txBody>
                    <a:bodyPr/>
                    <a:lstStyle/>
                    <a:p>
                      <a:r>
                        <a:rPr lang="en-IN" b="1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Key 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526">
                <a:tc>
                  <a:txBody>
                    <a:bodyPr/>
                    <a:lstStyle/>
                    <a:p>
                      <a:r>
                        <a:rPr lang="en-IN" b="1"/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KNN is non-parametric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526">
                <a:tc>
                  <a:txBody>
                    <a:bodyPr/>
                    <a:lstStyle/>
                    <a:p>
                      <a:r>
                        <a:rPr lang="en-IN" b="1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KNN uses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526">
                <a:tc>
                  <a:txBody>
                    <a:bodyPr/>
                    <a:lstStyle/>
                    <a:p>
                      <a:r>
                        <a:rPr lang="en-IN" b="1"/>
                        <a:t>SVM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KNN has no margin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7526">
                <a:tc>
                  <a:txBody>
                    <a:bodyPr/>
                    <a:lstStyle/>
                    <a:p>
                      <a:r>
                        <a:rPr lang="en-IN" b="1" dirty="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KNN has no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684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13. Real-World Applications</a:t>
            </a:r>
          </a:p>
          <a:p>
            <a:pPr marL="457200" lvl="1" indent="0">
              <a:buNone/>
            </a:pPr>
            <a:r>
              <a:rPr lang="en-IN" b="1" dirty="0"/>
              <a:t>Recommendation Systems:</a:t>
            </a:r>
          </a:p>
          <a:p>
            <a:pPr lvl="1"/>
            <a:r>
              <a:rPr lang="en-IN" dirty="0"/>
              <a:t>Movie &amp; product recommendations</a:t>
            </a:r>
          </a:p>
          <a:p>
            <a:pPr marL="457200" lvl="1" indent="0">
              <a:buNone/>
            </a:pPr>
            <a:r>
              <a:rPr lang="en-IN" b="1" dirty="0"/>
              <a:t>Healthcare:</a:t>
            </a:r>
          </a:p>
          <a:p>
            <a:pPr lvl="1"/>
            <a:r>
              <a:rPr lang="en-IN" dirty="0"/>
              <a:t>Disease classification</a:t>
            </a:r>
          </a:p>
          <a:p>
            <a:pPr lvl="1"/>
            <a:r>
              <a:rPr lang="en-IN" dirty="0"/>
              <a:t>Medical image analysis</a:t>
            </a:r>
          </a:p>
          <a:p>
            <a:pPr marL="457200" lvl="1" indent="0">
              <a:buNone/>
            </a:pPr>
            <a:r>
              <a:rPr lang="en-IN" b="1" dirty="0"/>
              <a:t>Finance:</a:t>
            </a:r>
          </a:p>
          <a:p>
            <a:pPr lvl="1"/>
            <a:r>
              <a:rPr lang="en-IN" dirty="0"/>
              <a:t>Credit risk assessment</a:t>
            </a:r>
          </a:p>
          <a:p>
            <a:pPr marL="457200" lvl="1" indent="0">
              <a:buNone/>
            </a:pPr>
            <a:r>
              <a:rPr lang="en-IN" b="1" dirty="0"/>
              <a:t>Computer Vision:</a:t>
            </a:r>
          </a:p>
          <a:p>
            <a:pPr lvl="1"/>
            <a:r>
              <a:rPr lang="en-IN" dirty="0"/>
              <a:t>Image similarity</a:t>
            </a:r>
          </a:p>
          <a:p>
            <a:pPr lvl="1"/>
            <a:r>
              <a:rPr lang="en-IN" dirty="0"/>
              <a:t>Face recognition</a:t>
            </a:r>
          </a:p>
          <a:p>
            <a:pPr marL="457200" lvl="1" indent="0">
              <a:buNone/>
            </a:pPr>
            <a:r>
              <a:rPr lang="en-IN" b="1" dirty="0"/>
              <a:t>Anomaly Detection:</a:t>
            </a:r>
          </a:p>
          <a:p>
            <a:pPr lvl="1"/>
            <a:r>
              <a:rPr lang="en-IN" dirty="0"/>
              <a:t>Outlier detection</a:t>
            </a:r>
          </a:p>
        </p:txBody>
      </p:sp>
    </p:spTree>
    <p:extLst>
      <p:ext uri="{BB962C8B-B14F-4D97-AF65-F5344CB8AC3E}">
        <p14:creationId xmlns:p14="http://schemas.microsoft.com/office/powerpoint/2010/main" val="93795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14. Best Practices</a:t>
            </a:r>
          </a:p>
          <a:p>
            <a:pPr lvl="1"/>
            <a:r>
              <a:rPr lang="en-US" dirty="0"/>
              <a:t>Always </a:t>
            </a:r>
            <a:r>
              <a:rPr lang="en-US" b="1" dirty="0"/>
              <a:t>scale features</a:t>
            </a:r>
            <a:endParaRPr lang="en-US" dirty="0"/>
          </a:p>
          <a:p>
            <a:pPr lvl="1"/>
            <a:r>
              <a:rPr lang="en-US" dirty="0"/>
              <a:t>Choose </a:t>
            </a:r>
            <a:r>
              <a:rPr lang="en-US" b="1" dirty="0"/>
              <a:t>odd K</a:t>
            </a:r>
            <a:r>
              <a:rPr lang="en-US" dirty="0"/>
              <a:t> for binary classification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cross-validation</a:t>
            </a:r>
            <a:r>
              <a:rPr lang="en-US" dirty="0"/>
              <a:t> to find K</a:t>
            </a:r>
          </a:p>
          <a:p>
            <a:pPr lvl="1"/>
            <a:r>
              <a:rPr lang="en-US" dirty="0"/>
              <a:t>Use distance-weighted voting</a:t>
            </a:r>
          </a:p>
        </p:txBody>
      </p:sp>
    </p:spTree>
    <p:extLst>
      <p:ext uri="{BB962C8B-B14F-4D97-AF65-F5344CB8AC3E}">
        <p14:creationId xmlns:p14="http://schemas.microsoft.com/office/powerpoint/2010/main" val="864135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Summary</a:t>
            </a:r>
          </a:p>
          <a:p>
            <a:pPr lvl="1"/>
            <a:r>
              <a:rPr lang="en-US" sz="3200" dirty="0"/>
              <a:t>KNN is a </a:t>
            </a:r>
            <a:r>
              <a:rPr lang="en-US" sz="3200" b="1" dirty="0"/>
              <a:t>simple, distance-based algorithm</a:t>
            </a:r>
            <a:r>
              <a:rPr lang="en-US" sz="3200" dirty="0"/>
              <a:t> that predicts outputs by looking at the </a:t>
            </a:r>
            <a:r>
              <a:rPr lang="en-US" sz="3200" b="1" dirty="0"/>
              <a:t>closest data points</a:t>
            </a:r>
            <a:r>
              <a:rPr lang="en-US" sz="3200" dirty="0"/>
              <a:t>, trading training simplicity for inference cost.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4585</TotalTime>
  <Words>465</Words>
  <Application>Microsoft Office PowerPoint</Application>
  <PresentationFormat>Widescreen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K-NEAREST NEIGHBORS (KNN)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57</cp:revision>
  <dcterms:created xsi:type="dcterms:W3CDTF">2026-02-13T06:25:49Z</dcterms:created>
  <dcterms:modified xsi:type="dcterms:W3CDTF">2026-02-20T09:49:21Z</dcterms:modified>
</cp:coreProperties>
</file>