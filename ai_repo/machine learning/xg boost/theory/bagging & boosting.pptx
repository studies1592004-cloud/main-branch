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7" r:id="rId3"/>
    <p:sldId id="369" r:id="rId4"/>
    <p:sldId id="368" r:id="rId5"/>
    <p:sldId id="390" r:id="rId6"/>
    <p:sldId id="389" r:id="rId7"/>
    <p:sldId id="385" r:id="rId8"/>
    <p:sldId id="386" r:id="rId9"/>
    <p:sldId id="377" r:id="rId10"/>
    <p:sldId id="373" r:id="rId11"/>
    <p:sldId id="374" r:id="rId12"/>
    <p:sldId id="383" r:id="rId13"/>
    <p:sldId id="376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424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7" r:id="rId32"/>
    <p:sldId id="408" r:id="rId33"/>
    <p:sldId id="425" r:id="rId34"/>
    <p:sldId id="409" r:id="rId35"/>
    <p:sldId id="410" r:id="rId36"/>
    <p:sldId id="411" r:id="rId37"/>
    <p:sldId id="412" r:id="rId38"/>
    <p:sldId id="413" r:id="rId39"/>
    <p:sldId id="414" r:id="rId40"/>
    <p:sldId id="415" r:id="rId41"/>
    <p:sldId id="416" r:id="rId42"/>
    <p:sldId id="417" r:id="rId43"/>
    <p:sldId id="418" r:id="rId44"/>
    <p:sldId id="419" r:id="rId45"/>
    <p:sldId id="426" r:id="rId46"/>
    <p:sldId id="420" r:id="rId47"/>
    <p:sldId id="421" r:id="rId48"/>
    <p:sldId id="422" r:id="rId49"/>
    <p:sldId id="423" r:id="rId50"/>
    <p:sldId id="427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9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3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7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3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2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2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3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70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3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4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BAGGING &amp; BOOSTING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7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b="1" dirty="0"/>
              <a:t> </a:t>
            </a:r>
            <a:r>
              <a:rPr lang="en-US" sz="4000" b="1" dirty="0" smtClean="0"/>
              <a:t>BAGGING </a:t>
            </a:r>
            <a:r>
              <a:rPr lang="en-US" sz="4000" b="1" dirty="0"/>
              <a:t>(Bootstrap Aggregation)</a:t>
            </a:r>
          </a:p>
          <a:p>
            <a:pPr marL="0" indent="0">
              <a:buNone/>
            </a:pPr>
            <a:endParaRPr lang="en-US" sz="4000" b="1" dirty="0" smtClean="0"/>
          </a:p>
          <a:p>
            <a:pPr marL="0" indent="0">
              <a:buNone/>
            </a:pPr>
            <a:r>
              <a:rPr lang="en-US" sz="4000" b="1" dirty="0" smtClean="0"/>
              <a:t>1. What </a:t>
            </a:r>
            <a:r>
              <a:rPr lang="en-US" sz="4000" b="1" dirty="0"/>
              <a:t>is Bagging</a:t>
            </a:r>
          </a:p>
          <a:p>
            <a:pPr lvl="1"/>
            <a:r>
              <a:rPr lang="en-US" sz="3600" dirty="0"/>
              <a:t>Bagging is an </a:t>
            </a:r>
            <a:r>
              <a:rPr lang="en-US" sz="3600" b="1" dirty="0"/>
              <a:t>ensemble learning technique</a:t>
            </a:r>
            <a:r>
              <a:rPr lang="en-US" sz="3600" dirty="0"/>
              <a:t> that trains </a:t>
            </a:r>
            <a:r>
              <a:rPr lang="en-US" sz="3600" b="1" dirty="0"/>
              <a:t>multiple models independently</a:t>
            </a:r>
            <a:r>
              <a:rPr lang="en-US" sz="3600" dirty="0"/>
              <a:t> on </a:t>
            </a:r>
            <a:r>
              <a:rPr lang="en-US" sz="3600" b="1" dirty="0"/>
              <a:t>different bootstrap samples</a:t>
            </a:r>
            <a:r>
              <a:rPr lang="en-US" sz="3600" dirty="0"/>
              <a:t> and combines their predictions to improve stability and accuracy.</a:t>
            </a:r>
          </a:p>
        </p:txBody>
      </p:sp>
    </p:spTree>
    <p:extLst>
      <p:ext uri="{BB962C8B-B14F-4D97-AF65-F5344CB8AC3E}">
        <p14:creationId xmlns:p14="http://schemas.microsoft.com/office/powerpoint/2010/main" val="38397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2. Purpose</a:t>
            </a:r>
          </a:p>
          <a:p>
            <a:pPr lvl="1"/>
            <a:r>
              <a:rPr lang="en-US" sz="3600" b="1" dirty="0"/>
              <a:t>To reduce variance and overfitting</a:t>
            </a:r>
            <a:r>
              <a:rPr lang="en-US" sz="3600" dirty="0"/>
              <a:t> in high-variance models (especially Decision Trees).</a:t>
            </a:r>
          </a:p>
        </p:txBody>
      </p:sp>
    </p:spTree>
    <p:extLst>
      <p:ext uri="{BB962C8B-B14F-4D97-AF65-F5344CB8AC3E}">
        <p14:creationId xmlns:p14="http://schemas.microsoft.com/office/powerpoint/2010/main" val="7521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3. Why it is Used</a:t>
            </a:r>
          </a:p>
          <a:p>
            <a:pPr lvl="1"/>
            <a:r>
              <a:rPr lang="en-US" sz="3600" dirty="0"/>
              <a:t>Stabilizes unstable models</a:t>
            </a:r>
          </a:p>
          <a:p>
            <a:pPr lvl="1"/>
            <a:r>
              <a:rPr lang="en-US" sz="3600" dirty="0"/>
              <a:t>Reduces overfitting</a:t>
            </a:r>
          </a:p>
          <a:p>
            <a:pPr lvl="1"/>
            <a:r>
              <a:rPr lang="en-US" sz="3600" dirty="0"/>
              <a:t>Improves generalization</a:t>
            </a:r>
          </a:p>
          <a:p>
            <a:pPr lvl="1"/>
            <a:r>
              <a:rPr lang="en-US" sz="3600" dirty="0"/>
              <a:t>Parallelizable</a:t>
            </a:r>
          </a:p>
        </p:txBody>
      </p:sp>
    </p:spTree>
    <p:extLst>
      <p:ext uri="{BB962C8B-B14F-4D97-AF65-F5344CB8AC3E}">
        <p14:creationId xmlns:p14="http://schemas.microsoft.com/office/powerpoint/2010/main" val="426510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4. </a:t>
            </a:r>
            <a:r>
              <a:rPr lang="en-IN" sz="3600" b="1" dirty="0"/>
              <a:t>How Bagging Works (Algorithm)</a:t>
            </a:r>
          </a:p>
          <a:p>
            <a:pPr lvl="1"/>
            <a:r>
              <a:rPr lang="en-IN" sz="3200" dirty="0"/>
              <a:t>Create multiple </a:t>
            </a:r>
            <a:r>
              <a:rPr lang="en-IN" sz="3200" b="1" dirty="0"/>
              <a:t>bootstrap samples</a:t>
            </a:r>
            <a:r>
              <a:rPr lang="en-IN" sz="3200" dirty="0"/>
              <a:t> (sampling with replacement)</a:t>
            </a:r>
          </a:p>
          <a:p>
            <a:pPr lvl="1"/>
            <a:r>
              <a:rPr lang="en-IN" sz="3200" dirty="0"/>
              <a:t>Train a </a:t>
            </a:r>
            <a:r>
              <a:rPr lang="en-IN" sz="3200" b="1" dirty="0"/>
              <a:t>base learner</a:t>
            </a:r>
            <a:r>
              <a:rPr lang="en-IN" sz="3200" dirty="0"/>
              <a:t> on each sample</a:t>
            </a:r>
          </a:p>
          <a:p>
            <a:pPr lvl="1"/>
            <a:r>
              <a:rPr lang="en-IN" sz="3200" dirty="0"/>
              <a:t>Make predictions independently</a:t>
            </a:r>
          </a:p>
          <a:p>
            <a:pPr lvl="1"/>
            <a:r>
              <a:rPr lang="en-IN" sz="3200" dirty="0"/>
              <a:t>Aggregate results:</a:t>
            </a:r>
          </a:p>
          <a:p>
            <a:pPr lvl="2"/>
            <a:r>
              <a:rPr lang="en-IN" sz="2800" dirty="0"/>
              <a:t>Classification → majority vote</a:t>
            </a:r>
          </a:p>
          <a:p>
            <a:pPr lvl="2"/>
            <a:r>
              <a:rPr lang="en-IN" sz="2800" dirty="0"/>
              <a:t>Regression → mean</a:t>
            </a:r>
          </a:p>
        </p:txBody>
      </p:sp>
    </p:spTree>
    <p:extLst>
      <p:ext uri="{BB962C8B-B14F-4D97-AF65-F5344CB8AC3E}">
        <p14:creationId xmlns:p14="http://schemas.microsoft.com/office/powerpoint/2010/main" val="1808076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5</a:t>
            </a:r>
            <a:r>
              <a:rPr lang="en-US" sz="3600" b="1" dirty="0" smtClean="0"/>
              <a:t>. </a:t>
            </a:r>
            <a:r>
              <a:rPr lang="en-IN" sz="3600" b="1" dirty="0"/>
              <a:t>Formula</a:t>
            </a:r>
          </a:p>
          <a:p>
            <a:pPr marL="457200" lvl="1" indent="0">
              <a:buNone/>
            </a:pPr>
            <a:r>
              <a:rPr lang="en-IN" sz="3200" b="1" dirty="0"/>
              <a:t>Classification:</a:t>
            </a:r>
          </a:p>
          <a:p>
            <a:pPr lvl="1"/>
            <a:r>
              <a:rPr lang="en-IN" sz="3200" dirty="0"/>
              <a:t>y^=mode(h1(x),h2(x),...,</a:t>
            </a:r>
            <a:r>
              <a:rPr lang="en-IN" sz="3200" dirty="0" err="1"/>
              <a:t>hn</a:t>
            </a:r>
            <a:r>
              <a:rPr lang="en-IN" sz="3200" dirty="0"/>
              <a:t>(x</a:t>
            </a:r>
            <a:r>
              <a:rPr lang="en-IN" sz="3200" dirty="0" smtClean="0"/>
              <a:t>))</a:t>
            </a:r>
          </a:p>
          <a:p>
            <a:pPr marL="457200" lvl="1" indent="0">
              <a:buNone/>
            </a:pPr>
            <a:r>
              <a:rPr lang="en-IN" sz="3200" b="1" dirty="0" smtClean="0"/>
              <a:t>Regression</a:t>
            </a:r>
            <a:r>
              <a:rPr lang="en-IN" sz="3200" b="1" dirty="0"/>
              <a:t>:</a:t>
            </a:r>
          </a:p>
          <a:p>
            <a:pPr lvl="1"/>
            <a:r>
              <a:rPr lang="en-IN" sz="3200" dirty="0"/>
              <a:t>y^=</a:t>
            </a:r>
            <a:r>
              <a:rPr lang="en-IN" sz="3200" dirty="0" smtClean="0"/>
              <a:t>1/</a:t>
            </a:r>
            <a:r>
              <a:rPr lang="en-IN" sz="3200" dirty="0" err="1" smtClean="0"/>
              <a:t>n</a:t>
            </a:r>
            <a:r>
              <a:rPr lang="en-IN" sz="3200" dirty="0" err="1"/>
              <a:t>∑</a:t>
            </a:r>
            <a:r>
              <a:rPr lang="en-IN" sz="3200" dirty="0" err="1" smtClean="0"/>
              <a:t>hi</a:t>
            </a:r>
            <a:r>
              <a:rPr lang="en-IN" sz="3200" dirty="0" smtClean="0"/>
              <a:t>(x)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250895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dirty="0"/>
              <a:t>6. Technical Details</a:t>
            </a:r>
          </a:p>
          <a:p>
            <a:pPr lvl="1"/>
            <a:r>
              <a:rPr lang="en-IN" sz="3200" dirty="0"/>
              <a:t>Ensemble type: </a:t>
            </a:r>
            <a:r>
              <a:rPr lang="en-IN" sz="3200" b="1" dirty="0"/>
              <a:t>Parallel</a:t>
            </a:r>
            <a:endParaRPr lang="en-IN" sz="3200" dirty="0"/>
          </a:p>
          <a:p>
            <a:pPr lvl="1"/>
            <a:r>
              <a:rPr lang="en-IN" sz="3200" dirty="0"/>
              <a:t>Reduces </a:t>
            </a:r>
            <a:r>
              <a:rPr lang="en-IN" sz="3200" b="1" dirty="0"/>
              <a:t>variance</a:t>
            </a:r>
            <a:r>
              <a:rPr lang="en-IN" sz="3200" dirty="0"/>
              <a:t>, not bias</a:t>
            </a:r>
          </a:p>
          <a:p>
            <a:pPr lvl="1"/>
            <a:r>
              <a:rPr lang="en-IN" sz="3200" dirty="0"/>
              <a:t>Base models are </a:t>
            </a:r>
            <a:r>
              <a:rPr lang="en-IN" sz="3200" b="1" dirty="0"/>
              <a:t>independent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7308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dirty="0"/>
              <a:t>7. </a:t>
            </a:r>
            <a:r>
              <a:rPr lang="en-US" sz="3600" b="1" dirty="0"/>
              <a:t>Parameters</a:t>
            </a:r>
          </a:p>
          <a:p>
            <a:pPr lvl="1"/>
            <a:r>
              <a:rPr lang="en-US" sz="3200" dirty="0"/>
              <a:t>Number of estimators</a:t>
            </a:r>
          </a:p>
          <a:p>
            <a:pPr lvl="1"/>
            <a:r>
              <a:rPr lang="en-US" sz="3200" dirty="0"/>
              <a:t>Base estimator type</a:t>
            </a:r>
          </a:p>
          <a:p>
            <a:pPr lvl="1"/>
            <a:r>
              <a:rPr lang="en-US" sz="3200" dirty="0"/>
              <a:t>Bootstrap size</a:t>
            </a:r>
          </a:p>
        </p:txBody>
      </p:sp>
    </p:spTree>
    <p:extLst>
      <p:ext uri="{BB962C8B-B14F-4D97-AF65-F5344CB8AC3E}">
        <p14:creationId xmlns:p14="http://schemas.microsoft.com/office/powerpoint/2010/main" val="123814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media.geeksforgeeks.org/wp-content/uploads/20240701170624/Random-Forest-Algorith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https://media.geeksforgeeks.org/wp-content/uploads/20251216121929631349/random_forest_algorithm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6" name="Picture 2" descr="https://media.geeksforgeeks.org/wp-content/uploads/20230731175958/Bagging-classifi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387" y="586854"/>
            <a:ext cx="9726641" cy="560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192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8</a:t>
            </a:r>
            <a:r>
              <a:rPr lang="en-US" sz="4000" b="1" dirty="0" smtClean="0"/>
              <a:t>. </a:t>
            </a:r>
            <a:r>
              <a:rPr lang="en-US" sz="4000" b="1" dirty="0"/>
              <a:t>Pros</a:t>
            </a:r>
          </a:p>
          <a:p>
            <a:pPr lvl="1"/>
            <a:r>
              <a:rPr lang="en-US" sz="3600" dirty="0"/>
              <a:t>Reduces overfitting</a:t>
            </a:r>
          </a:p>
          <a:p>
            <a:pPr lvl="1"/>
            <a:r>
              <a:rPr lang="en-US" sz="3600" dirty="0"/>
              <a:t>Simple and effective</a:t>
            </a:r>
          </a:p>
          <a:p>
            <a:pPr lvl="1"/>
            <a:r>
              <a:rPr lang="en-US" sz="3600" dirty="0"/>
              <a:t>Parallel execution</a:t>
            </a:r>
          </a:p>
        </p:txBody>
      </p:sp>
    </p:spTree>
    <p:extLst>
      <p:ext uri="{BB962C8B-B14F-4D97-AF65-F5344CB8AC3E}">
        <p14:creationId xmlns:p14="http://schemas.microsoft.com/office/powerpoint/2010/main" val="1563962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9</a:t>
            </a:r>
            <a:r>
              <a:rPr lang="en-US" sz="4000" b="1" dirty="0" smtClean="0"/>
              <a:t>. </a:t>
            </a:r>
            <a:r>
              <a:rPr lang="en-US" sz="4000" b="1" dirty="0"/>
              <a:t>Cons</a:t>
            </a:r>
          </a:p>
          <a:p>
            <a:pPr lvl="1"/>
            <a:r>
              <a:rPr lang="en-US" sz="3600" dirty="0"/>
              <a:t>No bias reduction</a:t>
            </a:r>
          </a:p>
          <a:p>
            <a:pPr lvl="1"/>
            <a:r>
              <a:rPr lang="en-US" sz="3600" dirty="0"/>
              <a:t>Less interpretable</a:t>
            </a:r>
          </a:p>
          <a:p>
            <a:pPr lvl="1"/>
            <a:r>
              <a:rPr lang="en-US" sz="3600" dirty="0"/>
              <a:t>Higher computation</a:t>
            </a:r>
          </a:p>
        </p:txBody>
      </p:sp>
    </p:spTree>
    <p:extLst>
      <p:ext uri="{BB962C8B-B14F-4D97-AF65-F5344CB8AC3E}">
        <p14:creationId xmlns:p14="http://schemas.microsoft.com/office/powerpoint/2010/main" val="41499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10. </a:t>
            </a:r>
            <a:r>
              <a:rPr lang="en-US" sz="4000" b="1" dirty="0"/>
              <a:t>Real-World Applications</a:t>
            </a:r>
          </a:p>
          <a:p>
            <a:pPr lvl="1"/>
            <a:r>
              <a:rPr lang="en-US" sz="3600" dirty="0"/>
              <a:t>Financial risk models</a:t>
            </a:r>
          </a:p>
          <a:p>
            <a:pPr lvl="1"/>
            <a:r>
              <a:rPr lang="en-US" sz="3600" dirty="0"/>
              <a:t>Medical prediction systems</a:t>
            </a:r>
          </a:p>
          <a:p>
            <a:pPr lvl="1"/>
            <a:r>
              <a:rPr lang="en-US" sz="3600" dirty="0"/>
              <a:t>Baseline ensemble </a:t>
            </a:r>
            <a:r>
              <a:rPr lang="en-US" sz="3200" dirty="0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3844668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Summary</a:t>
            </a:r>
          </a:p>
          <a:p>
            <a:pPr lvl="1"/>
            <a:r>
              <a:rPr lang="en-US" sz="3600" dirty="0"/>
              <a:t>Bagging reduces </a:t>
            </a:r>
            <a:r>
              <a:rPr lang="en-US" sz="3600" b="1" dirty="0"/>
              <a:t>variance</a:t>
            </a:r>
            <a:r>
              <a:rPr lang="en-US" sz="3600" dirty="0"/>
              <a:t> by training models </a:t>
            </a:r>
            <a:r>
              <a:rPr lang="en-US" sz="3600" b="1" dirty="0"/>
              <a:t>independently</a:t>
            </a:r>
            <a:r>
              <a:rPr lang="en-US" sz="3600" dirty="0"/>
              <a:t> on bootstrapped data.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761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b="1" dirty="0" smtClean="0"/>
              <a:t> GRADIENT BOOSTING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 smtClean="0"/>
              <a:t>1. What </a:t>
            </a:r>
            <a:r>
              <a:rPr lang="en-US" sz="4000" b="1" dirty="0"/>
              <a:t>is Gradient Boosting</a:t>
            </a:r>
          </a:p>
          <a:p>
            <a:pPr lvl="1"/>
            <a:r>
              <a:rPr lang="en-US" sz="3600" dirty="0"/>
              <a:t>Gradient Boosting is a </a:t>
            </a:r>
            <a:r>
              <a:rPr lang="en-US" sz="3600" b="1" dirty="0"/>
              <a:t>sequential ensemble technique</a:t>
            </a:r>
            <a:r>
              <a:rPr lang="en-US" sz="3600" dirty="0"/>
              <a:t> where each new model </a:t>
            </a:r>
            <a:r>
              <a:rPr lang="en-US" sz="3600" b="1" dirty="0"/>
              <a:t>corrects the errors</a:t>
            </a:r>
            <a:r>
              <a:rPr lang="en-US" sz="3600" dirty="0"/>
              <a:t> of the previous models using </a:t>
            </a:r>
            <a:r>
              <a:rPr lang="en-US" sz="3600" b="1" dirty="0"/>
              <a:t>gradient descent</a:t>
            </a:r>
            <a:r>
              <a:rPr lang="en-US" sz="3600" dirty="0"/>
              <a:t>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066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2. Purpose</a:t>
            </a:r>
            <a:endParaRPr lang="en-US" sz="4000" b="1" dirty="0"/>
          </a:p>
          <a:p>
            <a:pPr lvl="1"/>
            <a:r>
              <a:rPr lang="en-US" sz="3600" b="1" dirty="0"/>
              <a:t>To reduce bias and build strong predictive models</a:t>
            </a:r>
            <a:r>
              <a:rPr lang="en-US" sz="3600" dirty="0"/>
              <a:t> from weak learners.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085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3. Why </a:t>
            </a:r>
            <a:r>
              <a:rPr lang="en-US" sz="4000" b="1" dirty="0"/>
              <a:t>it is Used</a:t>
            </a:r>
          </a:p>
          <a:p>
            <a:pPr lvl="1"/>
            <a:r>
              <a:rPr lang="en-US" sz="3600" dirty="0"/>
              <a:t>Handles complex non-linear patterns</a:t>
            </a:r>
          </a:p>
          <a:p>
            <a:pPr lvl="1"/>
            <a:r>
              <a:rPr lang="en-US" sz="3600" dirty="0"/>
              <a:t>High predictive accuracy</a:t>
            </a:r>
          </a:p>
          <a:p>
            <a:pPr lvl="1"/>
            <a:r>
              <a:rPr lang="en-US" sz="3600" dirty="0"/>
              <a:t>Flexible loss functions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799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4. How </a:t>
            </a:r>
            <a:r>
              <a:rPr lang="en-US" sz="4000" b="1" dirty="0"/>
              <a:t>Gradient Boosting Works (Algorithm)</a:t>
            </a:r>
          </a:p>
          <a:p>
            <a:pPr lvl="1"/>
            <a:r>
              <a:rPr lang="en-US" sz="3600" dirty="0"/>
              <a:t>Start with a simple model (initial prediction)</a:t>
            </a:r>
          </a:p>
          <a:p>
            <a:pPr lvl="1"/>
            <a:r>
              <a:rPr lang="en-US" sz="3600" dirty="0"/>
              <a:t>Compute </a:t>
            </a:r>
            <a:r>
              <a:rPr lang="en-US" sz="3600" b="1" dirty="0"/>
              <a:t>residual errors</a:t>
            </a:r>
            <a:endParaRPr lang="en-US" sz="3600" dirty="0"/>
          </a:p>
          <a:p>
            <a:pPr lvl="1"/>
            <a:r>
              <a:rPr lang="en-US" sz="3600" dirty="0"/>
              <a:t>Train next model on residuals</a:t>
            </a:r>
          </a:p>
          <a:p>
            <a:pPr lvl="1"/>
            <a:r>
              <a:rPr lang="en-US" sz="3600" dirty="0"/>
              <a:t>Add model to ensemble with learning rate</a:t>
            </a:r>
          </a:p>
          <a:p>
            <a:pPr lvl="1"/>
            <a:r>
              <a:rPr lang="en-US" sz="3600" dirty="0"/>
              <a:t>Repeat sequentially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24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5. Formula</a:t>
            </a:r>
            <a:endParaRPr lang="en-IN" sz="4000" b="1" dirty="0"/>
          </a:p>
          <a:p>
            <a:pPr lvl="1"/>
            <a:r>
              <a:rPr lang="en-IN" sz="3600" dirty="0" err="1"/>
              <a:t>Fm</a:t>
            </a:r>
            <a:r>
              <a:rPr lang="en-IN" sz="3600" dirty="0"/>
              <a:t>(x)=Fm−1(x)+</a:t>
            </a:r>
            <a:r>
              <a:rPr lang="el-GR" sz="3600" dirty="0"/>
              <a:t>η⋅</a:t>
            </a:r>
            <a:r>
              <a:rPr lang="en-IN" sz="3600" dirty="0" err="1"/>
              <a:t>hm</a:t>
            </a:r>
            <a:r>
              <a:rPr lang="en-IN" sz="3600" dirty="0"/>
              <a:t>(x</a:t>
            </a:r>
            <a:r>
              <a:rPr lang="en-IN" sz="3600" dirty="0" smtClean="0"/>
              <a:t>)</a:t>
            </a:r>
          </a:p>
          <a:p>
            <a:pPr marL="457200" lvl="1" indent="0">
              <a:buNone/>
            </a:pPr>
            <a:r>
              <a:rPr lang="en-IN" sz="3600" dirty="0" smtClean="0"/>
              <a:t>Where</a:t>
            </a:r>
            <a:r>
              <a:rPr lang="en-IN" sz="3600" dirty="0"/>
              <a:t>:</a:t>
            </a:r>
          </a:p>
          <a:p>
            <a:pPr lvl="1"/>
            <a:r>
              <a:rPr lang="el-GR" sz="3600" dirty="0" smtClean="0"/>
              <a:t>η= </a:t>
            </a:r>
            <a:r>
              <a:rPr lang="en-IN" sz="3600" dirty="0"/>
              <a:t>learning rate</a:t>
            </a:r>
          </a:p>
          <a:p>
            <a:pPr lvl="1"/>
            <a:r>
              <a:rPr lang="en-IN" sz="3600" dirty="0" err="1" smtClean="0"/>
              <a:t>hm</a:t>
            </a:r>
            <a:r>
              <a:rPr lang="en-IN" sz="3600" dirty="0" smtClean="0"/>
              <a:t>​ </a:t>
            </a:r>
            <a:r>
              <a:rPr lang="en-IN" sz="3600" dirty="0"/>
              <a:t>= weak learner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990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/>
              <a:t>6</a:t>
            </a:r>
            <a:r>
              <a:rPr lang="en-IN" sz="4000" b="1" dirty="0" smtClean="0"/>
              <a:t>. </a:t>
            </a:r>
            <a:r>
              <a:rPr lang="en-IN" sz="4000" b="1" dirty="0"/>
              <a:t>Technical Details</a:t>
            </a:r>
          </a:p>
          <a:p>
            <a:pPr lvl="1"/>
            <a:r>
              <a:rPr lang="en-IN" sz="3600" dirty="0"/>
              <a:t>Ensemble type: </a:t>
            </a:r>
            <a:r>
              <a:rPr lang="en-IN" sz="3600" b="1" dirty="0"/>
              <a:t>Sequential</a:t>
            </a:r>
            <a:endParaRPr lang="en-IN" sz="3600" dirty="0"/>
          </a:p>
          <a:p>
            <a:pPr lvl="1"/>
            <a:r>
              <a:rPr lang="en-IN" sz="3600" dirty="0"/>
              <a:t>Optimizes arbitrary loss functions</a:t>
            </a:r>
          </a:p>
          <a:p>
            <a:pPr lvl="1"/>
            <a:r>
              <a:rPr lang="en-IN" sz="3600" dirty="0"/>
              <a:t>Uses </a:t>
            </a:r>
            <a:r>
              <a:rPr lang="en-IN" sz="3600" b="1" dirty="0"/>
              <a:t>gradient descent in function space</a:t>
            </a:r>
            <a:endParaRPr lang="en-IN" sz="3600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305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7. </a:t>
            </a:r>
            <a:r>
              <a:rPr lang="en-US" sz="4000" b="1" dirty="0"/>
              <a:t>Parameters</a:t>
            </a:r>
          </a:p>
          <a:p>
            <a:pPr lvl="1"/>
            <a:r>
              <a:rPr lang="en-US" sz="3600" dirty="0"/>
              <a:t>Learning rate</a:t>
            </a:r>
          </a:p>
          <a:p>
            <a:pPr lvl="1"/>
            <a:r>
              <a:rPr lang="en-US" sz="3600" dirty="0"/>
              <a:t>Number of estimators</a:t>
            </a:r>
          </a:p>
          <a:p>
            <a:pPr lvl="1"/>
            <a:r>
              <a:rPr lang="en-US" sz="3600" dirty="0"/>
              <a:t>Tree depth</a:t>
            </a:r>
          </a:p>
          <a:p>
            <a:pPr lvl="1"/>
            <a:r>
              <a:rPr lang="en-US" sz="3600" dirty="0"/>
              <a:t>Loss function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38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4" name="Picture 2" descr="https://media.geeksforgeeks.org/wp-content/uploads/20200721214745/gradientboost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41445"/>
            <a:ext cx="10515600" cy="574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802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8. Pros</a:t>
            </a:r>
            <a:endParaRPr lang="en-US" sz="4000" b="1" dirty="0"/>
          </a:p>
          <a:p>
            <a:pPr lvl="1"/>
            <a:r>
              <a:rPr lang="en-US" sz="3600" dirty="0"/>
              <a:t>High accuracy</a:t>
            </a:r>
          </a:p>
          <a:p>
            <a:pPr lvl="1"/>
            <a:r>
              <a:rPr lang="en-US" sz="3600" dirty="0"/>
              <a:t>Handles complex data</a:t>
            </a:r>
          </a:p>
          <a:p>
            <a:pPr lvl="1"/>
            <a:r>
              <a:rPr lang="en-US" sz="3600" dirty="0"/>
              <a:t>Custom loss functions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479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9</a:t>
            </a:r>
            <a:r>
              <a:rPr lang="en-US" sz="4000" b="1" dirty="0" smtClean="0"/>
              <a:t>. </a:t>
            </a:r>
            <a:r>
              <a:rPr lang="en-US" sz="4000" b="1" dirty="0"/>
              <a:t>Cons</a:t>
            </a:r>
          </a:p>
          <a:p>
            <a:pPr lvl="1"/>
            <a:r>
              <a:rPr lang="en-US" sz="3600" dirty="0"/>
              <a:t>Slow training</a:t>
            </a:r>
          </a:p>
          <a:p>
            <a:pPr lvl="1"/>
            <a:r>
              <a:rPr lang="en-US" sz="3600" dirty="0"/>
              <a:t>Sensitive to </a:t>
            </a:r>
            <a:r>
              <a:rPr lang="en-US" sz="3600" dirty="0" err="1"/>
              <a:t>hyperparameters</a:t>
            </a:r>
            <a:endParaRPr lang="en-US" sz="3600" dirty="0"/>
          </a:p>
          <a:p>
            <a:pPr lvl="1"/>
            <a:r>
              <a:rPr lang="en-US" sz="3600" dirty="0"/>
              <a:t>Prone to overfitting if not tuned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045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10. Real-World </a:t>
            </a:r>
            <a:r>
              <a:rPr lang="en-US" sz="4000" b="1" dirty="0"/>
              <a:t>Applications</a:t>
            </a:r>
          </a:p>
          <a:p>
            <a:pPr lvl="1"/>
            <a:r>
              <a:rPr lang="en-US" sz="3600" dirty="0"/>
              <a:t>Fraud detection</a:t>
            </a:r>
          </a:p>
          <a:p>
            <a:pPr lvl="1"/>
            <a:r>
              <a:rPr lang="en-US" sz="3600" dirty="0"/>
              <a:t>Ranking systems</a:t>
            </a:r>
          </a:p>
          <a:p>
            <a:pPr lvl="1"/>
            <a:r>
              <a:rPr lang="en-US" sz="3600" dirty="0"/>
              <a:t>Credit scoring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937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Summary</a:t>
            </a:r>
          </a:p>
          <a:p>
            <a:pPr lvl="1"/>
            <a:r>
              <a:rPr lang="en-US" sz="3600" dirty="0"/>
              <a:t>Gradient Boosting builds models </a:t>
            </a:r>
            <a:r>
              <a:rPr lang="en-US" sz="3600" b="1" dirty="0"/>
              <a:t>sequentially</a:t>
            </a:r>
            <a:r>
              <a:rPr lang="en-US" sz="3600" dirty="0"/>
              <a:t>, each correcting previous mistakes.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648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b="1" dirty="0" smtClean="0"/>
              <a:t> </a:t>
            </a:r>
            <a:r>
              <a:rPr lang="en-IN" sz="4000" b="1" dirty="0"/>
              <a:t>ADABOOST (Adaptive Boosting</a:t>
            </a:r>
            <a:r>
              <a:rPr lang="en-IN" sz="4000" b="1" dirty="0" smtClean="0"/>
              <a:t>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 smtClean="0"/>
              <a:t>1</a:t>
            </a:r>
            <a:r>
              <a:rPr lang="en-US" sz="4000" b="1" dirty="0"/>
              <a:t>. What is </a:t>
            </a:r>
            <a:r>
              <a:rPr lang="en-US" sz="4000" b="1" dirty="0" err="1"/>
              <a:t>AdaBoost</a:t>
            </a:r>
            <a:endParaRPr lang="en-US" sz="4000" b="1" dirty="0"/>
          </a:p>
          <a:p>
            <a:pPr lvl="1"/>
            <a:r>
              <a:rPr lang="en-US" sz="3600" dirty="0" err="1"/>
              <a:t>AdaBoost</a:t>
            </a:r>
            <a:r>
              <a:rPr lang="en-US" sz="3600" dirty="0"/>
              <a:t> is a </a:t>
            </a:r>
            <a:r>
              <a:rPr lang="en-US" sz="3600" b="1" dirty="0"/>
              <a:t>boosting algorithm</a:t>
            </a:r>
            <a:r>
              <a:rPr lang="en-US" sz="3600" dirty="0"/>
              <a:t> that focuses on </a:t>
            </a:r>
            <a:r>
              <a:rPr lang="en-US" sz="3600" b="1" dirty="0"/>
              <a:t>misclassified samples</a:t>
            </a:r>
            <a:r>
              <a:rPr lang="en-US" sz="3600" dirty="0"/>
              <a:t> by increasing their weights in subsequent models.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020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2</a:t>
            </a:r>
            <a:r>
              <a:rPr lang="en-US" sz="4000" b="1" dirty="0"/>
              <a:t>. Purpose</a:t>
            </a:r>
          </a:p>
          <a:p>
            <a:pPr lvl="1"/>
            <a:r>
              <a:rPr lang="en-US" sz="3600" b="1" dirty="0"/>
              <a:t>To convert weak learners into a strong classifier</a:t>
            </a:r>
            <a:r>
              <a:rPr lang="en-US" sz="3600" dirty="0"/>
              <a:t> by focusing on hard examples.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049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3</a:t>
            </a:r>
            <a:r>
              <a:rPr lang="en-US" sz="4000" b="1" dirty="0"/>
              <a:t>. Why it is Used</a:t>
            </a:r>
          </a:p>
          <a:p>
            <a:pPr lvl="1"/>
            <a:r>
              <a:rPr lang="en-US" sz="3600" dirty="0"/>
              <a:t>Simple boosting algorithm</a:t>
            </a:r>
          </a:p>
          <a:p>
            <a:pPr lvl="1"/>
            <a:r>
              <a:rPr lang="en-US" sz="3600" dirty="0"/>
              <a:t>Strong theoretical foundation</a:t>
            </a:r>
          </a:p>
          <a:p>
            <a:pPr lvl="1"/>
            <a:r>
              <a:rPr lang="en-US" sz="3600" dirty="0"/>
              <a:t>Works well with weak learners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998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4</a:t>
            </a:r>
            <a:r>
              <a:rPr lang="en-US" sz="4000" b="1" dirty="0"/>
              <a:t>. How </a:t>
            </a:r>
            <a:r>
              <a:rPr lang="en-US" sz="4000" b="1" dirty="0" err="1"/>
              <a:t>AdaBoost</a:t>
            </a:r>
            <a:r>
              <a:rPr lang="en-US" sz="4000" b="1" dirty="0"/>
              <a:t> Works (Algorithm)</a:t>
            </a:r>
          </a:p>
          <a:p>
            <a:pPr lvl="1"/>
            <a:r>
              <a:rPr lang="en-US" sz="3600" dirty="0"/>
              <a:t>Assign equal weights to all samples</a:t>
            </a:r>
          </a:p>
          <a:p>
            <a:pPr lvl="1"/>
            <a:r>
              <a:rPr lang="en-US" sz="3600" dirty="0"/>
              <a:t>Train weak learner</a:t>
            </a:r>
          </a:p>
          <a:p>
            <a:pPr lvl="1"/>
            <a:r>
              <a:rPr lang="en-US" sz="3600" dirty="0"/>
              <a:t>Increase weights of misclassified points</a:t>
            </a:r>
          </a:p>
          <a:p>
            <a:pPr lvl="1"/>
            <a:r>
              <a:rPr lang="en-US" sz="3600" dirty="0"/>
              <a:t>Train next learner on reweighted data</a:t>
            </a:r>
          </a:p>
          <a:p>
            <a:pPr lvl="1"/>
            <a:r>
              <a:rPr lang="en-US" sz="3600" dirty="0"/>
              <a:t>Combine learners using weighted voting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806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5</a:t>
            </a:r>
            <a:r>
              <a:rPr lang="en-IN" sz="4000" b="1" dirty="0"/>
              <a:t>. Formula</a:t>
            </a:r>
          </a:p>
          <a:p>
            <a:pPr marL="457200" lvl="1" indent="0">
              <a:buNone/>
            </a:pPr>
            <a:r>
              <a:rPr lang="en-IN" sz="3600" b="1" dirty="0"/>
              <a:t>Final Model:</a:t>
            </a:r>
          </a:p>
          <a:p>
            <a:pPr lvl="1"/>
            <a:r>
              <a:rPr lang="en-IN" sz="3600" dirty="0"/>
              <a:t>F(x)=∑</a:t>
            </a:r>
            <a:r>
              <a:rPr lang="el-GR" sz="3600" dirty="0"/>
              <a:t>α</a:t>
            </a:r>
            <a:r>
              <a:rPr lang="en-IN" sz="3600" dirty="0" err="1"/>
              <a:t>mhm</a:t>
            </a:r>
            <a:r>
              <a:rPr lang="en-IN" sz="3600" dirty="0"/>
              <a:t>(x</a:t>
            </a:r>
            <a:r>
              <a:rPr lang="en-IN" sz="3600" dirty="0" smtClean="0"/>
              <a:t>)</a:t>
            </a:r>
          </a:p>
          <a:p>
            <a:pPr marL="457200" lvl="1" indent="0">
              <a:buNone/>
            </a:pPr>
            <a:r>
              <a:rPr lang="en-IN" sz="3600" b="1" dirty="0" smtClean="0"/>
              <a:t>Learner </a:t>
            </a:r>
            <a:r>
              <a:rPr lang="en-IN" sz="3600" b="1" dirty="0"/>
              <a:t>Weight:</a:t>
            </a:r>
          </a:p>
          <a:p>
            <a:pPr lvl="1"/>
            <a:r>
              <a:rPr lang="el-GR" sz="3600" dirty="0"/>
              <a:t>α</a:t>
            </a:r>
            <a:r>
              <a:rPr lang="en-IN" sz="3600" dirty="0" smtClean="0"/>
              <a:t>m=1/2ln⁡{1</a:t>
            </a:r>
            <a:r>
              <a:rPr lang="en-IN" sz="3600" dirty="0"/>
              <a:t>−</a:t>
            </a:r>
            <a:r>
              <a:rPr lang="en-IN" sz="3600" dirty="0" smtClean="0"/>
              <a:t>error/error} </a:t>
            </a:r>
            <a:r>
              <a:rPr lang="en-IN" sz="3200" dirty="0" smtClean="0"/>
              <a:t>​</a:t>
            </a:r>
            <a:endParaRPr lang="en-IN" sz="3200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130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/>
              <a:t>6</a:t>
            </a:r>
            <a:r>
              <a:rPr lang="en-IN" sz="4000" b="1" dirty="0" smtClean="0"/>
              <a:t>. </a:t>
            </a:r>
            <a:r>
              <a:rPr lang="en-US" sz="4000" b="1" dirty="0"/>
              <a:t>Technical Details</a:t>
            </a:r>
          </a:p>
          <a:p>
            <a:pPr lvl="1"/>
            <a:r>
              <a:rPr lang="en-US" sz="3600" dirty="0"/>
              <a:t>Sequential learning</a:t>
            </a:r>
          </a:p>
          <a:p>
            <a:pPr lvl="1"/>
            <a:r>
              <a:rPr lang="en-US" sz="3600" dirty="0"/>
              <a:t>Sensitive to noisy data</a:t>
            </a:r>
          </a:p>
          <a:p>
            <a:pPr lvl="1"/>
            <a:r>
              <a:rPr lang="en-US" sz="3600" dirty="0"/>
              <a:t>Uses exponential loss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7146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7. </a:t>
            </a:r>
            <a:r>
              <a:rPr lang="en-US" sz="4000" b="1" dirty="0"/>
              <a:t>Parameters</a:t>
            </a:r>
          </a:p>
          <a:p>
            <a:pPr lvl="1"/>
            <a:r>
              <a:rPr lang="en-US" sz="3600" dirty="0"/>
              <a:t>Number of estimators</a:t>
            </a:r>
          </a:p>
          <a:p>
            <a:pPr lvl="1"/>
            <a:r>
              <a:rPr lang="en-US" sz="3600" dirty="0"/>
              <a:t>Learning rate</a:t>
            </a:r>
          </a:p>
          <a:p>
            <a:pPr lvl="1"/>
            <a:r>
              <a:rPr lang="en-US" sz="3600" dirty="0"/>
              <a:t>Base estimator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420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098" name="Picture 2" descr="https://media.geeksforgeeks.org/wp-content/uploads/20210707140911/Boosting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737394"/>
            <a:ext cx="9525000" cy="534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885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8. Pros</a:t>
            </a:r>
            <a:endParaRPr lang="en-US" sz="4000" b="1" dirty="0"/>
          </a:p>
          <a:p>
            <a:pPr lvl="1"/>
            <a:r>
              <a:rPr lang="en-US" sz="3600" dirty="0"/>
              <a:t>Improves weak models</a:t>
            </a:r>
          </a:p>
          <a:p>
            <a:pPr lvl="1"/>
            <a:r>
              <a:rPr lang="en-US" sz="3600" dirty="0"/>
              <a:t>Simple implementation</a:t>
            </a:r>
          </a:p>
          <a:p>
            <a:pPr lvl="1"/>
            <a:r>
              <a:rPr lang="en-US" sz="3600" dirty="0"/>
              <a:t>Less overfitting than trees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1149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9. Cons</a:t>
            </a:r>
          </a:p>
          <a:p>
            <a:pPr lvl="1"/>
            <a:r>
              <a:rPr lang="en-US" sz="3600" dirty="0"/>
              <a:t>Sensitive to noise &amp; outliers</a:t>
            </a:r>
          </a:p>
          <a:p>
            <a:pPr lvl="1"/>
            <a:r>
              <a:rPr lang="en-US" sz="3600" dirty="0"/>
              <a:t>Poor performance on complex data</a:t>
            </a:r>
          </a:p>
          <a:p>
            <a:pPr lvl="1"/>
            <a:r>
              <a:rPr lang="en-US" sz="3600" dirty="0"/>
              <a:t>Not scalable</a:t>
            </a:r>
          </a:p>
          <a:p>
            <a:pPr marL="914400" lvl="2" indent="0">
              <a:buNone/>
            </a:pPr>
            <a:endParaRPr lang="en-US" sz="3200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0573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10</a:t>
            </a:r>
            <a:r>
              <a:rPr lang="en-US" sz="4000" b="1" dirty="0"/>
              <a:t>. Real-World Applications</a:t>
            </a:r>
          </a:p>
          <a:p>
            <a:pPr lvl="1"/>
            <a:r>
              <a:rPr lang="en-US" sz="3600" dirty="0"/>
              <a:t>Face detection</a:t>
            </a:r>
          </a:p>
          <a:p>
            <a:pPr lvl="1"/>
            <a:r>
              <a:rPr lang="en-US" sz="3600" dirty="0"/>
              <a:t>Text classification</a:t>
            </a:r>
          </a:p>
          <a:p>
            <a:pPr lvl="1"/>
            <a:r>
              <a:rPr lang="en-US" sz="3600" dirty="0"/>
              <a:t>Early ML systems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154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Summary</a:t>
            </a:r>
          </a:p>
          <a:p>
            <a:pPr lvl="1"/>
            <a:r>
              <a:rPr lang="en-US" sz="3600" dirty="0" err="1"/>
              <a:t>AdaBoost</a:t>
            </a:r>
            <a:r>
              <a:rPr lang="en-US" sz="3600" dirty="0"/>
              <a:t> focuses on </a:t>
            </a:r>
            <a:r>
              <a:rPr lang="en-US" sz="3600" b="1" dirty="0"/>
              <a:t>hard-to-classify samples</a:t>
            </a:r>
            <a:r>
              <a:rPr lang="en-US" sz="3600" dirty="0"/>
              <a:t> by increasing their importance.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267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b="1" dirty="0" smtClean="0"/>
              <a:t> </a:t>
            </a:r>
            <a:r>
              <a:rPr lang="en-IN" sz="4000" b="1" dirty="0"/>
              <a:t>XGBOOST (Extreme Gradient Boosting</a:t>
            </a:r>
            <a:r>
              <a:rPr lang="en-IN" sz="4000" b="1" dirty="0" smtClean="0"/>
              <a:t>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4000" b="1" dirty="0" smtClean="0"/>
          </a:p>
          <a:p>
            <a:pPr marL="0" indent="0">
              <a:buNone/>
            </a:pPr>
            <a:r>
              <a:rPr lang="en-US" sz="4000" b="1" dirty="0" smtClean="0"/>
              <a:t>1</a:t>
            </a:r>
            <a:r>
              <a:rPr lang="en-US" sz="4000" b="1" dirty="0"/>
              <a:t>. What is </a:t>
            </a:r>
            <a:r>
              <a:rPr lang="en-US" sz="4000" b="1" dirty="0" err="1"/>
              <a:t>XGBoost</a:t>
            </a:r>
            <a:endParaRPr lang="en-US" sz="4000" b="1" dirty="0"/>
          </a:p>
          <a:p>
            <a:pPr lvl="1"/>
            <a:r>
              <a:rPr lang="en-US" sz="3600" dirty="0" err="1"/>
              <a:t>XGBoost</a:t>
            </a:r>
            <a:r>
              <a:rPr lang="en-US" sz="3600" dirty="0"/>
              <a:t> is an </a:t>
            </a:r>
            <a:r>
              <a:rPr lang="en-US" sz="3600" b="1" dirty="0"/>
              <a:t>optimized, scalable implementation of Gradient Boosting</a:t>
            </a:r>
            <a:r>
              <a:rPr lang="en-US" sz="3600" dirty="0"/>
              <a:t> designed for </a:t>
            </a:r>
            <a:r>
              <a:rPr lang="en-US" sz="3600" b="1" dirty="0"/>
              <a:t>speed, performance, and regularization</a:t>
            </a:r>
            <a:r>
              <a:rPr lang="en-US" sz="3600" dirty="0"/>
              <a:t>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2330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2. Purpose</a:t>
            </a:r>
            <a:endParaRPr lang="en-US" sz="4000" b="1" dirty="0"/>
          </a:p>
          <a:p>
            <a:pPr lvl="1"/>
            <a:r>
              <a:rPr lang="en-US" sz="3600" b="1" dirty="0"/>
              <a:t>To achieve state-of-the-art accuracy on structured/tabular data.</a:t>
            </a:r>
            <a:endParaRPr lang="en-US" sz="3600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1031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3</a:t>
            </a:r>
            <a:r>
              <a:rPr lang="en-US" sz="4000" b="1" dirty="0"/>
              <a:t>. Why it is Used</a:t>
            </a:r>
          </a:p>
          <a:p>
            <a:pPr lvl="1"/>
            <a:r>
              <a:rPr lang="en-US" sz="3600" dirty="0"/>
              <a:t>Extremely fast</a:t>
            </a:r>
          </a:p>
          <a:p>
            <a:pPr lvl="1"/>
            <a:r>
              <a:rPr lang="en-US" sz="3600" dirty="0"/>
              <a:t>Built-in regularization</a:t>
            </a:r>
          </a:p>
          <a:p>
            <a:pPr lvl="1"/>
            <a:r>
              <a:rPr lang="en-US" sz="3600" dirty="0"/>
              <a:t>Handles missing values</a:t>
            </a:r>
          </a:p>
          <a:p>
            <a:pPr lvl="1"/>
            <a:r>
              <a:rPr lang="en-US" sz="3600" dirty="0"/>
              <a:t>Winner of many ML competitions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4633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4</a:t>
            </a:r>
            <a:r>
              <a:rPr lang="en-US" sz="4000" b="1" dirty="0"/>
              <a:t>. How </a:t>
            </a:r>
            <a:r>
              <a:rPr lang="en-US" sz="4000" b="1" dirty="0" err="1"/>
              <a:t>XGBoost</a:t>
            </a:r>
            <a:r>
              <a:rPr lang="en-US" sz="4000" b="1" dirty="0"/>
              <a:t> Works (Algorithm)</a:t>
            </a:r>
          </a:p>
          <a:p>
            <a:pPr lvl="1"/>
            <a:r>
              <a:rPr lang="en-US" sz="3600" dirty="0"/>
              <a:t>Builds trees sequentially</a:t>
            </a:r>
          </a:p>
          <a:p>
            <a:pPr lvl="1"/>
            <a:r>
              <a:rPr lang="en-US" sz="3600" dirty="0"/>
              <a:t>Uses </a:t>
            </a:r>
            <a:r>
              <a:rPr lang="en-US" sz="3600" b="1" dirty="0"/>
              <a:t>second-order derivatives</a:t>
            </a:r>
            <a:r>
              <a:rPr lang="en-US" sz="3600" dirty="0"/>
              <a:t> (Hessian)</a:t>
            </a:r>
          </a:p>
          <a:p>
            <a:pPr lvl="1"/>
            <a:r>
              <a:rPr lang="en-US" sz="3600" dirty="0"/>
              <a:t>Applies regularization to trees</a:t>
            </a:r>
          </a:p>
          <a:p>
            <a:pPr lvl="1"/>
            <a:r>
              <a:rPr lang="en-US" sz="3600" dirty="0"/>
              <a:t>Prunes trees automatically</a:t>
            </a:r>
          </a:p>
          <a:p>
            <a:pPr lvl="1"/>
            <a:r>
              <a:rPr lang="en-US" sz="3600" dirty="0"/>
              <a:t>Parallelizes tree construction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609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5</a:t>
            </a:r>
            <a:r>
              <a:rPr lang="en-IN" sz="4000" b="1" dirty="0"/>
              <a:t>. Formula</a:t>
            </a:r>
          </a:p>
          <a:p>
            <a:pPr marL="457200" lvl="1" indent="0">
              <a:buNone/>
            </a:pPr>
            <a:r>
              <a:rPr lang="en-IN" sz="3600" b="1" dirty="0"/>
              <a:t>Objective Function:</a:t>
            </a:r>
          </a:p>
          <a:p>
            <a:pPr lvl="1"/>
            <a:r>
              <a:rPr lang="en-IN" sz="3600" dirty="0" err="1"/>
              <a:t>Obj</a:t>
            </a:r>
            <a:r>
              <a:rPr lang="en-IN" sz="3600" dirty="0"/>
              <a:t>=∑l(</a:t>
            </a:r>
            <a:r>
              <a:rPr lang="en-IN" sz="3600" dirty="0" err="1"/>
              <a:t>yi,y^i</a:t>
            </a:r>
            <a:r>
              <a:rPr lang="en-IN" sz="3600" dirty="0"/>
              <a:t>)+∑</a:t>
            </a:r>
            <a:r>
              <a:rPr lang="el-GR" sz="3600" dirty="0"/>
              <a:t>Ω(</a:t>
            </a:r>
            <a:r>
              <a:rPr lang="en-IN" sz="3600" dirty="0" err="1"/>
              <a:t>fk</a:t>
            </a:r>
            <a:r>
              <a:rPr lang="en-IN" sz="3600" dirty="0" smtClean="0"/>
              <a:t>)</a:t>
            </a:r>
          </a:p>
          <a:p>
            <a:pPr marL="457200" lvl="1" indent="0">
              <a:buNone/>
            </a:pPr>
            <a:r>
              <a:rPr lang="en-IN" sz="3600" b="1" dirty="0" smtClean="0"/>
              <a:t>Regularization</a:t>
            </a:r>
            <a:r>
              <a:rPr lang="en-IN" sz="3600" b="1" dirty="0"/>
              <a:t>:</a:t>
            </a:r>
          </a:p>
          <a:p>
            <a:pPr lvl="1"/>
            <a:r>
              <a:rPr lang="el-GR" sz="3600" dirty="0"/>
              <a:t>Ω(</a:t>
            </a:r>
            <a:r>
              <a:rPr lang="en-IN" sz="3600" dirty="0"/>
              <a:t>f)=</a:t>
            </a:r>
            <a:r>
              <a:rPr lang="el-GR" sz="3600" dirty="0"/>
              <a:t>γ</a:t>
            </a:r>
            <a:r>
              <a:rPr lang="en-IN" sz="3600" dirty="0" smtClean="0"/>
              <a:t>T+1/2</a:t>
            </a:r>
            <a:r>
              <a:rPr lang="el-GR" sz="3600" dirty="0"/>
              <a:t>λ∑</a:t>
            </a:r>
            <a:r>
              <a:rPr lang="en-IN" sz="3600" dirty="0" smtClean="0"/>
              <a:t>w^2</a:t>
            </a:r>
            <a:endParaRPr lang="en-IN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915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6. Technical </a:t>
            </a:r>
            <a:r>
              <a:rPr lang="en-US" sz="4000" b="1" dirty="0"/>
              <a:t>Details</a:t>
            </a:r>
          </a:p>
          <a:p>
            <a:pPr lvl="1"/>
            <a:r>
              <a:rPr lang="en-US" sz="3600" dirty="0"/>
              <a:t>Uses </a:t>
            </a:r>
            <a:r>
              <a:rPr lang="en-US" sz="3600" b="1" dirty="0"/>
              <a:t>Newton boosting</a:t>
            </a:r>
            <a:endParaRPr lang="en-US" sz="3600" dirty="0"/>
          </a:p>
          <a:p>
            <a:pPr lvl="1"/>
            <a:r>
              <a:rPr lang="en-US" sz="3600" dirty="0"/>
              <a:t>Supports sparse data</a:t>
            </a:r>
          </a:p>
          <a:p>
            <a:pPr lvl="1"/>
            <a:r>
              <a:rPr lang="en-US" sz="3600" dirty="0"/>
              <a:t>Cache-aware and parallel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737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/>
              <a:t>7. </a:t>
            </a:r>
            <a:r>
              <a:rPr lang="en-US" sz="4000" b="1" dirty="0" smtClean="0"/>
              <a:t>Parameters</a:t>
            </a:r>
            <a:endParaRPr lang="en-US" sz="4000" b="1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08278"/>
              </p:ext>
            </p:extLst>
          </p:nvPr>
        </p:nvGraphicFramePr>
        <p:xfrm>
          <a:off x="1192473" y="1441190"/>
          <a:ext cx="9807054" cy="4735773"/>
        </p:xfrm>
        <a:graphic>
          <a:graphicData uri="http://schemas.openxmlformats.org/drawingml/2006/table">
            <a:tbl>
              <a:tblPr/>
              <a:tblGrid>
                <a:gridCol w="4903527"/>
                <a:gridCol w="4903527"/>
              </a:tblGrid>
              <a:tr h="676539">
                <a:tc>
                  <a:txBody>
                    <a:bodyPr/>
                    <a:lstStyle/>
                    <a:p>
                      <a:r>
                        <a:rPr lang="en-IN" b="1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539">
                <a:tc>
                  <a:txBody>
                    <a:bodyPr/>
                    <a:lstStyle/>
                    <a:p>
                      <a:r>
                        <a:rPr lang="en-IN" b="1"/>
                        <a:t>n_estimators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Number of trees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539">
                <a:tc>
                  <a:txBody>
                    <a:bodyPr/>
                    <a:lstStyle/>
                    <a:p>
                      <a:r>
                        <a:rPr lang="en-IN" b="1"/>
                        <a:t>learning_rate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Step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539">
                <a:tc>
                  <a:txBody>
                    <a:bodyPr/>
                    <a:lstStyle/>
                    <a:p>
                      <a:r>
                        <a:rPr lang="en-IN" b="1"/>
                        <a:t>max_depth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Tree 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539">
                <a:tc>
                  <a:txBody>
                    <a:bodyPr/>
                    <a:lstStyle/>
                    <a:p>
                      <a:r>
                        <a:rPr lang="en-IN" b="1"/>
                        <a:t>subsample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Row sampling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539">
                <a:tc>
                  <a:txBody>
                    <a:bodyPr/>
                    <a:lstStyle/>
                    <a:p>
                      <a:r>
                        <a:rPr lang="en-IN" b="1"/>
                        <a:t>colsample_bytree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Feature sampling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539">
                <a:tc>
                  <a:txBody>
                    <a:bodyPr/>
                    <a:lstStyle/>
                    <a:p>
                      <a:r>
                        <a:rPr lang="en-IN" b="1" dirty="0"/>
                        <a:t>lambda, alpha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Regularization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3259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2" descr="https://media.geeksforgeeks.org/wp-content/uploads/20250905153324093033/data_set.webp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838200" y="641350"/>
            <a:ext cx="10515600" cy="553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https://media.geeksforgeeks.org/wp-content/uploads/20250905153324093033/data_set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370" y="597005"/>
            <a:ext cx="6864824" cy="559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814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8</a:t>
            </a:r>
            <a:r>
              <a:rPr lang="en-US" sz="4000" b="1" dirty="0"/>
              <a:t>. Pros</a:t>
            </a:r>
          </a:p>
          <a:p>
            <a:pPr lvl="1"/>
            <a:r>
              <a:rPr lang="en-US" sz="3600" dirty="0"/>
              <a:t>Very high accuracy</a:t>
            </a:r>
          </a:p>
          <a:p>
            <a:pPr lvl="1"/>
            <a:r>
              <a:rPr lang="en-US" sz="3600" dirty="0"/>
              <a:t>Built-in regularization</a:t>
            </a:r>
          </a:p>
          <a:p>
            <a:pPr lvl="1"/>
            <a:r>
              <a:rPr lang="en-US" sz="3600" dirty="0"/>
              <a:t>Handles missing values</a:t>
            </a:r>
          </a:p>
          <a:p>
            <a:pPr lvl="1"/>
            <a:r>
              <a:rPr lang="en-US" sz="3600" dirty="0"/>
              <a:t>Scalable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8301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9. Cons</a:t>
            </a:r>
            <a:endParaRPr lang="en-US" sz="4000" b="1" dirty="0"/>
          </a:p>
          <a:p>
            <a:pPr lvl="1"/>
            <a:r>
              <a:rPr lang="en-US" sz="3600" dirty="0"/>
              <a:t>Complex tuning</a:t>
            </a:r>
          </a:p>
          <a:p>
            <a:pPr lvl="1"/>
            <a:r>
              <a:rPr lang="en-US" sz="3600" dirty="0"/>
              <a:t>Less interpretable</a:t>
            </a:r>
          </a:p>
          <a:p>
            <a:pPr lvl="1"/>
            <a:r>
              <a:rPr lang="en-US" sz="3600" dirty="0"/>
              <a:t>Overkill for small datasets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9830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/>
              <a:t>10</a:t>
            </a:r>
            <a:r>
              <a:rPr lang="en-US" sz="4000" b="1" dirty="0"/>
              <a:t>. Real-World Applications</a:t>
            </a:r>
          </a:p>
          <a:p>
            <a:pPr lvl="1"/>
            <a:r>
              <a:rPr lang="en-US" sz="3600" dirty="0" err="1"/>
              <a:t>Kaggle</a:t>
            </a:r>
            <a:r>
              <a:rPr lang="en-US" sz="3600" dirty="0"/>
              <a:t> competitions</a:t>
            </a:r>
          </a:p>
          <a:p>
            <a:pPr lvl="1"/>
            <a:r>
              <a:rPr lang="en-US" sz="3600" dirty="0"/>
              <a:t>Finance risk models</a:t>
            </a:r>
          </a:p>
          <a:p>
            <a:pPr lvl="1"/>
            <a:r>
              <a:rPr lang="en-US" sz="3600" dirty="0"/>
              <a:t>Search ranking</a:t>
            </a:r>
          </a:p>
          <a:p>
            <a:pPr lvl="1"/>
            <a:r>
              <a:rPr lang="en-US" sz="3600" dirty="0"/>
              <a:t>Recommendation systems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7896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Summary</a:t>
            </a:r>
          </a:p>
          <a:p>
            <a:pPr lvl="1"/>
            <a:r>
              <a:rPr lang="en-US" sz="3600" dirty="0" err="1"/>
              <a:t>XGBoost</a:t>
            </a:r>
            <a:r>
              <a:rPr lang="en-US" sz="3600" dirty="0"/>
              <a:t> is a </a:t>
            </a:r>
            <a:r>
              <a:rPr lang="en-US" sz="3600" b="1" dirty="0"/>
              <a:t>high-performance, regularized gradient boosting algorithm</a:t>
            </a:r>
            <a:r>
              <a:rPr lang="en-US" sz="3600" dirty="0"/>
              <a:t> optimized for speed and accuracy.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6899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FINAL </a:t>
            </a:r>
            <a:r>
              <a:rPr lang="en-US" sz="4000" b="1" dirty="0" smtClean="0"/>
              <a:t>COMPARISON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880107"/>
              </p:ext>
            </p:extLst>
          </p:nvPr>
        </p:nvGraphicFramePr>
        <p:xfrm>
          <a:off x="946245" y="1637731"/>
          <a:ext cx="10407555" cy="4353634"/>
        </p:xfrm>
        <a:graphic>
          <a:graphicData uri="http://schemas.openxmlformats.org/drawingml/2006/table">
            <a:tbl>
              <a:tblPr/>
              <a:tblGrid>
                <a:gridCol w="2081511"/>
                <a:gridCol w="2081511"/>
                <a:gridCol w="2081511"/>
                <a:gridCol w="2081511"/>
                <a:gridCol w="2081511"/>
              </a:tblGrid>
              <a:tr h="757154">
                <a:tc>
                  <a:txBody>
                    <a:bodyPr/>
                    <a:lstStyle/>
                    <a:p>
                      <a:r>
                        <a:rPr lang="en-IN" b="1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Variance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Overfitting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154">
                <a:tc>
                  <a:txBody>
                    <a:bodyPr/>
                    <a:lstStyle/>
                    <a:p>
                      <a:r>
                        <a:rPr lang="en-IN" b="1"/>
                        <a:t>Bagging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154">
                <a:tc>
                  <a:txBody>
                    <a:bodyPr/>
                    <a:lstStyle/>
                    <a:p>
                      <a:r>
                        <a:rPr lang="en-IN" b="1"/>
                        <a:t>AdaBoost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⚠️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018">
                <a:tc>
                  <a:txBody>
                    <a:bodyPr/>
                    <a:lstStyle/>
                    <a:p>
                      <a:r>
                        <a:rPr lang="en-IN" b="1"/>
                        <a:t>Gradient Boosting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⚠️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154">
                <a:tc>
                  <a:txBody>
                    <a:bodyPr/>
                    <a:lstStyle/>
                    <a:p>
                      <a:r>
                        <a:rPr lang="en-IN" b="1" dirty="0" err="1"/>
                        <a:t>XGBoost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Controlled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890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4618</TotalTime>
  <Words>821</Words>
  <Application>Microsoft Office PowerPoint</Application>
  <PresentationFormat>Widescreen</PresentationFormat>
  <Paragraphs>216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Wingdings</vt:lpstr>
      <vt:lpstr>Office Theme</vt:lpstr>
      <vt:lpstr>BAGGING &amp; BOOSTING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</dc:title>
  <dc:creator>NIRVANA</dc:creator>
  <cp:lastModifiedBy>NIRVANA</cp:lastModifiedBy>
  <cp:revision>63</cp:revision>
  <dcterms:created xsi:type="dcterms:W3CDTF">2026-02-13T06:25:49Z</dcterms:created>
  <dcterms:modified xsi:type="dcterms:W3CDTF">2026-02-20T10:31:52Z</dcterms:modified>
</cp:coreProperties>
</file>