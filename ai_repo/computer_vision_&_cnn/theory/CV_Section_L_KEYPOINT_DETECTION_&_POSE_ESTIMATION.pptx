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3474720"/>
            <a:ext cx="9144000" cy="1668780"/>
          </a:xfrm>
          <a:prstGeom prst="rect">
            <a:avLst/>
          </a:prstGeom>
          <a:solidFill>
            <a:srgbClr val="12193D"/>
          </a:solidFill>
          <a:ln w="12700">
            <a:solidFill>
              <a:srgbClr val="12193D"/>
            </a:solidFill>
            <a:prstDash val="solid"/>
          </a:ln>
        </p:spPr>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1300" b="1" spc="600" kern="0" dirty="0">
                <a:solidFill>
                  <a:srgbClr val="7A8CC0"/>
                </a:solidFill>
                <a:latin typeface="Calibri" pitchFamily="34" charset="0"/>
                <a:ea typeface="Calibri" pitchFamily="34" charset="-122"/>
                <a:cs typeface="Calibri" pitchFamily="34" charset="-120"/>
              </a:rPr>
              <a:t>COMPUTER VISION</a:t>
            </a:r>
            <a:endParaRPr lang="en-US" sz="1300" dirty="0"/>
          </a:p>
        </p:txBody>
      </p:sp>
      <p:sp>
        <p:nvSpPr>
          <p:cNvPr id="4" name="Text 2"/>
          <p:cNvSpPr/>
          <p:nvPr/>
        </p:nvSpPr>
        <p:spPr>
          <a:xfrm>
            <a:off x="457200" y="1188720"/>
            <a:ext cx="8229600" cy="1097280"/>
          </a:xfrm>
          <a:prstGeom prst="rect">
            <a:avLst/>
          </a:prstGeom>
          <a:noFill/>
          <a:ln/>
        </p:spPr>
        <p:txBody>
          <a:bodyPr wrap="square" rtlCol="0" anchor="ctr"/>
          <a:lstStyle/>
          <a:p>
            <a:pPr indent="0" marL="0">
              <a:buNone/>
            </a:pPr>
            <a:r>
              <a:rPr lang="en-US" sz="5200" b="1" dirty="0">
                <a:solidFill>
                  <a:srgbClr val="FFFFFF"/>
                </a:solidFill>
                <a:latin typeface="Georgia" pitchFamily="34" charset="0"/>
                <a:ea typeface="Georgia" pitchFamily="34" charset="-122"/>
                <a:cs typeface="Georgia" pitchFamily="34" charset="-120"/>
              </a:rPr>
              <a:t>Section L</a:t>
            </a:r>
            <a:endParaRPr lang="en-US" sz="5200" dirty="0"/>
          </a:p>
        </p:txBody>
      </p:sp>
      <p:sp>
        <p:nvSpPr>
          <p:cNvPr id="5" name="Text 3"/>
          <p:cNvSpPr/>
          <p:nvPr/>
        </p:nvSpPr>
        <p:spPr>
          <a:xfrm>
            <a:off x="457200" y="2331720"/>
            <a:ext cx="8229600" cy="548640"/>
          </a:xfrm>
          <a:prstGeom prst="rect">
            <a:avLst/>
          </a:prstGeom>
          <a:noFill/>
          <a:ln/>
        </p:spPr>
        <p:txBody>
          <a:bodyPr wrap="square" rtlCol="0" anchor="ctr"/>
          <a:lstStyle/>
          <a:p>
            <a:pPr indent="0" marL="0">
              <a:buNone/>
            </a:pPr>
            <a:r>
              <a:rPr lang="en-US" sz="2000" dirty="0">
                <a:solidFill>
                  <a:srgbClr val="7A8CC0"/>
                </a:solidFill>
                <a:latin typeface="Calibri" pitchFamily="34" charset="0"/>
                <a:ea typeface="Calibri" pitchFamily="34" charset="-122"/>
                <a:cs typeface="Calibri" pitchFamily="34" charset="-120"/>
              </a:rPr>
              <a:t>Keypoints, Pose, Geometry &amp; Stereo</a:t>
            </a:r>
            <a:endParaRPr lang="en-US" sz="2000" dirty="0"/>
          </a:p>
        </p:txBody>
      </p:sp>
      <p:sp>
        <p:nvSpPr>
          <p:cNvPr id="6" name="Text 4"/>
          <p:cNvSpPr/>
          <p:nvPr/>
        </p:nvSpPr>
        <p:spPr>
          <a:xfrm>
            <a:off x="457200" y="3611880"/>
            <a:ext cx="8229600" cy="457200"/>
          </a:xfrm>
          <a:prstGeom prst="rect">
            <a:avLst/>
          </a:prstGeom>
          <a:noFill/>
          <a:ln/>
        </p:spPr>
        <p:txBody>
          <a:bodyPr wrap="square" rtlCol="0" anchor="ctr"/>
          <a:lstStyle/>
          <a:p>
            <a:pPr indent="0" marL="0">
              <a:buNone/>
            </a:pPr>
            <a:r>
              <a:rPr lang="en-US" sz="1100" dirty="0">
                <a:solidFill>
                  <a:srgbClr val="8899CC"/>
                </a:solidFill>
                <a:latin typeface="Calibri" pitchFamily="34" charset="0"/>
                <a:ea typeface="Calibri" pitchFamily="34" charset="-122"/>
                <a:cs typeface="Calibri" pitchFamily="34" charset="-120"/>
              </a:rPr>
              <a:t>Topics: Heatmap Keypoints · OpenPose · HRNet · Face/Hand Landmarks · Homography · Epipolar Geometry · Depth</a:t>
            </a:r>
            <a:endParaRPr lang="en-US" sz="1100" dirty="0"/>
          </a:p>
        </p:txBody>
      </p:sp>
      <p:sp>
        <p:nvSpPr>
          <p:cNvPr id="7" name="Text 5"/>
          <p:cNvSpPr/>
          <p:nvPr/>
        </p:nvSpPr>
        <p:spPr>
          <a:xfrm>
            <a:off x="457200" y="4160520"/>
            <a:ext cx="8229600" cy="365760"/>
          </a:xfrm>
          <a:prstGeom prst="rect">
            <a:avLst/>
          </a:prstGeom>
          <a:noFill/>
          <a:ln/>
        </p:spPr>
        <p:txBody>
          <a:bodyPr wrap="square" rtlCol="0" anchor="ctr"/>
          <a:lstStyle/>
          <a:p>
            <a:pPr indent="0" marL="0">
              <a:buNone/>
            </a:pPr>
            <a:r>
              <a:rPr lang="en-US" sz="1100" i="1" dirty="0">
                <a:solidFill>
                  <a:srgbClr val="6677AA"/>
                </a:solidFill>
                <a:latin typeface="Calibri" pitchFamily="34" charset="0"/>
                <a:ea typeface="Calibri" pitchFamily="34" charset="-122"/>
                <a:cs typeface="Calibri" pitchFamily="34" charset="-120"/>
              </a:rPr>
              <a:t>For Absolute Beginners — No Prior Knowledge Required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8229600" cy="658368"/>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What We Will Cover in Section L</a:t>
            </a:r>
            <a:endParaRPr lang="en-US" sz="2000" dirty="0"/>
          </a:p>
        </p:txBody>
      </p:sp>
      <p:sp>
        <p:nvSpPr>
          <p:cNvPr id="4" name="Shape 2"/>
          <p:cNvSpPr/>
          <p:nvPr/>
        </p:nvSpPr>
        <p:spPr>
          <a:xfrm>
            <a:off x="320040" y="777240"/>
            <a:ext cx="457200" cy="420624"/>
          </a:xfrm>
          <a:prstGeom prst="rect">
            <a:avLst/>
          </a:prstGeom>
          <a:solidFill>
            <a:srgbClr val="1E2761"/>
          </a:solidFill>
          <a:ln w="12700">
            <a:solidFill>
              <a:srgbClr val="1E2761"/>
            </a:solidFill>
            <a:prstDash val="solid"/>
          </a:ln>
        </p:spPr>
      </p:sp>
      <p:sp>
        <p:nvSpPr>
          <p:cNvPr id="5" name="Text 3"/>
          <p:cNvSpPr/>
          <p:nvPr/>
        </p:nvSpPr>
        <p:spPr>
          <a:xfrm>
            <a:off x="320040" y="777240"/>
            <a:ext cx="4572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L1</a:t>
            </a:r>
            <a:endParaRPr lang="en-US" sz="900" dirty="0"/>
          </a:p>
        </p:txBody>
      </p:sp>
      <p:sp>
        <p:nvSpPr>
          <p:cNvPr id="6" name="Text 4"/>
          <p:cNvSpPr/>
          <p:nvPr/>
        </p:nvSpPr>
        <p:spPr>
          <a:xfrm>
            <a:off x="914400" y="777240"/>
            <a:ext cx="2834640" cy="219456"/>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Keypoint Detection Fundamentals</a:t>
            </a:r>
            <a:endParaRPr lang="en-US" sz="1200" dirty="0"/>
          </a:p>
        </p:txBody>
      </p:sp>
      <p:sp>
        <p:nvSpPr>
          <p:cNvPr id="7" name="Text 5"/>
          <p:cNvSpPr/>
          <p:nvPr/>
        </p:nvSpPr>
        <p:spPr>
          <a:xfrm>
            <a:off x="914400" y="987552"/>
            <a:ext cx="7955280" cy="219456"/>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What keypoints are, heatmap representation, OKS metric</a:t>
            </a:r>
            <a:endParaRPr lang="en-US" sz="1000" dirty="0"/>
          </a:p>
        </p:txBody>
      </p:sp>
      <p:sp>
        <p:nvSpPr>
          <p:cNvPr id="8" name="Shape 6"/>
          <p:cNvSpPr/>
          <p:nvPr/>
        </p:nvSpPr>
        <p:spPr>
          <a:xfrm>
            <a:off x="320040" y="1316736"/>
            <a:ext cx="457200" cy="420624"/>
          </a:xfrm>
          <a:prstGeom prst="rect">
            <a:avLst/>
          </a:prstGeom>
          <a:solidFill>
            <a:srgbClr val="1E2761"/>
          </a:solidFill>
          <a:ln w="12700">
            <a:solidFill>
              <a:srgbClr val="1E2761"/>
            </a:solidFill>
            <a:prstDash val="solid"/>
          </a:ln>
        </p:spPr>
      </p:sp>
      <p:sp>
        <p:nvSpPr>
          <p:cNvPr id="9" name="Text 7"/>
          <p:cNvSpPr/>
          <p:nvPr/>
        </p:nvSpPr>
        <p:spPr>
          <a:xfrm>
            <a:off x="320040" y="1316736"/>
            <a:ext cx="4572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L2</a:t>
            </a:r>
            <a:endParaRPr lang="en-US" sz="900" dirty="0"/>
          </a:p>
        </p:txBody>
      </p:sp>
      <p:sp>
        <p:nvSpPr>
          <p:cNvPr id="10" name="Text 8"/>
          <p:cNvSpPr/>
          <p:nvPr/>
        </p:nvSpPr>
        <p:spPr>
          <a:xfrm>
            <a:off x="914400" y="1316736"/>
            <a:ext cx="2834640" cy="219456"/>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OpenPose &amp; Bottom-Up Pose</a:t>
            </a:r>
            <a:endParaRPr lang="en-US" sz="1200" dirty="0"/>
          </a:p>
        </p:txBody>
      </p:sp>
      <p:sp>
        <p:nvSpPr>
          <p:cNvPr id="11" name="Text 9"/>
          <p:cNvSpPr/>
          <p:nvPr/>
        </p:nvSpPr>
        <p:spPr>
          <a:xfrm>
            <a:off x="914400" y="1527048"/>
            <a:ext cx="7955280" cy="219456"/>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Part Affinity Fields, multi-person from a single pass</a:t>
            </a:r>
            <a:endParaRPr lang="en-US" sz="1000" dirty="0"/>
          </a:p>
        </p:txBody>
      </p:sp>
      <p:sp>
        <p:nvSpPr>
          <p:cNvPr id="12" name="Shape 10"/>
          <p:cNvSpPr/>
          <p:nvPr/>
        </p:nvSpPr>
        <p:spPr>
          <a:xfrm>
            <a:off x="320040" y="1856232"/>
            <a:ext cx="457200" cy="420624"/>
          </a:xfrm>
          <a:prstGeom prst="rect">
            <a:avLst/>
          </a:prstGeom>
          <a:solidFill>
            <a:srgbClr val="1E2761"/>
          </a:solidFill>
          <a:ln w="12700">
            <a:solidFill>
              <a:srgbClr val="1E2761"/>
            </a:solidFill>
            <a:prstDash val="solid"/>
          </a:ln>
        </p:spPr>
      </p:sp>
      <p:sp>
        <p:nvSpPr>
          <p:cNvPr id="13" name="Text 11"/>
          <p:cNvSpPr/>
          <p:nvPr/>
        </p:nvSpPr>
        <p:spPr>
          <a:xfrm>
            <a:off x="320040" y="1856232"/>
            <a:ext cx="4572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L3</a:t>
            </a:r>
            <a:endParaRPr lang="en-US" sz="900" dirty="0"/>
          </a:p>
        </p:txBody>
      </p:sp>
      <p:sp>
        <p:nvSpPr>
          <p:cNvPr id="14" name="Text 12"/>
          <p:cNvSpPr/>
          <p:nvPr/>
        </p:nvSpPr>
        <p:spPr>
          <a:xfrm>
            <a:off x="914400" y="1856232"/>
            <a:ext cx="2834640" cy="219456"/>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HRNet &amp; Top-Down Pose</a:t>
            </a:r>
            <a:endParaRPr lang="en-US" sz="1200" dirty="0"/>
          </a:p>
        </p:txBody>
      </p:sp>
      <p:sp>
        <p:nvSpPr>
          <p:cNvPr id="15" name="Text 13"/>
          <p:cNvSpPr/>
          <p:nvPr/>
        </p:nvSpPr>
        <p:spPr>
          <a:xfrm>
            <a:off x="914400" y="2066544"/>
            <a:ext cx="7955280" cy="219456"/>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High-resolution representation, top-down vs bottom-up pipeline</a:t>
            </a:r>
            <a:endParaRPr lang="en-US" sz="1000" dirty="0"/>
          </a:p>
        </p:txBody>
      </p:sp>
      <p:sp>
        <p:nvSpPr>
          <p:cNvPr id="16" name="Shape 14"/>
          <p:cNvSpPr/>
          <p:nvPr/>
        </p:nvSpPr>
        <p:spPr>
          <a:xfrm>
            <a:off x="320040" y="2395728"/>
            <a:ext cx="457200" cy="420624"/>
          </a:xfrm>
          <a:prstGeom prst="rect">
            <a:avLst/>
          </a:prstGeom>
          <a:solidFill>
            <a:srgbClr val="1E2761"/>
          </a:solidFill>
          <a:ln w="12700">
            <a:solidFill>
              <a:srgbClr val="1E2761"/>
            </a:solidFill>
            <a:prstDash val="solid"/>
          </a:ln>
        </p:spPr>
      </p:sp>
      <p:sp>
        <p:nvSpPr>
          <p:cNvPr id="17" name="Text 15"/>
          <p:cNvSpPr/>
          <p:nvPr/>
        </p:nvSpPr>
        <p:spPr>
          <a:xfrm>
            <a:off x="320040" y="2395728"/>
            <a:ext cx="4572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L4</a:t>
            </a:r>
            <a:endParaRPr lang="en-US" sz="900" dirty="0"/>
          </a:p>
        </p:txBody>
      </p:sp>
      <p:sp>
        <p:nvSpPr>
          <p:cNvPr id="18" name="Text 16"/>
          <p:cNvSpPr/>
          <p:nvPr/>
        </p:nvSpPr>
        <p:spPr>
          <a:xfrm>
            <a:off x="914400" y="2395728"/>
            <a:ext cx="2834640" cy="219456"/>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Face &amp; Hand Landmarks</a:t>
            </a:r>
            <a:endParaRPr lang="en-US" sz="1200" dirty="0"/>
          </a:p>
        </p:txBody>
      </p:sp>
      <p:sp>
        <p:nvSpPr>
          <p:cNvPr id="19" name="Text 17"/>
          <p:cNvSpPr/>
          <p:nvPr/>
        </p:nvSpPr>
        <p:spPr>
          <a:xfrm>
            <a:off x="914400" y="2606040"/>
            <a:ext cx="7955280" cy="219456"/>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MediaPipe, 68-point face model, 21-point hand skeleton</a:t>
            </a:r>
            <a:endParaRPr lang="en-US" sz="1000" dirty="0"/>
          </a:p>
        </p:txBody>
      </p:sp>
      <p:sp>
        <p:nvSpPr>
          <p:cNvPr id="20" name="Shape 18"/>
          <p:cNvSpPr/>
          <p:nvPr/>
        </p:nvSpPr>
        <p:spPr>
          <a:xfrm>
            <a:off x="320040" y="2935224"/>
            <a:ext cx="457200" cy="420624"/>
          </a:xfrm>
          <a:prstGeom prst="rect">
            <a:avLst/>
          </a:prstGeom>
          <a:solidFill>
            <a:srgbClr val="1E2761"/>
          </a:solidFill>
          <a:ln w="12700">
            <a:solidFill>
              <a:srgbClr val="1E2761"/>
            </a:solidFill>
            <a:prstDash val="solid"/>
          </a:ln>
        </p:spPr>
      </p:sp>
      <p:sp>
        <p:nvSpPr>
          <p:cNvPr id="21" name="Text 19"/>
          <p:cNvSpPr/>
          <p:nvPr/>
        </p:nvSpPr>
        <p:spPr>
          <a:xfrm>
            <a:off x="320040" y="2935224"/>
            <a:ext cx="4572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L5</a:t>
            </a:r>
            <a:endParaRPr lang="en-US" sz="900" dirty="0"/>
          </a:p>
        </p:txBody>
      </p:sp>
      <p:sp>
        <p:nvSpPr>
          <p:cNvPr id="22" name="Text 20"/>
          <p:cNvSpPr/>
          <p:nvPr/>
        </p:nvSpPr>
        <p:spPr>
          <a:xfrm>
            <a:off x="914400" y="2935224"/>
            <a:ext cx="2834640" cy="219456"/>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2D to 3D Lifting</a:t>
            </a:r>
            <a:endParaRPr lang="en-US" sz="1200" dirty="0"/>
          </a:p>
        </p:txBody>
      </p:sp>
      <p:sp>
        <p:nvSpPr>
          <p:cNvPr id="23" name="Text 21"/>
          <p:cNvSpPr/>
          <p:nvPr/>
        </p:nvSpPr>
        <p:spPr>
          <a:xfrm>
            <a:off x="914400" y="3145536"/>
            <a:ext cx="7955280" cy="219456"/>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VideoPose3D, temporal context, weak perspective projection</a:t>
            </a:r>
            <a:endParaRPr lang="en-US" sz="1000" dirty="0"/>
          </a:p>
        </p:txBody>
      </p:sp>
      <p:sp>
        <p:nvSpPr>
          <p:cNvPr id="24" name="Shape 22"/>
          <p:cNvSpPr/>
          <p:nvPr/>
        </p:nvSpPr>
        <p:spPr>
          <a:xfrm>
            <a:off x="320040" y="3474720"/>
            <a:ext cx="457200" cy="420624"/>
          </a:xfrm>
          <a:prstGeom prst="rect">
            <a:avLst/>
          </a:prstGeom>
          <a:solidFill>
            <a:srgbClr val="1E2761"/>
          </a:solidFill>
          <a:ln w="12700">
            <a:solidFill>
              <a:srgbClr val="1E2761"/>
            </a:solidFill>
            <a:prstDash val="solid"/>
          </a:ln>
        </p:spPr>
      </p:sp>
      <p:sp>
        <p:nvSpPr>
          <p:cNvPr id="25" name="Text 23"/>
          <p:cNvSpPr/>
          <p:nvPr/>
        </p:nvSpPr>
        <p:spPr>
          <a:xfrm>
            <a:off x="320040" y="3474720"/>
            <a:ext cx="4572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L6</a:t>
            </a:r>
            <a:endParaRPr lang="en-US" sz="900" dirty="0"/>
          </a:p>
        </p:txBody>
      </p:sp>
      <p:sp>
        <p:nvSpPr>
          <p:cNvPr id="26" name="Text 24"/>
          <p:cNvSpPr/>
          <p:nvPr/>
        </p:nvSpPr>
        <p:spPr>
          <a:xfrm>
            <a:off x="914400" y="3474720"/>
            <a:ext cx="2834640" cy="219456"/>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Homography &amp; Image Alignment</a:t>
            </a:r>
            <a:endParaRPr lang="en-US" sz="1200" dirty="0"/>
          </a:p>
        </p:txBody>
      </p:sp>
      <p:sp>
        <p:nvSpPr>
          <p:cNvPr id="27" name="Text 25"/>
          <p:cNvSpPr/>
          <p:nvPr/>
        </p:nvSpPr>
        <p:spPr>
          <a:xfrm>
            <a:off x="914400" y="3685032"/>
            <a:ext cx="7955280" cy="219456"/>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Planar transformation, DLT algorithm, RANSAC, applications</a:t>
            </a:r>
            <a:endParaRPr lang="en-US" sz="1000" dirty="0"/>
          </a:p>
        </p:txBody>
      </p:sp>
      <p:sp>
        <p:nvSpPr>
          <p:cNvPr id="28" name="Shape 26"/>
          <p:cNvSpPr/>
          <p:nvPr/>
        </p:nvSpPr>
        <p:spPr>
          <a:xfrm>
            <a:off x="320040" y="4014216"/>
            <a:ext cx="457200" cy="420624"/>
          </a:xfrm>
          <a:prstGeom prst="rect">
            <a:avLst/>
          </a:prstGeom>
          <a:solidFill>
            <a:srgbClr val="1E2761"/>
          </a:solidFill>
          <a:ln w="12700">
            <a:solidFill>
              <a:srgbClr val="1E2761"/>
            </a:solidFill>
            <a:prstDash val="solid"/>
          </a:ln>
        </p:spPr>
      </p:sp>
      <p:sp>
        <p:nvSpPr>
          <p:cNvPr id="29" name="Text 27"/>
          <p:cNvSpPr/>
          <p:nvPr/>
        </p:nvSpPr>
        <p:spPr>
          <a:xfrm>
            <a:off x="320040" y="4014216"/>
            <a:ext cx="4572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L7</a:t>
            </a:r>
            <a:endParaRPr lang="en-US" sz="900" dirty="0"/>
          </a:p>
        </p:txBody>
      </p:sp>
      <p:sp>
        <p:nvSpPr>
          <p:cNvPr id="30" name="Text 28"/>
          <p:cNvSpPr/>
          <p:nvPr/>
        </p:nvSpPr>
        <p:spPr>
          <a:xfrm>
            <a:off x="914400" y="4014216"/>
            <a:ext cx="2834640" cy="219456"/>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Epipolar Geometry</a:t>
            </a:r>
            <a:endParaRPr lang="en-US" sz="1200" dirty="0"/>
          </a:p>
        </p:txBody>
      </p:sp>
      <p:sp>
        <p:nvSpPr>
          <p:cNvPr id="31" name="Text 29"/>
          <p:cNvSpPr/>
          <p:nvPr/>
        </p:nvSpPr>
        <p:spPr>
          <a:xfrm>
            <a:off x="914400" y="4224528"/>
            <a:ext cx="7955280" cy="219456"/>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Essential and Fundamental matrices, stereo correspondence</a:t>
            </a:r>
            <a:endParaRPr lang="en-US" sz="1000" dirty="0"/>
          </a:p>
        </p:txBody>
      </p:sp>
      <p:sp>
        <p:nvSpPr>
          <p:cNvPr id="32" name="Shape 30"/>
          <p:cNvSpPr/>
          <p:nvPr/>
        </p:nvSpPr>
        <p:spPr>
          <a:xfrm>
            <a:off x="320040" y="4553712"/>
            <a:ext cx="457200" cy="420624"/>
          </a:xfrm>
          <a:prstGeom prst="rect">
            <a:avLst/>
          </a:prstGeom>
          <a:solidFill>
            <a:srgbClr val="1E2761"/>
          </a:solidFill>
          <a:ln w="12700">
            <a:solidFill>
              <a:srgbClr val="1E2761"/>
            </a:solidFill>
            <a:prstDash val="solid"/>
          </a:ln>
        </p:spPr>
      </p:sp>
      <p:sp>
        <p:nvSpPr>
          <p:cNvPr id="33" name="Text 31"/>
          <p:cNvSpPr/>
          <p:nvPr/>
        </p:nvSpPr>
        <p:spPr>
          <a:xfrm>
            <a:off x="320040" y="4553712"/>
            <a:ext cx="4572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L8</a:t>
            </a:r>
            <a:endParaRPr lang="en-US" sz="900" dirty="0"/>
          </a:p>
        </p:txBody>
      </p:sp>
      <p:sp>
        <p:nvSpPr>
          <p:cNvPr id="34" name="Text 32"/>
          <p:cNvSpPr/>
          <p:nvPr/>
        </p:nvSpPr>
        <p:spPr>
          <a:xfrm>
            <a:off x="914400" y="4553712"/>
            <a:ext cx="2834640" cy="219456"/>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Stereo Vision &amp; Depth</a:t>
            </a:r>
            <a:endParaRPr lang="en-US" sz="1200" dirty="0"/>
          </a:p>
        </p:txBody>
      </p:sp>
      <p:sp>
        <p:nvSpPr>
          <p:cNvPr id="35" name="Text 33"/>
          <p:cNvSpPr/>
          <p:nvPr/>
        </p:nvSpPr>
        <p:spPr>
          <a:xfrm>
            <a:off x="914400" y="4764024"/>
            <a:ext cx="7955280" cy="219456"/>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Disparity, triangulation, depth from stereo, monocular depth</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E2761"/>
          </a:solidFill>
          <a:ln w="12700">
            <a:solidFill>
              <a:srgbClr val="1E2761"/>
            </a:solidFill>
            <a:prstDash val="solid"/>
          </a:ln>
        </p:spPr>
      </p:sp>
      <p:sp>
        <p:nvSpPr>
          <p:cNvPr id="3" name="Text 1"/>
          <p:cNvSpPr/>
          <p:nvPr/>
        </p:nvSpPr>
        <p:spPr>
          <a:xfrm>
            <a:off x="41148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L1</a:t>
            </a:r>
            <a:endParaRPr lang="en-US" sz="7200" dirty="0"/>
          </a:p>
        </p:txBody>
      </p:sp>
      <p:sp>
        <p:nvSpPr>
          <p:cNvPr id="4" name="Text 2"/>
          <p:cNvSpPr/>
          <p:nvPr/>
        </p:nvSpPr>
        <p:spPr>
          <a:xfrm>
            <a:off x="411480" y="1554480"/>
            <a:ext cx="8412480" cy="914400"/>
          </a:xfrm>
          <a:prstGeom prst="rect">
            <a:avLst/>
          </a:prstGeom>
          <a:noFill/>
          <a:ln/>
        </p:spPr>
        <p:txBody>
          <a:bodyPr wrap="square" rtlCol="0" anchor="ctr"/>
          <a:lstStyle/>
          <a:p>
            <a:pPr indent="0" marL="0">
              <a:buNone/>
            </a:pPr>
            <a:r>
              <a:rPr lang="en-US" sz="3400" b="1" dirty="0">
                <a:solidFill>
                  <a:srgbClr val="1E2761"/>
                </a:solidFill>
                <a:latin typeface="Georgia" pitchFamily="34" charset="0"/>
                <a:ea typeface="Georgia" pitchFamily="34" charset="-122"/>
                <a:cs typeface="Georgia" pitchFamily="34" charset="-120"/>
              </a:rPr>
              <a:t>Keypoint Detection Fundamentals</a:t>
            </a:r>
            <a:endParaRPr lang="en-US" sz="3400" dirty="0"/>
          </a:p>
        </p:txBody>
      </p:sp>
      <p:sp>
        <p:nvSpPr>
          <p:cNvPr id="5" name="Text 3"/>
          <p:cNvSpPr/>
          <p:nvPr/>
        </p:nvSpPr>
        <p:spPr>
          <a:xfrm>
            <a:off x="41148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Heatmaps, OKS, and the coordinate representation of body structure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What Are Keypoints?</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L1</a:t>
            </a:r>
            <a:endParaRPr lang="en-US" sz="1000" dirty="0"/>
          </a:p>
        </p:txBody>
      </p:sp>
      <p:sp>
        <p:nvSpPr>
          <p:cNvPr id="5" name="Shape 3"/>
          <p:cNvSpPr/>
          <p:nvPr/>
        </p:nvSpPr>
        <p:spPr>
          <a:xfrm>
            <a:off x="320040" y="804672"/>
            <a:ext cx="8503920" cy="960120"/>
          </a:xfrm>
          <a:prstGeom prst="rect">
            <a:avLst/>
          </a:prstGeom>
          <a:solidFill>
            <a:srgbClr val="DBEAFE"/>
          </a:solidFill>
          <a:ln w="12700">
            <a:solidFill>
              <a:srgbClr val="93C5FD"/>
            </a:solidFill>
            <a:prstDash val="solid"/>
          </a:ln>
        </p:spPr>
      </p:sp>
      <p:sp>
        <p:nvSpPr>
          <p:cNvPr id="6" name="Text 4"/>
          <p:cNvSpPr/>
          <p:nvPr/>
        </p:nvSpPr>
        <p:spPr>
          <a:xfrm>
            <a:off x="502920" y="841248"/>
            <a:ext cx="8229600" cy="822960"/>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Keypoints (also called landmarks or joints) are specific, semantically meaningful points on an object — such as the nose, left elbow, or right ankle on a human body. Detecting them enables understanding of pose, gesture, gait, and expression.</a:t>
            </a:r>
            <a:endParaRPr lang="en-US" sz="1250" dirty="0"/>
          </a:p>
        </p:txBody>
      </p:sp>
      <p:sp>
        <p:nvSpPr>
          <p:cNvPr id="7" name="Text 5"/>
          <p:cNvSpPr/>
          <p:nvPr/>
        </p:nvSpPr>
        <p:spPr>
          <a:xfrm>
            <a:off x="320040" y="1920240"/>
            <a:ext cx="8503920" cy="3017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Human body pose: typically 17 keypoints (COCO standard) — nose, eyes, ears, shoulders, elbows, wrists, hips, knees, ankles.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Face: 68 points (dlib/68-point model) covering jaw, eyebrows, nose, lips, eye outlines. MediaPipe uses 468 mesh points.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Hand: 21 points — 4 per finger (MCP, PIP, DIP, tip) + 1 wrist.</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Output format: for each keypoint k, predict (x_k, y_k, v_k) where v_k is visibility: 0=not labelled, 1=labelled but occluded, 2=labelled and visible.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Heatmap representation: rather than directly predicting (x, y) coordinates, modern networks output a 2D Gaussian heatmap H_k of shape (H/s × W/s) per keypoint. The peak location = predicted coordinate. Heatmaps are more accurate than direct regression for fine localisation.</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Gaussian heatmap generation: for GT keypoint at (x*, y*), generate H_k(x,y) = exp(-((x-x*)^2 + (y-y*)^2) / (2*sigma^2)). sigma = 2px is typical.</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OKS — Object Keypoint Similarity</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L1</a:t>
            </a:r>
            <a:endParaRPr lang="en-US" sz="1000" dirty="0"/>
          </a:p>
        </p:txBody>
      </p:sp>
      <p:sp>
        <p:nvSpPr>
          <p:cNvPr id="5" name="Text 3"/>
          <p:cNvSpPr/>
          <p:nvPr/>
        </p:nvSpPr>
        <p:spPr>
          <a:xfrm>
            <a:off x="320040" y="777240"/>
            <a:ext cx="8503920" cy="411480"/>
          </a:xfrm>
          <a:prstGeom prst="rect">
            <a:avLst/>
          </a:prstGeom>
          <a:noFill/>
          <a:ln/>
        </p:spPr>
        <p:txBody>
          <a:bodyPr wrap="square" rtlCol="0" anchor="ctr"/>
          <a:lstStyle/>
          <a:p>
            <a:pPr indent="0" marL="0">
              <a:buNone/>
            </a:pPr>
            <a:r>
              <a:rPr lang="en-US" sz="1250" dirty="0">
                <a:solidFill>
                  <a:srgbClr val="12193D"/>
                </a:solidFill>
                <a:latin typeface="Calibri" pitchFamily="34" charset="0"/>
                <a:ea typeface="Calibri" pitchFamily="34" charset="-122"/>
                <a:cs typeface="Calibri" pitchFamily="34" charset="-120"/>
              </a:rPr>
              <a:t>OKS is the keypoint equivalent of IoU — it measures how well predicted keypoints match ground-truth keypoints, accounting for body-part size and visibility.</a:t>
            </a:r>
            <a:endParaRPr lang="en-US" sz="1250" dirty="0"/>
          </a:p>
        </p:txBody>
      </p:sp>
      <p:sp>
        <p:nvSpPr>
          <p:cNvPr id="6" name="Shape 4"/>
          <p:cNvSpPr/>
          <p:nvPr/>
        </p:nvSpPr>
        <p:spPr>
          <a:xfrm>
            <a:off x="320040" y="1234440"/>
            <a:ext cx="8503920" cy="2011680"/>
          </a:xfrm>
          <a:prstGeom prst="rect">
            <a:avLst/>
          </a:prstGeom>
          <a:solidFill>
            <a:srgbClr val="1E1E2E"/>
          </a:solidFill>
          <a:ln w="12700">
            <a:solidFill>
              <a:srgbClr val="1E1E2E"/>
            </a:solidFill>
            <a:prstDash val="solid"/>
          </a:ln>
        </p:spPr>
      </p:sp>
      <p:sp>
        <p:nvSpPr>
          <p:cNvPr id="7" name="Text 5"/>
          <p:cNvSpPr/>
          <p:nvPr/>
        </p:nvSpPr>
        <p:spPr>
          <a:xfrm>
            <a:off x="502920" y="1298448"/>
            <a:ext cx="8138160" cy="1874520"/>
          </a:xfrm>
          <a:prstGeom prst="rect">
            <a:avLst/>
          </a:prstGeom>
          <a:noFill/>
          <a:ln/>
        </p:spPr>
        <p:txBody>
          <a:bodyPr wrap="square" rtlCol="0" anchor="t"/>
          <a:lstStyle/>
          <a:p>
            <a:pPr indent="0" marL="0">
              <a:buNone/>
            </a:pPr>
            <a:r>
              <a:rPr lang="en-US" sz="1150" dirty="0">
                <a:solidFill>
                  <a:srgbClr val="C9D1D9"/>
                </a:solidFill>
                <a:latin typeface="Consolas" pitchFamily="34" charset="0"/>
                <a:ea typeface="Consolas" pitchFamily="34" charset="-122"/>
                <a:cs typeface="Consolas" pitchFamily="34" charset="-120"/>
              </a:rPr>
              <a:t>OKS = sum_i [exp(-d_i^2 / (2*s^2*k_i^2)) * delta(v_i &gt; 0)]</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 sum_i [delta(v_i &gt; 0)]</a:t>
            </a:r>
            <a:endParaRPr lang="en-US" sz="1150" dirty="0"/>
          </a:p>
          <a:p>
            <a:pPr indent="0" marL="0">
              <a:buNone/>
            </a:pP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d_i  = Euclidean distance between predicted and GT keypoint i</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s    = object scale (sqrt of bounding box area)</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k_i  = per-keypoint constant (from COCO: nose=0.026, hip=0.107)</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v_i  = GT visibility flag (0/1/2); only evaluate where v_i &gt; 0</a:t>
            </a:r>
            <a:endParaRPr lang="en-US" sz="1150" dirty="0"/>
          </a:p>
        </p:txBody>
      </p:sp>
      <p:sp>
        <p:nvSpPr>
          <p:cNvPr id="8" name="Text 6"/>
          <p:cNvSpPr/>
          <p:nvPr/>
        </p:nvSpPr>
        <p:spPr>
          <a:xfrm>
            <a:off x="320040" y="3401568"/>
            <a:ext cx="8503920" cy="1623060"/>
          </a:xfrm>
          <a:prstGeom prst="rect">
            <a:avLst/>
          </a:prstGeom>
          <a:noFill/>
          <a:ln/>
        </p:spPr>
        <p:txBody>
          <a:bodyPr wrap="square" rtlCol="0" anchor="t"/>
          <a:lstStyle/>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Intuition: OKS = 1 when all keypoints are perfectly predicted. OKS = 0 when all keypoints are far from GT. The Gaussian kernel exp(-d^2/2sk^2) gives 1 at zero error and decays as error grows.</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k_i is larger for large body parts (hips, knees) — these are harder to locate precisely so we give more tolerance. k_i is smaller for face points (eyes) — these are smaller and need to be precise.</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mAP for pose estimation = mean AP over OKS thresholds 0.5:0.05:0.95, exactly analogous to COCO detection mAP.</a:t>
            </a:r>
            <a:endParaRPr lang="en-US" sz="1200" dirty="0"/>
          </a:p>
          <a:p>
            <a:pPr lvl="1" marL="685800" indent="-342900">
              <a:spcAft>
                <a:spcPts val="400"/>
              </a:spcAft>
              <a:buSzPct val="100000"/>
              <a:buChar char="•"/>
            </a:pPr>
            <a:r>
              <a:rPr lang="en-US" sz="1200" dirty="0">
                <a:solidFill>
                  <a:srgbClr val="6B7280"/>
                </a:solidFill>
                <a:latin typeface="Calibri" pitchFamily="34" charset="0"/>
                <a:ea typeface="Calibri" pitchFamily="34" charset="-122"/>
                <a:cs typeface="Calibri" pitchFamily="34" charset="-120"/>
              </a:rPr>
              <a:t>COCO keypoint AP: AP@OKS=0.50 is easy (loose). AP@OKS=0.75 is hard. COCO AP averages all. State-of-the-art ViTPose: COCO AP = 81.1.</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PCK (Percentage of Correct Keypoints): alternative metric. Keypoint correct if distance to GT &lt; threshold * head/torso size. Threshold typically 0.2 * head size (PCKh@0.2).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E2761"/>
          </a:solidFill>
          <a:ln w="12700">
            <a:solidFill>
              <a:srgbClr val="1E2761"/>
            </a:solidFill>
            <a:prstDash val="solid"/>
          </a:ln>
        </p:spPr>
      </p:sp>
      <p:sp>
        <p:nvSpPr>
          <p:cNvPr id="3" name="Text 1"/>
          <p:cNvSpPr/>
          <p:nvPr/>
        </p:nvSpPr>
        <p:spPr>
          <a:xfrm>
            <a:off x="41148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L2</a:t>
            </a:r>
            <a:endParaRPr lang="en-US" sz="7200" dirty="0"/>
          </a:p>
        </p:txBody>
      </p:sp>
      <p:sp>
        <p:nvSpPr>
          <p:cNvPr id="4" name="Text 2"/>
          <p:cNvSpPr/>
          <p:nvPr/>
        </p:nvSpPr>
        <p:spPr>
          <a:xfrm>
            <a:off x="411480" y="1554480"/>
            <a:ext cx="8412480" cy="914400"/>
          </a:xfrm>
          <a:prstGeom prst="rect">
            <a:avLst/>
          </a:prstGeom>
          <a:noFill/>
          <a:ln/>
        </p:spPr>
        <p:txBody>
          <a:bodyPr wrap="square" rtlCol="0" anchor="ctr"/>
          <a:lstStyle/>
          <a:p>
            <a:pPr indent="0" marL="0">
              <a:buNone/>
            </a:pPr>
            <a:r>
              <a:rPr lang="en-US" sz="3400" b="1" dirty="0">
                <a:solidFill>
                  <a:srgbClr val="1E2761"/>
                </a:solidFill>
                <a:latin typeface="Georgia" pitchFamily="34" charset="0"/>
                <a:ea typeface="Georgia" pitchFamily="34" charset="-122"/>
                <a:cs typeface="Georgia" pitchFamily="34" charset="-120"/>
              </a:rPr>
              <a:t>OpenPose &amp; Bottom-Up Pose Estimation</a:t>
            </a:r>
            <a:endParaRPr lang="en-US" sz="3400" dirty="0"/>
          </a:p>
        </p:txBody>
      </p:sp>
      <p:sp>
        <p:nvSpPr>
          <p:cNvPr id="5" name="Text 3"/>
          <p:cNvSpPr/>
          <p:nvPr/>
        </p:nvSpPr>
        <p:spPr>
          <a:xfrm>
            <a:off x="41148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Part Affinity Fields — detecting all people simultaneously</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Bottom-Up Approach — Detect Parts First, Group Later</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L2</a:t>
            </a:r>
            <a:endParaRPr lang="en-US" sz="1000" dirty="0"/>
          </a:p>
        </p:txBody>
      </p:sp>
      <p:sp>
        <p:nvSpPr>
          <p:cNvPr id="5" name="Shape 3"/>
          <p:cNvSpPr/>
          <p:nvPr/>
        </p:nvSpPr>
        <p:spPr>
          <a:xfrm>
            <a:off x="320040" y="804672"/>
            <a:ext cx="8503920" cy="960120"/>
          </a:xfrm>
          <a:prstGeom prst="rect">
            <a:avLst/>
          </a:prstGeom>
          <a:solidFill>
            <a:srgbClr val="DBEAFE"/>
          </a:solidFill>
          <a:ln w="12700">
            <a:solidFill>
              <a:srgbClr val="93C5FD"/>
            </a:solidFill>
            <a:prstDash val="solid"/>
          </a:ln>
        </p:spPr>
      </p:sp>
      <p:sp>
        <p:nvSpPr>
          <p:cNvPr id="6" name="Text 4"/>
          <p:cNvSpPr/>
          <p:nvPr/>
        </p:nvSpPr>
        <p:spPr>
          <a:xfrm>
            <a:off x="502920" y="841248"/>
            <a:ext cx="8229600" cy="822960"/>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Bottom-up methods detect all keypoints in the image first (without knowing which person they belong to), then group them into individual people. This allows detection of an arbitrary number of people in a single forward pass — O(1) time regardless of number of people.</a:t>
            </a:r>
            <a:endParaRPr lang="en-US" sz="1250" dirty="0"/>
          </a:p>
        </p:txBody>
      </p:sp>
      <p:sp>
        <p:nvSpPr>
          <p:cNvPr id="7" name="Text 5"/>
          <p:cNvSpPr/>
          <p:nvPr/>
        </p:nvSpPr>
        <p:spPr>
          <a:xfrm>
            <a:off x="320040" y="1920240"/>
            <a:ext cx="8503920" cy="3017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Top-down approach (alternative): detect all people first with a person detector, then run a single-person pose estimator on each crop. O(N) time for N people.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OpenPose (Cao, 2017) pipeline: single CNN predicts two things simultaneously for the full image:</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Part Confidence Maps S: one heatmap per keypoint, showing where each body part is located. Shape: (H/8 × W/8 × K) for K=18 keypoints.</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Part Affinity Fields (PAF) L: a 2D vector field per limb, encoding the orientation and location of each limb (connection between two keypoints). Shape: (H/8 × W/8 × 2×C) for C=19 limbs.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Grouping: find all joint candidates from heatmap peaks. Use PAFs to compute affinity scores between candidate joint pairs. Solve a bipartite matching problem to assign joints to individuals.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Speed: ~22 fps on single GPU for a crowd image. Scales well — adding more people barely slows it down.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Part Affinity Fields — Visualised</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L2</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PART AFFINITY FIELD for the LEFT UPPER ARM (shoulder -&gt; elbow limb):</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Image:   person standing with left arm raised</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PAF visualisation (vector field):</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The arrows point FROM shoulder TOWARD elbow along the limb.</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Where there is no limb: vectors are ~zero.</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AFFINITY SCORE for a candidate pair (j1=shoulder, j2=elbow):</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Sample PAF at positions along the line from j1 to j2.</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Affinity = (1/n) * sum_u=0^1 PAF(p(u)) dot (j2 - j1) / |j2 - j1|</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High score: vectors along the line point from j1 to j2 (correct limb).</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Low score: vectors don't align (incorrect pair — different people).</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MATCHING: Hungarian algorithm on the affinity score matrix.</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Connects correct joint pairs into person skeletons.</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PAFs encode BOTH position (where the limb is) and orientation (direction from joint A to B). This is key to associating joints to the correct person.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E2761"/>
          </a:solidFill>
          <a:ln w="12700">
            <a:solidFill>
              <a:srgbClr val="1E2761"/>
            </a:solidFill>
            <a:prstDash val="solid"/>
          </a:ln>
        </p:spPr>
      </p:sp>
      <p:sp>
        <p:nvSpPr>
          <p:cNvPr id="3" name="Text 1"/>
          <p:cNvSpPr/>
          <p:nvPr/>
        </p:nvSpPr>
        <p:spPr>
          <a:xfrm>
            <a:off x="41148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L3</a:t>
            </a:r>
            <a:endParaRPr lang="en-US" sz="7200" dirty="0"/>
          </a:p>
        </p:txBody>
      </p:sp>
      <p:sp>
        <p:nvSpPr>
          <p:cNvPr id="4" name="Text 2"/>
          <p:cNvSpPr/>
          <p:nvPr/>
        </p:nvSpPr>
        <p:spPr>
          <a:xfrm>
            <a:off x="411480" y="1554480"/>
            <a:ext cx="8412480" cy="914400"/>
          </a:xfrm>
          <a:prstGeom prst="rect">
            <a:avLst/>
          </a:prstGeom>
          <a:noFill/>
          <a:ln/>
        </p:spPr>
        <p:txBody>
          <a:bodyPr wrap="square" rtlCol="0" anchor="ctr"/>
          <a:lstStyle/>
          <a:p>
            <a:pPr indent="0" marL="0">
              <a:buNone/>
            </a:pPr>
            <a:r>
              <a:rPr lang="en-US" sz="3400" b="1" dirty="0">
                <a:solidFill>
                  <a:srgbClr val="1E2761"/>
                </a:solidFill>
                <a:latin typeface="Georgia" pitchFamily="34" charset="0"/>
                <a:ea typeface="Georgia" pitchFamily="34" charset="-122"/>
                <a:cs typeface="Georgia" pitchFamily="34" charset="-120"/>
              </a:rPr>
              <a:t>HRNet &amp; Top-Down Pose Estimation</a:t>
            </a:r>
            <a:endParaRPr lang="en-US" sz="3400" dirty="0"/>
          </a:p>
        </p:txBody>
      </p:sp>
      <p:sp>
        <p:nvSpPr>
          <p:cNvPr id="5" name="Text 3"/>
          <p:cNvSpPr/>
          <p:nvPr/>
        </p:nvSpPr>
        <p:spPr>
          <a:xfrm>
            <a:off x="41148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Maintaining high-resolution representations throughout the network</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HRNet — High-Resolution Net (Sun, 2019)</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L3</a:t>
            </a:r>
            <a:endParaRPr lang="en-US" sz="1000" dirty="0"/>
          </a:p>
        </p:txBody>
      </p:sp>
      <p:sp>
        <p:nvSpPr>
          <p:cNvPr id="5" name="Shape 3"/>
          <p:cNvSpPr/>
          <p:nvPr/>
        </p:nvSpPr>
        <p:spPr>
          <a:xfrm>
            <a:off x="320040" y="804672"/>
            <a:ext cx="8503920" cy="960120"/>
          </a:xfrm>
          <a:prstGeom prst="rect">
            <a:avLst/>
          </a:prstGeom>
          <a:solidFill>
            <a:srgbClr val="DBEAFE"/>
          </a:solidFill>
          <a:ln w="12700">
            <a:solidFill>
              <a:srgbClr val="93C5FD"/>
            </a:solidFill>
            <a:prstDash val="solid"/>
          </a:ln>
        </p:spPr>
      </p:sp>
      <p:sp>
        <p:nvSpPr>
          <p:cNvPr id="6" name="Text 4"/>
          <p:cNvSpPr/>
          <p:nvPr/>
        </p:nvSpPr>
        <p:spPr>
          <a:xfrm>
            <a:off x="502920" y="841248"/>
            <a:ext cx="8229600" cy="822960"/>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Most CNNs reduce spatial resolution progressively (e.g., ResNet: 224 → 7 spatial resolution at the deepest layer) then upsample. HRNet maintains a HIGH-resolution representation throughout the entire network by running parallel sub-networks at different resolutions and repeatedly fusing them.</a:t>
            </a:r>
            <a:endParaRPr lang="en-US" sz="1250" dirty="0"/>
          </a:p>
        </p:txBody>
      </p:sp>
      <p:sp>
        <p:nvSpPr>
          <p:cNvPr id="7" name="Text 5"/>
          <p:cNvSpPr/>
          <p:nvPr/>
        </p:nvSpPr>
        <p:spPr>
          <a:xfrm>
            <a:off x="320040" y="1920240"/>
            <a:ext cx="8503920" cy="3017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Key innovation: connect high-to-low resolution sub-networks in PARALLEL. At each stage, exchange information between all resolutions using learned upsampling and downsampling.</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Architecture stages:</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Stage 1: single 64-channel branch at full resolution (stride-4 of input).</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Stage 2: add a second branch at 1/2 resolution. Repeatedly fuse both branches.</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Stage 3: add a third branch at 1/4 resolution. Fuse all three branches.</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Stage 4: add a fourth branch at 1/8 resolution. Fuse all four branches.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Output: take the highest-resolution representation (1/4 stride) and apply a 1x1 conv to produce K heatmaps. No upsampling needed — the high-res branch was never discarded.</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Accuracy: HRNet-W48 achieves 75.1 AP on COCO keypoint benchmark. ViTPose (Vision Transformer backbone): 81.1 AP — current SOTA.</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Top-down pipeline: person detector (e.g., Faster R-CNN) → crop each person → resize to 256x192 → HRNet → K heatmaps → argmax → keypoint coordinates.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Top-Down vs Bottom-Up — Comparison</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L3</a:t>
            </a:r>
            <a:endParaRPr lang="en-US" sz="1000" dirty="0"/>
          </a:p>
        </p:txBody>
      </p:sp>
      <p:sp>
        <p:nvSpPr>
          <p:cNvPr id="5" name="Shape 3"/>
          <p:cNvSpPr/>
          <p:nvPr/>
        </p:nvSpPr>
        <p:spPr>
          <a:xfrm>
            <a:off x="4617720" y="804672"/>
            <a:ext cx="0" cy="4114800"/>
          </a:xfrm>
          <a:prstGeom prst="line">
            <a:avLst/>
          </a:prstGeom>
          <a:noFill/>
          <a:ln w="12700">
            <a:solidFill>
              <a:srgbClr val="D1D5DB"/>
            </a:solidFill>
            <a:prstDash val="solid"/>
          </a:ln>
        </p:spPr>
      </p:sp>
      <p:sp>
        <p:nvSpPr>
          <p:cNvPr id="6" name="Text 4"/>
          <p:cNvSpPr/>
          <p:nvPr/>
        </p:nvSpPr>
        <p:spPr>
          <a:xfrm>
            <a:off x="320040" y="804672"/>
            <a:ext cx="4114800" cy="32004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Top-Down</a:t>
            </a:r>
            <a:endParaRPr lang="en-US" sz="1100" dirty="0"/>
          </a:p>
        </p:txBody>
      </p:sp>
      <p:sp>
        <p:nvSpPr>
          <p:cNvPr id="7" name="Text 5"/>
          <p:cNvSpPr/>
          <p:nvPr/>
        </p:nvSpPr>
        <p:spPr>
          <a:xfrm>
            <a:off x="4754880" y="804672"/>
            <a:ext cx="4114800" cy="32004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Bottom-Up</a:t>
            </a:r>
            <a:endParaRPr lang="en-US" sz="1100" dirty="0"/>
          </a:p>
        </p:txBody>
      </p:sp>
      <p:sp>
        <p:nvSpPr>
          <p:cNvPr id="8" name="Text 6"/>
          <p:cNvSpPr/>
          <p:nvPr/>
        </p:nvSpPr>
        <p:spPr>
          <a:xfrm>
            <a:off x="320040" y="1170432"/>
            <a:ext cx="4160520" cy="3749040"/>
          </a:xfrm>
          <a:prstGeom prst="rect">
            <a:avLst/>
          </a:prstGeom>
          <a:noFill/>
          <a:ln/>
        </p:spPr>
        <p:txBody>
          <a:bodyPr wrap="square" rtlCol="0" anchor="t"/>
          <a:lstStyle/>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TOP-DOWN PIPELINE</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Step 1: Detect all people (bounding boxes).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Step 2: For each person crop:</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Resize to fixed size (256x192)</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Run single-person pose estimator</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Decode K keypoints from heatmaps</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Models: HRNet, SimpleBaseline, ViTPose.</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Accuracy: HIGHER (clean single-person crop).</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Speed: O(N) — slower for many people.</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Failure: if person detector misses someone, that person has no pose.</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Best for: video surveillance, sports analysis, small groups.</a:t>
            </a:r>
            <a:endParaRPr lang="en-US" sz="1200" dirty="0"/>
          </a:p>
        </p:txBody>
      </p:sp>
      <p:sp>
        <p:nvSpPr>
          <p:cNvPr id="9" name="Text 7"/>
          <p:cNvSpPr/>
          <p:nvPr/>
        </p:nvSpPr>
        <p:spPr>
          <a:xfrm>
            <a:off x="4754880" y="1170432"/>
            <a:ext cx="4160520" cy="3749040"/>
          </a:xfrm>
          <a:prstGeom prst="rect">
            <a:avLst/>
          </a:prstGeom>
          <a:noFill/>
          <a:ln/>
        </p:spPr>
        <p:txBody>
          <a:bodyPr wrap="square" rtlCol="0" anchor="t"/>
          <a:lstStyle/>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BOTTOM-UP PIPELINE</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Step 1: Run full-image forward pass.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Predict all keypoint heatmaps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Predict Part Affinity Fields (PAFs)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Step 2: Group joints into skeletons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  (bipartite matching on PAF scores)</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Models: OpenPose, HigherHRNet, DEKR.</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Accuracy: LOWER (grouping errors).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Speed: O(1) — same cost for 1 or 100 people.</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Failure: crowded scenes with heavy occlusion are hard to group.</a:t>
            </a:r>
            <a:endParaRPr lang="en-US" sz="1200" dirty="0"/>
          </a:p>
          <a:p>
            <a:pPr marL="342900" indent="-342900">
              <a:spcAft>
                <a:spcPts val="500"/>
              </a:spcAft>
              <a:buSzPct val="100000"/>
              <a:buChar char="•"/>
            </a:pP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Best for: crowds, real-time applications, many people in frame.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E2761"/>
          </a:solidFill>
          <a:ln w="12700">
            <a:solidFill>
              <a:srgbClr val="1E2761"/>
            </a:solidFill>
            <a:prstDash val="solid"/>
          </a:ln>
        </p:spPr>
      </p:sp>
      <p:sp>
        <p:nvSpPr>
          <p:cNvPr id="3" name="Text 1"/>
          <p:cNvSpPr/>
          <p:nvPr/>
        </p:nvSpPr>
        <p:spPr>
          <a:xfrm>
            <a:off x="41148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L4</a:t>
            </a:r>
            <a:endParaRPr lang="en-US" sz="7200" dirty="0"/>
          </a:p>
        </p:txBody>
      </p:sp>
      <p:sp>
        <p:nvSpPr>
          <p:cNvPr id="4" name="Text 2"/>
          <p:cNvSpPr/>
          <p:nvPr/>
        </p:nvSpPr>
        <p:spPr>
          <a:xfrm>
            <a:off x="411480" y="1554480"/>
            <a:ext cx="8412480" cy="914400"/>
          </a:xfrm>
          <a:prstGeom prst="rect">
            <a:avLst/>
          </a:prstGeom>
          <a:noFill/>
          <a:ln/>
        </p:spPr>
        <p:txBody>
          <a:bodyPr wrap="square" rtlCol="0" anchor="ctr"/>
          <a:lstStyle/>
          <a:p>
            <a:pPr indent="0" marL="0">
              <a:buNone/>
            </a:pPr>
            <a:r>
              <a:rPr lang="en-US" sz="3400" b="1" dirty="0">
                <a:solidFill>
                  <a:srgbClr val="1E2761"/>
                </a:solidFill>
                <a:latin typeface="Georgia" pitchFamily="34" charset="0"/>
                <a:ea typeface="Georgia" pitchFamily="34" charset="-122"/>
                <a:cs typeface="Georgia" pitchFamily="34" charset="-120"/>
              </a:rPr>
              <a:t>Face &amp; Hand Landmarks</a:t>
            </a:r>
            <a:endParaRPr lang="en-US" sz="3400" dirty="0"/>
          </a:p>
        </p:txBody>
      </p:sp>
      <p:sp>
        <p:nvSpPr>
          <p:cNvPr id="5" name="Text 3"/>
          <p:cNvSpPr/>
          <p:nvPr/>
        </p:nvSpPr>
        <p:spPr>
          <a:xfrm>
            <a:off x="41148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Precise localisation of facial features and hand joints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68-Point Face Model and MediaPipe 468 Mesh</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L4</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DLIB / IBUG 68-POINT FACE MODEL:</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Points 1-17:   Jaw line (left to right)</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Points 18-22:  Right eyebrow</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Points 23-27:  Left eyebrow</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Points 28-36:  Nose bridge and tip</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Points 37-42:  Right eye (6 points, clockwise)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Points 43-48:  Left eye  (6 points, clockwise)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Points 49-68:  Outer + inner lip contour</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Detection pipeline (classic):</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1. Face detection (bounding box)</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2. Align face using eyes (affine transform to canonical pose)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3. 68-point regressor (CNN or cascade of regressors) on aligned crop</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MEDIAPIPE FACE MESH (468 points):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Full 3D face mesh projected onto 2D image.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Key regions: 10 iris landmarks, 17 lip points, 36 eye points.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Runs at 30+ fps on mobile CPU using lightweight BlazeFace detector</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followed by FaceMesh network (attention + heatmap hybrid).</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3D coordinate: (x, y, z) where z is depth relative to face plane.</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MEDIAPIPE HANDS (21 points per hand):</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Wrist: 1 point. Each finger: MCP, PIP, DIP, tip = 4 points x5 = 20.</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Palm detector -&gt; hand landmark network (224x224 crop)</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The 68-point model is the standard for academic benchmarks (300W, WFLW). MediaPipe is the standard for real-time production applications.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Face Landmark Applications &amp; Metrics</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L4</a:t>
            </a:r>
            <a:endParaRPr lang="en-US" sz="1000" dirty="0"/>
          </a:p>
        </p:txBody>
      </p:sp>
      <p:sp>
        <p:nvSpPr>
          <p:cNvPr id="5" name="Shape 3"/>
          <p:cNvSpPr/>
          <p:nvPr/>
        </p:nvSpPr>
        <p:spPr>
          <a:xfrm>
            <a:off x="320040" y="804672"/>
            <a:ext cx="4206240" cy="1920240"/>
          </a:xfrm>
          <a:prstGeom prst="rect">
            <a:avLst/>
          </a:prstGeom>
          <a:solidFill>
            <a:srgbClr val="F7F8FA"/>
          </a:solidFill>
          <a:ln w="12700">
            <a:solidFill>
              <a:srgbClr val="D1D5DB"/>
            </a:solidFill>
            <a:prstDash val="solid"/>
          </a:ln>
        </p:spPr>
      </p:sp>
      <p:sp>
        <p:nvSpPr>
          <p:cNvPr id="6" name="Shape 4"/>
          <p:cNvSpPr/>
          <p:nvPr/>
        </p:nvSpPr>
        <p:spPr>
          <a:xfrm>
            <a:off x="320040" y="804672"/>
            <a:ext cx="4206240" cy="329184"/>
          </a:xfrm>
          <a:prstGeom prst="rect">
            <a:avLst/>
          </a:prstGeom>
          <a:solidFill>
            <a:srgbClr val="1E2761"/>
          </a:solidFill>
          <a:ln w="12700">
            <a:solidFill>
              <a:srgbClr val="1E2761"/>
            </a:solidFill>
            <a:prstDash val="solid"/>
          </a:ln>
        </p:spPr>
      </p:sp>
      <p:sp>
        <p:nvSpPr>
          <p:cNvPr id="7" name="Text 5"/>
          <p:cNvSpPr/>
          <p:nvPr/>
        </p:nvSpPr>
        <p:spPr>
          <a:xfrm>
            <a:off x="393192" y="804672"/>
            <a:ext cx="4114800"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Face Alignment</a:t>
            </a:r>
            <a:endParaRPr lang="en-US" sz="1100" dirty="0"/>
          </a:p>
        </p:txBody>
      </p:sp>
      <p:sp>
        <p:nvSpPr>
          <p:cNvPr id="8" name="Text 6"/>
          <p:cNvSpPr/>
          <p:nvPr/>
        </p:nvSpPr>
        <p:spPr>
          <a:xfrm>
            <a:off x="393192" y="1188720"/>
            <a:ext cx="4069080" cy="1463040"/>
          </a:xfrm>
          <a:prstGeom prst="rect">
            <a:avLst/>
          </a:prstGeom>
          <a:noFill/>
          <a:ln/>
        </p:spPr>
        <p:txBody>
          <a:bodyPr wrap="square" rtlCol="0" anchor="t"/>
          <a:lstStyle/>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Use landmarks to align faces to a canonical pose.</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Estimate affine/similarity transform from eye/nose/mouth points.</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Apply transform to normalise pose before face recognition.</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Alignment dramatically improves recognition accuracy.</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Standard: align to 5 canonical landmarks (eyes, nose, 2 mouth corners).</a:t>
            </a:r>
            <a:endParaRPr lang="en-US" sz="1050" dirty="0"/>
          </a:p>
        </p:txBody>
      </p:sp>
      <p:sp>
        <p:nvSpPr>
          <p:cNvPr id="9" name="Shape 7"/>
          <p:cNvSpPr/>
          <p:nvPr/>
        </p:nvSpPr>
        <p:spPr>
          <a:xfrm>
            <a:off x="4663440" y="804672"/>
            <a:ext cx="4206240" cy="1920240"/>
          </a:xfrm>
          <a:prstGeom prst="rect">
            <a:avLst/>
          </a:prstGeom>
          <a:solidFill>
            <a:srgbClr val="F7F8FA"/>
          </a:solidFill>
          <a:ln w="12700">
            <a:solidFill>
              <a:srgbClr val="D1D5DB"/>
            </a:solidFill>
            <a:prstDash val="solid"/>
          </a:ln>
        </p:spPr>
      </p:sp>
      <p:sp>
        <p:nvSpPr>
          <p:cNvPr id="10" name="Shape 8"/>
          <p:cNvSpPr/>
          <p:nvPr/>
        </p:nvSpPr>
        <p:spPr>
          <a:xfrm>
            <a:off x="4663440" y="804672"/>
            <a:ext cx="4206240" cy="329184"/>
          </a:xfrm>
          <a:prstGeom prst="rect">
            <a:avLst/>
          </a:prstGeom>
          <a:solidFill>
            <a:srgbClr val="166534"/>
          </a:solidFill>
          <a:ln w="12700">
            <a:solidFill>
              <a:srgbClr val="166534"/>
            </a:solidFill>
            <a:prstDash val="solid"/>
          </a:ln>
        </p:spPr>
      </p:sp>
      <p:sp>
        <p:nvSpPr>
          <p:cNvPr id="11" name="Text 9"/>
          <p:cNvSpPr/>
          <p:nvPr/>
        </p:nvSpPr>
        <p:spPr>
          <a:xfrm>
            <a:off x="4736592" y="804672"/>
            <a:ext cx="4114800"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Expression &amp; AU Detection</a:t>
            </a:r>
            <a:endParaRPr lang="en-US" sz="1100" dirty="0"/>
          </a:p>
        </p:txBody>
      </p:sp>
      <p:sp>
        <p:nvSpPr>
          <p:cNvPr id="12" name="Text 10"/>
          <p:cNvSpPr/>
          <p:nvPr/>
        </p:nvSpPr>
        <p:spPr>
          <a:xfrm>
            <a:off x="4736592" y="1188720"/>
            <a:ext cx="4069080" cy="1463040"/>
          </a:xfrm>
          <a:prstGeom prst="rect">
            <a:avLst/>
          </a:prstGeom>
          <a:noFill/>
          <a:ln/>
        </p:spPr>
        <p:txBody>
          <a:bodyPr wrap="square" rtlCol="0" anchor="t"/>
          <a:lstStyle/>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Action Units (AU): FACS-based muscle movement coding.</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AU1 = inner brow raise, AU6 = cheek raise (Duchenne smile).</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Detected from landmark displacements + CNN on face patch.</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Applications: pain monitoring, lie detection, driver fatigue.</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Facial expression recognition: 7 basic emotions from landmarks + CNN.</a:t>
            </a:r>
            <a:endParaRPr lang="en-US" sz="1050" dirty="0"/>
          </a:p>
        </p:txBody>
      </p:sp>
      <p:sp>
        <p:nvSpPr>
          <p:cNvPr id="13" name="Shape 11"/>
          <p:cNvSpPr/>
          <p:nvPr/>
        </p:nvSpPr>
        <p:spPr>
          <a:xfrm>
            <a:off x="320040" y="2862072"/>
            <a:ext cx="4206240" cy="1920240"/>
          </a:xfrm>
          <a:prstGeom prst="rect">
            <a:avLst/>
          </a:prstGeom>
          <a:solidFill>
            <a:srgbClr val="F7F8FA"/>
          </a:solidFill>
          <a:ln w="12700">
            <a:solidFill>
              <a:srgbClr val="D1D5DB"/>
            </a:solidFill>
            <a:prstDash val="solid"/>
          </a:ln>
        </p:spPr>
      </p:sp>
      <p:sp>
        <p:nvSpPr>
          <p:cNvPr id="14" name="Shape 12"/>
          <p:cNvSpPr/>
          <p:nvPr/>
        </p:nvSpPr>
        <p:spPr>
          <a:xfrm>
            <a:off x="320040" y="2862072"/>
            <a:ext cx="4206240" cy="329184"/>
          </a:xfrm>
          <a:prstGeom prst="rect">
            <a:avLst/>
          </a:prstGeom>
          <a:solidFill>
            <a:srgbClr val="0F766E"/>
          </a:solidFill>
          <a:ln w="12700">
            <a:solidFill>
              <a:srgbClr val="0F766E"/>
            </a:solidFill>
            <a:prstDash val="solid"/>
          </a:ln>
        </p:spPr>
      </p:sp>
      <p:sp>
        <p:nvSpPr>
          <p:cNvPr id="15" name="Text 13"/>
          <p:cNvSpPr/>
          <p:nvPr/>
        </p:nvSpPr>
        <p:spPr>
          <a:xfrm>
            <a:off x="393192" y="2862072"/>
            <a:ext cx="4114800"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Evaluation Metrics</a:t>
            </a:r>
            <a:endParaRPr lang="en-US" sz="1100" dirty="0"/>
          </a:p>
        </p:txBody>
      </p:sp>
      <p:sp>
        <p:nvSpPr>
          <p:cNvPr id="16" name="Text 14"/>
          <p:cNvSpPr/>
          <p:nvPr/>
        </p:nvSpPr>
        <p:spPr>
          <a:xfrm>
            <a:off x="393192" y="3246120"/>
            <a:ext cx="4069080" cy="1463040"/>
          </a:xfrm>
          <a:prstGeom prst="rect">
            <a:avLst/>
          </a:prstGeom>
          <a:noFill/>
          <a:ln/>
        </p:spPr>
        <p:txBody>
          <a:bodyPr wrap="square" rtlCol="0" anchor="t"/>
          <a:lstStyle/>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NME (Normalised Mean Error): mean keypoint error / normalisation factor.</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Normalisation: inter-pupil distance (IOD) or face bounding-box diagonal.</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NME &lt; 0.05 = good. State-of-the-art on 300W: ~2.5% NME.</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FR@threshold: failure rate (% of images with NME &gt; threshold).</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AUC of CED curve: area under cumulative error distribution.</a:t>
            </a:r>
            <a:endParaRPr lang="en-US" sz="1050" dirty="0"/>
          </a:p>
        </p:txBody>
      </p:sp>
      <p:sp>
        <p:nvSpPr>
          <p:cNvPr id="17" name="Shape 15"/>
          <p:cNvSpPr/>
          <p:nvPr/>
        </p:nvSpPr>
        <p:spPr>
          <a:xfrm>
            <a:off x="4663440" y="2862072"/>
            <a:ext cx="4206240" cy="1920240"/>
          </a:xfrm>
          <a:prstGeom prst="rect">
            <a:avLst/>
          </a:prstGeom>
          <a:solidFill>
            <a:srgbClr val="F7F8FA"/>
          </a:solidFill>
          <a:ln w="12700">
            <a:solidFill>
              <a:srgbClr val="D1D5DB"/>
            </a:solidFill>
            <a:prstDash val="solid"/>
          </a:ln>
        </p:spPr>
      </p:sp>
      <p:sp>
        <p:nvSpPr>
          <p:cNvPr id="18" name="Shape 16"/>
          <p:cNvSpPr/>
          <p:nvPr/>
        </p:nvSpPr>
        <p:spPr>
          <a:xfrm>
            <a:off x="4663440" y="2862072"/>
            <a:ext cx="4206240" cy="329184"/>
          </a:xfrm>
          <a:prstGeom prst="rect">
            <a:avLst/>
          </a:prstGeom>
          <a:solidFill>
            <a:srgbClr val="78350F"/>
          </a:solidFill>
          <a:ln w="12700">
            <a:solidFill>
              <a:srgbClr val="78350F"/>
            </a:solidFill>
            <a:prstDash val="solid"/>
          </a:ln>
        </p:spPr>
      </p:sp>
      <p:sp>
        <p:nvSpPr>
          <p:cNvPr id="19" name="Text 17"/>
          <p:cNvSpPr/>
          <p:nvPr/>
        </p:nvSpPr>
        <p:spPr>
          <a:xfrm>
            <a:off x="4736592" y="2862072"/>
            <a:ext cx="4114800"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3D Face Reconstruction</a:t>
            </a:r>
            <a:endParaRPr lang="en-US" sz="1100" dirty="0"/>
          </a:p>
        </p:txBody>
      </p:sp>
      <p:sp>
        <p:nvSpPr>
          <p:cNvPr id="20" name="Text 18"/>
          <p:cNvSpPr/>
          <p:nvPr/>
        </p:nvSpPr>
        <p:spPr>
          <a:xfrm>
            <a:off x="4736592" y="3246120"/>
            <a:ext cx="4069080" cy="1463040"/>
          </a:xfrm>
          <a:prstGeom prst="rect">
            <a:avLst/>
          </a:prstGeom>
          <a:noFill/>
          <a:ln/>
        </p:spPr>
        <p:txBody>
          <a:bodyPr wrap="square" rtlCol="0" anchor="t"/>
          <a:lstStyle/>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3DMM (3D Morphable Model): PCA basis for face shape + texture.</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Fit 3DMM to 2D landmarks: recover 3D shape, pose, expression.</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Deep3DFace: CNN predicts 3DMM coefficients directly from image.</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Applications: VR avatar, face swap, illumination estimation.</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DECA: detailed expression capture including wrinkles.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E2761"/>
          </a:solidFill>
          <a:ln w="12700">
            <a:solidFill>
              <a:srgbClr val="1E2761"/>
            </a:solidFill>
            <a:prstDash val="solid"/>
          </a:ln>
        </p:spPr>
      </p:sp>
      <p:sp>
        <p:nvSpPr>
          <p:cNvPr id="3" name="Text 1"/>
          <p:cNvSpPr/>
          <p:nvPr/>
        </p:nvSpPr>
        <p:spPr>
          <a:xfrm>
            <a:off x="41148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L5</a:t>
            </a:r>
            <a:endParaRPr lang="en-US" sz="7200" dirty="0"/>
          </a:p>
        </p:txBody>
      </p:sp>
      <p:sp>
        <p:nvSpPr>
          <p:cNvPr id="4" name="Text 2"/>
          <p:cNvSpPr/>
          <p:nvPr/>
        </p:nvSpPr>
        <p:spPr>
          <a:xfrm>
            <a:off x="411480" y="1554480"/>
            <a:ext cx="8412480" cy="914400"/>
          </a:xfrm>
          <a:prstGeom prst="rect">
            <a:avLst/>
          </a:prstGeom>
          <a:noFill/>
          <a:ln/>
        </p:spPr>
        <p:txBody>
          <a:bodyPr wrap="square" rtlCol="0" anchor="ctr"/>
          <a:lstStyle/>
          <a:p>
            <a:pPr indent="0" marL="0">
              <a:buNone/>
            </a:pPr>
            <a:r>
              <a:rPr lang="en-US" sz="3400" b="1" dirty="0">
                <a:solidFill>
                  <a:srgbClr val="1E2761"/>
                </a:solidFill>
                <a:latin typeface="Georgia" pitchFamily="34" charset="0"/>
                <a:ea typeface="Georgia" pitchFamily="34" charset="-122"/>
                <a:cs typeface="Georgia" pitchFamily="34" charset="-120"/>
              </a:rPr>
              <a:t>2D to 3D Pose Lifting</a:t>
            </a:r>
            <a:endParaRPr lang="en-US" sz="3400" dirty="0"/>
          </a:p>
        </p:txBody>
      </p:sp>
      <p:sp>
        <p:nvSpPr>
          <p:cNvPr id="5" name="Text 3"/>
          <p:cNvSpPr/>
          <p:nvPr/>
        </p:nvSpPr>
        <p:spPr>
          <a:xfrm>
            <a:off x="41148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Recovering 3D joint positions from 2D keypoint predictions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The 2D-to-3D Lifting Problem</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L5</a:t>
            </a:r>
            <a:endParaRPr lang="en-US" sz="1000" dirty="0"/>
          </a:p>
        </p:txBody>
      </p:sp>
      <p:sp>
        <p:nvSpPr>
          <p:cNvPr id="5" name="Shape 3"/>
          <p:cNvSpPr/>
          <p:nvPr/>
        </p:nvSpPr>
        <p:spPr>
          <a:xfrm>
            <a:off x="320040" y="804672"/>
            <a:ext cx="8503920" cy="960120"/>
          </a:xfrm>
          <a:prstGeom prst="rect">
            <a:avLst/>
          </a:prstGeom>
          <a:solidFill>
            <a:srgbClr val="DBEAFE"/>
          </a:solidFill>
          <a:ln w="12700">
            <a:solidFill>
              <a:srgbClr val="93C5FD"/>
            </a:solidFill>
            <a:prstDash val="solid"/>
          </a:ln>
        </p:spPr>
      </p:sp>
      <p:sp>
        <p:nvSpPr>
          <p:cNvPr id="6" name="Text 4"/>
          <p:cNvSpPr/>
          <p:nvPr/>
        </p:nvSpPr>
        <p:spPr>
          <a:xfrm>
            <a:off x="502920" y="841248"/>
            <a:ext cx="8229600" cy="822960"/>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2D pose estimation gives (x, y) pixel coordinates of keypoints. But humans move in 3D space — we need (X, Y, Z) world coordinates for many applications (AR, biomechanics, action recognition). Recovering 3D from 2D is inherently ambiguous: many 3D poses project to the same 2D image.</a:t>
            </a:r>
            <a:endParaRPr lang="en-US" sz="1250" dirty="0"/>
          </a:p>
        </p:txBody>
      </p:sp>
      <p:sp>
        <p:nvSpPr>
          <p:cNvPr id="7" name="Text 5"/>
          <p:cNvSpPr/>
          <p:nvPr/>
        </p:nvSpPr>
        <p:spPr>
          <a:xfrm>
            <a:off x="320040" y="1920240"/>
            <a:ext cx="8503920" cy="3017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Ambiguity: a person with their arm raised and a person with their arm pointing toward the camera can produce the same 2D projection. Extra information is needed.</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Sources of 3D constraint: body proportions (limb lengths are known), temporal consistency (joints don't jump), kinematic constraints (joint angle limits).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SimpleBaseline 3D (Martinez, 2017): very simple fully-connected network that takes 2D keypoints as input and outputs 3D. Input: 17×2 = 34 numbers. Output: 17×3 = 51 numbers. Despite simplicity, strong baseline.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VideoPose3D (Pavllo, 2019): temporal dilated convolutions over a sequence of 2D poses. Uses frames t-T to t+T to estimate 3D at time t. Temporal context resolves many ambiguities (arm must have been in one position in previous frame, not the other).</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Metrics: MPJPE (Mean Per-Joint Position Error) in mm. PA-MPJPE (Procrustes-aligned MPJPE): aligns predicted and GT poses before computing error — measures shape without global rotation/translation. State-of-the-art on Human3.6M: ~35mm MPJPE.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E2761"/>
          </a:solidFill>
          <a:ln w="12700">
            <a:solidFill>
              <a:srgbClr val="1E2761"/>
            </a:solidFill>
            <a:prstDash val="solid"/>
          </a:ln>
        </p:spPr>
      </p:sp>
      <p:sp>
        <p:nvSpPr>
          <p:cNvPr id="3" name="Text 1"/>
          <p:cNvSpPr/>
          <p:nvPr/>
        </p:nvSpPr>
        <p:spPr>
          <a:xfrm>
            <a:off x="41148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L6</a:t>
            </a:r>
            <a:endParaRPr lang="en-US" sz="7200" dirty="0"/>
          </a:p>
        </p:txBody>
      </p:sp>
      <p:sp>
        <p:nvSpPr>
          <p:cNvPr id="4" name="Text 2"/>
          <p:cNvSpPr/>
          <p:nvPr/>
        </p:nvSpPr>
        <p:spPr>
          <a:xfrm>
            <a:off x="411480" y="1554480"/>
            <a:ext cx="8412480" cy="914400"/>
          </a:xfrm>
          <a:prstGeom prst="rect">
            <a:avLst/>
          </a:prstGeom>
          <a:noFill/>
          <a:ln/>
        </p:spPr>
        <p:txBody>
          <a:bodyPr wrap="square" rtlCol="0" anchor="ctr"/>
          <a:lstStyle/>
          <a:p>
            <a:pPr indent="0" marL="0">
              <a:buNone/>
            </a:pPr>
            <a:r>
              <a:rPr lang="en-US" sz="3400" b="1" dirty="0">
                <a:solidFill>
                  <a:srgbClr val="1E2761"/>
                </a:solidFill>
                <a:latin typeface="Georgia" pitchFamily="34" charset="0"/>
                <a:ea typeface="Georgia" pitchFamily="34" charset="-122"/>
                <a:cs typeface="Georgia" pitchFamily="34" charset="-120"/>
              </a:rPr>
              <a:t>Homography &amp; Image Alignment</a:t>
            </a:r>
            <a:endParaRPr lang="en-US" sz="3400" dirty="0"/>
          </a:p>
        </p:txBody>
      </p:sp>
      <p:sp>
        <p:nvSpPr>
          <p:cNvPr id="5" name="Text 3"/>
          <p:cNvSpPr/>
          <p:nvPr/>
        </p:nvSpPr>
        <p:spPr>
          <a:xfrm>
            <a:off x="41148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Planar projective transformation — panoramas, AR, and document rectification</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Homography — The Planar Projective Transform</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L6</a:t>
            </a:r>
            <a:endParaRPr lang="en-US" sz="1000" dirty="0"/>
          </a:p>
        </p:txBody>
      </p:sp>
      <p:sp>
        <p:nvSpPr>
          <p:cNvPr id="5" name="Shape 3"/>
          <p:cNvSpPr/>
          <p:nvPr/>
        </p:nvSpPr>
        <p:spPr>
          <a:xfrm>
            <a:off x="320040" y="804672"/>
            <a:ext cx="8503920" cy="960120"/>
          </a:xfrm>
          <a:prstGeom prst="rect">
            <a:avLst/>
          </a:prstGeom>
          <a:solidFill>
            <a:srgbClr val="DBEAFE"/>
          </a:solidFill>
          <a:ln w="12700">
            <a:solidFill>
              <a:srgbClr val="93C5FD"/>
            </a:solidFill>
            <a:prstDash val="solid"/>
          </a:ln>
        </p:spPr>
      </p:sp>
      <p:sp>
        <p:nvSpPr>
          <p:cNvPr id="6" name="Text 4"/>
          <p:cNvSpPr/>
          <p:nvPr/>
        </p:nvSpPr>
        <p:spPr>
          <a:xfrm>
            <a:off x="502920" y="841248"/>
            <a:ext cx="8229600" cy="822960"/>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A homography H is a 3x3 matrix that maps points in one image to corresponding points in another image, when the scene is planar OR when the camera only rotates (no translation). It relates two views of the same planar surface.</a:t>
            </a:r>
            <a:endParaRPr lang="en-US" sz="1250" dirty="0"/>
          </a:p>
        </p:txBody>
      </p:sp>
      <p:sp>
        <p:nvSpPr>
          <p:cNvPr id="7" name="Text 5"/>
          <p:cNvSpPr/>
          <p:nvPr/>
        </p:nvSpPr>
        <p:spPr>
          <a:xfrm>
            <a:off x="320040" y="1920240"/>
            <a:ext cx="8503920" cy="3017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Homogeneous coordinates: represent 2D point (x, y) as (x, y, 1). Apply H: (x', y', w') = H * (x, y, 1). Normalise: (x'/w', y'/w').</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H has 8 degrees of freedom (9 elements but scale-invariant): encodes rotation, translation, scale, shear, and perspective distortion.</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Applications: image stitching (panoramas), document rectification (flatten a photo of a document), augmented reality (place virtual object on a flat surface), image stabilisation.</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Estimating H from correspondences: need at least 4 point pairs (x_i, y_i) &lt;-&gt; (x_i', y_i'). Each pair gives 2 equations. 4 pairs = 8 equations = solve for 8 DoF.</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Direct Linear Transform (DLT): stack equations into Ah=0 system. Solve via SVD: h = last column of V in A = USV^T. Works exactly for 4 pairs; least-squares for more.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DLT Algorithm and RANSAC for Robust Homography</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L6</a:t>
            </a:r>
            <a:endParaRPr lang="en-US" sz="1000" dirty="0"/>
          </a:p>
        </p:txBody>
      </p:sp>
      <p:sp>
        <p:nvSpPr>
          <p:cNvPr id="5" name="Text 3"/>
          <p:cNvSpPr/>
          <p:nvPr/>
        </p:nvSpPr>
        <p:spPr>
          <a:xfrm>
            <a:off x="320040" y="777240"/>
            <a:ext cx="8503920" cy="411480"/>
          </a:xfrm>
          <a:prstGeom prst="rect">
            <a:avLst/>
          </a:prstGeom>
          <a:noFill/>
          <a:ln/>
        </p:spPr>
        <p:txBody>
          <a:bodyPr wrap="square" rtlCol="0" anchor="ctr"/>
          <a:lstStyle/>
          <a:p>
            <a:pPr indent="0" marL="0">
              <a:buNone/>
            </a:pPr>
            <a:r>
              <a:rPr lang="en-US" sz="1250" dirty="0">
                <a:solidFill>
                  <a:srgbClr val="12193D"/>
                </a:solidFill>
                <a:latin typeface="Calibri" pitchFamily="34" charset="0"/>
                <a:ea typeface="Calibri" pitchFamily="34" charset="-122"/>
                <a:cs typeface="Calibri" pitchFamily="34" charset="-120"/>
              </a:rPr>
              <a:t>The DLT solves for H from correspondences. RANSAC makes it robust to outliers (mismatched feature points).</a:t>
            </a:r>
            <a:endParaRPr lang="en-US" sz="1250" dirty="0"/>
          </a:p>
        </p:txBody>
      </p:sp>
      <p:sp>
        <p:nvSpPr>
          <p:cNvPr id="6" name="Shape 4"/>
          <p:cNvSpPr/>
          <p:nvPr/>
        </p:nvSpPr>
        <p:spPr>
          <a:xfrm>
            <a:off x="320040" y="1234440"/>
            <a:ext cx="8503920" cy="2011680"/>
          </a:xfrm>
          <a:prstGeom prst="rect">
            <a:avLst/>
          </a:prstGeom>
          <a:solidFill>
            <a:srgbClr val="1E1E2E"/>
          </a:solidFill>
          <a:ln w="12700">
            <a:solidFill>
              <a:srgbClr val="1E1E2E"/>
            </a:solidFill>
            <a:prstDash val="solid"/>
          </a:ln>
        </p:spPr>
      </p:sp>
      <p:sp>
        <p:nvSpPr>
          <p:cNvPr id="7" name="Text 5"/>
          <p:cNvSpPr/>
          <p:nvPr/>
        </p:nvSpPr>
        <p:spPr>
          <a:xfrm>
            <a:off x="502920" y="1298448"/>
            <a:ext cx="8138160" cy="1874520"/>
          </a:xfrm>
          <a:prstGeom prst="rect">
            <a:avLst/>
          </a:prstGeom>
          <a:noFill/>
          <a:ln/>
        </p:spPr>
        <p:txBody>
          <a:bodyPr wrap="square" rtlCol="0" anchor="t"/>
          <a:lstStyle/>
          <a:p>
            <a:pPr indent="0" marL="0">
              <a:buNone/>
            </a:pPr>
            <a:r>
              <a:rPr lang="en-US" sz="1150" dirty="0">
                <a:solidFill>
                  <a:srgbClr val="C9D1D9"/>
                </a:solidFill>
                <a:latin typeface="Consolas" pitchFamily="34" charset="0"/>
                <a:ea typeface="Consolas" pitchFamily="34" charset="-122"/>
                <a:cs typeface="Consolas" pitchFamily="34" charset="-120"/>
              </a:rPr>
              <a:t>For each correspondence (x_i, y_i) &lt;-&gt; (x_i', y_i'):</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[-x_i, -y_i, -1,  0,    0,   0,  x_i*x_i', y_i*x_i', x_i'] h = 0</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  0,    0,   0, -x_i, -y_i, -1,  x_i*y_i', y_i*y_i', y_i'] h = 0</a:t>
            </a:r>
            <a:endParaRPr lang="en-US" sz="1150" dirty="0"/>
          </a:p>
          <a:p>
            <a:pPr indent="0" marL="0">
              <a:buNone/>
            </a:pP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Stack 4+ pairs into A (2n x 9). Solve Ah=0 via SVD.</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h = eigenvector of A^T A with smallest eigenvalue.</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Reshape h (9x1) -&gt; H (3x3).</a:t>
            </a:r>
            <a:endParaRPr lang="en-US" sz="1150" dirty="0"/>
          </a:p>
        </p:txBody>
      </p:sp>
      <p:sp>
        <p:nvSpPr>
          <p:cNvPr id="8" name="Text 6"/>
          <p:cNvSpPr/>
          <p:nvPr/>
        </p:nvSpPr>
        <p:spPr>
          <a:xfrm>
            <a:off x="320040" y="3401568"/>
            <a:ext cx="8503920" cy="1623060"/>
          </a:xfrm>
          <a:prstGeom prst="rect">
            <a:avLst/>
          </a:prstGeom>
          <a:noFill/>
          <a:ln/>
        </p:spPr>
        <p:txBody>
          <a:bodyPr wrap="square" rtlCol="0" anchor="t"/>
          <a:lstStyle/>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RANSAC (Random Sample Consensus) for robust H estimation:</a:t>
            </a:r>
            <a:endParaRPr lang="en-US" sz="1200" dirty="0"/>
          </a:p>
          <a:p>
            <a:pPr lvl="1" marL="685800" indent="-342900">
              <a:spcAft>
                <a:spcPts val="400"/>
              </a:spcAft>
              <a:buSzPct val="100000"/>
              <a:buChar char="•"/>
            </a:pPr>
            <a:r>
              <a:rPr lang="en-US" sz="1200" dirty="0">
                <a:solidFill>
                  <a:srgbClr val="6B7280"/>
                </a:solidFill>
                <a:latin typeface="Calibri" pitchFamily="34" charset="0"/>
                <a:ea typeface="Calibri" pitchFamily="34" charset="-122"/>
                <a:cs typeface="Calibri" pitchFamily="34" charset="-120"/>
              </a:rPr>
              <a:t>1. Randomly sample 4 point pairs (minimum needed for H).</a:t>
            </a:r>
            <a:endParaRPr lang="en-US" sz="1200" dirty="0"/>
          </a:p>
          <a:p>
            <a:pPr lvl="1" marL="685800" indent="-342900">
              <a:spcAft>
                <a:spcPts val="400"/>
              </a:spcAft>
              <a:buSzPct val="100000"/>
              <a:buChar char="•"/>
            </a:pPr>
            <a:r>
              <a:rPr lang="en-US" sz="1200" dirty="0">
                <a:solidFill>
                  <a:srgbClr val="6B7280"/>
                </a:solidFill>
                <a:latin typeface="Calibri" pitchFamily="34" charset="0"/>
                <a:ea typeface="Calibri" pitchFamily="34" charset="-122"/>
                <a:cs typeface="Calibri" pitchFamily="34" charset="-120"/>
              </a:rPr>
              <a:t>2. Estimate H from these 4 pairs using DLT.</a:t>
            </a:r>
            <a:endParaRPr lang="en-US" sz="1200" dirty="0"/>
          </a:p>
          <a:p>
            <a:pPr lvl="1" marL="685800" indent="-342900">
              <a:spcAft>
                <a:spcPts val="400"/>
              </a:spcAft>
              <a:buSzPct val="100000"/>
              <a:buChar char="•"/>
            </a:pPr>
            <a:r>
              <a:rPr lang="en-US" sz="1200" dirty="0">
                <a:solidFill>
                  <a:srgbClr val="6B7280"/>
                </a:solidFill>
                <a:latin typeface="Calibri" pitchFamily="34" charset="0"/>
                <a:ea typeface="Calibri" pitchFamily="34" charset="-122"/>
                <a:cs typeface="Calibri" pitchFamily="34" charset="-120"/>
              </a:rPr>
              <a:t>3. Count inliers: points where |x_i' - H*x_i| &lt; threshold (e.g., 3 pixels).</a:t>
            </a:r>
            <a:endParaRPr lang="en-US" sz="1200" dirty="0"/>
          </a:p>
          <a:p>
            <a:pPr lvl="1" marL="685800" indent="-342900">
              <a:spcAft>
                <a:spcPts val="400"/>
              </a:spcAft>
              <a:buSzPct val="100000"/>
              <a:buChar char="•"/>
            </a:pPr>
            <a:r>
              <a:rPr lang="en-US" sz="1200" dirty="0">
                <a:solidFill>
                  <a:srgbClr val="6B7280"/>
                </a:solidFill>
                <a:latin typeface="Calibri" pitchFamily="34" charset="0"/>
                <a:ea typeface="Calibri" pitchFamily="34" charset="-122"/>
                <a:cs typeface="Calibri" pitchFamily="34" charset="-120"/>
              </a:rPr>
              <a:t>4. Repeat N times. Keep H with most inliers.</a:t>
            </a:r>
            <a:endParaRPr lang="en-US" sz="1200" dirty="0"/>
          </a:p>
          <a:p>
            <a:pPr lvl="1" marL="685800" indent="-342900">
              <a:spcAft>
                <a:spcPts val="400"/>
              </a:spcAft>
              <a:buSzPct val="100000"/>
              <a:buChar char="•"/>
            </a:pPr>
            <a:r>
              <a:rPr lang="en-US" sz="1200" dirty="0">
                <a:solidFill>
                  <a:srgbClr val="6B7280"/>
                </a:solidFill>
                <a:latin typeface="Calibri" pitchFamily="34" charset="0"/>
                <a:ea typeface="Calibri" pitchFamily="34" charset="-122"/>
                <a:cs typeface="Calibri" pitchFamily="34" charset="-120"/>
              </a:rPr>
              <a:t>5. Re-estimate H using ALL inliers from best model (more accurate).</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RANSAC iterations: N = log(1-p) / log(1-(1-e)^s). p=0.99 (confidence), e=outlier rate, s=4 (sample size). For 50% outliers: N = 72 iterations.</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OpenCV: cv2.findHomography(src_pts, dst_pts, cv2.RANSAC, 5.0). Returns H and inlier mask.</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Normalised DLT: normalise coordinates to zero mean and unit RMS distance before DLT, denormalise after. Critical for numerical stability.</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E2761"/>
          </a:solidFill>
          <a:ln w="12700">
            <a:solidFill>
              <a:srgbClr val="1E2761"/>
            </a:solidFill>
            <a:prstDash val="solid"/>
          </a:ln>
        </p:spPr>
      </p:sp>
      <p:sp>
        <p:nvSpPr>
          <p:cNvPr id="3" name="Text 1"/>
          <p:cNvSpPr/>
          <p:nvPr/>
        </p:nvSpPr>
        <p:spPr>
          <a:xfrm>
            <a:off x="41148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L7</a:t>
            </a:r>
            <a:endParaRPr lang="en-US" sz="7200" dirty="0"/>
          </a:p>
        </p:txBody>
      </p:sp>
      <p:sp>
        <p:nvSpPr>
          <p:cNvPr id="4" name="Text 2"/>
          <p:cNvSpPr/>
          <p:nvPr/>
        </p:nvSpPr>
        <p:spPr>
          <a:xfrm>
            <a:off x="411480" y="1554480"/>
            <a:ext cx="8412480" cy="914400"/>
          </a:xfrm>
          <a:prstGeom prst="rect">
            <a:avLst/>
          </a:prstGeom>
          <a:noFill/>
          <a:ln/>
        </p:spPr>
        <p:txBody>
          <a:bodyPr wrap="square" rtlCol="0" anchor="ctr"/>
          <a:lstStyle/>
          <a:p>
            <a:pPr indent="0" marL="0">
              <a:buNone/>
            </a:pPr>
            <a:r>
              <a:rPr lang="en-US" sz="3400" b="1" dirty="0">
                <a:solidFill>
                  <a:srgbClr val="1E2761"/>
                </a:solidFill>
                <a:latin typeface="Georgia" pitchFamily="34" charset="0"/>
                <a:ea typeface="Georgia" pitchFamily="34" charset="-122"/>
                <a:cs typeface="Georgia" pitchFamily="34" charset="-120"/>
              </a:rPr>
              <a:t>Epipolar Geometry</a:t>
            </a:r>
            <a:endParaRPr lang="en-US" sz="3400" dirty="0"/>
          </a:p>
        </p:txBody>
      </p:sp>
      <p:sp>
        <p:nvSpPr>
          <p:cNvPr id="5" name="Text 3"/>
          <p:cNvSpPr/>
          <p:nvPr/>
        </p:nvSpPr>
        <p:spPr>
          <a:xfrm>
            <a:off x="41148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The geometry relating two calibrated cameras viewing the same scene</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Epipolar Geometry — The Core Constraint</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L7</a:t>
            </a:r>
            <a:endParaRPr lang="en-US" sz="1000" dirty="0"/>
          </a:p>
        </p:txBody>
      </p:sp>
      <p:sp>
        <p:nvSpPr>
          <p:cNvPr id="5" name="Shape 3"/>
          <p:cNvSpPr/>
          <p:nvPr/>
        </p:nvSpPr>
        <p:spPr>
          <a:xfrm>
            <a:off x="320040" y="804672"/>
            <a:ext cx="8503920" cy="960120"/>
          </a:xfrm>
          <a:prstGeom prst="rect">
            <a:avLst/>
          </a:prstGeom>
          <a:solidFill>
            <a:srgbClr val="DBEAFE"/>
          </a:solidFill>
          <a:ln w="12700">
            <a:solidFill>
              <a:srgbClr val="93C5FD"/>
            </a:solidFill>
            <a:prstDash val="solid"/>
          </a:ln>
        </p:spPr>
      </p:sp>
      <p:sp>
        <p:nvSpPr>
          <p:cNvPr id="6" name="Text 4"/>
          <p:cNvSpPr/>
          <p:nvPr/>
        </p:nvSpPr>
        <p:spPr>
          <a:xfrm>
            <a:off x="502920" y="841248"/>
            <a:ext cx="8229600" cy="822960"/>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When two cameras view the same 3D point, the point, both camera centres, and both image projections all lie in a single plane — the epipolar plane. This constraint drastically reduces the search for correspondences from 2D (anywhere in the image) to 1D (along the epipolar line).</a:t>
            </a:r>
            <a:endParaRPr lang="en-US" sz="1250" dirty="0"/>
          </a:p>
        </p:txBody>
      </p:sp>
      <p:sp>
        <p:nvSpPr>
          <p:cNvPr id="7" name="Text 5"/>
          <p:cNvSpPr/>
          <p:nvPr/>
        </p:nvSpPr>
        <p:spPr>
          <a:xfrm>
            <a:off x="320040" y="1920240"/>
            <a:ext cx="8503920" cy="3017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Epipole: the projection of one camera's centre onto the other camera's image. All epipolar lines pass through the epipole.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Epipolar line: given a point x in image 1, its corresponding point x' in image 2 must lie on a specific line l' = F*x in image 2. This reduces stereo matching from a 2D search to a 1D line search.</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Fundamental Matrix F (3x3, rank 2): captures the epipolar constraint for uncalibrated cameras. x'^T * F * x = 0 for all corresponding pairs (x, x'). Has 7 DOF (9 elements - scale - rank-2 constraint). Needs 7+ correspondences to estimate.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Essential Matrix E (3x3, rank 2): fundamental matrix for calibrated cameras (with intrinsics K known). E = K'^T * F * K. E = [t]_x * R where R = rotation, t = translation between cameras. Has 5 DOF. From E, recover R and t (up to scale).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8-Point Algorithm: estimate F from 8+ correspondences by solving Af=0 via SVD, then enforce rank-2 by zeroing the smallest singular value. Used in SLAM, SfM, visual odometry.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Epipolar Geometry — Diagram and Key Matrices</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L7</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3D POINT P in world</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C1 (camera 1 centre)           C2 (camera 2 centre)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x1 = project(P) in img1       x2 = project(P) in img2</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EPIPOLAR PLANE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(all 4 points P, C1, C2, x1, x2 lie in this plane)</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EPIPOLAR LINE l2 in image 2:    l2 = F * x1</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Constraint: x2 must lie on l2   x2^T * F * x1 = 0</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MATRICES: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Intrinsic K:  3x3, converts camera coords to pixel coords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[fx  0  cx]              fx, fy = focal length (pixels)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[ 0 fy  cy]              cx, cy = principal point (image centre)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[ 0  0   1]</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Essential E:  K'^T * F * K  (calibrated cameras)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Decompose E:  SVD -&gt; R, t (camera relative pose)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Use: SLAM, 3D reconstruction, augmented reality.</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Epipolar geometry is the foundation of stereo vision and Structure from Motion (SfM). Knowing F or E reduces correspondence search to 1D.</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E2761"/>
          </a:solidFill>
          <a:ln w="12700">
            <a:solidFill>
              <a:srgbClr val="1E2761"/>
            </a:solidFill>
            <a:prstDash val="solid"/>
          </a:ln>
        </p:spPr>
      </p:sp>
      <p:sp>
        <p:nvSpPr>
          <p:cNvPr id="3" name="Text 1"/>
          <p:cNvSpPr/>
          <p:nvPr/>
        </p:nvSpPr>
        <p:spPr>
          <a:xfrm>
            <a:off x="41148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L8</a:t>
            </a:r>
            <a:endParaRPr lang="en-US" sz="7200" dirty="0"/>
          </a:p>
        </p:txBody>
      </p:sp>
      <p:sp>
        <p:nvSpPr>
          <p:cNvPr id="4" name="Text 2"/>
          <p:cNvSpPr/>
          <p:nvPr/>
        </p:nvSpPr>
        <p:spPr>
          <a:xfrm>
            <a:off x="411480" y="1554480"/>
            <a:ext cx="8412480" cy="914400"/>
          </a:xfrm>
          <a:prstGeom prst="rect">
            <a:avLst/>
          </a:prstGeom>
          <a:noFill/>
          <a:ln/>
        </p:spPr>
        <p:txBody>
          <a:bodyPr wrap="square" rtlCol="0" anchor="ctr"/>
          <a:lstStyle/>
          <a:p>
            <a:pPr indent="0" marL="0">
              <a:buNone/>
            </a:pPr>
            <a:r>
              <a:rPr lang="en-US" sz="3400" b="1" dirty="0">
                <a:solidFill>
                  <a:srgbClr val="1E2761"/>
                </a:solidFill>
                <a:latin typeface="Georgia" pitchFamily="34" charset="0"/>
                <a:ea typeface="Georgia" pitchFamily="34" charset="-122"/>
                <a:cs typeface="Georgia" pitchFamily="34" charset="-120"/>
              </a:rPr>
              <a:t>Stereo Vision &amp; Depth Estimation</a:t>
            </a:r>
            <a:endParaRPr lang="en-US" sz="3400" dirty="0"/>
          </a:p>
        </p:txBody>
      </p:sp>
      <p:sp>
        <p:nvSpPr>
          <p:cNvPr id="5" name="Text 3"/>
          <p:cNvSpPr/>
          <p:nvPr/>
        </p:nvSpPr>
        <p:spPr>
          <a:xfrm>
            <a:off x="41148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Disparity, triangulation, and monocular depth</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Stereo Vision — Disparity to Depth</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L8</a:t>
            </a:r>
            <a:endParaRPr lang="en-US" sz="1000" dirty="0"/>
          </a:p>
        </p:txBody>
      </p:sp>
      <p:sp>
        <p:nvSpPr>
          <p:cNvPr id="5" name="Text 3"/>
          <p:cNvSpPr/>
          <p:nvPr/>
        </p:nvSpPr>
        <p:spPr>
          <a:xfrm>
            <a:off x="320040" y="777240"/>
            <a:ext cx="8503920" cy="411480"/>
          </a:xfrm>
          <a:prstGeom prst="rect">
            <a:avLst/>
          </a:prstGeom>
          <a:noFill/>
          <a:ln/>
        </p:spPr>
        <p:txBody>
          <a:bodyPr wrap="square" rtlCol="0" anchor="ctr"/>
          <a:lstStyle/>
          <a:p>
            <a:pPr indent="0" marL="0">
              <a:buNone/>
            </a:pPr>
            <a:r>
              <a:rPr lang="en-US" sz="1250" dirty="0">
                <a:solidFill>
                  <a:srgbClr val="12193D"/>
                </a:solidFill>
                <a:latin typeface="Calibri" pitchFamily="34" charset="0"/>
                <a:ea typeface="Calibri" pitchFamily="34" charset="-122"/>
                <a:cs typeface="Calibri" pitchFamily="34" charset="-120"/>
              </a:rPr>
              <a:t>Stereo cameras (two cameras at known baseline) allow depth estimation via triangulation. The key quantity is disparity — the horizontal pixel offset between corresponding points in left and right images.</a:t>
            </a:r>
            <a:endParaRPr lang="en-US" sz="1250" dirty="0"/>
          </a:p>
        </p:txBody>
      </p:sp>
      <p:sp>
        <p:nvSpPr>
          <p:cNvPr id="6" name="Shape 4"/>
          <p:cNvSpPr/>
          <p:nvPr/>
        </p:nvSpPr>
        <p:spPr>
          <a:xfrm>
            <a:off x="320040" y="1234440"/>
            <a:ext cx="8503920" cy="2011680"/>
          </a:xfrm>
          <a:prstGeom prst="rect">
            <a:avLst/>
          </a:prstGeom>
          <a:solidFill>
            <a:srgbClr val="1E1E2E"/>
          </a:solidFill>
          <a:ln w="12700">
            <a:solidFill>
              <a:srgbClr val="1E1E2E"/>
            </a:solidFill>
            <a:prstDash val="solid"/>
          </a:ln>
        </p:spPr>
      </p:sp>
      <p:sp>
        <p:nvSpPr>
          <p:cNvPr id="7" name="Text 5"/>
          <p:cNvSpPr/>
          <p:nvPr/>
        </p:nvSpPr>
        <p:spPr>
          <a:xfrm>
            <a:off x="502920" y="1298448"/>
            <a:ext cx="8138160" cy="1874520"/>
          </a:xfrm>
          <a:prstGeom prst="rect">
            <a:avLst/>
          </a:prstGeom>
          <a:noFill/>
          <a:ln/>
        </p:spPr>
        <p:txBody>
          <a:bodyPr wrap="square" rtlCol="0" anchor="t"/>
          <a:lstStyle/>
          <a:p>
            <a:pPr indent="0" marL="0">
              <a:buNone/>
            </a:pPr>
            <a:r>
              <a:rPr lang="en-US" sz="1150" dirty="0">
                <a:solidFill>
                  <a:srgbClr val="C9D1D9"/>
                </a:solidFill>
                <a:latin typeface="Consolas" pitchFamily="34" charset="0"/>
                <a:ea typeface="Consolas" pitchFamily="34" charset="-122"/>
                <a:cs typeface="Consolas" pitchFamily="34" charset="-120"/>
              </a:rPr>
              <a:t>Stereo setup (rectified cameras):</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Left image:  x_L = f * X / Z  (x projected in left camera)</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  Right image: x_R = f * (X - b) / Z  (b = baseline distance)</a:t>
            </a:r>
            <a:endParaRPr lang="en-US" sz="1150" dirty="0"/>
          </a:p>
          <a:p>
            <a:pPr indent="0" marL="0">
              <a:buNone/>
            </a:pP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Disparity:  d = x_L - x_R = f * b / Z</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Depth:      Z = f * b / d</a:t>
            </a:r>
            <a:endParaRPr lang="en-US" sz="1150" dirty="0"/>
          </a:p>
          <a:p>
            <a:pPr indent="0" marL="0">
              <a:buNone/>
            </a:pP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Disparity map: for each pixel in left image, find matching pixel</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in right image (along the same scanline after rectification).</a:t>
            </a:r>
            <a:endParaRPr lang="en-US" sz="1150" dirty="0"/>
          </a:p>
          <a:p>
            <a:pPr indent="0" marL="0">
              <a:buNone/>
            </a:pPr>
            <a:r>
              <a:rPr lang="en-US" sz="1150" dirty="0">
                <a:solidFill>
                  <a:srgbClr val="C9D1D9"/>
                </a:solidFill>
                <a:latin typeface="Consolas" pitchFamily="34" charset="0"/>
                <a:ea typeface="Consolas" pitchFamily="34" charset="-122"/>
                <a:cs typeface="Consolas" pitchFamily="34" charset="-120"/>
              </a:rPr>
              <a:t>d = column difference. Larger d = closer object.</a:t>
            </a:r>
            <a:endParaRPr lang="en-US" sz="1150" dirty="0"/>
          </a:p>
        </p:txBody>
      </p:sp>
      <p:sp>
        <p:nvSpPr>
          <p:cNvPr id="8" name="Text 6"/>
          <p:cNvSpPr/>
          <p:nvPr/>
        </p:nvSpPr>
        <p:spPr>
          <a:xfrm>
            <a:off x="320040" y="3401568"/>
            <a:ext cx="8503920" cy="1623060"/>
          </a:xfrm>
          <a:prstGeom prst="rect">
            <a:avLst/>
          </a:prstGeom>
          <a:noFill/>
          <a:ln/>
        </p:spPr>
        <p:txBody>
          <a:bodyPr wrap="square" rtlCol="0" anchor="t"/>
          <a:lstStyle/>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Rectification: warp both images so epipolar lines are horizontal scanlines. Reduces stereo matching from 2D to 1D search. OpenCV: cv2.stereoRectify().</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Stereo matching algorithms:</a:t>
            </a:r>
            <a:endParaRPr lang="en-US" sz="1200" dirty="0"/>
          </a:p>
          <a:p>
            <a:pPr lvl="1" marL="685800" indent="-342900">
              <a:spcAft>
                <a:spcPts val="400"/>
              </a:spcAft>
              <a:buSzPct val="100000"/>
              <a:buChar char="•"/>
            </a:pPr>
            <a:r>
              <a:rPr lang="en-US" sz="1200" dirty="0">
                <a:solidFill>
                  <a:srgbClr val="6B7280"/>
                </a:solidFill>
                <a:latin typeface="Calibri" pitchFamily="34" charset="0"/>
                <a:ea typeface="Calibri" pitchFamily="34" charset="-122"/>
                <a:cs typeface="Calibri" pitchFamily="34" charset="-120"/>
              </a:rPr>
              <a:t>Block matching (BM): compare small patches around each pixel. Fast (OpenCV StereoBM: ~30fps). Noisy on textureless regions.</a:t>
            </a:r>
            <a:endParaRPr lang="en-US" sz="1200" dirty="0"/>
          </a:p>
          <a:p>
            <a:pPr lvl="1" marL="685800" indent="-342900">
              <a:spcAft>
                <a:spcPts val="400"/>
              </a:spcAft>
              <a:buSzPct val="100000"/>
              <a:buChar char="•"/>
            </a:pPr>
            <a:r>
              <a:rPr lang="en-US" sz="1200" dirty="0">
                <a:solidFill>
                  <a:srgbClr val="6B7280"/>
                </a:solidFill>
                <a:latin typeface="Calibri" pitchFamily="34" charset="0"/>
                <a:ea typeface="Calibri" pitchFamily="34" charset="-122"/>
                <a:cs typeface="Calibri" pitchFamily="34" charset="-120"/>
              </a:rPr>
              <a:t>Semi-global matching (SGM): aggregate matching costs along multiple scanline directions. Better accuracy, medium speed.</a:t>
            </a:r>
            <a:endParaRPr lang="en-US" sz="1200" dirty="0"/>
          </a:p>
          <a:p>
            <a:pPr lvl="1" marL="685800" indent="-342900">
              <a:spcAft>
                <a:spcPts val="400"/>
              </a:spcAft>
              <a:buSzPct val="100000"/>
              <a:buChar char="•"/>
            </a:pPr>
            <a:r>
              <a:rPr lang="en-US" sz="1200" dirty="0">
                <a:solidFill>
                  <a:srgbClr val="6B7280"/>
                </a:solidFill>
                <a:latin typeface="Calibri" pitchFamily="34" charset="0"/>
                <a:ea typeface="Calibri" pitchFamily="34" charset="-122"/>
                <a:cs typeface="Calibri" pitchFamily="34" charset="-120"/>
              </a:rPr>
              <a:t>Deep stereo (PSMNet, RAFT-Stereo): cost volume + 3D convolutions / iterative refinement. Best accuracy, slower.</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Depth from disparity limitations: minimum depth limited by baseline and image resolution. No disparity on textureless surfaces (no matching features). Occlusions cause holes in disparity map.</a:t>
            </a:r>
            <a:endParaRPr lang="en-US" sz="1200" dirty="0"/>
          </a:p>
          <a:p>
            <a:pPr marL="342900" indent="-342900">
              <a:spcAft>
                <a:spcPts val="400"/>
              </a:spcAft>
              <a:buSzPct val="100000"/>
              <a:buChar char="•"/>
            </a:pPr>
            <a:r>
              <a:rPr lang="en-US" sz="1200" dirty="0">
                <a:solidFill>
                  <a:srgbClr val="12193D"/>
                </a:solidFill>
                <a:latin typeface="Calibri" pitchFamily="34" charset="0"/>
                <a:ea typeface="Calibri" pitchFamily="34" charset="-122"/>
                <a:cs typeface="Calibri" pitchFamily="34" charset="-120"/>
              </a:rPr>
              <a:t>Monocular depth estimation: learn depth from a single image using CNNs trained on stereo or LiDAR data. Models: MiDaS, DPT, Depth Anything. Output: relative depth map (not metric scale without additional calibration).</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68096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Structure from Motion (SfM) and SLAM</a:t>
            </a:r>
            <a:endParaRPr lang="en-US" sz="1700" dirty="0"/>
          </a:p>
        </p:txBody>
      </p:sp>
      <p:sp>
        <p:nvSpPr>
          <p:cNvPr id="4" name="Text 2"/>
          <p:cNvSpPr/>
          <p:nvPr/>
        </p:nvSpPr>
        <p:spPr>
          <a:xfrm>
            <a:off x="7772400" y="0"/>
            <a:ext cx="118872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L8</a:t>
            </a:r>
            <a:endParaRPr lang="en-US" sz="1000" dirty="0"/>
          </a:p>
        </p:txBody>
      </p:sp>
      <p:sp>
        <p:nvSpPr>
          <p:cNvPr id="5" name="Text 3"/>
          <p:cNvSpPr/>
          <p:nvPr/>
        </p:nvSpPr>
        <p:spPr>
          <a:xfrm>
            <a:off x="320040" y="804672"/>
            <a:ext cx="8503920" cy="4160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SfM and SLAM extend stereo to multiple unordered images or video streams, jointly recovering camera poses and 3D scene structure.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Structure from Motion (SfM): offline, unordered images. Step 1: detect and match feature points (SIFT/SuperPoint). Step 2: estimate pairwise F/E matrices. Step 3: initialise with two-view reconstruction. Step 4: register new views incrementally. Step 5: bundle adjustment (jointly optimise all camera poses and 3D points).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SLAM (Simultaneous Localisation and Mapping): online, real-time, ordered video. Estimates camera trajectory and builds map as new frames arrive. ORB-SLAM3 is the standard open-source system.</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Bundle adjustment: nonlinear least-squares optimisation of sum of reprojection errors: E = sum_i sum_j ||x_ij - proj(K, R_i, t_i, X_j)||^2. Minimised with Levenberg-Marquardt. Ceres solver is the standard tool.</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Neural SfM: COLMAP is the classical gold-standard pipeline. Deep learning extensions: SuperGlue for matching, LoFTR for dense matching, DUSt3R (2024) for end-to-end 3D reconstruction from image pairs without calibration.</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Depth estimation applications: autonomous driving (LiDAR + camera fusion), robot navigation, AR/VR (realistic occlusion), 3D content creation, medical imaging (endoscope depth).</a:t>
            </a:r>
            <a:endParaRPr lang="en-US" sz="1300" dirty="0"/>
          </a:p>
          <a:p>
            <a:pPr lvl="1" marL="685800" indent="-342900">
              <a:spcAft>
                <a:spcPts val="500"/>
              </a:spcAft>
              <a:buSzPct val="100000"/>
              <a:buChar char="•"/>
            </a:pPr>
            <a:r>
              <a:rPr lang="en-US" sz="1200" dirty="0">
                <a:solidFill>
                  <a:srgbClr val="6B7280"/>
                </a:solidFill>
                <a:latin typeface="Calibri" pitchFamily="34" charset="0"/>
                <a:ea typeface="Calibri" pitchFamily="34" charset="-122"/>
                <a:cs typeface="Calibri" pitchFamily="34" charset="-120"/>
              </a:rPr>
              <a:t>Metric depth vs relative depth: monocular depth models predict relative depth (bigger number = further). Absolute metric depth requires scale — obtained from IMU, known object size, or ground-plane assumption.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Section L — Key Takeaways</a:t>
            </a:r>
            <a:endParaRPr lang="en-US" sz="2600" dirty="0"/>
          </a:p>
        </p:txBody>
      </p:sp>
      <p:sp>
        <p:nvSpPr>
          <p:cNvPr id="3" name="Shape 1"/>
          <p:cNvSpPr/>
          <p:nvPr/>
        </p:nvSpPr>
        <p:spPr>
          <a:xfrm>
            <a:off x="457200" y="960120"/>
            <a:ext cx="1737360" cy="438912"/>
          </a:xfrm>
          <a:prstGeom prst="rect">
            <a:avLst/>
          </a:prstGeom>
          <a:solidFill>
            <a:srgbClr val="7A8CC0"/>
          </a:solidFill>
          <a:ln w="12700">
            <a:solidFill>
              <a:srgbClr val="7A8CC0"/>
            </a:solidFill>
            <a:prstDash val="solid"/>
          </a:ln>
        </p:spPr>
      </p:sp>
      <p:sp>
        <p:nvSpPr>
          <p:cNvPr id="4" name="Text 2"/>
          <p:cNvSpPr/>
          <p:nvPr/>
        </p:nvSpPr>
        <p:spPr>
          <a:xfrm>
            <a:off x="457200" y="960120"/>
            <a:ext cx="1737360"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L1 Keypoints</a:t>
            </a:r>
            <a:endParaRPr lang="en-US" sz="950" dirty="0"/>
          </a:p>
        </p:txBody>
      </p:sp>
      <p:sp>
        <p:nvSpPr>
          <p:cNvPr id="5" name="Text 3"/>
          <p:cNvSpPr/>
          <p:nvPr/>
        </p:nvSpPr>
        <p:spPr>
          <a:xfrm>
            <a:off x="2331720" y="987552"/>
            <a:ext cx="6492240" cy="402336"/>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Output: (x,y,v) per joint. Heatmap: 2D Gaussian centred at GT location. OKS = exp(-d^2/2s^2k^2): accounts for scale and per-joint tolerance. mAP over OKS thresholds.</a:t>
            </a:r>
            <a:endParaRPr lang="en-US" sz="1050" dirty="0"/>
          </a:p>
        </p:txBody>
      </p:sp>
      <p:sp>
        <p:nvSpPr>
          <p:cNvPr id="6" name="Shape 4"/>
          <p:cNvSpPr/>
          <p:nvPr/>
        </p:nvSpPr>
        <p:spPr>
          <a:xfrm>
            <a:off x="457200" y="1476756"/>
            <a:ext cx="1737360" cy="438912"/>
          </a:xfrm>
          <a:prstGeom prst="rect">
            <a:avLst/>
          </a:prstGeom>
          <a:solidFill>
            <a:srgbClr val="7A8CC0"/>
          </a:solidFill>
          <a:ln w="12700">
            <a:solidFill>
              <a:srgbClr val="7A8CC0"/>
            </a:solidFill>
            <a:prstDash val="solid"/>
          </a:ln>
        </p:spPr>
      </p:sp>
      <p:sp>
        <p:nvSpPr>
          <p:cNvPr id="7" name="Text 5"/>
          <p:cNvSpPr/>
          <p:nvPr/>
        </p:nvSpPr>
        <p:spPr>
          <a:xfrm>
            <a:off x="457200" y="1476756"/>
            <a:ext cx="1737360"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L2 OpenPose</a:t>
            </a:r>
            <a:endParaRPr lang="en-US" sz="950" dirty="0"/>
          </a:p>
        </p:txBody>
      </p:sp>
      <p:sp>
        <p:nvSpPr>
          <p:cNvPr id="8" name="Text 6"/>
          <p:cNvSpPr/>
          <p:nvPr/>
        </p:nvSpPr>
        <p:spPr>
          <a:xfrm>
            <a:off x="2331720" y="1504188"/>
            <a:ext cx="6492240" cy="402336"/>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Bottom-up: predict ALL keypoints + PAFs in one pass. PAF = vector field pointing along each limb. Group joints via Hungarian matching on PAF affinity scores. O(1) vs N people.</a:t>
            </a:r>
            <a:endParaRPr lang="en-US" sz="1050" dirty="0"/>
          </a:p>
        </p:txBody>
      </p:sp>
      <p:sp>
        <p:nvSpPr>
          <p:cNvPr id="9" name="Shape 7"/>
          <p:cNvSpPr/>
          <p:nvPr/>
        </p:nvSpPr>
        <p:spPr>
          <a:xfrm>
            <a:off x="457200" y="1993392"/>
            <a:ext cx="1737360" cy="438912"/>
          </a:xfrm>
          <a:prstGeom prst="rect">
            <a:avLst/>
          </a:prstGeom>
          <a:solidFill>
            <a:srgbClr val="7A8CC0"/>
          </a:solidFill>
          <a:ln w="12700">
            <a:solidFill>
              <a:srgbClr val="7A8CC0"/>
            </a:solidFill>
            <a:prstDash val="solid"/>
          </a:ln>
        </p:spPr>
      </p:sp>
      <p:sp>
        <p:nvSpPr>
          <p:cNvPr id="10" name="Text 8"/>
          <p:cNvSpPr/>
          <p:nvPr/>
        </p:nvSpPr>
        <p:spPr>
          <a:xfrm>
            <a:off x="457200" y="1993392"/>
            <a:ext cx="1737360"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L3 HRNet</a:t>
            </a:r>
            <a:endParaRPr lang="en-US" sz="950" dirty="0"/>
          </a:p>
        </p:txBody>
      </p:sp>
      <p:sp>
        <p:nvSpPr>
          <p:cNvPr id="11" name="Text 9"/>
          <p:cNvSpPr/>
          <p:nvPr/>
        </p:nvSpPr>
        <p:spPr>
          <a:xfrm>
            <a:off x="2331720" y="2020824"/>
            <a:ext cx="6492240" cy="402336"/>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Maintain high-res representation via parallel multi-scale branches with repeated fusion. Top-down: detect person, crop, run HRNet, argmax heatmap. HRNet-W48: 75.1 AP.</a:t>
            </a:r>
            <a:endParaRPr lang="en-US" sz="1050" dirty="0"/>
          </a:p>
        </p:txBody>
      </p:sp>
      <p:sp>
        <p:nvSpPr>
          <p:cNvPr id="12" name="Shape 10"/>
          <p:cNvSpPr/>
          <p:nvPr/>
        </p:nvSpPr>
        <p:spPr>
          <a:xfrm>
            <a:off x="457200" y="2510028"/>
            <a:ext cx="1737360" cy="438912"/>
          </a:xfrm>
          <a:prstGeom prst="rect">
            <a:avLst/>
          </a:prstGeom>
          <a:solidFill>
            <a:srgbClr val="7A8CC0"/>
          </a:solidFill>
          <a:ln w="12700">
            <a:solidFill>
              <a:srgbClr val="7A8CC0"/>
            </a:solidFill>
            <a:prstDash val="solid"/>
          </a:ln>
        </p:spPr>
      </p:sp>
      <p:sp>
        <p:nvSpPr>
          <p:cNvPr id="13" name="Text 11"/>
          <p:cNvSpPr/>
          <p:nvPr/>
        </p:nvSpPr>
        <p:spPr>
          <a:xfrm>
            <a:off x="457200" y="2510028"/>
            <a:ext cx="1737360"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L4 Face/Hands</a:t>
            </a:r>
            <a:endParaRPr lang="en-US" sz="950" dirty="0"/>
          </a:p>
        </p:txBody>
      </p:sp>
      <p:sp>
        <p:nvSpPr>
          <p:cNvPr id="14" name="Text 12"/>
          <p:cNvSpPr/>
          <p:nvPr/>
        </p:nvSpPr>
        <p:spPr>
          <a:xfrm>
            <a:off x="2331720" y="2537460"/>
            <a:ext cx="6492240" cy="402336"/>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68-point face model (jaw/brows/nose/eyes/lips). MediaPipe: 468 mesh, 21-point hand. NME = mean error / inter-pupil distance. Align face to 5 canonical landmarks before recognition.</a:t>
            </a:r>
            <a:endParaRPr lang="en-US" sz="1050" dirty="0"/>
          </a:p>
        </p:txBody>
      </p:sp>
      <p:sp>
        <p:nvSpPr>
          <p:cNvPr id="15" name="Shape 13"/>
          <p:cNvSpPr/>
          <p:nvPr/>
        </p:nvSpPr>
        <p:spPr>
          <a:xfrm>
            <a:off x="457200" y="3026664"/>
            <a:ext cx="1737360" cy="438912"/>
          </a:xfrm>
          <a:prstGeom prst="rect">
            <a:avLst/>
          </a:prstGeom>
          <a:solidFill>
            <a:srgbClr val="7A8CC0"/>
          </a:solidFill>
          <a:ln w="12700">
            <a:solidFill>
              <a:srgbClr val="7A8CC0"/>
            </a:solidFill>
            <a:prstDash val="solid"/>
          </a:ln>
        </p:spPr>
      </p:sp>
      <p:sp>
        <p:nvSpPr>
          <p:cNvPr id="16" name="Text 14"/>
          <p:cNvSpPr/>
          <p:nvPr/>
        </p:nvSpPr>
        <p:spPr>
          <a:xfrm>
            <a:off x="457200" y="3026664"/>
            <a:ext cx="1737360"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L5 3D Lifting</a:t>
            </a:r>
            <a:endParaRPr lang="en-US" sz="950" dirty="0"/>
          </a:p>
        </p:txBody>
      </p:sp>
      <p:sp>
        <p:nvSpPr>
          <p:cNvPr id="17" name="Text 15"/>
          <p:cNvSpPr/>
          <p:nvPr/>
        </p:nvSpPr>
        <p:spPr>
          <a:xfrm>
            <a:off x="2331720" y="3054096"/>
            <a:ext cx="6492240" cy="402336"/>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2D-&gt;3D is ambiguous: many 3D poses project to same 2D. VideoPose3D: temporal convolutions on 2D sequence. Metric: MPJPE (mm). PA-MPJPE: shape error without global pose.</a:t>
            </a:r>
            <a:endParaRPr lang="en-US" sz="1050" dirty="0"/>
          </a:p>
        </p:txBody>
      </p:sp>
      <p:sp>
        <p:nvSpPr>
          <p:cNvPr id="18" name="Shape 16"/>
          <p:cNvSpPr/>
          <p:nvPr/>
        </p:nvSpPr>
        <p:spPr>
          <a:xfrm>
            <a:off x="457200" y="3543300"/>
            <a:ext cx="1737360" cy="438912"/>
          </a:xfrm>
          <a:prstGeom prst="rect">
            <a:avLst/>
          </a:prstGeom>
          <a:solidFill>
            <a:srgbClr val="7A8CC0"/>
          </a:solidFill>
          <a:ln w="12700">
            <a:solidFill>
              <a:srgbClr val="7A8CC0"/>
            </a:solidFill>
            <a:prstDash val="solid"/>
          </a:ln>
        </p:spPr>
      </p:sp>
      <p:sp>
        <p:nvSpPr>
          <p:cNvPr id="19" name="Text 17"/>
          <p:cNvSpPr/>
          <p:nvPr/>
        </p:nvSpPr>
        <p:spPr>
          <a:xfrm>
            <a:off x="457200" y="3543300"/>
            <a:ext cx="1737360"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L6 Homography</a:t>
            </a:r>
            <a:endParaRPr lang="en-US" sz="950" dirty="0"/>
          </a:p>
        </p:txBody>
      </p:sp>
      <p:sp>
        <p:nvSpPr>
          <p:cNvPr id="20" name="Text 18"/>
          <p:cNvSpPr/>
          <p:nvPr/>
        </p:nvSpPr>
        <p:spPr>
          <a:xfrm>
            <a:off x="2331720" y="3570732"/>
            <a:ext cx="6492240" cy="402336"/>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H: 3x3, 8 DoF, maps planar scenes between views. DLT: solve Ah=0 via SVD from 4+ pairs. RANSAC: sample 4 pts, count inliers, keep best model. Use: panoramas, AR, doc rectification.</a:t>
            </a:r>
            <a:endParaRPr lang="en-US" sz="1050" dirty="0"/>
          </a:p>
        </p:txBody>
      </p:sp>
      <p:sp>
        <p:nvSpPr>
          <p:cNvPr id="21" name="Shape 19"/>
          <p:cNvSpPr/>
          <p:nvPr/>
        </p:nvSpPr>
        <p:spPr>
          <a:xfrm>
            <a:off x="457200" y="4059936"/>
            <a:ext cx="1737360" cy="438912"/>
          </a:xfrm>
          <a:prstGeom prst="rect">
            <a:avLst/>
          </a:prstGeom>
          <a:solidFill>
            <a:srgbClr val="7A8CC0"/>
          </a:solidFill>
          <a:ln w="12700">
            <a:solidFill>
              <a:srgbClr val="7A8CC0"/>
            </a:solidFill>
            <a:prstDash val="solid"/>
          </a:ln>
        </p:spPr>
      </p:sp>
      <p:sp>
        <p:nvSpPr>
          <p:cNvPr id="22" name="Text 20"/>
          <p:cNvSpPr/>
          <p:nvPr/>
        </p:nvSpPr>
        <p:spPr>
          <a:xfrm>
            <a:off x="457200" y="4059936"/>
            <a:ext cx="1737360"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L7 Epipolar</a:t>
            </a:r>
            <a:endParaRPr lang="en-US" sz="950" dirty="0"/>
          </a:p>
        </p:txBody>
      </p:sp>
      <p:sp>
        <p:nvSpPr>
          <p:cNvPr id="23" name="Text 21"/>
          <p:cNvSpPr/>
          <p:nvPr/>
        </p:nvSpPr>
        <p:spPr>
          <a:xfrm>
            <a:off x="2331720" y="4087368"/>
            <a:ext cx="6492240" cy="402336"/>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x'^T*F*x=0. Epipolar line l'=Fx reduces search from 2D to 1D. E=K'^T*F*K for calibrated cameras. Decompose E via SVD to get R, t. Foundation of SfM and SLAM.</a:t>
            </a:r>
            <a:endParaRPr lang="en-US" sz="1050" dirty="0"/>
          </a:p>
        </p:txBody>
      </p:sp>
      <p:sp>
        <p:nvSpPr>
          <p:cNvPr id="24" name="Shape 22"/>
          <p:cNvSpPr/>
          <p:nvPr/>
        </p:nvSpPr>
        <p:spPr>
          <a:xfrm>
            <a:off x="457200" y="4576572"/>
            <a:ext cx="1737360" cy="438912"/>
          </a:xfrm>
          <a:prstGeom prst="rect">
            <a:avLst/>
          </a:prstGeom>
          <a:solidFill>
            <a:srgbClr val="7A8CC0"/>
          </a:solidFill>
          <a:ln w="12700">
            <a:solidFill>
              <a:srgbClr val="7A8CC0"/>
            </a:solidFill>
            <a:prstDash val="solid"/>
          </a:ln>
        </p:spPr>
      </p:sp>
      <p:sp>
        <p:nvSpPr>
          <p:cNvPr id="25" name="Text 23"/>
          <p:cNvSpPr/>
          <p:nvPr/>
        </p:nvSpPr>
        <p:spPr>
          <a:xfrm>
            <a:off x="457200" y="4576572"/>
            <a:ext cx="1737360"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L8 Stereo</a:t>
            </a:r>
            <a:endParaRPr lang="en-US" sz="950" dirty="0"/>
          </a:p>
        </p:txBody>
      </p:sp>
      <p:sp>
        <p:nvSpPr>
          <p:cNvPr id="26" name="Text 24"/>
          <p:cNvSpPr/>
          <p:nvPr/>
        </p:nvSpPr>
        <p:spPr>
          <a:xfrm>
            <a:off x="2331720" y="4604004"/>
            <a:ext cx="6492240" cy="402336"/>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Disparity d=x_L-x_R. Depth Z=f*b/d. Rectify first (horizontal scanlines). PSMNet/RAFT-Stereo: best accuracy. Monocular: MiDaS/Depth Anything — relative depth, no scale.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CV Section L — Keypoints, Pose, Geometry &amp; Stereo</dc:title>
  <dc:subject>PptxGenJS Presentation</dc:subject>
  <dc:creator>PptxGenJS</dc:creator>
  <cp:lastModifiedBy>PptxGenJS</cp:lastModifiedBy>
  <cp:revision>1</cp:revision>
  <dcterms:created xsi:type="dcterms:W3CDTF">2026-03-10T05:11:21Z</dcterms:created>
  <dcterms:modified xsi:type="dcterms:W3CDTF">2026-03-10T05:11:21Z</dcterms:modified>
</cp:coreProperties>
</file>