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18872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I</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Classification &amp; Transfer Learning</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Image Classification · Feature Extraction · Fine-Tuning · Linear Probe · Domain Adaptation · CLIP</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 in Section I</a:t>
            </a:r>
            <a:endParaRPr lang="en-US" sz="2000" dirty="0"/>
          </a:p>
        </p:txBody>
      </p:sp>
      <p:sp>
        <p:nvSpPr>
          <p:cNvPr id="4" name="Shape 2"/>
          <p:cNvSpPr/>
          <p:nvPr/>
        </p:nvSpPr>
        <p:spPr>
          <a:xfrm>
            <a:off x="320040" y="822960"/>
            <a:ext cx="502920" cy="475488"/>
          </a:xfrm>
          <a:prstGeom prst="rect">
            <a:avLst/>
          </a:prstGeom>
          <a:solidFill>
            <a:srgbClr val="1E2761"/>
          </a:solidFill>
          <a:ln w="12700">
            <a:solidFill>
              <a:srgbClr val="1E2761"/>
            </a:solidFill>
            <a:prstDash val="solid"/>
          </a:ln>
        </p:spPr>
      </p:sp>
      <p:sp>
        <p:nvSpPr>
          <p:cNvPr id="5" name="Text 3"/>
          <p:cNvSpPr/>
          <p:nvPr/>
        </p:nvSpPr>
        <p:spPr>
          <a:xfrm>
            <a:off x="320040" y="822960"/>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I1</a:t>
            </a:r>
            <a:endParaRPr lang="en-US" sz="1000" dirty="0"/>
          </a:p>
        </p:txBody>
      </p:sp>
      <p:sp>
        <p:nvSpPr>
          <p:cNvPr id="6" name="Text 4"/>
          <p:cNvSpPr/>
          <p:nvPr/>
        </p:nvSpPr>
        <p:spPr>
          <a:xfrm>
            <a:off x="960120" y="822960"/>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Image Classification Pipeline</a:t>
            </a:r>
            <a:endParaRPr lang="en-US" sz="1300" dirty="0"/>
          </a:p>
        </p:txBody>
      </p:sp>
      <p:sp>
        <p:nvSpPr>
          <p:cNvPr id="7" name="Text 5"/>
          <p:cNvSpPr/>
          <p:nvPr/>
        </p:nvSpPr>
        <p:spPr>
          <a:xfrm>
            <a:off x="960120" y="1060704"/>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End-to-end: preprocessing, forward pass, softmax, top-k accuracy</a:t>
            </a:r>
            <a:endParaRPr lang="en-US" sz="1050" dirty="0"/>
          </a:p>
        </p:txBody>
      </p:sp>
      <p:sp>
        <p:nvSpPr>
          <p:cNvPr id="8" name="Shape 6"/>
          <p:cNvSpPr/>
          <p:nvPr/>
        </p:nvSpPr>
        <p:spPr>
          <a:xfrm>
            <a:off x="320040" y="1444752"/>
            <a:ext cx="502920" cy="475488"/>
          </a:xfrm>
          <a:prstGeom prst="rect">
            <a:avLst/>
          </a:prstGeom>
          <a:solidFill>
            <a:srgbClr val="1E2761"/>
          </a:solidFill>
          <a:ln w="12700">
            <a:solidFill>
              <a:srgbClr val="1E2761"/>
            </a:solidFill>
            <a:prstDash val="solid"/>
          </a:ln>
        </p:spPr>
      </p:sp>
      <p:sp>
        <p:nvSpPr>
          <p:cNvPr id="9" name="Text 7"/>
          <p:cNvSpPr/>
          <p:nvPr/>
        </p:nvSpPr>
        <p:spPr>
          <a:xfrm>
            <a:off x="320040" y="1444752"/>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I2</a:t>
            </a:r>
            <a:endParaRPr lang="en-US" sz="1000" dirty="0"/>
          </a:p>
        </p:txBody>
      </p:sp>
      <p:sp>
        <p:nvSpPr>
          <p:cNvPr id="10" name="Text 8"/>
          <p:cNvSpPr/>
          <p:nvPr/>
        </p:nvSpPr>
        <p:spPr>
          <a:xfrm>
            <a:off x="960120" y="1444752"/>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Transfer Learning — Why It Works</a:t>
            </a:r>
            <a:endParaRPr lang="en-US" sz="1300" dirty="0"/>
          </a:p>
        </p:txBody>
      </p:sp>
      <p:sp>
        <p:nvSpPr>
          <p:cNvPr id="11" name="Text 9"/>
          <p:cNvSpPr/>
          <p:nvPr/>
        </p:nvSpPr>
        <p:spPr>
          <a:xfrm>
            <a:off x="960120" y="1682496"/>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What ImageNet features look like; layers as feature hierarchies</a:t>
            </a:r>
            <a:endParaRPr lang="en-US" sz="1050" dirty="0"/>
          </a:p>
        </p:txBody>
      </p:sp>
      <p:sp>
        <p:nvSpPr>
          <p:cNvPr id="12" name="Shape 10"/>
          <p:cNvSpPr/>
          <p:nvPr/>
        </p:nvSpPr>
        <p:spPr>
          <a:xfrm>
            <a:off x="320040" y="2066544"/>
            <a:ext cx="502920" cy="475488"/>
          </a:xfrm>
          <a:prstGeom prst="rect">
            <a:avLst/>
          </a:prstGeom>
          <a:solidFill>
            <a:srgbClr val="1E2761"/>
          </a:solidFill>
          <a:ln w="12700">
            <a:solidFill>
              <a:srgbClr val="1E2761"/>
            </a:solidFill>
            <a:prstDash val="solid"/>
          </a:ln>
        </p:spPr>
      </p:sp>
      <p:sp>
        <p:nvSpPr>
          <p:cNvPr id="13" name="Text 11"/>
          <p:cNvSpPr/>
          <p:nvPr/>
        </p:nvSpPr>
        <p:spPr>
          <a:xfrm>
            <a:off x="320040" y="2066544"/>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I3</a:t>
            </a:r>
            <a:endParaRPr lang="en-US" sz="1000" dirty="0"/>
          </a:p>
        </p:txBody>
      </p:sp>
      <p:sp>
        <p:nvSpPr>
          <p:cNvPr id="14" name="Text 12"/>
          <p:cNvSpPr/>
          <p:nvPr/>
        </p:nvSpPr>
        <p:spPr>
          <a:xfrm>
            <a:off x="960120" y="2066544"/>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Feature Extraction</a:t>
            </a:r>
            <a:endParaRPr lang="en-US" sz="1300" dirty="0"/>
          </a:p>
        </p:txBody>
      </p:sp>
      <p:sp>
        <p:nvSpPr>
          <p:cNvPr id="15" name="Text 13"/>
          <p:cNvSpPr/>
          <p:nvPr/>
        </p:nvSpPr>
        <p:spPr>
          <a:xfrm>
            <a:off x="960120" y="2304288"/>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Freeze backbone, train only the classifier head — fastest approach</a:t>
            </a:r>
            <a:endParaRPr lang="en-US" sz="1050" dirty="0"/>
          </a:p>
        </p:txBody>
      </p:sp>
      <p:sp>
        <p:nvSpPr>
          <p:cNvPr id="16" name="Shape 14"/>
          <p:cNvSpPr/>
          <p:nvPr/>
        </p:nvSpPr>
        <p:spPr>
          <a:xfrm>
            <a:off x="320040" y="2688336"/>
            <a:ext cx="502920" cy="475488"/>
          </a:xfrm>
          <a:prstGeom prst="rect">
            <a:avLst/>
          </a:prstGeom>
          <a:solidFill>
            <a:srgbClr val="1E2761"/>
          </a:solidFill>
          <a:ln w="12700">
            <a:solidFill>
              <a:srgbClr val="1E2761"/>
            </a:solidFill>
            <a:prstDash val="solid"/>
          </a:ln>
        </p:spPr>
      </p:sp>
      <p:sp>
        <p:nvSpPr>
          <p:cNvPr id="17" name="Text 15"/>
          <p:cNvSpPr/>
          <p:nvPr/>
        </p:nvSpPr>
        <p:spPr>
          <a:xfrm>
            <a:off x="320040" y="2688336"/>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I4</a:t>
            </a:r>
            <a:endParaRPr lang="en-US" sz="1000" dirty="0"/>
          </a:p>
        </p:txBody>
      </p:sp>
      <p:sp>
        <p:nvSpPr>
          <p:cNvPr id="18" name="Text 16"/>
          <p:cNvSpPr/>
          <p:nvPr/>
        </p:nvSpPr>
        <p:spPr>
          <a:xfrm>
            <a:off x="960120" y="2688336"/>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Fine-Tuning</a:t>
            </a:r>
            <a:endParaRPr lang="en-US" sz="1300" dirty="0"/>
          </a:p>
        </p:txBody>
      </p:sp>
      <p:sp>
        <p:nvSpPr>
          <p:cNvPr id="19" name="Text 17"/>
          <p:cNvSpPr/>
          <p:nvPr/>
        </p:nvSpPr>
        <p:spPr>
          <a:xfrm>
            <a:off x="960120" y="2926080"/>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Unfreeze some or all backbone layers; learning rate strategies</a:t>
            </a:r>
            <a:endParaRPr lang="en-US" sz="1050" dirty="0"/>
          </a:p>
        </p:txBody>
      </p:sp>
      <p:sp>
        <p:nvSpPr>
          <p:cNvPr id="20" name="Shape 18"/>
          <p:cNvSpPr/>
          <p:nvPr/>
        </p:nvSpPr>
        <p:spPr>
          <a:xfrm>
            <a:off x="320040" y="3310128"/>
            <a:ext cx="502920" cy="475488"/>
          </a:xfrm>
          <a:prstGeom prst="rect">
            <a:avLst/>
          </a:prstGeom>
          <a:solidFill>
            <a:srgbClr val="1E2761"/>
          </a:solidFill>
          <a:ln w="12700">
            <a:solidFill>
              <a:srgbClr val="1E2761"/>
            </a:solidFill>
            <a:prstDash val="solid"/>
          </a:ln>
        </p:spPr>
      </p:sp>
      <p:sp>
        <p:nvSpPr>
          <p:cNvPr id="21" name="Text 19"/>
          <p:cNvSpPr/>
          <p:nvPr/>
        </p:nvSpPr>
        <p:spPr>
          <a:xfrm>
            <a:off x="320040" y="3310128"/>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I5</a:t>
            </a:r>
            <a:endParaRPr lang="en-US" sz="1000" dirty="0"/>
          </a:p>
        </p:txBody>
      </p:sp>
      <p:sp>
        <p:nvSpPr>
          <p:cNvPr id="22" name="Text 20"/>
          <p:cNvSpPr/>
          <p:nvPr/>
        </p:nvSpPr>
        <p:spPr>
          <a:xfrm>
            <a:off x="960120" y="3310128"/>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Linear Probe</a:t>
            </a:r>
            <a:endParaRPr lang="en-US" sz="1300" dirty="0"/>
          </a:p>
        </p:txBody>
      </p:sp>
      <p:sp>
        <p:nvSpPr>
          <p:cNvPr id="23" name="Text 21"/>
          <p:cNvSpPr/>
          <p:nvPr/>
        </p:nvSpPr>
        <p:spPr>
          <a:xfrm>
            <a:off x="960120" y="3547872"/>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Benchmark quality of frozen features; used in self-supervised eval</a:t>
            </a:r>
            <a:endParaRPr lang="en-US" sz="1050" dirty="0"/>
          </a:p>
        </p:txBody>
      </p:sp>
      <p:sp>
        <p:nvSpPr>
          <p:cNvPr id="24" name="Shape 22"/>
          <p:cNvSpPr/>
          <p:nvPr/>
        </p:nvSpPr>
        <p:spPr>
          <a:xfrm>
            <a:off x="320040" y="3931920"/>
            <a:ext cx="502920" cy="475488"/>
          </a:xfrm>
          <a:prstGeom prst="rect">
            <a:avLst/>
          </a:prstGeom>
          <a:solidFill>
            <a:srgbClr val="1E2761"/>
          </a:solidFill>
          <a:ln w="12700">
            <a:solidFill>
              <a:srgbClr val="1E2761"/>
            </a:solidFill>
            <a:prstDash val="solid"/>
          </a:ln>
        </p:spPr>
      </p:sp>
      <p:sp>
        <p:nvSpPr>
          <p:cNvPr id="25" name="Text 23"/>
          <p:cNvSpPr/>
          <p:nvPr/>
        </p:nvSpPr>
        <p:spPr>
          <a:xfrm>
            <a:off x="320040" y="3931920"/>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I6</a:t>
            </a:r>
            <a:endParaRPr lang="en-US" sz="1000" dirty="0"/>
          </a:p>
        </p:txBody>
      </p:sp>
      <p:sp>
        <p:nvSpPr>
          <p:cNvPr id="26" name="Text 24"/>
          <p:cNvSpPr/>
          <p:nvPr/>
        </p:nvSpPr>
        <p:spPr>
          <a:xfrm>
            <a:off x="960120" y="3931920"/>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Domain Adaptation</a:t>
            </a:r>
            <a:endParaRPr lang="en-US" sz="1300" dirty="0"/>
          </a:p>
        </p:txBody>
      </p:sp>
      <p:sp>
        <p:nvSpPr>
          <p:cNvPr id="27" name="Text 25"/>
          <p:cNvSpPr/>
          <p:nvPr/>
        </p:nvSpPr>
        <p:spPr>
          <a:xfrm>
            <a:off x="960120" y="4169664"/>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When source and target distributions differ — bridging the gap</a:t>
            </a:r>
            <a:endParaRPr lang="en-US" sz="1050" dirty="0"/>
          </a:p>
        </p:txBody>
      </p:sp>
      <p:sp>
        <p:nvSpPr>
          <p:cNvPr id="28" name="Shape 26"/>
          <p:cNvSpPr/>
          <p:nvPr/>
        </p:nvSpPr>
        <p:spPr>
          <a:xfrm>
            <a:off x="320040" y="4553712"/>
            <a:ext cx="502920" cy="475488"/>
          </a:xfrm>
          <a:prstGeom prst="rect">
            <a:avLst/>
          </a:prstGeom>
          <a:solidFill>
            <a:srgbClr val="1E2761"/>
          </a:solidFill>
          <a:ln w="12700">
            <a:solidFill>
              <a:srgbClr val="1E2761"/>
            </a:solidFill>
            <a:prstDash val="solid"/>
          </a:ln>
        </p:spPr>
      </p:sp>
      <p:sp>
        <p:nvSpPr>
          <p:cNvPr id="29" name="Text 27"/>
          <p:cNvSpPr/>
          <p:nvPr/>
        </p:nvSpPr>
        <p:spPr>
          <a:xfrm>
            <a:off x="320040" y="4553712"/>
            <a:ext cx="5029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I7</a:t>
            </a:r>
            <a:endParaRPr lang="en-US" sz="1000" dirty="0"/>
          </a:p>
        </p:txBody>
      </p:sp>
      <p:sp>
        <p:nvSpPr>
          <p:cNvPr id="30" name="Text 28"/>
          <p:cNvSpPr/>
          <p:nvPr/>
        </p:nvSpPr>
        <p:spPr>
          <a:xfrm>
            <a:off x="960120" y="4553712"/>
            <a:ext cx="2926080" cy="246888"/>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CLIP &amp; Vision-Language Models</a:t>
            </a:r>
            <a:endParaRPr lang="en-US" sz="1300" dirty="0"/>
          </a:p>
        </p:txBody>
      </p:sp>
      <p:sp>
        <p:nvSpPr>
          <p:cNvPr id="31" name="Text 29"/>
          <p:cNvSpPr/>
          <p:nvPr/>
        </p:nvSpPr>
        <p:spPr>
          <a:xfrm>
            <a:off x="960120" y="4791456"/>
            <a:ext cx="7863840" cy="24688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Zero-shot classification; image-text contrastive pretraining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I1</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Image Classification Pipeline</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From raw pixel to predicted class — every step explained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End-to-End Classification Pipeline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RAW IMAGE (JPEG/PNG)  →  PREPROCESSING  →  MODEL  →  POSTPROCESSING  →  CLASS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[1] PREPROCESSING: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PIL.Image.open('cat.jpg')          # load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img.resize((256, 256))             # resize to slightly larger than crop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RandomCrop(224)(img)               # random 224×224 crop (training)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CenterCrop(224)(img)               # center crop (inference)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ToTensor()(img)                    # [H,W,C] uint8 → [C,H,W] float32 / 255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img = Normalize(mean=[0.485,0.456,0.406],# subtract ImageNet mean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std=[0.229,0.224,0.225]) # divide by ImageNet std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 FORWARD PASS: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logits = model(img.unsqueeze(0))         # add batch dim: [1,3,224,224]</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logits shape: [1, 1000]  (raw scores before softmax)</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[3] POSTPROCESSING: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probs = F.softmax(logits, dim=1)         # convert to probabilities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top5_probs, top5_ids = probs.topk(5)     # top-5 predictions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labels = [imagenet_classes[i] for i in top5_ids[0]]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e.g., ['tabby cat 0.82', 'tiger cat 0.12', 'lynx 0.03', ...]</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normalization constants (0.485, 0.456, 0.406) are the ImageNet channel means. ALWAYS normalize with the same stats used during training.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Top-1 and Top-5 Accuracy — Evaluation Metrics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Classification accuracy is reported at two granularities: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Top-1 accuracy: the model's highest-confidence prediction must match the ground-truth label. Standard metric for single-label classification.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Top-5 accuracy: the ground-truth label must appear anywhere in the model's top-5 predictions. More lenient — useful when classes are highly similar (e.g., 1000 ImageNet classes).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Example: image is a 'tabby cat'. Model predicts [tabby cat 0.82, tiger cat 0.12, lynx 0.03, ...]. Top-1 = correct (0.82). Top-5 = correct.</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Example: model predicts [tiger cat 0.50, tabby cat 0.30, ...]. Top-1 = wrong. Top-5 = correct (tabby is in top 5).</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Standard ImageNet benchmark: ResNet-50 achieves 76.1% top-1 / 92.9% top-5.</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The 23.8% gap between top-1 and top-5 reflects how often the correct answer is in the model's top-5 but not the top-1 — common for visually similar categories.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Confusion matrix: for multi-class problems, shows which classes the model confuses. Each row = true class, each column = predicted class. Diagonal = correct. Off-diagonal = errors.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Per-class accuracy: report accuracy separately for each class. Important when classes are imbalanced — overall accuracy can be misleading if one class dominates.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ImageNet Normalization — Why and How</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Why normalize? Neural networks train faster and more stably when input features have zero mean and unit variance. ImageNet-pretrained models expect inputs normalized with ImageNet statistics.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ImageNet channel means (RGB): [0.485, 0.456, 0.406]. These are the mean R, G, B values across all 1.2M ImageNet images, normalized to [0,1].</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ImageNet channel stds (RGB): [0.229, 0.224, 0.225]. The standard deviations of R, G, B across ImageNet.</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Formula: x_norm = (x / 255 - mean) / std  applied per channel.</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Result: each channel has approximately zero mean and unit variance across ImageNet.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CRITICAL rule: use the SAME normalization statistics that the model was pretrained with.</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ImageNet-pretrained model + ImageNet normalization: correct.</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ImageNet-pretrained model + [0,1] normalization: wrong — model will perform much worse because its first layer weights expect the ImageNet-normalized distribution.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Training from scratch: compute mean/std from YOUR dataset and normalize with those values.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torchvision.transforms.Normalize(mean, std) handles this automatically.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I2</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Why Transfer Learning Works</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Feature hierarchies learned from ImageNet generalize remarkably broadly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Transfer Learning — The Core Idea</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I2</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CNN trained on ImageNet learns a hierarchy of visual features that are useful far beyond ImageNet itself. The early layers detect edges and textures; the middle layers detect parts; the later layers detect objects. These features transfer to new tasks with little additional data.</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Why ImageNet features generalize: natural images share low-level statistics (edges, colors, textures) regardless of domain. A model trained to distinguish 1000 classes learns highly general feature detectors.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Evidence: even simple linear classifiers trained on top of frozen ImageNet features achieve strong accuracy on many unrelated tasks — medical imaging, satellite imagery, art classification.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Layer hierarchy in a ResNet-50:</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1–10: edges, blobs, oriented filters — pure texture. Very general, transfer everywhere.</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11–30: corners, circles, grids, texture patterns — low-level semantics.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31–45: object parts — dog face, wheel, door handle. Somewhat task-specific.</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46–50 + classifier: full objects and class-specific detectors. Highly task-specific.</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Implication: for a new task, you rarely need to retrain the whole network from scratch. Reuse as much of the pretrained backbone as possible.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Feature Hierarchy — What Each Layer Learns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EARLY LAYERS (conv1–conv3):         MIDDLE LAYERS (conv4–conv6):</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 basic primitives              Detect combinations of primitives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circle  corner  grid  texture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(orientation gradient) (blobs)      Combine: edges → corners → circles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LATER LAYERS (conv7–conv9):          FINAL LAYERS (conv10+):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 object parts                  Detect whole objects / concepts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[eye]  [wheel]  [fur texture]       [face]  [car]  [dog]  [cat]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Activates for specific parts        Activates for whole objects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regardless of surrounding context   Class-specific, task-specific</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TRANSFER LEARNING INTUITION: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New task = X-ray classification (very different from ImageNet!)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Early layers (edges): still useful — X-rays also have edges.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Middle layers (patterns): still useful — bones have texture patterns.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Late layers (dog/car parts): NOT useful — retrain these.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Freeze early layers, fine-tune late layers for new task.</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Visualizations of CNN features (Zeiler &amp; Fergus, 2013) confirmed this hierarchy. It is one of the key reasons deep learning transfer works.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I3</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Feature Extraction</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Freeze the backbone, train only the classification head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Feature Extraction — When and How</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I3</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Feature extraction uses a pretrained backbone as a fixed feature extractor. The backbone weights are completely frozen (no gradient updates). Only a new classification head (typically a single linear layer) is trained on the target dataset.</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When to use: very small target dataset (&lt;1,000 labeled examples). Fast iteration needed (training only one layer). Target domain is similar to source domain (natural images → natural images).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Process: load pretrained model → replace classifier head → freeze all backbone parameters → train head only on target data.</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Speed advantage: since backbone is frozen, you can pre-compute features once and store them. Then training is just logistic regression on stored features — seconds to minutes.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Precompute: features = model.backbone(all_images) → save to disk. Train: classifier.fit(features, labels). No GPU needed for training phase.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Typical accuracy: 70–85% of fine-tuned accuracy, at 100× less compute. Often sufficient for production.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Layer choice: extract features from the penultimate layer (before the final classifier). For ResNet-50, this is after GAP — a 2048-dimensional vector per image.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Feature Extraction — Architecture and Code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I3</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PRETRAINED RESNET-50:               MODIFIED FOR FEATURE EXTRACTION: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Input (224×224×3)                   Input (224×224×3)</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Conv Stem                           Conv Stem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1 (256ch)                     Stage 1 (256ch)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2 (512ch)                     Stage 2 (512ch)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3 (1024ch)                    Stage 3 (1024ch)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4 (2048ch)                    Stage 4 (2048ch)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GAP → 2048-vector                   GAP → 2048-vector ←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FC(2048→1000) ← ImageNet head       FC(2048→K) ← NEW, TRAINED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PyTorch code: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model = torchvision.models.resnet50(pretrained=True)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for param in model.parameters():    # freeze everything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param.requires_grad = False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model.fc = nn.Linear(2048, num_classes)  # replace head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Only model.fc.parameters() have requires_grad=True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optimizer = torch.optim.Adam(model.fc.parameters(), lr=1e-3)</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Train: only 2048×K + K parameters updated</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Freezing is done by setting requires_grad=False. Only the new head has trainable parameters — training is extremely fast.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I4</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Fine-Tuning</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Unfreeze backbone layers and continue training on the target dataset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Fine-Tuning — The Full Spectrum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I4</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Fine-tuning updates some or all backbone weights on the target dataset. It allows the network to adapt its features to the target domain — essential when target images look different from ImageNet (e.g., medical scans, satellite imagery, industrial defects).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Spectrum from feature extraction to full fine-tuning:</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Head only (feature extraction): freeze all backbone, train only head. Fastest. Best for tiny datasets.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Partial fine-tuning: freeze early layers, unfreeze later layers + head. Good balance of speed and accuracy.</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Full fine-tuning: unfreeze all layers, train everything. Best accuracy. Needs more data and longer training.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Learning rate strategy: crucial for fine-tuning. Using the same LR for all layers is often suboptimal.</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Differential learning rates (layer-wise LR decay): head gets lr=1e-3; last backbone block gets lr=1e-4; early layers get lr=1e-5. Prevents overwriting general features with task-specific noise.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Dataset size guidance: &lt;1K samples → head only. 1K–10K → partial fine-tuning. &gt;10K → full fine-tuning with small LR on backbone.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Fine-Tuning Strategy — Layer-wise LR Decay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FULL FINE-TUNING with differential learning rates: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Layer               LR Multiplier    Actual LR (base=1e-3)</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New Head (FC)          1.0×            1e-3   ← learns fast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4                0.1×            1e-4   ← adapts slowly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3                0.01×           1e-5   ← barely changes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2                0.001×          1e-6   ← almost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Stage 1 + Stem         0.0001×         1e-7   ← effectively frozen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Intuition: early layers have learned very general edge/texture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detectors that are useful everywhere. Changing them risks losing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these general features. Late layers are more task-specific and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benefit more from adapting to the new domain.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GRADUAL UNFREEZING (fastai approach):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1: Train head only for 3 epochs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2: Unfreeze last block, train for 3 epochs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3: Unfreeze all, train with layer-wise decay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step: allows the network to adapt incrementally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avoids catastrophic forgetting of pretrained features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Layer-wise LR decay is a key fine-tuning technique. Discriminative learning rates (fastai) use this automatically across all layer groups.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Fine-Tuning Pitfalls and Best Practices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I4</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Common Pitfalls</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Best Practices</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COMMON PITFALLS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LR too high on backbone: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Overwrites pretrained features immediately.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Loss spikes at start, never recovers.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Fix: use 10-100× lower LR for backbone.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Forgetting to change head size: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Pretrained head has 1000 outputs (ImageNet).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Your task has K classes.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Replace head BEFORE loading weights — or load backbone only.</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Normalizing with wrong stats: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Must use ImageNet mean/std if using ImageNet pretrained weights.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Not using model.train() correctly: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During fine-tuning, backbone BN layers must be in eval mode if batch is small — BN statistics from small batch are noisy.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Fix: call model.eval() on the backbone BN layers only.</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BEST PRACTICES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Start from better pretrained models: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ViT pretrained on ImageNet-21k (14M images)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beats ResNet pretrained on ImageNet-1k (1.2M) for most fine-tuning tasks.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learning rate warmup:</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Even for fine-tuning — head starts with random weights,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high LR from step 1 can destabilize the backbone.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Monitor val accuracy closely: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Fine-tuning can overfit fast on small datasets.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Use early stopping with patience=5 epochs.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Data augmentation is critical: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More important for small datasets.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RandAugment + Mixup help prevent overfitting the small target set.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Evaluate linear probe first:</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If linear probe already works well → features are good, just fine-tune the head.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I5</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Linear Probe</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Measuring feature quality without fine-tuning — the self-supervised benchmark</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Linear Probe — What It Is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I5</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linear probe trains ONLY a single linear layer (logistic regression) on top of completely frozen backbone features. The result measures how well-structured and linearly separable the features are — purely the quality of the learned representation.</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Protocol: freeze all backbone weights. Extract feature vectors for all training images. Train a linear classifier (sklearn LogisticRegression or nn.Linear) on these fixed features. Report accuracy on test set.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Why it matters: if a linear probe achieves high accuracy, the features are linearly separable — the backbone has organized visual concepts into coherent clusters in feature space.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Used in self-supervised learning evaluation (SimCLR, MoCo, DINO, MAE): since these models have no labels during pretraining, we evaluate the quality of learned features using a linear probe on a labeled downstream task.</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Linear probe vs fine-tuning gap: the gap measures how much the features need to be adapted. Small gap → features are already well-suited. Large gap → fine-tuning significantly reorganizes the feature space.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Typical results on ImageNet: supervised ResNet-50 linear probe = 76.1%. SimCLR v2 linear probe = 74.2%. DINO ViT-S/8 linear probe = 77.0% — remarkable for self-supervised!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Linear Probe vs Fine-Tuning vs Feature Extraction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Method           What's trained      Speed      Accuracy    Use when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Linear Probe     Linear layer only   Fastest    Lowest      Evaluate features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(logistic reg.)     (~seconds) (baseline)  (self-supervised eval)</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Feature          New head only       Very fast  Good        &lt;1K samples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Extraction       (1-2 FC layers)     (~minutes) (70-85%)    Fast deployment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Partial          Head + last N       Fast       Better      1K-10K samples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Fine-Tuning      backbone blocks     (~hours)   (85-92%)    Different domain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Full             All layers          Slow       Best        &gt;10K samples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Fine-Tuning      (backbone + head)   (~hours/   (92-99%)    Very different domain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days)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From-Scratch     All layers (random  Slowest    Comparable  Massive dataset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Training         init)               (days)     (if data     (&gt;1M labeled)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is enough)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Rule of thumb: always try feature extraction first.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If insufficient: try partial fine-tuning.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If still insufficient: full fine-tuning.</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Start simple and add complexity only when needed. Most real-world tasks need only feature extraction or partial fine-tuning.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I6</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Domain Adaptation</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Bridging the gap when source and target distributions differ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Domain Shift — The Problem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Domain shift occurs when the distribution of training images (source domain) differs from the distribution of test images (target domain). A model trained on source data often performs poorly on target data even when the task is the same.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Examples of domain shift: training on real photos, testing on synthetic renders. Training on daytime images, testing on nighttime. Training on hospital A's scanner, testing on hospital B's scanner. Training on ImageNet, testing on medical X-rays.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Covariate shift: input distribution P(X) changes but the relationship P(Y|X) stays the same. Most common type in CV.</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Label shift: label distribution P(Y) changes (e.g., rare disease more common in training set than real world).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Concept drift: the actual relationship P(Y|X) changes over time (e.g., fashion trends change what 'formal wear' looks like).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Without adaptation: a ResNet-50 trained on synthetic car renders achieves ~40% accuracy on real car photos, even though the task is identical. Simple fine-tuning on target data (if available) recovers to ~85%.</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Domain Adaptation Methods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I6</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Supervised Fine-Tuning (Simplest)</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Have labeled target data? Just fine-tune.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Even 100 labeled target examples can dramatically close the domain gap.</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 low LR on backbone (differential LR).</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Best accuracy when target labels are available.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Limitation: requires labeled target data — expensive to collect.</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Domain Adversarial Training (DANN)</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No target labels needed (unsupervised adaptation).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Add a domain classifier (source vs target) with gradient reversal.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Feature extractor learns features that fool the domain classifier → domain-invariant features.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for synthetic-to-real, day-to-night adaptation.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Framework: GAN-style adversarial training on features.</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0F766E"/>
          </a:solidFill>
          <a:ln w="12700">
            <a:solidFill>
              <a:srgbClr val="0F766E"/>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Batch Norm Adaptation</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Simplest unsupervised method.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Run model on target data in train mode (no grad updates).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BN layers accumulate target domain statistics.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Then switch to eval mode: model uses target BN stats.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Works surprisingly well for small domain shifts (e.g., different camera).</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78350F"/>
          </a:solidFill>
          <a:ln w="12700">
            <a:solidFill>
              <a:srgbClr val="78350F"/>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Self-Training (Pseudo-Labels)</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Step 1: train on labeled source data.</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Step 2: run model on unlabeled target data, keep high-confidence predictions as pseudo-labels.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Step 3: retrain on source + pseudo-labeled target data.</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Repeat until convergence.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Risk: error accumulation if initial pseudo-labels are wrong.</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I7</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CLIP &amp; Vision-Language Models</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Zero-shot classification via contrastive image-text pretraining</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CLIP — Contrastive Language-Image Pretraining (OpenAI, 2021)</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I7</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CLIP trains an image encoder and a text encoder jointly so that matching image-text pairs have similar embeddings and mismatched pairs have dissimilar embeddings. The result is a model that can perform zero-shot image classification using natural language descriptions — no fine-tuning required.</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Training data: 400 million image-text pairs scraped from the internet (alt text, captions). No manual labels.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Architecture: image encoder (ViT or ResNet) + text encoder (Transformer). Both produce 512-D embeddings.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Training objective: contrastive loss. For a batch of N pairs, maximize cosine similarity of the N correct (image_i, text_i) pairs and minimize similarity of N²-N incorrect pairs.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Zero-shot classification: to classify an image into K classes, convert each class name to a text prompt ('a photo of a {class}'), encode all K prompts, encode the image, find the most similar text embedding.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Performance: CLIP achieves 76.2% zero-shot top-1 on ImageNet with NO ImageNet training — matching ResNet-50 trained on 1.2M labeled ImageNet images. Revolutionary.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CLIP — Training and Zero-Shot Inference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I7</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CLIP TRAINING (contrastive on 400M image-text pairs):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[Image 1]──► Image Encoder ──► i₁ (512-D)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[Image 2]──► Image Encoder ──► i₂ (512-D)  │  Similarity matrix: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[Image 3]──► Image Encoder ──► i₃ (512-D)  │  S[i,j] = cos(iᵢ, tⱼ)</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[Text 1] ──► Text Encoder  ──► t₁ (512-D) ──┤  Maximize diagonal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[Text 2] ──► Text Encoder  ──► t₂ (512-D)  │  (correct pairs)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[Text 3] ──► Text Encoder  ──► t₃ (512-D) ──┘  Minimize off-diagonal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(incorrect pairs)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ZERO-SHOT CLASSIFICATION (no fine-tuning, no target labels):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New image ──► Image Encoder ──► image_emb (512-D)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Class prompts:                  Text embeddings: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 photo of a dog'  ──► Text ──► t_dog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 photo of a cat'  ──► Text ──► t_cat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 photo of a bird' ──► Text ──► t_bird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Predicted class = argmax cos(image_emb, t_k)  over all K classes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The class whose text embedding is closest to the image embedding.</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No training on target classes! Just describe them in English.</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CLIP's zero-shot power comes from the alignment of image and text embeddings. The same embedding space works for any describable concept.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CLIP Applications and Limitations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I7</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CLIP opened up a new paradigm: vision models that understand natural language descriptions of visual concepts.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Zero-shot classification: classify any concept that can be described in text — no labeled examples needed. Works for rare categories, new domains, fine-grained tasks.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Prompt engineering: 'a photo of a {class}' → 'a blurry photo of a {class}' → 'a medical scan of {class}'. The text description affects performance significantly.</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Ensemble of prompts: average embeddings of 80 different prompt templates per class (OpenAI's approach) → +3.5% accuracy over single prompt.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Image retrieval: encode a text query → find images with nearest embedding. Powers visual search engines.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Image-text alignment scoring: given an image and a caption, compute their cosine similarity — useful for checking if a caption correctly describes an image.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Limitations: CLIP is bad at counting, spatial reasoning ('left of', 'above'), and tasks requiring fine-grained discrimination (e.g., 'which bird species exactly'). It reflects biases in internet-scraped training data.</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CLIP successor models: OpenCLIP (open source CLIP), SigLIP (sigmoid loss instead of softmax contrastive), ALIGN (Google), Florence (Microsoft). All follow the same image-text contrastive paradigm.</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Section I — Key Takeaways</a:t>
            </a:r>
            <a:endParaRPr lang="en-US" sz="2600" dirty="0"/>
          </a:p>
        </p:txBody>
      </p:sp>
      <p:sp>
        <p:nvSpPr>
          <p:cNvPr id="3" name="Shape 1"/>
          <p:cNvSpPr/>
          <p:nvPr/>
        </p:nvSpPr>
        <p:spPr>
          <a:xfrm>
            <a:off x="457200" y="1097280"/>
            <a:ext cx="1828800" cy="475488"/>
          </a:xfrm>
          <a:prstGeom prst="rect">
            <a:avLst/>
          </a:prstGeom>
          <a:solidFill>
            <a:srgbClr val="7A8CC0"/>
          </a:solidFill>
          <a:ln w="12700">
            <a:solidFill>
              <a:srgbClr val="7A8CC0"/>
            </a:solidFill>
            <a:prstDash val="solid"/>
          </a:ln>
        </p:spPr>
      </p:sp>
      <p:sp>
        <p:nvSpPr>
          <p:cNvPr id="4" name="Text 2"/>
          <p:cNvSpPr/>
          <p:nvPr/>
        </p:nvSpPr>
        <p:spPr>
          <a:xfrm>
            <a:off x="457200" y="109728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I1 Pipeline</a:t>
            </a:r>
            <a:endParaRPr lang="en-US" sz="1000" dirty="0"/>
          </a:p>
        </p:txBody>
      </p:sp>
      <p:sp>
        <p:nvSpPr>
          <p:cNvPr id="5" name="Text 3"/>
          <p:cNvSpPr/>
          <p:nvPr/>
        </p:nvSpPr>
        <p:spPr>
          <a:xfrm>
            <a:off x="2423160" y="112471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Preprocess: resize→crop→ToTensor→Normalize(0.485,0.456,0.406). Forward: logits=model(x). Post: softmax→topk. Always normalize with training stats.</a:t>
            </a:r>
            <a:endParaRPr lang="en-US" sz="1100" dirty="0"/>
          </a:p>
        </p:txBody>
      </p:sp>
      <p:sp>
        <p:nvSpPr>
          <p:cNvPr id="6" name="Shape 4"/>
          <p:cNvSpPr/>
          <p:nvPr/>
        </p:nvSpPr>
        <p:spPr>
          <a:xfrm>
            <a:off x="457200" y="1691640"/>
            <a:ext cx="1828800" cy="475488"/>
          </a:xfrm>
          <a:prstGeom prst="rect">
            <a:avLst/>
          </a:prstGeom>
          <a:solidFill>
            <a:srgbClr val="7A8CC0"/>
          </a:solidFill>
          <a:ln w="12700">
            <a:solidFill>
              <a:srgbClr val="7A8CC0"/>
            </a:solidFill>
            <a:prstDash val="solid"/>
          </a:ln>
        </p:spPr>
      </p:sp>
      <p:sp>
        <p:nvSpPr>
          <p:cNvPr id="7" name="Text 5"/>
          <p:cNvSpPr/>
          <p:nvPr/>
        </p:nvSpPr>
        <p:spPr>
          <a:xfrm>
            <a:off x="457200" y="169164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I2 Why Transfer</a:t>
            </a:r>
            <a:endParaRPr lang="en-US" sz="1000" dirty="0"/>
          </a:p>
        </p:txBody>
      </p:sp>
      <p:sp>
        <p:nvSpPr>
          <p:cNvPr id="8" name="Text 6"/>
          <p:cNvSpPr/>
          <p:nvPr/>
        </p:nvSpPr>
        <p:spPr>
          <a:xfrm>
            <a:off x="2423160" y="171907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ImageNet features = edge→texture→part→object hierarchy. Early layers universal; late layers task-specific. Fine-tune late, freeze early for best results.</a:t>
            </a:r>
            <a:endParaRPr lang="en-US" sz="1100" dirty="0"/>
          </a:p>
        </p:txBody>
      </p:sp>
      <p:sp>
        <p:nvSpPr>
          <p:cNvPr id="9" name="Shape 7"/>
          <p:cNvSpPr/>
          <p:nvPr/>
        </p:nvSpPr>
        <p:spPr>
          <a:xfrm>
            <a:off x="457200" y="2286000"/>
            <a:ext cx="1828800" cy="475488"/>
          </a:xfrm>
          <a:prstGeom prst="rect">
            <a:avLst/>
          </a:prstGeom>
          <a:solidFill>
            <a:srgbClr val="7A8CC0"/>
          </a:solidFill>
          <a:ln w="12700">
            <a:solidFill>
              <a:srgbClr val="7A8CC0"/>
            </a:solidFill>
            <a:prstDash val="solid"/>
          </a:ln>
        </p:spPr>
      </p:sp>
      <p:sp>
        <p:nvSpPr>
          <p:cNvPr id="10" name="Text 8"/>
          <p:cNvSpPr/>
          <p:nvPr/>
        </p:nvSpPr>
        <p:spPr>
          <a:xfrm>
            <a:off x="457200" y="228600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I3 Feature Extract</a:t>
            </a:r>
            <a:endParaRPr lang="en-US" sz="1000" dirty="0"/>
          </a:p>
        </p:txBody>
      </p:sp>
      <p:sp>
        <p:nvSpPr>
          <p:cNvPr id="11" name="Text 9"/>
          <p:cNvSpPr/>
          <p:nvPr/>
        </p:nvSpPr>
        <p:spPr>
          <a:xfrm>
            <a:off x="2423160" y="231343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Freeze all backbone (requires_grad=False). Train new head only. Pre-compute features once → train head in seconds. Best for &lt;1K samples.</a:t>
            </a:r>
            <a:endParaRPr lang="en-US" sz="1100" dirty="0"/>
          </a:p>
        </p:txBody>
      </p:sp>
      <p:sp>
        <p:nvSpPr>
          <p:cNvPr id="12" name="Shape 10"/>
          <p:cNvSpPr/>
          <p:nvPr/>
        </p:nvSpPr>
        <p:spPr>
          <a:xfrm>
            <a:off x="457200" y="2880360"/>
            <a:ext cx="1828800" cy="475488"/>
          </a:xfrm>
          <a:prstGeom prst="rect">
            <a:avLst/>
          </a:prstGeom>
          <a:solidFill>
            <a:srgbClr val="7A8CC0"/>
          </a:solidFill>
          <a:ln w="12700">
            <a:solidFill>
              <a:srgbClr val="7A8CC0"/>
            </a:solidFill>
            <a:prstDash val="solid"/>
          </a:ln>
        </p:spPr>
      </p:sp>
      <p:sp>
        <p:nvSpPr>
          <p:cNvPr id="13" name="Text 11"/>
          <p:cNvSpPr/>
          <p:nvPr/>
        </p:nvSpPr>
        <p:spPr>
          <a:xfrm>
            <a:off x="457200" y="288036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I4 Fine-Tuning</a:t>
            </a:r>
            <a:endParaRPr lang="en-US" sz="1000" dirty="0"/>
          </a:p>
        </p:txBody>
      </p:sp>
      <p:sp>
        <p:nvSpPr>
          <p:cNvPr id="14" name="Text 12"/>
          <p:cNvSpPr/>
          <p:nvPr/>
        </p:nvSpPr>
        <p:spPr>
          <a:xfrm>
            <a:off x="2423160" y="290779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Differential LR: head=1e-3, backbone=1e-5. Gradual unfreezing: head → last blocks → all. AUgmentation + early stopping critical for small datasets.</a:t>
            </a:r>
            <a:endParaRPr lang="en-US" sz="1100" dirty="0"/>
          </a:p>
        </p:txBody>
      </p:sp>
      <p:sp>
        <p:nvSpPr>
          <p:cNvPr id="15" name="Shape 13"/>
          <p:cNvSpPr/>
          <p:nvPr/>
        </p:nvSpPr>
        <p:spPr>
          <a:xfrm>
            <a:off x="457200" y="3474720"/>
            <a:ext cx="1828800" cy="475488"/>
          </a:xfrm>
          <a:prstGeom prst="rect">
            <a:avLst/>
          </a:prstGeom>
          <a:solidFill>
            <a:srgbClr val="7A8CC0"/>
          </a:solidFill>
          <a:ln w="12700">
            <a:solidFill>
              <a:srgbClr val="7A8CC0"/>
            </a:solidFill>
            <a:prstDash val="solid"/>
          </a:ln>
        </p:spPr>
      </p:sp>
      <p:sp>
        <p:nvSpPr>
          <p:cNvPr id="16" name="Text 14"/>
          <p:cNvSpPr/>
          <p:nvPr/>
        </p:nvSpPr>
        <p:spPr>
          <a:xfrm>
            <a:off x="457200" y="347472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I5 Linear Probe</a:t>
            </a:r>
            <a:endParaRPr lang="en-US" sz="1000" dirty="0"/>
          </a:p>
        </p:txBody>
      </p:sp>
      <p:sp>
        <p:nvSpPr>
          <p:cNvPr id="17" name="Text 15"/>
          <p:cNvSpPr/>
          <p:nvPr/>
        </p:nvSpPr>
        <p:spPr>
          <a:xfrm>
            <a:off x="2423160" y="350215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Logistic regression on frozen features. Measures representation quality. Self-supervised eval standard. Gap vs fine-tuning = how much features need adapting.</a:t>
            </a:r>
            <a:endParaRPr lang="en-US" sz="1100" dirty="0"/>
          </a:p>
        </p:txBody>
      </p:sp>
      <p:sp>
        <p:nvSpPr>
          <p:cNvPr id="18" name="Shape 16"/>
          <p:cNvSpPr/>
          <p:nvPr/>
        </p:nvSpPr>
        <p:spPr>
          <a:xfrm>
            <a:off x="457200" y="4069080"/>
            <a:ext cx="1828800" cy="475488"/>
          </a:xfrm>
          <a:prstGeom prst="rect">
            <a:avLst/>
          </a:prstGeom>
          <a:solidFill>
            <a:srgbClr val="7A8CC0"/>
          </a:solidFill>
          <a:ln w="12700">
            <a:solidFill>
              <a:srgbClr val="7A8CC0"/>
            </a:solidFill>
            <a:prstDash val="solid"/>
          </a:ln>
        </p:spPr>
      </p:sp>
      <p:sp>
        <p:nvSpPr>
          <p:cNvPr id="19" name="Text 17"/>
          <p:cNvSpPr/>
          <p:nvPr/>
        </p:nvSpPr>
        <p:spPr>
          <a:xfrm>
            <a:off x="457200" y="406908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I6 Domain Adapt</a:t>
            </a:r>
            <a:endParaRPr lang="en-US" sz="1000" dirty="0"/>
          </a:p>
        </p:txBody>
      </p:sp>
      <p:sp>
        <p:nvSpPr>
          <p:cNvPr id="20" name="Text 18"/>
          <p:cNvSpPr/>
          <p:nvPr/>
        </p:nvSpPr>
        <p:spPr>
          <a:xfrm>
            <a:off x="2423160" y="409651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Domain shift = P(X) differs train/test. Methods: supervised FT (best with labels), DANN (adversarial, no labels), BN adaptation (quick), pseudo-labels.</a:t>
            </a:r>
            <a:endParaRPr lang="en-US" sz="1100" dirty="0"/>
          </a:p>
        </p:txBody>
      </p:sp>
      <p:sp>
        <p:nvSpPr>
          <p:cNvPr id="21" name="Shape 19"/>
          <p:cNvSpPr/>
          <p:nvPr/>
        </p:nvSpPr>
        <p:spPr>
          <a:xfrm>
            <a:off x="457200" y="4663440"/>
            <a:ext cx="1828800" cy="475488"/>
          </a:xfrm>
          <a:prstGeom prst="rect">
            <a:avLst/>
          </a:prstGeom>
          <a:solidFill>
            <a:srgbClr val="7A8CC0"/>
          </a:solidFill>
          <a:ln w="12700">
            <a:solidFill>
              <a:srgbClr val="7A8CC0"/>
            </a:solidFill>
            <a:prstDash val="solid"/>
          </a:ln>
        </p:spPr>
      </p:sp>
      <p:sp>
        <p:nvSpPr>
          <p:cNvPr id="22" name="Text 20"/>
          <p:cNvSpPr/>
          <p:nvPr/>
        </p:nvSpPr>
        <p:spPr>
          <a:xfrm>
            <a:off x="457200" y="4663440"/>
            <a:ext cx="182880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I7 CLIP</a:t>
            </a:r>
            <a:endParaRPr lang="en-US" sz="1000" dirty="0"/>
          </a:p>
        </p:txBody>
      </p:sp>
      <p:sp>
        <p:nvSpPr>
          <p:cNvPr id="23" name="Text 21"/>
          <p:cNvSpPr/>
          <p:nvPr/>
        </p:nvSpPr>
        <p:spPr>
          <a:xfrm>
            <a:off x="2423160" y="4690872"/>
            <a:ext cx="640080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Image + text encoders aligned via contrastive loss on 400M pairs. Zero-shot: argmax cos(img_emb, text_emb_k). 76.2% ImageNet top-1 with no ImageNet training.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I — Classification &amp; Transfer Learning</dc:title>
  <dc:subject>PptxGenJS Presentation</dc:subject>
  <dc:creator>PptxGenJS</dc:creator>
  <cp:lastModifiedBy>PptxGenJS</cp:lastModifiedBy>
  <cp:revision>1</cp:revision>
  <dcterms:created xsi:type="dcterms:W3CDTF">2026-03-10T04:32:22Z</dcterms:created>
  <dcterms:modified xsi:type="dcterms:W3CDTF">2026-03-10T04:32:22Z</dcterms:modified>
</cp:coreProperties>
</file>