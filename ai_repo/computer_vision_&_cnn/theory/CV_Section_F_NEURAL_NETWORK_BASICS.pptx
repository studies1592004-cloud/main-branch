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18872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F</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Neural Network Basics</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Perceptron · MLP · Activations · Backpropagation · Weight Init · Regularization · Batch Norm</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 in Section F</a:t>
            </a:r>
            <a:endParaRPr lang="en-US" sz="2000" dirty="0"/>
          </a:p>
        </p:txBody>
      </p:sp>
      <p:sp>
        <p:nvSpPr>
          <p:cNvPr id="4" name="Shape 2"/>
          <p:cNvSpPr/>
          <p:nvPr/>
        </p:nvSpPr>
        <p:spPr>
          <a:xfrm>
            <a:off x="320040" y="777240"/>
            <a:ext cx="457200" cy="420624"/>
          </a:xfrm>
          <a:prstGeom prst="rect">
            <a:avLst/>
          </a:prstGeom>
          <a:solidFill>
            <a:srgbClr val="1E2761"/>
          </a:solidFill>
          <a:ln w="12700">
            <a:solidFill>
              <a:srgbClr val="1E2761"/>
            </a:solidFill>
            <a:prstDash val="solid"/>
          </a:ln>
        </p:spPr>
      </p:sp>
      <p:sp>
        <p:nvSpPr>
          <p:cNvPr id="5" name="Text 3"/>
          <p:cNvSpPr/>
          <p:nvPr/>
        </p:nvSpPr>
        <p:spPr>
          <a:xfrm>
            <a:off x="320040" y="777240"/>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F1</a:t>
            </a:r>
            <a:endParaRPr lang="en-US" sz="900" dirty="0"/>
          </a:p>
        </p:txBody>
      </p:sp>
      <p:sp>
        <p:nvSpPr>
          <p:cNvPr id="6" name="Text 4"/>
          <p:cNvSpPr/>
          <p:nvPr/>
        </p:nvSpPr>
        <p:spPr>
          <a:xfrm>
            <a:off x="914400" y="777240"/>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Perceptron &amp; MLP</a:t>
            </a:r>
            <a:endParaRPr lang="en-US" sz="1200" dirty="0"/>
          </a:p>
        </p:txBody>
      </p:sp>
      <p:sp>
        <p:nvSpPr>
          <p:cNvPr id="7" name="Text 5"/>
          <p:cNvSpPr/>
          <p:nvPr/>
        </p:nvSpPr>
        <p:spPr>
          <a:xfrm>
            <a:off x="914400" y="987552"/>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Biological inspiration, weighted sums, layers, universal approximation</a:t>
            </a:r>
            <a:endParaRPr lang="en-US" sz="1000" dirty="0"/>
          </a:p>
        </p:txBody>
      </p:sp>
      <p:sp>
        <p:nvSpPr>
          <p:cNvPr id="8" name="Shape 6"/>
          <p:cNvSpPr/>
          <p:nvPr/>
        </p:nvSpPr>
        <p:spPr>
          <a:xfrm>
            <a:off x="320040" y="1316736"/>
            <a:ext cx="457200" cy="420624"/>
          </a:xfrm>
          <a:prstGeom prst="rect">
            <a:avLst/>
          </a:prstGeom>
          <a:solidFill>
            <a:srgbClr val="1E2761"/>
          </a:solidFill>
          <a:ln w="12700">
            <a:solidFill>
              <a:srgbClr val="1E2761"/>
            </a:solidFill>
            <a:prstDash val="solid"/>
          </a:ln>
        </p:spPr>
      </p:sp>
      <p:sp>
        <p:nvSpPr>
          <p:cNvPr id="9" name="Text 7"/>
          <p:cNvSpPr/>
          <p:nvPr/>
        </p:nvSpPr>
        <p:spPr>
          <a:xfrm>
            <a:off x="320040" y="1316736"/>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F2</a:t>
            </a:r>
            <a:endParaRPr lang="en-US" sz="900" dirty="0"/>
          </a:p>
        </p:txBody>
      </p:sp>
      <p:sp>
        <p:nvSpPr>
          <p:cNvPr id="10" name="Text 8"/>
          <p:cNvSpPr/>
          <p:nvPr/>
        </p:nvSpPr>
        <p:spPr>
          <a:xfrm>
            <a:off x="914400" y="1316736"/>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Activation Functions</a:t>
            </a:r>
            <a:endParaRPr lang="en-US" sz="1200" dirty="0"/>
          </a:p>
        </p:txBody>
      </p:sp>
      <p:sp>
        <p:nvSpPr>
          <p:cNvPr id="11" name="Text 9"/>
          <p:cNvSpPr/>
          <p:nvPr/>
        </p:nvSpPr>
        <p:spPr>
          <a:xfrm>
            <a:off x="914400" y="1527048"/>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Sigmoid, tanh, ReLU, Leaky ReLU, GELU, Swish — why nonlinearity matters</a:t>
            </a:r>
            <a:endParaRPr lang="en-US" sz="1000" dirty="0"/>
          </a:p>
        </p:txBody>
      </p:sp>
      <p:sp>
        <p:nvSpPr>
          <p:cNvPr id="12" name="Shape 10"/>
          <p:cNvSpPr/>
          <p:nvPr/>
        </p:nvSpPr>
        <p:spPr>
          <a:xfrm>
            <a:off x="320040" y="1856232"/>
            <a:ext cx="457200" cy="420624"/>
          </a:xfrm>
          <a:prstGeom prst="rect">
            <a:avLst/>
          </a:prstGeom>
          <a:solidFill>
            <a:srgbClr val="1E2761"/>
          </a:solidFill>
          <a:ln w="12700">
            <a:solidFill>
              <a:srgbClr val="1E2761"/>
            </a:solidFill>
            <a:prstDash val="solid"/>
          </a:ln>
        </p:spPr>
      </p:sp>
      <p:sp>
        <p:nvSpPr>
          <p:cNvPr id="13" name="Text 11"/>
          <p:cNvSpPr/>
          <p:nvPr/>
        </p:nvSpPr>
        <p:spPr>
          <a:xfrm>
            <a:off x="320040" y="1856232"/>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F3</a:t>
            </a:r>
            <a:endParaRPr lang="en-US" sz="900" dirty="0"/>
          </a:p>
        </p:txBody>
      </p:sp>
      <p:sp>
        <p:nvSpPr>
          <p:cNvPr id="14" name="Text 12"/>
          <p:cNvSpPr/>
          <p:nvPr/>
        </p:nvSpPr>
        <p:spPr>
          <a:xfrm>
            <a:off x="914400" y="1856232"/>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Loss Functions</a:t>
            </a:r>
            <a:endParaRPr lang="en-US" sz="1200" dirty="0"/>
          </a:p>
        </p:txBody>
      </p:sp>
      <p:sp>
        <p:nvSpPr>
          <p:cNvPr id="15" name="Text 13"/>
          <p:cNvSpPr/>
          <p:nvPr/>
        </p:nvSpPr>
        <p:spPr>
          <a:xfrm>
            <a:off x="914400" y="2066544"/>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MSE, cross-entropy, focal loss — what the network is optimizing</a:t>
            </a:r>
            <a:endParaRPr lang="en-US" sz="1000" dirty="0"/>
          </a:p>
        </p:txBody>
      </p:sp>
      <p:sp>
        <p:nvSpPr>
          <p:cNvPr id="16" name="Shape 14"/>
          <p:cNvSpPr/>
          <p:nvPr/>
        </p:nvSpPr>
        <p:spPr>
          <a:xfrm>
            <a:off x="320040" y="2395728"/>
            <a:ext cx="457200" cy="420624"/>
          </a:xfrm>
          <a:prstGeom prst="rect">
            <a:avLst/>
          </a:prstGeom>
          <a:solidFill>
            <a:srgbClr val="1E2761"/>
          </a:solidFill>
          <a:ln w="12700">
            <a:solidFill>
              <a:srgbClr val="1E2761"/>
            </a:solidFill>
            <a:prstDash val="solid"/>
          </a:ln>
        </p:spPr>
      </p:sp>
      <p:sp>
        <p:nvSpPr>
          <p:cNvPr id="17" name="Text 15"/>
          <p:cNvSpPr/>
          <p:nvPr/>
        </p:nvSpPr>
        <p:spPr>
          <a:xfrm>
            <a:off x="320040" y="2395728"/>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F4</a:t>
            </a:r>
            <a:endParaRPr lang="en-US" sz="900" dirty="0"/>
          </a:p>
        </p:txBody>
      </p:sp>
      <p:sp>
        <p:nvSpPr>
          <p:cNvPr id="18" name="Text 16"/>
          <p:cNvSpPr/>
          <p:nvPr/>
        </p:nvSpPr>
        <p:spPr>
          <a:xfrm>
            <a:off x="914400" y="2395728"/>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Backpropagation</a:t>
            </a:r>
            <a:endParaRPr lang="en-US" sz="1200" dirty="0"/>
          </a:p>
        </p:txBody>
      </p:sp>
      <p:sp>
        <p:nvSpPr>
          <p:cNvPr id="19" name="Text 17"/>
          <p:cNvSpPr/>
          <p:nvPr/>
        </p:nvSpPr>
        <p:spPr>
          <a:xfrm>
            <a:off x="914400" y="2606040"/>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Chain rule through the computation graph; how gradients flow backward</a:t>
            </a:r>
            <a:endParaRPr lang="en-US" sz="1000" dirty="0"/>
          </a:p>
        </p:txBody>
      </p:sp>
      <p:sp>
        <p:nvSpPr>
          <p:cNvPr id="20" name="Shape 18"/>
          <p:cNvSpPr/>
          <p:nvPr/>
        </p:nvSpPr>
        <p:spPr>
          <a:xfrm>
            <a:off x="320040" y="2935224"/>
            <a:ext cx="457200" cy="420624"/>
          </a:xfrm>
          <a:prstGeom prst="rect">
            <a:avLst/>
          </a:prstGeom>
          <a:solidFill>
            <a:srgbClr val="1E2761"/>
          </a:solidFill>
          <a:ln w="12700">
            <a:solidFill>
              <a:srgbClr val="1E2761"/>
            </a:solidFill>
            <a:prstDash val="solid"/>
          </a:ln>
        </p:spPr>
      </p:sp>
      <p:sp>
        <p:nvSpPr>
          <p:cNvPr id="21" name="Text 19"/>
          <p:cNvSpPr/>
          <p:nvPr/>
        </p:nvSpPr>
        <p:spPr>
          <a:xfrm>
            <a:off x="320040" y="2935224"/>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F5</a:t>
            </a:r>
            <a:endParaRPr lang="en-US" sz="900" dirty="0"/>
          </a:p>
        </p:txBody>
      </p:sp>
      <p:sp>
        <p:nvSpPr>
          <p:cNvPr id="22" name="Text 20"/>
          <p:cNvSpPr/>
          <p:nvPr/>
        </p:nvSpPr>
        <p:spPr>
          <a:xfrm>
            <a:off x="914400" y="2935224"/>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Optimizers</a:t>
            </a:r>
            <a:endParaRPr lang="en-US" sz="1200" dirty="0"/>
          </a:p>
        </p:txBody>
      </p:sp>
      <p:sp>
        <p:nvSpPr>
          <p:cNvPr id="23" name="Text 21"/>
          <p:cNvSpPr/>
          <p:nvPr/>
        </p:nvSpPr>
        <p:spPr>
          <a:xfrm>
            <a:off x="914400" y="3145536"/>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SGD, momentum, Adam, AdamW — updating weights to minimize loss</a:t>
            </a:r>
            <a:endParaRPr lang="en-US" sz="1000" dirty="0"/>
          </a:p>
        </p:txBody>
      </p:sp>
      <p:sp>
        <p:nvSpPr>
          <p:cNvPr id="24" name="Shape 22"/>
          <p:cNvSpPr/>
          <p:nvPr/>
        </p:nvSpPr>
        <p:spPr>
          <a:xfrm>
            <a:off x="320040" y="3474720"/>
            <a:ext cx="457200" cy="420624"/>
          </a:xfrm>
          <a:prstGeom prst="rect">
            <a:avLst/>
          </a:prstGeom>
          <a:solidFill>
            <a:srgbClr val="1E2761"/>
          </a:solidFill>
          <a:ln w="12700">
            <a:solidFill>
              <a:srgbClr val="1E2761"/>
            </a:solidFill>
            <a:prstDash val="solid"/>
          </a:ln>
        </p:spPr>
      </p:sp>
      <p:sp>
        <p:nvSpPr>
          <p:cNvPr id="25" name="Text 23"/>
          <p:cNvSpPr/>
          <p:nvPr/>
        </p:nvSpPr>
        <p:spPr>
          <a:xfrm>
            <a:off x="320040" y="3474720"/>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F6</a:t>
            </a:r>
            <a:endParaRPr lang="en-US" sz="900" dirty="0"/>
          </a:p>
        </p:txBody>
      </p:sp>
      <p:sp>
        <p:nvSpPr>
          <p:cNvPr id="26" name="Text 24"/>
          <p:cNvSpPr/>
          <p:nvPr/>
        </p:nvSpPr>
        <p:spPr>
          <a:xfrm>
            <a:off x="914400" y="3474720"/>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Weight Initialization</a:t>
            </a:r>
            <a:endParaRPr lang="en-US" sz="1200" dirty="0"/>
          </a:p>
        </p:txBody>
      </p:sp>
      <p:sp>
        <p:nvSpPr>
          <p:cNvPr id="27" name="Text 25"/>
          <p:cNvSpPr/>
          <p:nvPr/>
        </p:nvSpPr>
        <p:spPr>
          <a:xfrm>
            <a:off x="914400" y="3685032"/>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Xavier, He init — why random initialization matters enormously</a:t>
            </a:r>
            <a:endParaRPr lang="en-US" sz="1000" dirty="0"/>
          </a:p>
        </p:txBody>
      </p:sp>
      <p:sp>
        <p:nvSpPr>
          <p:cNvPr id="28" name="Shape 26"/>
          <p:cNvSpPr/>
          <p:nvPr/>
        </p:nvSpPr>
        <p:spPr>
          <a:xfrm>
            <a:off x="320040" y="4014216"/>
            <a:ext cx="457200" cy="420624"/>
          </a:xfrm>
          <a:prstGeom prst="rect">
            <a:avLst/>
          </a:prstGeom>
          <a:solidFill>
            <a:srgbClr val="1E2761"/>
          </a:solidFill>
          <a:ln w="12700">
            <a:solidFill>
              <a:srgbClr val="1E2761"/>
            </a:solidFill>
            <a:prstDash val="solid"/>
          </a:ln>
        </p:spPr>
      </p:sp>
      <p:sp>
        <p:nvSpPr>
          <p:cNvPr id="29" name="Text 27"/>
          <p:cNvSpPr/>
          <p:nvPr/>
        </p:nvSpPr>
        <p:spPr>
          <a:xfrm>
            <a:off x="320040" y="4014216"/>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F7</a:t>
            </a:r>
            <a:endParaRPr lang="en-US" sz="900" dirty="0"/>
          </a:p>
        </p:txBody>
      </p:sp>
      <p:sp>
        <p:nvSpPr>
          <p:cNvPr id="30" name="Text 28"/>
          <p:cNvSpPr/>
          <p:nvPr/>
        </p:nvSpPr>
        <p:spPr>
          <a:xfrm>
            <a:off x="914400" y="4014216"/>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Regularization</a:t>
            </a:r>
            <a:endParaRPr lang="en-US" sz="1200" dirty="0"/>
          </a:p>
        </p:txBody>
      </p:sp>
      <p:sp>
        <p:nvSpPr>
          <p:cNvPr id="31" name="Text 29"/>
          <p:cNvSpPr/>
          <p:nvPr/>
        </p:nvSpPr>
        <p:spPr>
          <a:xfrm>
            <a:off x="914400" y="4224528"/>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Dropout, L1/L2, early stopping — preventing overfitting</a:t>
            </a:r>
            <a:endParaRPr lang="en-US" sz="1000" dirty="0"/>
          </a:p>
        </p:txBody>
      </p:sp>
      <p:sp>
        <p:nvSpPr>
          <p:cNvPr id="32" name="Shape 30"/>
          <p:cNvSpPr/>
          <p:nvPr/>
        </p:nvSpPr>
        <p:spPr>
          <a:xfrm>
            <a:off x="320040" y="4553712"/>
            <a:ext cx="457200" cy="420624"/>
          </a:xfrm>
          <a:prstGeom prst="rect">
            <a:avLst/>
          </a:prstGeom>
          <a:solidFill>
            <a:srgbClr val="1E2761"/>
          </a:solidFill>
          <a:ln w="12700">
            <a:solidFill>
              <a:srgbClr val="1E2761"/>
            </a:solidFill>
            <a:prstDash val="solid"/>
          </a:ln>
        </p:spPr>
      </p:sp>
      <p:sp>
        <p:nvSpPr>
          <p:cNvPr id="33" name="Text 31"/>
          <p:cNvSpPr/>
          <p:nvPr/>
        </p:nvSpPr>
        <p:spPr>
          <a:xfrm>
            <a:off x="320040" y="4553712"/>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F8</a:t>
            </a:r>
            <a:endParaRPr lang="en-US" sz="900" dirty="0"/>
          </a:p>
        </p:txBody>
      </p:sp>
      <p:sp>
        <p:nvSpPr>
          <p:cNvPr id="34" name="Text 32"/>
          <p:cNvSpPr/>
          <p:nvPr/>
        </p:nvSpPr>
        <p:spPr>
          <a:xfrm>
            <a:off x="914400" y="4553712"/>
            <a:ext cx="256032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Batch Normalization</a:t>
            </a:r>
            <a:endParaRPr lang="en-US" sz="1200" dirty="0"/>
          </a:p>
        </p:txBody>
      </p:sp>
      <p:sp>
        <p:nvSpPr>
          <p:cNvPr id="35" name="Text 33"/>
          <p:cNvSpPr/>
          <p:nvPr/>
        </p:nvSpPr>
        <p:spPr>
          <a:xfrm>
            <a:off x="914400" y="4764024"/>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Normalizing layer inputs — faster training, higher accuracy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F1</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Perceptron &amp; MLP</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From a single artificial neuron to a multilayer network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The Perceptron — One Artificial Neuron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F1</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perceptron is the simplest neural network unit. It computes a weighted sum of its inputs, adds a bias, and passes the result through an activation function. It is inspired by (a very simplified model of) how biological neurons integrate signals.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Inputs: x₁, x₂, ..., xₙ — the features (e.g., pixel values, HOG features).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Weights: w₁, w₂, ..., wₙ — how much each input matters. Learned from data.</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Bias: b — a constant offset, shifts the activation threshold. Also learned.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Pre-activation: z = w₁x₁ + w₂x₂ + ... + wₙxₙ + b = wᵀx + b</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Output: ŷ = f(z) where f is the activation function (e.g., sigmoid, ReLU).</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 single perceptron can solve linearly separable problems (AND, OR) but cannot solve XOR — this requires multiple layers.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Perceptron → MLP — Building Depth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PERCEPTRON (1 neuron):              MULTILAYER PERCEPTRON (MLP):</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x₁ ──w₁──┐                         INPUT      HIDDEN     HIDDEN    OUTPUT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x₂ ──w₂──┤                         LAYER      LAYER 1    LAYER 2   LAYER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x₃ ──w₃──┼──[ Σwᵢxᵢ + b ]──f──ŷ</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x₄ ──w₄──┤                         x₁ ──────── h₁¹ ─────── h₁² ──── ŷ₁</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                          x₂ ──────── h₂¹ ─────── h₂² ──── ŷ₂</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x₃ ──────── h₃¹ ─────── h₃²</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Linear classifier only.             x₄ ──────── h₄¹</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Cannot solve XOR.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arrow = one weight.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KEY ISSUE: stacking linear           Each node = Σwx + b → f(·)</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layers without activation is         Every hidden node connects to</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STILL linear!                        every node in adjacent layers.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Need nonlinear activation          = FULLY CONNECTED / DENSE layer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between every layer.</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Universal approximation theorem:</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An MLP with ≥1 hidden layer and nonlinear activation can approximate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any continuous function to arbitrary precision (given enough neurons).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key insight: nonlinear activations between layers make the network able to learn any function — not just lines and planes.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MLP Forward Pass — Layer by Layer</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 a fully connected MLP, the forward pass computes activations layer by layer using matrix multiplication: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Layer 0 (input): a⁽⁰⁾ = x  (the raw input features).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Layer l (hidden/output): z⁽ˡ⁾ = W⁽ˡ⁾ a⁽ˡ⁻¹⁾ + b⁽ˡ⁾   then   a⁽ˡ⁾ = f(z⁽ˡ⁾)</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W⁽ˡ⁾ is a matrix of shape (neurons_in_layer_l × neurons_in_layer_l-1).</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b⁽ˡ⁾ is a bias vector of shape (neurons_in_layer_l,).</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f is the activation function, applied element-wise.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Example: input x = 784D (28×28 MNIST image), hidden = 128 neurons, output = 10 neurons (digit classes).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1: W⁽¹⁾ shape = (128, 784), b⁽¹⁾ shape = (128,) → z⁽¹⁾ = W⁽¹⁾x + b⁽¹⁾, a⁽¹⁾ = ReLU(z⁽¹⁾).</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Layer 2: W⁽²⁾ shape = (10, 128), b⁽²⁾ shape = (10,) → z⁽²⁾ = W⁽²⁾a⁽¹⁾ + b⁽²⁾, ŷ = softmax(z⁽²⁾).</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Total parameters: 784×128 + 128 + 128×10 + 10 = 101,770 learnable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F2</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Activation Functions</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Introducing nonlinearity — the ingredient that makes deep learning work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Why Nonlinearity Is Essential</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F2</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Without a nonlinear activation function, stacking multiple layers produces the same output as a single linear layer. No matter how many layers, the composition of linear functions is linear — and a linear function cannot learn XOR, curves, or anything non-linear.</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Proof: Layer 1 computes W₁x + b₁. Layer 2 computes W₂(W₁x + b₁) + b₂ = (W₂W₁)x + (W₂b₁ + b₂). This is STILL just Wx + b — a single linear transformation.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Nonlinear activation f breaks this: Layer 2 computes W₂·f(W₁x + b₁) + b₂. Now the composition is nonlinear and can represent complex functions.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activation function is applied element-wise to z = Wx + b at each layer.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Choice of activation matters: affects training speed (gradient flow), expressiveness, and convergence.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Modern default for hidden layers: ReLU and its variants (Leaky ReLU, GELU). Output layer: depends on task (sigmoid for binary, softmax for multiclass, linear for regression).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Activation Functions — Shapes and Properties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SIGMOID: σ(z) = 1 / (1 + e^(-z))          Range: (0, 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1 ─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0.5 ─ ─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0 ──────────────────────────→ z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Saturates at extremes → vanishing gradient. Used in output for binary classification.</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TANH: tanh(z) = (e^z - e^(-z))/(e^z + e^(-z))    Range: (-1, 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Like sigmoid but zero-centered. Still saturates. Better than sigmoid for hidden layers.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ReLU: f(z) = max(0, z)                      Range: [0,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0 ────────/──────────────────→ z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No saturation for z &gt; 0. Dead ReLU: if z always &lt; 0, neuron outputs 0 forever.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Default choice for hidden layers in most networks.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ReLU dominates in practice due to its simplicity and non-saturating gradient. Sigmoid/tanh are used at output layers.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ReLU Variants — Solving the Dead Neuron Problem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F2</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Leaky ReLU</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f(z) = z if z &gt; 0 else α·z  (α = 0.01)</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Small negative slope → never truly dead.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Gradient: 1 if z&gt;0, else α (always nonzero).</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Fixes dead ReLU problem.</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 when ReLU gives dead neurons (check for all-zero activation maps).</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PReLU (Parametric)</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f(z) = z if z &gt; 0 else α·z</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Same as Leaky ReLU but α is LEARNED.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Different α per channel — very flexible.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in: ResNet variants, face recognition models.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Risk: α can overfit if dataset is small.</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0F766E"/>
          </a:solidFill>
          <a:ln w="12700">
            <a:solidFill>
              <a:srgbClr val="0F766E"/>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GELU (Gaussian Error Linear Unit)</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f(z) = z · Φ(z)  where Φ = Gaussian CDF</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Approx: 0.5z(1 + tanh(√(2/π)(z + 0.044715z³)))</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Smooth nonlinearity, never exactly zero.</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in: BERT, GPT, ViT, modern transformers.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Better than ReLU on NLP; competitive on vision.</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78350F"/>
          </a:solidFill>
          <a:ln w="12700">
            <a:solidFill>
              <a:srgbClr val="78350F"/>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Swish / SiLU</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f(z) = z · σ(z)  = z / (1 + e^(-z))</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Smooth, non-monotonic (slight dip below 0).</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Discovered by neural architecture search.</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in: EfficientNet, MobileNetV3.</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Often slightly better than ReLU on large models.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Output Activations — Task-Dependent Choices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The OUTPUT layer activation depends on the task:</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BINARY CLASSIFICATION (is this a cat? yes/no)</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1 neuron + sigmoid → P(class=1) ∈ (0,1)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Loss: Binary Cross-Entropy</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MULTI-CLASS CLASSIFICATION (which digit 0-9?)</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K neurons + softmax → probabilities sum to 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softmax(zᵢ) = e^zᵢ / Σⱼ e^zⱼ</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Loss: Categorical Cross-Entropy</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REGRESSION (predict a continuous value: house price, age)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1+ neurons + LINEAR (no activation)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Loss: MSE or MAE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MULTI-LABEL CLASSIFICATION (image can have multiple tags)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K neurons + sigmoid (each independently)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output = independent P(label_k present)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Loss: Binary Cross-Entropy per label</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Rule: softmax forces outputs to sum to 1 → use for mutually exclusive classes.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sigmoid makes each output independent → use for multi-label.</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Choosing the wrong output activation is a common bug. Softmax for one class, sigmoid for multiple possible classes.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F3</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Loss Functions</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Measuring how wrong the network is — the objective we minimize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Cross-Entropy Loss — Classification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F3</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Cross-entropy measures the 'distance' between the predicted probability distribution and the true label distribution. It is the standard loss for classification.</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Binary Cross-Entropy (single output, sigmoid):</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L = -[ y·log(ŷ) + (1-y)·log(1-ŷ) ]</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y ∈ {0,1} = true label,  ŷ ∈ (0,1) = predicted probability</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Categorical Cross-Entropy (K classes, softmax):</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L = -Σₖ yₖ·log(ŷₖ)</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For one-hot labels: L = -log(ŷ_true_class)</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Mean over batch of N samples:</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L_batch = (1/N) Σᵢ Lᵢ</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Why log? Predicting ŷ=0 when y=1 gives log(0) = -∞ → infinite loss. The penalty for confidently wrong predictions is very large.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Gradient property: for softmax + cross-entropy, the gradient with respect to pre-activation z is simply (ŷ - y) — beautifully simple.</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dL/dzₖ = ŷₖ - yₖ  (softmax + CE gradient — this is why this combination is standard).</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MSE for classification: never use MSE with sigmoid/softmax — the gradients saturate badly and training becomes very slow.</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Numerical stability: always compute log-softmax together (log_softmax) instead of log(softmax(z)) separately — avoids numerical underflow.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Focal Loss &amp; Other Specialized Losses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F3</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Focal Loss</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Other Losses</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FOCAL LOSS (for class imbalance)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FL(p) = -(1-p)^γ · log(p)</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where γ (gamma) = focusing parameter.</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Problem it solves: in object detection, 99% of proposals are background — easy negatives dominate the loss and overwhelm the rare hard positives.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Mechanism: (1-p)^γ down-weights easy examples (high p = confident prediction). Hard examples (low p) get full weight.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γ=0 → standard CE. γ=2 → recommended default.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Used in: RetinaNet, FCOS, most anchor-free detectors.</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OTHER COMMON LOSSES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MSE (Mean Squared Error):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L = (1/N)Σ(y - ŷ)²</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Use: regression tasks.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Penalizes large errors heavily (squared).</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MAE (Mean Absolute Error):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L = (1/N)Σ|y - ŷ|</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More robust to outliers than MSE.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Huber Loss (Smooth L1):</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L1 for large errors, L2 for small.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Best of both: outlier robust + smooth gradients.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Used in: object detection box regression.</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IoU Loss: directly optimize intersection-over-union for bounding box prediction.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F4</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Backpropagation</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How gradients flow backward through the network to update weights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Backpropagation?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F4</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Backpropagation is the algorithm for computing the gradient of the loss with respect to every weight in the network. It applies the chain rule of calculus systematically through the computation graph, propagating error signals from the output backward to each layer.</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Forward pass: compute predictions ŷ and loss L (store all intermediate activations).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Backward pass: compute dL/dW for every weight W, using chain rule.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Weight update: W ← W - lr × dL/dW (gradient descent step).</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Chain rule: if z = f(g(x)), then dz/dx = (dz/dg) · (dg/dx). Backprop applies this recursively through each layer.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insight: gradients flow backward through the same connections as the forward pass, but in reverse. Each layer needs to compute two things: gradient with respect to its inputs (to pass further back) and gradient with respect to its weights (to update them).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Backpropagation — Chain Rule Through One Layer</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FORWARD PASS (store everything):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 → [ z = Wx + b ] → [ a = f(z) ] → [ Loss L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BACKWARD PASS (apply chain rule):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Start with: dL/da  (gradient of loss w.r.t. layer output)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(comes from the next layer back, or = 1 if this is output)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1: gradient through activation f</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dL/dz = dL/da · f'(z)  [element-wise multiply by activation derivative]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For ReLU: f'(z) = 1 if z&gt;0 else 0  → zeros out dead neurons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2: gradient w.r.t. weights 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dL/dW = dL/dz · xᵀ   [outer product]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This is what we use to UPDATE W.</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3: gradient w.r.t. input x (pass to previous layer)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dL/dx = Wᵀ · dL/dz   [matrix multiply with transposed weights]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This becomes dL/da for the previous layer.</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Step 4: gradient w.r.t. bias b</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dL/db = dL/dz  [same as dL/dz, just summed over batch]</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Backprop is just repeated chain rule. Each layer gets a gradient in, transforms it, and passes gradients to its inputs and weights.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Vanishing and Exploding Gradients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F4</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As gradients flow backward through many layers, they can shrink to zero (vanishing) or grow to infinity (exploding) — both make training fail.</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Vanishing gradients: sigmoid and tanh saturate. In the saturated region, f'(z) ≈ 0. Multiply many near-zero gradients → exponential shrinkage → early layers get essentially zero gradient → don't learn.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Example: 10 layers, each multiplies gradient by 0.25 → 0.25^10 ≈ 0.000001. Effectively zero. The first layers are frozen.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Exploding gradients: if weights are large, gradients multiply and grow. Common in RNNs with long sequences or very deep MLPs without normalization.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Symptom: loss becomes NaN. Fix: gradient clipping (cap gradient norm at a threshold, e.g., 1.0).</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Solutions to vanishing gradients: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Use ReLU — gradient is 1 for z&gt;0, no saturation.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Use residual connections (skip connections) — gradients flow directly through shortcuts.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Use batch normalization — normalizes pre-activations, prevents saturation.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Use proper weight initialization (He/Xavier) — prevents activations from dying at layer 1.</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F5</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Optimizers</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Algorithms for updating weights to minimize loss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SGD, Momentum, and Adam — The Key Optimizers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F5</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Optimizers determine how weights are updated each step. They differ in how they use gradient history to smooth, accelerate, or adapt the learning rate.</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SGD (Stochastic Gradient Descent):</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W ← W - lr × dL/dW</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SGD with Momentum (Nesterov):</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v ← β·v + dL/dW      (β = 0.9 typically)</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W ← W - lr × v</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Adam (Adaptive Moment Estimation):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m ← β₁·m + (1-β₁)·g          (1st moment, β₁=0.9)</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v ← β₂·v + (1-β₂)·g²         (2nd moment, β₂=0.999)</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m̂ = m/(1-β₁ᵗ)   v̂ = v/(1-β₂ᵗ)  (bias correction)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W ← W - lr × m̂ / (√v̂ + ε)    (ε=1e-8)</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SGD: simple but sensitive to learning rate. Requires careful tuning. Can get stuck in saddle points.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Momentum: accumulates velocity in directions of consistent gradient. Accelerates training, helps escape saddle points. β=0.9 means 90% of previous velocity is kept.</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Adam: adapts the learning rate PER PARAMETER. Parameters with large past gradients get smaller effective lr. Parameters with small past gradients get larger effective lr. Works well with default hyperparameters — great for fast prototyping.</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AdamW: Adam + decoupled weight decay. Weight decay is applied directly to weights (W ← W·(1-lr·λ)), not through gradient. Better regularization than L2 in Adam. Current default for most vision and NLP models.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Learning Rate — The Most Important Hyperparameter</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Learning rate (lr) controls step size: W ← W - lr × gradient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Too HIGH:                    Too LOW:               Just right: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Loss ↑                       Loss ↑                 Loss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oscillates               │         (very slow)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epoch           └──────────→ epoch     └──────────→ epoch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Diverges or oscillates       Trains too slowly       Smooth convergence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LEARNING RATE SCHEDULES: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Step decay:    lr × 0.1 every N epochs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Cosine annealing: lr × (1 + cos(πt/T))/2 per step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Warmup + decay: ramp up for K steps, then decay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OneCycleLR: ramp to max then down — fast convergence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Warmup intuition: at step 0, weights are random. Large lr causes chaos.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Warmup gradually increases lr from near 0 to target — stabilizes early training.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Standard: 1000-step linear warmup + cosine decay. Used in ViT, BERT, modern CNNs.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Learning rate scheduling is almost always better than a fixed rate. Cosine annealing with warmup is the current standard.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F6</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Weight Initialization</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Why random initialization matters — Xavier and He initialization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Why Initialization Matters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All-zero initialization causes symmetry: every neuron in a layer computes identical outputs and receives identical gradients — they never differentiate. Random initialization breaks symmetry, but wrong scale causes vanishing or exploding activations from layer 1.</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Too small weights (e.g., N(0, 0.001)): activations shrink layer by layer → vanishing signals → deep layers get near-zero activations → useless features.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Too large weights (e.g., N(0, 10)): activations explode layer by layer → sigmoid/tanh saturate → vanishing gradients back through saturated units.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Goal: choose weight scale so that activations and gradients have approximately the same variance through all layers.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Xavier init (Glorot, 2010): designed for sigmoid/tanh. W ~ N(0, 2/(n_in + n_out)).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He init (He, 2015): designed for ReLU. W ~ N(0, 2/n_in). Uses 2/n_in because ReLU zeroes out half the neurons, effectively halving the variance — the factor 2 compensates.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Xavier vs He Initialization — Derivation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F6</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Both aim to keep variance of activations constant across layers. The difference: ReLU zeros out half the inputs, so the variance formula is different.</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Xavier initialization (for tanh/sigmoid):</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Var(W) = 2 / (n_in + n_out)       [uniform: U(-√(6/(n_in+n_out)), √(...))]</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He initialization (for ReLU):</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Var(W) = 2 / n_in                  [normal: N(0, √(2/n_in))]</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Intuition for He: if z = Wx, Var(z) = n_in × Var(W) × Var(x).</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We want Var(z) ≈ Var(x)  →  Var(W) = 1/n_in.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But ReLU kills ~half the neurons → need 2× more variance.</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Var(W) = 2/n_in  (He init).</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PyTorch defaults: Linear layers use Kaiming uniform (He). Conv layers also use Kaiming uniform.</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In practice: torch.nn.init.kaiming_normal_(tensor, mode='fan_in', nonlinearity='relu').</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Orthogonal initialization: initialize weight matrix as a random orthogonal matrix. Preserves gradient norms exactly. Used for RNNs.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LSUV (Layer-Sequential Unit-Variance): initialize with orthogonal, then scale each layer so output activations have variance=1. Works well for very deep networks.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Practical rule: use He init for ReLU/Leaky ReLU, Xavier for sigmoid/tanh, default PyTorch init is usually fine.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F7</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Regularization</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Preventing overfitting — making models generalize beyond training data</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Overfitting and the Bias-Variance Tradeoff</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F7</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Overfitting occurs when a model learns the training data so well (including its noise) that it performs poorly on new, unseen data. Regularization adds constraints or noise to prevent this.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Signs of overfitting: training loss low, validation loss high and rising. Training accuracy ~100%, validation accuracy stagnates.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Bias: error from underfitting (model too simple, high training loss). High bias = model can't capture the true pattern.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Variance: error from overfitting (model too complex, gap between train and val). High variance = model memorized noise.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Ideal model: low bias AND low variance — finds the true underlying pattern without memorizing noise.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Regularization methods: L1/L2 weight penalty, dropout, data augmentation, early stopping, weight decay.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L1 and L2 Regularization (Weight Decay)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F7</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L2 (Weight Decay) — Diffuse</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L1 (Lasso) — Sparse</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L2 REGULARIZATION (Weight Decay)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Add λ·Σw² to the loss function.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Gradient: dL/dw += 2λw</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Update: w ← w(1 - 2λ·lr) - lr·dL/dw</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Effect: penalizes large weights, drives all weights toward zero but never exactly to zero.</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Encourages: small, diffuse weights spread across many features.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Called 'weight decay' because the update rule decays weights by factor (1 - 2λ·lr) each step.</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Default regularization for most CNNs. Typical λ = 1e-4 to 1e-5.</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L1 REGULARIZATION (Lasso)</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Add λ·Σ|w| to the loss function.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Gradient: dL/dw += λ·sign(w)</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Update: w ← w - λ·lr·sign(w) - lr·dL/dw</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Effect: drives many weights exactly to zero → SPARSE solutions. Some weights are completely removed.</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Encourages: sparse weight matrices, implicit feature selection.</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case: when you want to identify which features matter (many will be zeroed out).</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Combined: Elastic Net = L1 + L2. Often better than either alone.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Dropout — Random Neuron Masking</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F7</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Dropout (Srivastava, 2014) randomly sets a fraction p of neurons to zero during EACH training forward pass. Each mini-batch sees a different 'thinned' network — forcing the network to learn redundant representations.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Training: at each forward pass, sample a binary mask M ~ Bernoulli(1-p) for each neuron. Output = a * M. Each neuron is kept with probability (1-p).</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Inference: use ALL neurons but scale outputs by (1-p) — or equivalently, use inverted dropout (scale by 1/(1-p) during training, no scaling at test time). PyTorch uses inverted dropout.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 = dropout rate: typically 0.5 for fully-connected layers, 0.1-0.2 for conv layers.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Why it works: each forward pass trains a different sub-network. Averaging over these sub-networks (ensemble) reduces variance. Forces neurons to not co-adapt — each must be useful independently.</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Where to apply: after activation, before the next layer. Standard: after every FC layer. For CNNs: after global average pooling or in the classifier head. Less common in early conv layers.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Batch size interaction: dropout with large batch sizes is less effective — training sees more of the network per step.</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Dropout — Training vs Inference</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F7</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TRAINING (p=0.5 dropout):          INFERENCE (no dropout):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Layer output: [2.1, 0.8, 3.2, 1.5, 0.3]</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Random mask:  [ 1,   0,   1,   0,   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After dropout:[2.1,  0, 3.2,  0, 0.3]  ← half zeroed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Scaled (×2):  [4.2,  0, 6.4,  0, 0.6]  ← inverted dropout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Next forward pass — different mask:</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Random mask:  [ 0,   1,   0,   1,   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After dropout:[ 0, 0.8,  0, 1.5, 0.3]</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INFERENCE: all neurons active, no scaling needed (already scaled during training):</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[2.1, 0.8, 3.2, 1.5, 0.3]  ← full network, correct scale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Ensemble interpretation: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With N neurons and p=0.5, we have 2^N possible sub-networks.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Training samples many of them; inference averages over all (approximately).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Ensemble without the cost of training multiple networks.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Inverted dropout scales during training so inference needs no change. This is what PyTorch's nn.Dropout implements.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F8</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Batch Normalization</a:t>
            </a:r>
            <a:endParaRPr lang="en-US" sz="34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Normalizing layer inputs for faster, more stable training</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The Problem Batch Norm Solves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F8</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As training progresses, the distribution of each layer's inputs shifts as the weights of the previous layer change. This 'internal covariate shift' means each layer constantly adapts to a changing input distribution — slowing training and requiring very careful initialization and learning rates.</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Internal covariate shift: layer 3 expects inputs with a certain distribution. When layers 1 and 2 update their weights, layer 3's input distribution changes. Layer 3 must now readjust — an endless moving-target problem.</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Solution (Ioffe &amp; Szegedy, 2015): normalize each layer's pre-activation to have zero mean and unit variance, then learn a scale (γ) and shift (β) to restore expressive power.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Result: allows much higher learning rates (training up to 10× faster), reduces sensitivity to initialization, acts as mild regularizer (less need for dropout in many architectures).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Used in: virtually every modern CNN (ResNet, EfficientNet, DenseNet, YOLO). Not used in Transformers (use Layer Norm instead).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Batch Normalization — Algorithm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F8</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For each mini-batch B = {x₁, ..., xₘ}, normalize each feature dimension independently:</a:t>
            </a:r>
            <a:endParaRPr lang="en-US" sz="1250" dirty="0"/>
          </a:p>
        </p:txBody>
      </p:sp>
      <p:sp>
        <p:nvSpPr>
          <p:cNvPr id="6" name="Shape 4"/>
          <p:cNvSpPr/>
          <p:nvPr/>
        </p:nvSpPr>
        <p:spPr>
          <a:xfrm>
            <a:off x="320040" y="1234440"/>
            <a:ext cx="8503920" cy="1627632"/>
          </a:xfrm>
          <a:prstGeom prst="rect">
            <a:avLst/>
          </a:prstGeom>
          <a:solidFill>
            <a:srgbClr val="1E1E2E"/>
          </a:solidFill>
          <a:ln w="12700">
            <a:solidFill>
              <a:srgbClr val="1E1E2E"/>
            </a:solidFill>
            <a:prstDash val="solid"/>
          </a:ln>
        </p:spPr>
      </p:sp>
      <p:sp>
        <p:nvSpPr>
          <p:cNvPr id="7" name="Text 5"/>
          <p:cNvSpPr/>
          <p:nvPr/>
        </p:nvSpPr>
        <p:spPr>
          <a:xfrm>
            <a:off x="502920" y="1298448"/>
            <a:ext cx="8138160" cy="1490472"/>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μ_B  = (1/m) Σᵢ xᵢ              (batch mean)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σ²_B = (1/m) Σᵢ (xᵢ - μ_B)²    (batch variance)</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x̂ᵢ  = (xᵢ - μ_B) / √(σ²_B + ε) (normalize, ε=1e-5 for stability)</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yᵢ  = γ·x̂ᵢ + β                 (scale and shift — LEARNED parameters)</a:t>
            </a:r>
            <a:endParaRPr lang="en-US" sz="1150" dirty="0"/>
          </a:p>
        </p:txBody>
      </p:sp>
      <p:sp>
        <p:nvSpPr>
          <p:cNvPr id="8" name="Text 6"/>
          <p:cNvSpPr/>
          <p:nvPr/>
        </p:nvSpPr>
        <p:spPr>
          <a:xfrm>
            <a:off x="320040" y="3017520"/>
            <a:ext cx="8503920" cy="2007108"/>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γ (gamma): learned scale. Initialized to 1. Allows the network to undo the normalization if that's optimal.</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β (beta): learned shift. Initialized to 0. Same role as bias — learned mean of normalized activations.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ε: small constant prevents division by zero when σ² ≈ 0.</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Training: use batch statistics (μ_B, σ²_B). Running mean/variance are tracked for inference.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Inference: use running mean and variance (not batch stats — batch size might be 1 at inference). Running stats = exponential moving average of training batch stats.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Placement: BN is typically applied BEFORE the activation: Conv → BN → ReLU. Some papers use Conv → ReLU → BN but the former is standard.</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Batch size: BN needs a batch size ≥ 8–16 for stable statistics. For very small batches: use Group Norm or Layer Norm instead.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Normalization Variants — When to Use Each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F8</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Batch Norm &amp; Layer Norm</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Group Norm &amp; Instance Norm</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BATCH NORM (BN)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Normalize: across batch + spatial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Statistics: per feature, per batch</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Batch size: needs ≥16 for stability</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CNNs (conv layers)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LAYER NORM (LN)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Normalize: across all features for ONE sample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Statistics: per sample (no batch)</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Batch size: works with batch=1</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Transformers, NLP, ViT, RNNs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Why LN for transformers: sequence elements are independent; no notion of 'batch' across tokens from different sequences.</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GROUP NORM (GN)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Normalize: within C/G channel groups per sample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Statistics: per group, per sample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Batch size: works with batch=1</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detection/segmentation (small batch) object detection where batch size = 1-2</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INSTANCE NORM (IN)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Normalize: per channel, per sample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Statistics: per image per channel</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 style transfer, GAN training</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Rule of thumb: CNNs → Batch Norm. Transformers → Layer Norm. Detection/seg with small batches → Group Norm. Style transfer → Instance Norm.</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Section F — Key Takeaways</a:t>
            </a:r>
            <a:endParaRPr lang="en-US" sz="2600" dirty="0"/>
          </a:p>
        </p:txBody>
      </p:sp>
      <p:sp>
        <p:nvSpPr>
          <p:cNvPr id="3" name="Shape 1"/>
          <p:cNvSpPr/>
          <p:nvPr/>
        </p:nvSpPr>
        <p:spPr>
          <a:xfrm>
            <a:off x="457200" y="960120"/>
            <a:ext cx="1737360" cy="438912"/>
          </a:xfrm>
          <a:prstGeom prst="rect">
            <a:avLst/>
          </a:prstGeom>
          <a:solidFill>
            <a:srgbClr val="7A8CC0"/>
          </a:solidFill>
          <a:ln w="12700">
            <a:solidFill>
              <a:srgbClr val="7A8CC0"/>
            </a:solidFill>
            <a:prstDash val="solid"/>
          </a:ln>
        </p:spPr>
      </p:sp>
      <p:sp>
        <p:nvSpPr>
          <p:cNvPr id="4" name="Text 2"/>
          <p:cNvSpPr/>
          <p:nvPr/>
        </p:nvSpPr>
        <p:spPr>
          <a:xfrm>
            <a:off x="457200" y="960120"/>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F1 MLP</a:t>
            </a:r>
            <a:endParaRPr lang="en-US" sz="950" dirty="0"/>
          </a:p>
        </p:txBody>
      </p:sp>
      <p:sp>
        <p:nvSpPr>
          <p:cNvPr id="5" name="Text 3"/>
          <p:cNvSpPr/>
          <p:nvPr/>
        </p:nvSpPr>
        <p:spPr>
          <a:xfrm>
            <a:off x="2331720" y="987552"/>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Perceptron: z = Wx+b → f(z). Stack with nonlinearity → MLP. Universal approximator. Forward pass = matrix multiply layer by layer.</a:t>
            </a:r>
            <a:endParaRPr lang="en-US" sz="1050" dirty="0"/>
          </a:p>
        </p:txBody>
      </p:sp>
      <p:sp>
        <p:nvSpPr>
          <p:cNvPr id="6" name="Shape 4"/>
          <p:cNvSpPr/>
          <p:nvPr/>
        </p:nvSpPr>
        <p:spPr>
          <a:xfrm>
            <a:off x="457200" y="1476756"/>
            <a:ext cx="1737360" cy="438912"/>
          </a:xfrm>
          <a:prstGeom prst="rect">
            <a:avLst/>
          </a:prstGeom>
          <a:solidFill>
            <a:srgbClr val="7A8CC0"/>
          </a:solidFill>
          <a:ln w="12700">
            <a:solidFill>
              <a:srgbClr val="7A8CC0"/>
            </a:solidFill>
            <a:prstDash val="solid"/>
          </a:ln>
        </p:spPr>
      </p:sp>
      <p:sp>
        <p:nvSpPr>
          <p:cNvPr id="7" name="Text 5"/>
          <p:cNvSpPr/>
          <p:nvPr/>
        </p:nvSpPr>
        <p:spPr>
          <a:xfrm>
            <a:off x="457200" y="1476756"/>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F2 Activations</a:t>
            </a:r>
            <a:endParaRPr lang="en-US" sz="950" dirty="0"/>
          </a:p>
        </p:txBody>
      </p:sp>
      <p:sp>
        <p:nvSpPr>
          <p:cNvPr id="8" name="Text 6"/>
          <p:cNvSpPr/>
          <p:nvPr/>
        </p:nvSpPr>
        <p:spPr>
          <a:xfrm>
            <a:off x="2331720" y="1504188"/>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ReLU: max(0,z) — default hidden layer. GELU: smooth, used in transformers. Sigmoid/softmax: output layer for binary/multiclass. Nonlinearity is essential.</a:t>
            </a:r>
            <a:endParaRPr lang="en-US" sz="1050" dirty="0"/>
          </a:p>
        </p:txBody>
      </p:sp>
      <p:sp>
        <p:nvSpPr>
          <p:cNvPr id="9" name="Shape 7"/>
          <p:cNvSpPr/>
          <p:nvPr/>
        </p:nvSpPr>
        <p:spPr>
          <a:xfrm>
            <a:off x="457200" y="1993392"/>
            <a:ext cx="1737360" cy="438912"/>
          </a:xfrm>
          <a:prstGeom prst="rect">
            <a:avLst/>
          </a:prstGeom>
          <a:solidFill>
            <a:srgbClr val="7A8CC0"/>
          </a:solidFill>
          <a:ln w="12700">
            <a:solidFill>
              <a:srgbClr val="7A8CC0"/>
            </a:solidFill>
            <a:prstDash val="solid"/>
          </a:ln>
        </p:spPr>
      </p:sp>
      <p:sp>
        <p:nvSpPr>
          <p:cNvPr id="10" name="Text 8"/>
          <p:cNvSpPr/>
          <p:nvPr/>
        </p:nvSpPr>
        <p:spPr>
          <a:xfrm>
            <a:off x="457200" y="1993392"/>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F3 Loss</a:t>
            </a:r>
            <a:endParaRPr lang="en-US" sz="950" dirty="0"/>
          </a:p>
        </p:txBody>
      </p:sp>
      <p:sp>
        <p:nvSpPr>
          <p:cNvPr id="11" name="Text 9"/>
          <p:cNvSpPr/>
          <p:nvPr/>
        </p:nvSpPr>
        <p:spPr>
          <a:xfrm>
            <a:off x="2331720" y="2020824"/>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CE loss: -log(ŷ_true). Gradient of softmax+CE = ŷ-y. Focal loss: down-weights easy examples for class imbalance. Huber loss for robust regression.</a:t>
            </a:r>
            <a:endParaRPr lang="en-US" sz="1050" dirty="0"/>
          </a:p>
        </p:txBody>
      </p:sp>
      <p:sp>
        <p:nvSpPr>
          <p:cNvPr id="12" name="Shape 10"/>
          <p:cNvSpPr/>
          <p:nvPr/>
        </p:nvSpPr>
        <p:spPr>
          <a:xfrm>
            <a:off x="457200" y="2510028"/>
            <a:ext cx="1737360" cy="438912"/>
          </a:xfrm>
          <a:prstGeom prst="rect">
            <a:avLst/>
          </a:prstGeom>
          <a:solidFill>
            <a:srgbClr val="7A8CC0"/>
          </a:solidFill>
          <a:ln w="12700">
            <a:solidFill>
              <a:srgbClr val="7A8CC0"/>
            </a:solidFill>
            <a:prstDash val="solid"/>
          </a:ln>
        </p:spPr>
      </p:sp>
      <p:sp>
        <p:nvSpPr>
          <p:cNvPr id="13" name="Text 11"/>
          <p:cNvSpPr/>
          <p:nvPr/>
        </p:nvSpPr>
        <p:spPr>
          <a:xfrm>
            <a:off x="457200" y="2510028"/>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F4 Backprop</a:t>
            </a:r>
            <a:endParaRPr lang="en-US" sz="950" dirty="0"/>
          </a:p>
        </p:txBody>
      </p:sp>
      <p:sp>
        <p:nvSpPr>
          <p:cNvPr id="14" name="Text 12"/>
          <p:cNvSpPr/>
          <p:nvPr/>
        </p:nvSpPr>
        <p:spPr>
          <a:xfrm>
            <a:off x="2331720" y="2537460"/>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Chain rule backward through computation graph. dL/dW = dL/dz · xᵀ. Vanishing gradient: sigmoid saturates. Fix: ReLU + residuals + BN + He init.</a:t>
            </a:r>
            <a:endParaRPr lang="en-US" sz="1050" dirty="0"/>
          </a:p>
        </p:txBody>
      </p:sp>
      <p:sp>
        <p:nvSpPr>
          <p:cNvPr id="15" name="Shape 13"/>
          <p:cNvSpPr/>
          <p:nvPr/>
        </p:nvSpPr>
        <p:spPr>
          <a:xfrm>
            <a:off x="457200" y="3026664"/>
            <a:ext cx="1737360" cy="438912"/>
          </a:xfrm>
          <a:prstGeom prst="rect">
            <a:avLst/>
          </a:prstGeom>
          <a:solidFill>
            <a:srgbClr val="7A8CC0"/>
          </a:solidFill>
          <a:ln w="12700">
            <a:solidFill>
              <a:srgbClr val="7A8CC0"/>
            </a:solidFill>
            <a:prstDash val="solid"/>
          </a:ln>
        </p:spPr>
      </p:sp>
      <p:sp>
        <p:nvSpPr>
          <p:cNvPr id="16" name="Text 14"/>
          <p:cNvSpPr/>
          <p:nvPr/>
        </p:nvSpPr>
        <p:spPr>
          <a:xfrm>
            <a:off x="457200" y="3026664"/>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F5 Optimizers</a:t>
            </a:r>
            <a:endParaRPr lang="en-US" sz="950" dirty="0"/>
          </a:p>
        </p:txBody>
      </p:sp>
      <p:sp>
        <p:nvSpPr>
          <p:cNvPr id="17" name="Text 15"/>
          <p:cNvSpPr/>
          <p:nvPr/>
        </p:nvSpPr>
        <p:spPr>
          <a:xfrm>
            <a:off x="2331720" y="3054096"/>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Adam: adaptive lr per parameter using 1st+2nd gradient moments. AdamW: adds decoupled weight decay. Cosine LR + warmup is current standard schedule.</a:t>
            </a:r>
            <a:endParaRPr lang="en-US" sz="1050" dirty="0"/>
          </a:p>
        </p:txBody>
      </p:sp>
      <p:sp>
        <p:nvSpPr>
          <p:cNvPr id="18" name="Shape 16"/>
          <p:cNvSpPr/>
          <p:nvPr/>
        </p:nvSpPr>
        <p:spPr>
          <a:xfrm>
            <a:off x="457200" y="3543300"/>
            <a:ext cx="1737360" cy="438912"/>
          </a:xfrm>
          <a:prstGeom prst="rect">
            <a:avLst/>
          </a:prstGeom>
          <a:solidFill>
            <a:srgbClr val="7A8CC0"/>
          </a:solidFill>
          <a:ln w="12700">
            <a:solidFill>
              <a:srgbClr val="7A8CC0"/>
            </a:solidFill>
            <a:prstDash val="solid"/>
          </a:ln>
        </p:spPr>
      </p:sp>
      <p:sp>
        <p:nvSpPr>
          <p:cNvPr id="19" name="Text 17"/>
          <p:cNvSpPr/>
          <p:nvPr/>
        </p:nvSpPr>
        <p:spPr>
          <a:xfrm>
            <a:off x="457200" y="3543300"/>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F6 Init</a:t>
            </a:r>
            <a:endParaRPr lang="en-US" sz="950" dirty="0"/>
          </a:p>
        </p:txBody>
      </p:sp>
      <p:sp>
        <p:nvSpPr>
          <p:cNvPr id="20" name="Text 18"/>
          <p:cNvSpPr/>
          <p:nvPr/>
        </p:nvSpPr>
        <p:spPr>
          <a:xfrm>
            <a:off x="2331720" y="3570732"/>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He init: W ~ N(0, √(2/n_in)) for ReLU. Xavier: N(0, √(2/(n_in+n_out))) for tanh. Wrong init → vanishing/exploding activations from layer 1.</a:t>
            </a:r>
            <a:endParaRPr lang="en-US" sz="1050" dirty="0"/>
          </a:p>
        </p:txBody>
      </p:sp>
      <p:sp>
        <p:nvSpPr>
          <p:cNvPr id="21" name="Shape 19"/>
          <p:cNvSpPr/>
          <p:nvPr/>
        </p:nvSpPr>
        <p:spPr>
          <a:xfrm>
            <a:off x="457200" y="4059936"/>
            <a:ext cx="1737360" cy="438912"/>
          </a:xfrm>
          <a:prstGeom prst="rect">
            <a:avLst/>
          </a:prstGeom>
          <a:solidFill>
            <a:srgbClr val="7A8CC0"/>
          </a:solidFill>
          <a:ln w="12700">
            <a:solidFill>
              <a:srgbClr val="7A8CC0"/>
            </a:solidFill>
            <a:prstDash val="solid"/>
          </a:ln>
        </p:spPr>
      </p:sp>
      <p:sp>
        <p:nvSpPr>
          <p:cNvPr id="22" name="Text 20"/>
          <p:cNvSpPr/>
          <p:nvPr/>
        </p:nvSpPr>
        <p:spPr>
          <a:xfrm>
            <a:off x="457200" y="4059936"/>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F7 Regularize</a:t>
            </a:r>
            <a:endParaRPr lang="en-US" sz="950" dirty="0"/>
          </a:p>
        </p:txBody>
      </p:sp>
      <p:sp>
        <p:nvSpPr>
          <p:cNvPr id="23" name="Text 21"/>
          <p:cNvSpPr/>
          <p:nvPr/>
        </p:nvSpPr>
        <p:spPr>
          <a:xfrm>
            <a:off x="2331720" y="4087368"/>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L2 (weight decay): penalizes large weights, diffuse. Dropout: random mask p=0.5, forces redundant representations. Scale by 1/(1-p) during training.</a:t>
            </a:r>
            <a:endParaRPr lang="en-US" sz="1050" dirty="0"/>
          </a:p>
        </p:txBody>
      </p:sp>
      <p:sp>
        <p:nvSpPr>
          <p:cNvPr id="24" name="Shape 22"/>
          <p:cNvSpPr/>
          <p:nvPr/>
        </p:nvSpPr>
        <p:spPr>
          <a:xfrm>
            <a:off x="457200" y="4576572"/>
            <a:ext cx="1737360" cy="438912"/>
          </a:xfrm>
          <a:prstGeom prst="rect">
            <a:avLst/>
          </a:prstGeom>
          <a:solidFill>
            <a:srgbClr val="7A8CC0"/>
          </a:solidFill>
          <a:ln w="12700">
            <a:solidFill>
              <a:srgbClr val="7A8CC0"/>
            </a:solidFill>
            <a:prstDash val="solid"/>
          </a:ln>
        </p:spPr>
      </p:sp>
      <p:sp>
        <p:nvSpPr>
          <p:cNvPr id="25" name="Text 23"/>
          <p:cNvSpPr/>
          <p:nvPr/>
        </p:nvSpPr>
        <p:spPr>
          <a:xfrm>
            <a:off x="457200" y="4576572"/>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F8 Batch Norm</a:t>
            </a:r>
            <a:endParaRPr lang="en-US" sz="950" dirty="0"/>
          </a:p>
        </p:txBody>
      </p:sp>
      <p:sp>
        <p:nvSpPr>
          <p:cNvPr id="26" name="Text 24"/>
          <p:cNvSpPr/>
          <p:nvPr/>
        </p:nvSpPr>
        <p:spPr>
          <a:xfrm>
            <a:off x="2331720" y="4604004"/>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Normalize: μ=0, σ=1 per batch per feature. Then learn γ,β. Fixes internal covariate shift, enables high LR. Use BN for CNNs, LN for Transformers.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F — Neural Network Basics</dc:title>
  <dc:subject>PptxGenJS Presentation</dc:subject>
  <dc:creator>PptxGenJS</dc:creator>
  <cp:lastModifiedBy>PptxGenJS</cp:lastModifiedBy>
  <cp:revision>1</cp:revision>
  <dcterms:created xsi:type="dcterms:W3CDTF">2026-03-09T17:37:00Z</dcterms:created>
  <dcterms:modified xsi:type="dcterms:W3CDTF">2026-03-09T17:37:00Z</dcterms:modified>
</cp:coreProperties>
</file>