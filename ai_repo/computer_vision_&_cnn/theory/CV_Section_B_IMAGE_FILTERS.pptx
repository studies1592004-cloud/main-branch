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2193D"/>
          </a:solidFill>
          <a:ln w="12700">
            <a:solidFill>
              <a:srgbClr val="121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B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Filters &amp; Convolution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Convolution · Linear Filters · Non-Linear Filters · Edge Detection · Canny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Absolute Beginners — No Prior Knowledge Required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in Section 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822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Convolution vs Correlation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698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operation: sliding a kernel over an image to transform 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499616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99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4996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Filtering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7465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blur, box filter, separability, padding, boundary effects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76272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Non-Linear Filtering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423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Median, bilateral, non-local means — filters that preserve edges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852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Detection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09981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operator, Prewitt, Laplacian of Gaussian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529584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Canny Edge Detector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776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gold-standard 5-step pipeline used everywhere in CV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20624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4206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 Domain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453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convolution = multiplication in frequency space; low-pass vs high-pass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Convolution &amp; Correlation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behind every image filter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Convolution?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is the act of sliding a small grid of numbers (called a kernel or filter) over an image, and at every position, multiplying each kernel value by the image pixel it overlaps, then summing all those products into a single output pixel.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stencil: you press the stencil (kernel) onto every part of the image and record a single number at each position.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encodes 'what to look for' — a blurring kernel averages neighbors, an edge kernel looks for intensity differences.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image size depends on kernel size, padding, and stride.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classical image processing operation (blur, sharpen, edge detect) is a convolution with a specific kernel.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convolutional layers learn their kernels from data — classical CV hand-designs them.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Convolution — The Formula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grayscale image I and kernel K of size (2a+1) × (2b+1):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Convolution:   (I * K)[x, y] = Σᵢ Σⱼ  I[x-i, y-j] · K[i, j]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Cross-Correlation:  (I ⊛ K)[x, y] = Σᵢ Σⱼ  I[x+i, y+j] · K[i, j]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difference: convolution flips the kernel 180° before sliding.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Cross-correlation slides the kernel as-is (no flip).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I[x, y] = input image pixel at position (x, y).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K[i, j] = kernel value at offset (i, j) from center.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summation Σᵢ Σⱼ runs over all kernel positions.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is commutative and associative. Cross-correlation is not.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most deep learning frameworks call it 'convolution' but actually do cross-correlation. The distinction only matters for filter design — for symmetric kernels like Gaussian, flipping makes no difference.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Kernel Sliding Over an Image — Step by Step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(5×5):                  Kernel (3×3):         Output (3×3):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┌───────────────┐             ┌───────────┐          ┌───────────┐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1  2  3  4  5│             │  1  0  -1 │          │  ?  ?  ?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6  7  8  9 10│             │  2  0  -2 │          │  ?  ?  ?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11 12 13 14 15│             │  1  0  -1 │          │  ?  ?  ?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16 17 18 19 20│             └───────────┘          └───────────┘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21 22 23 24 25│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 1: Place kernel top-left (flipped 180° for convolution)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-1  0  1 ←──────── kernel flipped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-2  0  2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-1  0  1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Multiply element-wise with image patch [1,2,3 / 6,7,8 / 11,12,13]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 all 9 products → one output pixel 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 2: Slide kernel one pixel right → compute next output pixel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 until kernel has visited every valid position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Convolution flips the kernel 180°. Cross-correlation does not. For symmetric kernels like Gaussian, the result is identical.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Size Formula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Given: Input size H×W, Kernel size K×K, Padding P, Stride 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Height = floor( (H + 2P - K) / S ) + 1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Width  = floor( (W + 2P - K) / S ) + 1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Examples: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┌──────────────────────────────────────────────────────────────┐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Input   Kernel  Padding  Stride  Output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5×5     3×3     P=0      S=1     floor((5+0-3)/1)+1 = 3×3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5×5     3×3     P=1      S=1     floor((5+2-3)/1)+1 = 5×5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6×6     3×3     P=0      S=2     floor((6+0-3)/2)+1 = 2×2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224×224 3×3     P=1      S=1     224×224  (same size!)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└──────────────────────────────────────────────────────────────┘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'Same' padding (P = floor(K/2)) keeps output the SAME size as input.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'Valid' padding (P = 0) shrinks the output each time.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Practical rule: always use same padding to avoid spatial shrinkage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unless you intentionally want to reduce resolution.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Getting the output size formula wrong is a common source of shape mismatch errors. Memorize this.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Filtering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Blurring, sharpening, and smoothing via weighted sums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 Filter 'Linear'?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 is linear if it obeys the superposition principle: filtering (A + B) gives the same result as filtering A then filtering B and adding. In practice: every output pixel is a weighted sum (linear combination) of input pixels.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LINEAR filters: box filter, Gaussian filter, Sobel edge detector, sharpening filter.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NON-LINEAR filters: median filter, bilateral filter, morphological operations.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filters can be analysed mathematically in the frequency domain (Fourier analysis).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filters cannot remove salt-and-pepper noise well — a single very bright spike pixel gets smeared into all its neighbors.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of a linear filter is completely determined by its kernel — designing the kernel designs the filter.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Box Filter vs Gaussian Filter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17720" y="804672"/>
            <a:ext cx="0" cy="41148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Filter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Filter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FILTER (Averaging Filter)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each pixel with the average of its neighborhood.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all values = 1/N  (e.g., 3×3 = all 1/9)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1/9 × ┌─────────┐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│ 1  1  1 │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│ 1  1  1 │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│ 1  1  1 │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└─────────┘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(can use integral images for O(1) per pixel)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ringing/blocky artifacts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good blur for photography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fast preview blur, integral images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FILTER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each pixel with a weighted average — closer pixels get more weight, following a bell curve.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σ=1 kernel (3×3, approximate):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1/16 × ┌─────────┐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│ 1  2  1 │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│ 2  4  2 │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│ 1  2  1 │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└─────────┘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natural-looking blur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optimal smoothing filter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SEPARABLE: apply 1D horizontal then vertical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pre-processing, noise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Kernel Formula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2D Gaussian kernel is defined by the normal distribution over spatial distance from center: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G(x, y) = (1 / 2πσ²) × exp( -(x² + y²) / (2σ²) 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σ (sigma) controls the spread (blur amount):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Small σ (e.g., 0.5) → tight kernel → subtle blur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Large σ (e.g., 3.0) → wide kernel → heavy blur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size rule of thumb: use size = 2 × ceil(3σ) + 1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σ=1.0 → kernel size ≈ 7×7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σ=2.0 → kernel size ≈ 13×13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= pixel offset from kernel center (e.g., for 3×3: x,y ∈ {-1, 0, 1}).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(sigma) = standard deviation — the single parameter that controls blur strength.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(1/2πσ²) term is a normalizing constant so all values sum to 1.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Separability: G(x,y) = G(x) × G(y) — the 2D Gaussian equals two 1D Gaussians multiplied.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allows applying a 1D kernel of size K horizontally (K operations/pixel), then vertically (K more) — total 2K instead of K². For K=15: 30 vs 225 operations per pixel.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Separability — 2D = Two 1D Passes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WITHOUT separability:                WITH separability: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Apply 15×15 kernel                   Apply 1×15 kernel,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225 multiply-adds per pixel        then 15×1 kernel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= 30 multiply-adds per pixel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= 7.5× speedup!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Vertical 1D pass:       Horizontal 1D pass:    Combined = 2D Gaussian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┌────────────┐          ┌────────────────────┐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[ 0.06 ]   │          │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[ 0.25 ]   │    ✕     │ 0.06 0.25 0.38 ..  │  = Same as 2D G(x,y)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[ 0.38 ]   │          │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[ 0.25 ]   │          └────────────────────┘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[ 0.06 ]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 1: Convolve every ROW with 1D horizontal Gaussian → intermediate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 2: Convolve every COLUMN of intermediate with 1D vertical Gaussian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Result: mathematically identical to 2D convolution, much faster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Gaussian separability is a major practical speedup. OpenCV's cv2.GaussianBlur exploits this internally.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Padding Strategies — How to Handle Image Borders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Problem: a 3×3 kernel centered at a corner pixel has 5 neighbors outside the image.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 need to decide what value those 'outside' pixels have.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┌──────────────────────────────────────────────────────────────────┐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Strategy        What happens at border   Effect on output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├──────────────────────────────────────────────────────────────────┤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Zero padding    Pad with 0s (black)      Dark fringe at edges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(most common)                        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├──────────────────────────────────────────────────────────────────┤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Reflect         Mirror image at edge      Natural look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e.g., [a b c | c b a]     No dark fringe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├──────────────────────────────────────────────────────────────────┤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Replicate       Repeat edge pixel         Slightly smeared edge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e.g., [a b c | c c c]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├──────────────────────────────────────────────────────────────────┤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Valid (no pad)  Don't compute at borders  Output is smaller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Output shrinks by K-1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└──────────────────────────────────────────────────────────────────┘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in OpenCV: BORDER_REFLECT_101 (reflect but don't repeat edge pixel)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in PyTorch Conv2d: no padding (valid) unless padding= is set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Border strategy affects edge pixels. For most tasks, reflect padding gives the most natural results.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Non-Linear Filtering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that cannot be described by a simple weighted sum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We Need Non-Linear Filters?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filters (like Gaussian blur) treat all pixels equally and use only weighted sums. This has a critical weakness: they cannot distinguish between 'noise' and 'real edge'. Any attempt to smooth noise also blurs real edges.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with Gaussian blur on salt-and-pepper noise: a single corrupted pixel (value=255) gets spread to all neighbors — the spike becomes a soft white blob.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with Gaussian blur near edges: brightness differences between regions (the edge) get averaged away, making edges soft and harder to detect.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non-linear filters can make decisions based on the local context — e.g., take the median instead of the mean, or weight differently based on color similarity.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non-linear filters are usually slower (can't be separated, can't use FFT) but produce much better results for specific noise types.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 Filter — Best for Salt &amp; Pepper Noise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filter replaces each pixel with the MEDIAN value of its neighborhood — not the average. The median is the middle value when you sort all neighbors. It is immune to extreme outliers.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corrupted pixel (value=0 or 255) cannot affect the median much if the window has more normal pixels.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neighborhood values = [50, 52, 48, 255, 51, 49, 53, 50, 48]. Sorted: [48,48,49,50,50,51,52,53,255]. Median = 50. The spike (255) is completely removed.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Crucially: median filter preserves EDGES. At an edge, one half of the window has bright values, the other half dark. The sorted median still falls on one side — the edge stays sharp.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size: 3×3 (9 pixels) removes isolated noise. 5×5 removes larger patches but slightly blurs fine details.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slower than Gaussian (sorting is O(N log N) vs O(N) for linear). Cannot be computed via FFT.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 Filter — How It Removes Spikes While Preserving Edges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1: Removing a noise spike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Neighborhood pixels: [ 48, 51, 49, 255, 50, 52, 48, 53, 50 ]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↑ salt noise spike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Sorted:   [ 48, 48, 49, 50, 50, 51, 52, 53, 255 ]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Median =  50  ← spike completely removed!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Gaussian blur result: (48+51+49+255+50+52+48+53+50)/9 = 73  ← spike survived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2: Behavior at an image edge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Pixel row crossing an edge:  [ 10, 10, 10, | 200, 200, 200 ]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Window at edge position:     [ 10, 10, 10, 200, 200, 200, 10, 200, 200 ]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Sorted:   [ 10, 10, 10, 10, 200, 200, 200, 200, 200 ]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Median =  200  ← falls on bright side, edge stays sharp!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Gaussian blur at edge: average = ~116 → edge becomes a soft gradient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Median at edge: stays sharp → edges are PRESERVED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Median filter's key advantage: it completely ignores extreme outliers while preserving sharp transitions.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Bilateral Filter — Edge-Preserving Smoothing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bilateral filter is like a Gaussian blur, but it has TWO Gaussian weights: one based on spatial distance (like normal Gaussian blur) AND one based on intensity difference. Pixels that are very different in brightness get almost zero weight — so edges are preserved.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kernel (σ_s): controls how far away neighbors can be. Same as regular Gaussian blur.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kernel (σ_r): controls how different in value a neighbor can be. If the difference is large (edge), that neighbor gets near-zero weight.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within a smooth region, it blurs normally. Across an edge, it refuses to average the two sides together.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BF[I](x) = (1/W) × Σ_y  I(y) × G_σs(||x-y||) × G_σr(|I(x)-I(y)|)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 is a normalizing sum, G_σs = spatial Gaussian, G_σr = range Gaussian.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skin smoothing in portrait photography, noise removal in MRI, style transfer preprocessing.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cannot be separated, cannot use FFT. Slow: O(K²) per pixel with large K values.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Bilateral Filter — Spatial vs Range Weighting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Regular Gaussian: weight depends ONLY on spatial distance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┌────────────────────────────────────────────────────────┐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Dark side │ Edge │  Bright side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10     │      │   200   200   200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Weights:  1.0  0.6  0.6  0.1  0.01  ← only distance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Result: average smears across edge → BLURS EDGE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└────────────────────────────────────────────────────────┘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Bilateral Filter: weight depends on BOTH distance AND value difference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┌────────────────────────────────────────────────────────┐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Dark side │ Edge │  Bright side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10     │  10  │   200   200   200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Spatial:  1.0  0.6  0.6  0.1  0.01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Range:    1.0  1.0  0.0  0.0  0.0  ← differ too much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Combined: 1.0  0.6  0.0  0.0  0.0  ← bright side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is IGNORED → edge stays sharp!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└────────────────────────────────────────────────────────┘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The range kernel acts as a gate — if a neighbor pixel has a very different brightness, its weight is zeroed out.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Non-Local Means (NLM) — Patch-Based Denoising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Non-local means denoises an image by averaging over pixels that have SIMILAR PATCHES around them, not just nearby pixels. A pixel in one part of the image can contribute to denoising a pixel on the other side if their neighborhoods look similar.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natural images have repeating patterns (sky patches, texture patches, edge patches). Exploit this to find many similar clean examples and average them.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pixel x: search the whole image (or a large window) for pixels y whose surrounding patch looks similar to x's patch.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w(x,y) = exp(-||patch(x) - patch(y)||² / h²)  where h controls denoising strength.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denoised value at x = weighted average of all pixel values y with high similarity weight.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much better quality than Gaussian or bilateral filter, especially for textured regions.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very slow — comparing patches at every possible location is O(N²) where N = number of pixels. Even optimized versions are 100× slower than Gaussian blur.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BM3D (Block-Matching 3D) is the improved version — groups similar patches into a 3D stack and applies transform-domain filtering.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Non-Local Means — Finding Similar Patches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Noisy image. We want to denoise the pixel at center-left (★).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┌────────────────────────────────────────────────────────┐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   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★ [sky patch]    Similar patch found here (high w)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↑                              ↑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weight=0.9           weight=0.85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   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Dissimilar patch (edge)   Dissimilar (texture)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↑                        ↑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weight=0.02              weight=0.01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└────────────────────────────────────────────────────────┘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NLM formula: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NLM(x) = Σ_y  w(x,y) × I_noisy(y)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Σ_y  w(x,y)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w(x,y) = exp( -||patch(x) - patch(y)||² / h²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Similar patches (small distance) → high weight → contribute more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Dissimilar patches → near-zero weight → ignored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NLM exploits image self-similarity. The same sky texture appearing in multiple places provides multiple clean references to average.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Detection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where brightness changes sharply — the boundaries of objects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Edge?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in an image is a location where pixel intensity changes sharply over a short distance. Edges usually correspond to real-world boundaries: object outlines, shadow lines, depth discontinuities, or texture changes.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Mathematically: an edge = a large gradient (derivative) in the image.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analogy: if pixel values are [10, 10, 10, 200, 200, 200], the gradient at position 3 is huge (200-10=190) — that's where the edge is.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compute image gradients using derivative filters — kernels that approximate the derivative of the image.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detection is crucial for: object detection, segmentation, feature matching, shape analysis.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noise also creates large gradients. We must separate real edges from noise before detecting.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smooth the image first (Gaussian blur) to suppress noise, then compute gradients.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Sobel Operator — Gradient in X and 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17720" y="804672"/>
            <a:ext cx="0" cy="41148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Kernels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Computation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OPERATOR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3×3 kernels: one detects horizontal edges (Gy), one detects vertical edges (Gx).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kernel (vertical edges = horizontal gradient):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┌──────────────┐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│ -1   0   +1  │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│ -2   0   +2  │  ← center row weighted more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│ -1   0   +1  │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└──────────────┘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 kernel (horizontal edges = vertical gradient):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┌──────────────┐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│ -1  -2   -1  │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│  0   0    0  │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│ +1  +2   +1  │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└──────────────┘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MAGNITUDE AND DIRECTION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(edge strength):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|G| = sqrt(Gx² + Gy²)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(or approximate: |Gx| + |Gy| for speed)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(edge angle):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θ = arctan(Gy / Gx)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edge → large |G|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texture → small |G|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Prewitt operator: same structure but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center-row weighting.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Scharr: larger weights, more accurate.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is the industry standard because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slightly smooths noise with its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center rows.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Laplacian of Gaussian (LoG) — Second Derivative Edge Detection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first derivatives (gradient magnitude), LoG uses the second derivative — it finds where the gradient changes sign, which is exactly at the edge center.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Laplacian kernel (simple version):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0  1  0 │     or    ┌──────────────┐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1 -4  1 │           │  1   1   1   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0  1  0 │           │  1  -8   1   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└──────────┘           │  1   1   1   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└──────────────┘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= Gaussian smoothing first, then Laplacian: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LoG(x,y) = (1/πσ⁴) × (1 - (x²+y²)/2σ²) × exp(-(x²+y²)/2σ²)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Zero-crossing detection: an edge is where LoG output crosses zero (from positive to negative or vice versa).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over Sobel: finds edge CENTER precisely (not just high-gradient region).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 sensitive to noise — second derivatives amplify noise more than first derivatives.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ALWAYS smooth with Gaussian before computing Laplacian (this is why it's called LoG — Laplacian OF Gaussian).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blob detection, scale-space analysis, SIFT keypoint detection uses DoG (Difference of Gaussians ≈ LoG).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Canny Edge Detector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gold-standard 5-step edge detection pipeline (1986)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Canny? The Edge Detection Problem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Canny (1986) formalized what a good edge detector must achieve: detect ALL real edges, mark each edge only ONCE (no thick edges), and be precise (edge mark at exact center). Sobel alone fails all three of these.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problem 1 — Thick edges: a real edge produces a ridge of high gradient values, not a single pixel line. We need to thin it.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problem 2 — Noise edges: Gaussian noise produces small random gradients everywhere. We need a threshold.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problem 3 — Threshold sensitivity: a single threshold misses weak edges that are real (shadow boundaries) while keeping strong noise. We need two thresholds.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Canny's three criteria: (1) Good detection — no false positives or missed edges. (2) Good localization — mark edge at true center. (3) Single response — only one response per edge.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is still the most widely used classical edge detector, 35+ years later.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Canny Pipeline — All 5 Steps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IMAGE  →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[STEP 1] Gaussian Blur  (σ=1.0–1.4)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Smooth first to suppress noise. Larger σ = fewer edges detected.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[STEP 2] Sobel Gradients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Compute Gx, Gy → |G| magnitude, θ direction (0°/45°/90°/135°)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[STEP 3] Non-Maximum Suppression (NMS)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 each pixel: check 2 neighbors along θ direction.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 the ridge peak → zero it out → edges thinned to 1px wide.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[STEP 4] Double Threshold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|G| &gt; T_high → STRONG (keep)    T_low &lt; |G| &lt; T_high → WEAK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|G| &lt; T_low  → discard immediately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[STEP 5] Hysteresis Edge Tracking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Keep WEAK pixel ONLY if touching a STRONG pixel (8-connected).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Isolated weak = noise → discard.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Clean single-pixel-wide edge map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Each step solves one problem: Blur=noise, Gradient=strength, NMS=thin, Threshold=filter, Hysteresis=connect.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Canny Step 3 — Non-Maximum Suppression (NMS) Explained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is the step that thins thick edge ridges down to single-pixel-wide lines. Here's exactly how it works: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pixel, look at the gradient direction θ (which way the edge goes — e.g., 45° diagonal).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two pixels on either side of THIS pixel, in the direction of θ.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if θ = 0° (horizontal gradient, vertical edge), check the pixel directly above and directly below.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pixel's gradient magnitude |G| is less than EITHER neighbor → this pixel is NOT the ridge peak → set it to 0.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pixel IS the local maximum among its two directional neighbors → keep it.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only the single brightest pixel along each edge ridge survives. All the others are zeroed out.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Canny edges thin single-pixel lines rather than blurry bands.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quantized directions (0°, 45°, 90°, 135°) cover all possible edge orientations.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Canny Step 5 — Hysteresis Tracking Explained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double thresholding, we have: strong edge pixels (definitely real) and weak edge pixels (maybe real, maybe noise). Hysteresis decides which weak pixels to keep.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 weak edge pixel is kept IF AND ONLY IF it is connected to a strong edge pixel (via 8-connected neighborhood path).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real edges are continuous lines. A weak pixel next to a strong pixel is likely the continuation of that real edge.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pixel that stands alone, surrounded only by other weak or zero pixels, is likely noise — discard it.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start from all strong pixels. Do a flood-fill / BFS outward through connected weak pixels. Mark those as edge. Discard the rest.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T_high and T_low. OpenCV default ratio: T_low = 0.4 × T_high. Common values: T_high=150, T_low=60.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tip: increase T_high to get fewer (only strongest) edges. Decrease T_low to follow more of each edge contour.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 Domain Filtering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filters as low-pass, high-pass, or band-pass operations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Frequency Domain?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can be decomposed into a sum of sine waves of different frequencies. Low-frequency components represent smooth regions and gradual changes. High-frequency components represent sharp edges, fine details, and noise.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Fourier Transform converts an image from the spatial domain (pixel values) to the frequency domain (sine wave amplitudes).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theorem: convolution in spatial domain = multiplication in frequency domain.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means: instead of sliding a kernel pixel-by-pixel (slow), we can multiply in frequency space (fast): O(N²) → O(N log N).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 filter: blocks high frequencies → removes sharp edges and fine detail → blurs image. Gaussian is a low-pass filter.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High-pass filter: blocks low frequencies → removes smooth regions, keeps only edges and detail → sharpening filter.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filter: keeps only a range of frequencies → used in texture analysis, Gabor filters.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Low-Pass vs High-Pass Filters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17720" y="804672"/>
            <a:ext cx="0" cy="41148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 (Blur)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High-Pass (Sharpen)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 FILTER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low frequencies, blocks high.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Blurs the image.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edges, fine details, noise.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Keeps: smooth regions, slow gradients.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Gaussian blur → low-pass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Box/averaging filter → low-pass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Large σ → more aggressive low-pass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space visualization: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circle in center of DFT spectrum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(center = low freqs) with dark surround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freqs blocked)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noise reduction, image smoothing,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before downsampling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HIGH-PASS FILTER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high frequencies, blocks low.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Sharpens the image.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smooth regions, flat areas.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Keeps: edges, fine details, texture.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Laplacian kernel → high-pass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Sobel operator → high-pass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Unsharp mask = original + high-pass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space visualization: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circle in center (low freqs blocked)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bright surround (high freqs kept)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edge detection, image sharpening,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extraction, texture analysis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Unsharp Masking — Practical Sharpening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Unsharp masking is the most common image sharpening technique. Despite its confusing name, it sharpens images.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Create a blurred version of the image: B = Gaussian_blur(I).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The 'unsharp mask' = high-frequency detail = I - B  (original minus blurred).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Add the detail back, amplified: sharpened = I + α × (I - B)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α controls sharpening strength (typically 0.5 to 2.0).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formula: sharpened = (1 + α) × I  -  α × B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α=1: sharpened = 2×I - B  →  doubles the high frequencies.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work? The blurred version B only contains the smooth (low-frequency) part of the image. Subtracting B from the original leaves only the detail (high-frequency). Adding that detail back makes edges pop.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photo editing (Photoshop), printing, digital cameras, phone camera processing.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B —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475488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Convolution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1179576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kernel over image, multiply element-wise, sum → one output pixel. Flip kernel for convolution vs correlation. Output size = floor((H+2P-K)/S)+1.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64792"/>
            <a:ext cx="1920240" cy="475488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647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Linear Filters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801368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= best smooth filter. Separable (2D=two 1D passes = 7.5× faster). Large σ = more blur. Zero/reflect/replicate padding handles borders.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86584"/>
            <a:ext cx="1920240" cy="475488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865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Non-Linear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2423160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filter: take the middle value → kills salt &amp; pepper, preserves edges. Bilateral: spatial + range weights → edge-preserving smooth. NLM: match patches globally.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1920240" cy="475488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0837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Edge Detection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3044952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Sobel: Gx and Gy kernels → gradient magnitude and direction. LoG: second derivative → finds edge centers. Both need Gaussian smoothing first.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30168"/>
            <a:ext cx="1920240" cy="475488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301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Canny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3666744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steps: Blur → Gradient → NMS (thin edges) → Double threshold → Hysteresis (connect edges). Still the gold standard after 35+ years.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1920240" cy="475488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519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Frequency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4288536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= low-pass filter. Edges = high frequencies. Convolution in space = multiplication in frequency (fast). Unsharp mask = add high-frequency detail back.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Section B — Image Filters &amp; Convolution</dc:title>
  <dc:subject>PptxGenJS Presentation</dc:subject>
  <dc:creator>PptxGenJS</dc:creator>
  <cp:lastModifiedBy>PptxGenJS</cp:lastModifiedBy>
  <cp:revision>1</cp:revision>
  <dcterms:created xsi:type="dcterms:W3CDTF">2026-03-09T17:10:51Z</dcterms:created>
  <dcterms:modified xsi:type="dcterms:W3CDTF">2026-03-09T17:10:51Z</dcterms:modified>
</cp:coreProperties>
</file>