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2193D"/>
          </a:solidFill>
          <a:ln w="12700">
            <a:solidFill>
              <a:srgbClr val="121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Conv Layers · Pooling · Receptive Field · LeNet · AlexNet · VGG · Inception · ResNet · DenseNet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Absolute Beginners — No Prior Knowledge Required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in Section 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82296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Convolutional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60704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sharing, local connectivity, feature maps, parameter efficiency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4475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44475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Pooling &amp; Stride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682496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pooling, average pooling, global pooling, spatial downsampling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066544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6654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06654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Receptive Field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304288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input each neuron 'sees'; depth increases RF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688336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883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688336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LeNet &amp; AlexNet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926080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milestones — the architectures that started it all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310128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31012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3310128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VGG &amp; Inception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547872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via small kernels (VGG); width via parallel branches (Inception)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9319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60120" y="393192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169664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— training networks 100s of layers deep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553712"/>
            <a:ext cx="5029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55371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455371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DenseNet &amp; Beyond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4791456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connections, depthwise separable convolutions, EfficientNet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Convolutional Layer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sharing and local connectivity — why CNNs crush MLPs on images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Convolution Instead of Fully Connected?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connected layer on a 224×224×3 image needs 224×224×3 = 150,528 weights per neuron. With 1000 neurons in the first layer: 150 million weights — just for one layer. CNNs solve this with two ideas: local connectivity and weight sharing.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connectivity: each neuron only connects to a small spatial region (the receptive field, e.g., 3×3). Most natural patterns are local — an edge detector doesn't need to see the whole image.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sharing: all neurons in a feature map use the SAME filter weights. A vertical edge detector works the same way anywhere in the image. One filter = one set of weights applied everywhere.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3×3 conv layer with 64 filters needs only 3×3×3×64 = 1,728 weights (plus 64 biases) instead of 150 million.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equivariance: because weights are shared spatially, if a pattern shifts right by 10 pixels, the activation map shifts right by 10 pixels too — automatically. No need to learn the same pattern at every position.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 Layer — 3D Convolution Over an Image Volume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Input: H×W×C_in (e.g., 32×32×3 for a color image)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Filter: K×K×C_in×C_out (e.g., 3×3×3×64 — 64 filters, each 3×3×3)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ONE filter sliding over the input volume: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┌─────────────────────────────────────────────────────────────┐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              Input (32×32×3)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┌────────┐  ← filter footprint: 3×3 spatial, but goes ALL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│ 3×3×3  │    the way through depth (all 3 channels)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└────────┘                      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└─────────────────────────────────────────────────────────────┘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│ element-wise multiply + sum all 3×3×3 = 27 values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One output pixel (scalar) in feature map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Slide filter over all H×W positions → one H'×W' feature map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 for each of 64 filters → 64 feature maps stacked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shape: H'×W'×64  (e.g., 30×30×64 for 3×3, no padding)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Parameters: 3×3×3×64 weights + 64 biases = 1,792 parameters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vs. FC layer: (32×32×3) × (30×30×64) = 176 million parameters!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Ratio: 100,000× fewer parameters in the conv layer.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Each filter is a 3D tensor matching the input depth. It slides spatially (2D) but always multiplies all input channels at once.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Convolution Output Shape &amp; Parameter Count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every practitioner must know: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spatial size:  H_out = floor((H_in + 2P - K) / S) + 1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W_out = floor((W_in + 2P - K) / S) + 1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 count (one conv layer):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Weights = K × K × C_in × C_out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Biases  = C_out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  = K² × C_in × C_out + C_out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Conv2d(in=64, out=128, kernel=3, padding=1, stride=1)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 size: same as input (same padding)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Weights: 3×3×64×128 = 73,728   Biases: 128   Total: 73,856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H_in, W_in = input spatial dimensions. K = kernel size. P = padding. S = stride. C_in, C_out = input/output channels.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padding (P = K//2): output same size as input. Valid padding (P=0): output shrinks each layer.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separable convolution (MobileNet trick): split into depthwise (K²×C_in params) + pointwise (C_in×C_out params). Total = K²C_in + C_inC_out vs K²C_inC_out for regular conv.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3×3, C_in=C_out=64: regular = 36,864 params; depthwise separable = 576+4096 = 4,672 params. 8× fewer!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Dilated (atrous) convolution: insert zeros between kernel elements to increase effective receptive field without increasing params. Dilation rate d: effective K_eff = K + (K-1)(d-1).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1×1 Convolution — The Most Underrated Tool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17720" y="804672"/>
            <a:ext cx="0" cy="41148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1×1 Conv?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1×1 CONV?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1×1 kernel slides over the input with no spatial neighborhood — it only combines channels at each spatial position.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Math: at each (h,w), compute a weighted sum across all C_in channels → C_out outputs.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fully connected layer applied at each pixel independently.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1×1×C_in×C_out = C_in×C_out (no spatial weights at all).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called: pointwise convolution.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OF 1×1 CONV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reduction (bottleneck):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256 → 64 channels with 1×1 before expensive 3×3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Reduces compute by 4× in the 3×3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Used in: Inception, ResNet bottleneck blocks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expansion: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64 → 256 channels with 1×1 after depthwise conv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Used in: MobileNetV2 inverted residuals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channel information: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Allow channels to 'talk to each other'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without touching spatial dimensions.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Pooling &amp; Stride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downsampling — reducing resolution while keeping information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Downsample?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convolutional layer with the same input/output size keeps the spatial resolution constant. After many layers, we'd have a huge feature map with high memory and compute cost. Downsampling reduces spatial resolution progressively, while increasing the number of channels.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early layers detect local patterns (edges, textures) at full resolution. Later layers detect global patterns (object parts, whole objects) — they don't need full spatial precision.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downsample: stride &gt; 1 in the conv layer (compute while downsampling), or separate pooling layer after convolution.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pooling: take the maximum value in each K×K window. Keeps the strongest activation (most prominent feature detected).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pooling: take the average value. Smoother; used in global pooling at the end of the network.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pooling (GAP): pool the entire H×W feature map to a single number per channel. Converts (H×W×C) → (1×1×C) = C-dimensional vector. Eliminates spatial dimensions entirely, feeding directly into the classifier.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Pooling — 2×2 Window, Stride 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feature map (4×4):         After 2×2 max pooling, stride=2: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┌────┬────┬────┬────┐            ┌──────┬──────┐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1 │  3 │  2 │  4 │            │      │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├────┼────┼────┼────┤            │  6   │  8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5 │  6 │  1 │  8 │            │      │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├────┼────┼────┼────┤            ├──────┼──────┤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2 │  4 │  9 │  7 │            │      │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├────┼────┼────┼────┤            │  4   │  9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3 │  1 │  2 │  5 │            │      │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└────┴────┴────┴────┘            └──────┴──────┘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Top-left 2×2: [1,3,5,6] → max = 6     Top-right 2×2: [2,4,1,8] → max = 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Bot-left 2×2: [2,4,3,1] → max = 4     Bot-right 2×2: [9,7,2,5] → max = 9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 learned parameters — max pooling is fixed operation.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Provides: spatial invariance (if pattern shifts slightly, max still fires).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Halves spatial dimensions: 4×4 → 2×2  (stride=2)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Global Average Pooling (GAP): pool ALL of H×W → one number per channel.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7×7×512 feature map → GAP → 512-vector → FC → classification.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Much fewer parameters than FC on full feature map: 7×7×512×1000 vs 512×1000.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Max pooling is the most common downsampling. It preserves the strongest detected features and provides mild spatial invariance.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Stride vs Pooling — Modern Trend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Historically: conv (stride=1) + separate max pooling layer. Modern architectures increasingly use strided convolutions instead.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Strided conv (stride=2): combines the convolution and downsampling in one step. The kernel skips every other position. Output size = ceil(H/S).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learned downsampling — the network decides how to combine values during downsampling, rather than a fixed max/average operation.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 slightly aliased downsampling (no anti-aliasing) — can reduce robustness to small shifts.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Anti-aliased pooling (Zhang, 2019): apply a blur filter before strided downsampling to prevent aliasing. Improves shift-equivariance.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architectures: ResNet uses both (max pool after stem, then strided convs). EfficientNet uses strided depthwise convolutions. ViT uses a non-overlapping patch embedding (16×16 stride=16 conv) as its 'pooling'.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max pooling in early layers (fast, simple). Strided conv in later layers (learned, slightly slower). GAP at the end (replaces FC, fewer params, better generalization).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Receptive Field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input each neuron 'sees' — and why depth grows it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Receptive Field — Definition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receptive field of a neuron is the region of the INPUT IMAGE that influences that neuron's output. A neuron in a deep layer 'sees' a larger portion of the original image than a neuron in an early layer.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(3×3 conv): each neuron sees a 3×3 region of the input.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(3×3 conv on top of layer 1): each neuron sees a 3×3 region of LAYER 1, but each of those layer-1 neurons saw a 3×3 region of the input. Effective RF = 5×5.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(another 3×3 conv): RF = 7×7. Each additional 3×3 conv adds 2 to the RF in each dimension.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formula: after L layers of K×K conv (stride=1): RF = L×(K-1) + 1</a:t>
            </a:r>
            <a:endParaRPr lang="en-US" sz="13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L=1: RF=3. L=5: RF=11. L=10: RF=21. L=50: RF=101.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RF matters: to classify a 224×224 image, the final layer must have RF ≥ 224. Deep networks stack many 3×3 convs to achieve this efficiently.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3×3 convs = same RF as one 5×5 conv, but: 2×(3×3×C²) = 18C² params vs 5×5×C² = 25C² params. 28% fewer params AND more nonlinearity. This is why VGG uses 3×3 only.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Receptive Field Growth Through Layers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image (shown as 1D for clarity):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x₁  x₂  x₃  x₄  x₅  x₆  x₇  x₈  x₉ 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 1 (3×3 conv, shown as 1D kernel of size 3):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h₁¹ sees [x₁,x₂,x₃]   h₂¹ sees [x₂,x₃,x₄]   h₃¹ sees [x₃,x₄,x₅]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Receptive field of each L1 neuron: 3 pixels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 2 (another 3-wide conv):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h₁² = f(h₁¹, h₂¹, h₃¹)  ← sees [x₁..x₅] = 5 pixels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h₂² = f(h₂¹, h₃¹, h₄¹)  ← sees [x₂..x₆] = 5 pixels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Receptive field of each L2 neuron: 5 pixels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 3: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h₁³ = f(h₁², h₂², h₃²)  ← sees [x₁..x₇] = 7 pixels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Receptive field of each L3 neuron: 7 pixels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Pattern: RF grows by (K-1)=2 with each 3×3 layer.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 cover 224 pixels: need (224-1)/2 = 111.5 → 112 layers of 3×3!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That's why: pooling/stride 2 is used to grow RF faster.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After one stride-2 layer, effective RF of next layer doubles.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RF grows slowly with 3×3 convs. Strided conv or pooling effectively doubles the RF growth rate — essential for deep networks.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Effective Receptive Field with Stride &amp; Dilation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stride or dilation is introduced, the RF formula changes: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50392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with stride s between layers: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RF_L = RF_{L-1} + (K-1) × Π_{l=1}^{L-1} s_l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Each layer's contribution is scaled by all previous strides.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Dilated conv (dilation rate d):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Effective kernel size: K_eff = K + (K-1)(d-1)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3×3 conv with d=2: K_eff = 3 + 2×2 = 7  (same RF as 7×7 conv)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3×3 conv with d=4: K_eff = 3 + 2×4 = 11 (same RF as 11×11 conv)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two stride-2 conv layers of 3×3 before a 3×3 conv: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 1: RF=3 (stride=2 → effective pixel spacing doubles)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 2: RF=3+2×2=7, but inputs spaced 2× apart → covers 13 pixels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 3: covers 27 pixels in original input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3401568"/>
            <a:ext cx="8503920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implication: use pooling/strided conv early to grow RF fast, then use dilated convolutions in later layers to grow RF WITHOUT reducing spatial resolution.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 (semantic segmentation) uses dilated convolutions throughout to maintain high-resolution feature maps while achieving large RF.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vs effective RF: not all input pixels in the RF contribute equally. Pixels near the center have more influence (Gaussian-like weighting). The effective RF is usually smaller than the theoretical RF.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LeNet &amp; AlexNet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architectures that launched the deep learning era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LeNet-5 (LeCun, 1998) — The Pioneer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Task: handwritten digit recognition (MNIST, 28×28 grayscale)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Layer-by-layer: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Input: 32×32×1 (padded MNIST)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C1: Conv 5×5, 6 filters, stride=1  → 28×28×6    (156 params)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S2: Avg pool 2×2, stride=2         → 14×14×6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C3: Conv 5×5, 16 filters           → 10×10×16   (2,416 params)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S4: Avg pool 2×2, stride=2         → 5×5×16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C5: Conv 5×5, 120 filters          → 1×1×120    (48,120 params)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F6: Fully Connected 84 neurons     → 84          (10,164 params)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Output: FC 10 neurons + softmax    → 10          (850 params)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Total: ~60,000 parameters. Achieved 99.2% on MNIST.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 innovations: conv layers with weight sharing, average pooling,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end-to-end training with backprop on a convolutional architecture.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LeNet-5 established the Conv→Pool→Conv→Pool→FC→Output blueprint that all later CNNs follow.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AlexNet (Krizhevsky, 2012) — ImageNet Breakthrough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Task: ImageNet LSVRC 2012 (1.2M images, 1000 classes, 224×224)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Won with 15.3% top-5 error — runner-up had 26.2%. Revolution.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Input: 224×224×3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Conv1: 11×11, 96 filters, stride=4  → 55×55×96   + ReLU + MaxPool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Conv2: 5×5,  256 filters, pad=2    → 27×27×256  + ReLU + MaxPool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Conv3: 3×3,  384 filters, pad=1    → 13×13×384  + ReLU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Conv4: 3×3,  384 filters, pad=1    → 13×13×384  + ReLU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Conv5: 3×3,  256 filters, pad=1    → 13×13×256  + ReLU + MaxPool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FC6:   4096 neurons                + ReLU + Dropout(0.5)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FC7:   4096 neurons                + ReLU + Dropout(0.5)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FC8:   1000 neurons                + Softmax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Total: ~60 million parameters. Trained on 2× GTX 580 (3GB VRAM each).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 innovations vs LeNet: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ReLU instead of tanh/sigmoid (5-10× faster training)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Dropout for regularization (prevented massive FC overfitting)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Data augmentation (random crops, horizontal flip)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GPU training (made it feasible on large scale)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Local Response Normalization (later replaced by Batch Norm)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AlexNet's 10.9% gap over the runner-up shocked the field and started the deep learning revolution in computer vision.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VGG &amp; Inception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via small kernels vs width via parallel branches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VGGNet (Simonyan, 2014) — Depth with 3×3 Only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17720" y="804672"/>
            <a:ext cx="0" cy="41148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 Key Idea &amp;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 Impact &amp; Legacy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 KEY IDEA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large kernels (11×11, 5×5 in AlexNet) with stacks of 3×3 convolutions.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3×3 convs = one 5×5 conv in RF.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3×3 convs = one 7×7 conv in RF.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2×(3×3×C²) &lt; 5×5×C² → fewer params, more nonlinearity.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 ARCHITECTURE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blocks (all 3×3, padding=1, ReLU):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Block 1: 2× Conv(64)   → MaxPool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Block 2: 2× Conv(128)  → MaxPool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Block 3: 3× Conv(256)  → MaxPool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Block 4: 3× Conv(512)  → MaxPool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Block 5: 3× Conv(512)  → MaxPool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FC: 4096 → 4096 → 1000 → Softmax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138M (mostly in FC layers!)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70432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 IMPACT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clean design → easy to understand and replicate.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 top-5 error on ImageNet (vs AlexNet 15.3%).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layers have 102M of 138M params — huge memory cost.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replaced FC layers with GAP → much lighter.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 LEGACY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for many detection/segmentation models.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feature extractor for style transfer.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loss = VGG feature distance.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FROM VGG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= better (up to a point).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3×3 kernels: simplicity is a virtue.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very slow to train. 2-3 weeks on 4 GPUs.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VGG-16 inference: 15.5 GFLOPs — expensive.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Inception Module (GoogLeNet, 2014) — Width via Parallelism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 idea: instead of choosing ONE kernel size, use ALL of them in parallel.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the network learn which scales are most useful.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Naive Inception module (too expensive without 1×1 reduction):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──┬── Conv 1×1 ──────────────────────────────┬── Concat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├── Conv 3×3 ────────────────────────────── 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├── Conv 5×5 ────────────────────────────── 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└── MaxPool 3×3 ──────────────────────────── 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Inception module with 1×1 bottleneck reduction (actual design):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 ──┬── Conv 1×1 ─────────────────────────────┬── Concat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├── Conv 1×1 ──► Conv 3×3 ─────────────── 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├── Conv 1×1 ──► Conv 5×5 ─────────────── 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└── MaxPool ──► Conv 1×1 ───────────────── 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1×1 bottleneck reduces C_in before expensive 3×3 and 5×5 convolutions.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Example: 256 input channels → 1×1 reduces to 32 → 3×3 on 32 channels.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Cost: 256×32 + 32×32×9 = 8192 + 9216 = 17,408 vs 256×256×9 = 589,824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34× cheaper!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GoogLeNet: 9 Inception modules, 22 layers deep, only 5M params.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6.67% top-5 error on ImageNet. Much more efficient than VGG.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The Inception module is a key architectural pattern — use 1×1 convs to reduce channels before expensive 3×3/5×5 operations.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— training 100s of layers without degradation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Degradation Problem — Deeper ≠ Better (Before ResNet)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ResNet, adding more layers to a plain CNN HURT accuracy — even on training data. This was not overfitting (training accuracy also dropped). It was an optimization failure: very deep networks are hard to train.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deeper networks should do at least as well as shallower ones (the extra layers can learn identity mappings). Reality: they learned worse.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vanishing gradients get worse as depth increases. With 50+ layers, gradients in early layers are effectively zero — those layers don't update.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et al. (2015) solution: Residual connections (skip connections). Instead of learning H(x) directly, learn the residual F(x) = H(x) - x, then output F(x) + x.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learning F(x) = 0 (identity mapping) is easy — just drive all weights to zero. Learning H(x) = x directly (identity) from scratch is hard for a deep network.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Residual Block — The Core Building Block of ResNet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PLAIN BLOCK (no skip):          RESIDUAL BLOCK (with skip):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→ Conv → BN → ReLU            x ─────────────────┐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Conv → BN → ReLU → output     │                   │ (identity shortcut)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▼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Conv → BN → ReLU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│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Conv → BN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│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└──────── + ────────┘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ReLU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output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+ is element-wise addition of x and F(x).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Gradient of the sum: d(F(x)+x)/dx = dF(x)/dx + 1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'+ 1' means gradients ALWAYS flow back through the shortcut,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 if dF/dx is very small. Vanishing gradients solved!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Bottleneck block (ResNet-50+):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1×1 Conv (reduce channels) → 3×3 Conv → 1×1 Conv (restore channels)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3× fewer params than 2× 3×3 conv with same channel count.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The shortcut adds 1 to the gradient, guaranteeing a strong gradient signal even through 100+ layers. Simple but profound.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 Family — Architectures and ImageNet Results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 ResNets follow the same pattern: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Stem → Stage1 → Stage2 → Stage3 → Stage4 → GAP → FC(1000)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┌───────────┬────────┬────────┬─────────────────┬────────────┐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Model    │ Layers │ Params │ Top-5 Error     │ GFLOPs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├───────────┼────────┼────────┼─────────────────┼────────────┤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ResNet-18 │   18   │  11M   │ 10.9%           │   1.8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ResNet-34 │   34   │  21M   │  9.0%           │   3.7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ResNet-50 │   50   │  25M   │  7.8%  ← sweet  │   4.1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ResNet-101│  101   │  44M   │  7.0%    spot   │   7.8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ResNet-152│  152   │  60M   │  6.7%           │  11.6     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└───────────┴────────┴────────┴─────────────────┴────────────┘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ResNet-50 uses bottleneck blocks (1×1 → 3×3 → 1×1).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ResNet-18/34 use basic blocks (3×3 → 3×3).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channel sizes change between stages: use a 1×1 conv on the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shortcut (projection shortcut) to match dimensions.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Otherwise: identity shortcut (zero cost).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ResNet-50 is the most widely used backbone. Pretrained on ImageNet.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Used as backbone for: Faster R-CNN, Mask R-CNN, FPN, DETR, and most detection models.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ResNet-50 is the industry-standard backbone — good accuracy, manageable compute, widely pretrained weights available.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C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DenseNet &amp; Efficient Architectures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connections, depthwise separable convolutions, and NAS-designed models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DenseNet — Every Layer Connects to All Future Layers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4124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 (Huang, 2017) takes skip connections to the extreme: every layer receives feature maps from ALL preceding layers as input, and passes its own feature maps to ALL subsequent layers.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8503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shortcut: x_l = F(x_{l-1}) + x_{l-1}  (one skip, addition).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DenseNet: x_l = H([x_0, x_1, ..., x_{l-1}])  (all skips, concatenation).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square brackets denote channel concatenation — NOT addition.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 k: each layer adds k new feature maps. After L layers, layer L has C_0 + k×L input channels.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very strong feature reuse → fewer parameters needed. Gradient flows directly from loss to every layer. Implicit deep supervision (each layer sees the loss gradient directly).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 concatenation causes feature maps to grow. Memory usage is high during training (must store all intermediate feature maps for concatenation in backward pass).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 achieves similar accuracy to ResNet-50 with 8M params vs 25M. Efficient for medical imaging and small datasets.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 Modern Architectures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420624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(2018)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1887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residual block: expand channels with 1×1, depthwise 3×3, compress with 1×1.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 on compressed output.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 params, 0.3 GFLOPs — designed for mobile.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Android ML Kit, mobile apps, edge devices.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804672"/>
            <a:ext cx="4206240" cy="329184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804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 (2019)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36592" y="11887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scaling: scale depth, width, resolution together using fixed ratio.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found by NAS; B1-B7 scaled up.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B0: 5.3M params, 77.1% top-1 — better than ResNet-50 (25M params).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B7: 66M params, 84.3% top-1 — SOTA when released.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8620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62072"/>
            <a:ext cx="420624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 (2022)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" y="3246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modernized with Transformer design principles.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7×7 conv, inverted bottleneck, GELU, LayerNorm.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or beats Swin Transformer on ImageNet.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CNN — simpler training than attention-based models.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862072"/>
            <a:ext cx="420624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862072"/>
            <a:ext cx="4206240" cy="329184"/>
          </a:xfrm>
          <a:prstGeom prst="rect">
            <a:avLst/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(ViT, 2021)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324612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convolutions! Split image into 16×16 patches → embed as tokens.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Transformer self-attention over sequence of patches.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ViT-L: 307M params, 86.5% top-1 (ImageNet-21k pretrained).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21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data; surpasses CNNs at scale.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Evolution — ImageNet Top-1 Accuracy Timeline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8503920" cy="3840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730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  Architecture     Top-1 Acc  Params   Key Innovation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1998  LeNet-5          99.2% MNIST  60K    Conv + pooling blueprint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2012  AlexNet          63.3%        60M    GPU training, ReLU, dropout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2014  VGGNet           74.4%       138M    3×3 conv stacks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2014  GoogLeNet        74.8%         5M    Inception module, 1×1 conv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2015  ResNet-50        76.1%        25M    Residual connections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2017  DenseNet-121     74.9%         8M    Dense connections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2018  MobileNetV2      72.0%         3M    Inverted residuals, mobile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2019  EfficientNet-B0  77.1%         5M    Compound NAS scaling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2019  EfficientNet-B7  84.3%        66M    Best at time of release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2021  ViT-L/16         85.2%       307M    Pure attention, no conv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2022  ConvNeXt-L       86.6%       198M    Conv + Transformer tricks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2024  InternViT-6B     88.2%         6B    Large-scale ViT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────────────────────────────────────────────────────────────────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Trend: accuracy keeps rising but so does data/compute required.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Practical sweet spot: ResNet-50 or EfficientNet-B3 for most tasks.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Caption: Each architectural innovation solved a specific bottleneck — training stability (ResNet), efficiency (MobileNet), scale (ViT).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G — 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1828800" cy="475488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241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Conv Layer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3160" y="105156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sharing + local connectivity → 100,000× fewer params vs FC. 3D filter (K×K×C_in) slides spatially. 1×1 conv = channel mixing with no spatial cost.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13916"/>
            <a:ext cx="1828800" cy="475488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1391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Pooling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64134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pool: keep strongest activation. GAP: entire H×W → one value per channel, eliminates spatial dims. Strided conv = learned downsampling.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03704"/>
            <a:ext cx="1828800" cy="475488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0370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RF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2231136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Receptive field: how much input each neuron sees. After L layers of 3×3: RF = 2L+1. Stride doubles RF growth. Dilation grows RF without losing resolution.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93492"/>
            <a:ext cx="1828800" cy="475488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934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History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2820924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 (1998): conv blueprint. AlexNet (2012): GPU + ReLU + dropout, 10.9% gap over competition. Launched the deep learning era.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828800" cy="475488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832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 VGG/Inception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3410712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VGG: only 3×3 kernels stacked — 2×3×3 = 5×5 RF with fewer params. Inception: parallel 1×1/3×3/5×5 branches, 1×1 bottleneck cuts cost 34×.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73068"/>
            <a:ext cx="1828800" cy="475488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730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ResNet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23160" y="4000500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Residual: output = F(x) + x. Gradient = dF/dx + 1 → always flows back. Bottleneck: 1×1→3×3→1×1. ResNet-50 = standard backbone.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62856"/>
            <a:ext cx="1828800" cy="475488"/>
          </a:xfrm>
          <a:prstGeom prst="rect">
            <a:avLst/>
          </a:prstGeom>
          <a:solidFill>
            <a:srgbClr val="7A8CC0"/>
          </a:solidFill>
          <a:ln w="12700">
            <a:solidFill>
              <a:srgbClr val="7A8C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628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 Modern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459028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DenseNet: concat all previous layers — strong reuse, fewer params. EfficientNet: NAS compound scaling. ViT: patches as tokens, pure attention.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 Section G — CNNs</dc:title>
  <dc:subject>PptxGenJS Presentation</dc:subject>
  <dc:creator>PptxGenJS</dc:creator>
  <cp:lastModifiedBy>PptxGenJS</cp:lastModifiedBy>
  <cp:revision>1</cp:revision>
  <dcterms:created xsi:type="dcterms:W3CDTF">2026-03-09T17:44:56Z</dcterms:created>
  <dcterms:modified xsi:type="dcterms:W3CDTF">2026-03-09T17:44:56Z</dcterms:modified>
</cp:coreProperties>
</file>