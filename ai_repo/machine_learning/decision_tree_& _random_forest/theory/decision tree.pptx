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67" r:id="rId3"/>
    <p:sldId id="369" r:id="rId4"/>
    <p:sldId id="368" r:id="rId5"/>
    <p:sldId id="370" r:id="rId6"/>
    <p:sldId id="379" r:id="rId7"/>
    <p:sldId id="371" r:id="rId8"/>
    <p:sldId id="380" r:id="rId9"/>
    <p:sldId id="372" r:id="rId10"/>
    <p:sldId id="382" r:id="rId11"/>
    <p:sldId id="377" r:id="rId12"/>
    <p:sldId id="381" r:id="rId13"/>
    <p:sldId id="373" r:id="rId14"/>
    <p:sldId id="374" r:id="rId15"/>
    <p:sldId id="375" r:id="rId16"/>
    <p:sldId id="378" r:id="rId17"/>
    <p:sldId id="37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0187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0192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1131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0872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136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6754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3226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124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4032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709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1037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164EDF-1914-410F-BBE5-73095901D832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1942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DECISION TREE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9778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1. What is a Decision Tree</a:t>
            </a:r>
          </a:p>
          <a:p>
            <a:pPr lvl="1"/>
            <a:r>
              <a:rPr lang="en-US" sz="3600" dirty="0"/>
              <a:t>A Decision Tree is a </a:t>
            </a:r>
            <a:r>
              <a:rPr lang="en-US" sz="3600" b="1" dirty="0"/>
              <a:t>supervised machine learning algorithm</a:t>
            </a:r>
            <a:r>
              <a:rPr lang="en-US" sz="3600" dirty="0"/>
              <a:t> that models decisions using a </a:t>
            </a:r>
            <a:r>
              <a:rPr lang="en-US" sz="3600" b="1" dirty="0"/>
              <a:t>tree-like structure</a:t>
            </a:r>
            <a:r>
              <a:rPr lang="en-US" sz="3600" dirty="0"/>
              <a:t>, where:</a:t>
            </a:r>
          </a:p>
          <a:p>
            <a:pPr lvl="1"/>
            <a:r>
              <a:rPr lang="en-US" sz="3600" dirty="0"/>
              <a:t>Internal nodes represent </a:t>
            </a:r>
            <a:r>
              <a:rPr lang="en-US" sz="3600" b="1" dirty="0"/>
              <a:t>feature-based conditions</a:t>
            </a:r>
            <a:endParaRPr lang="en-US" sz="3600" dirty="0"/>
          </a:p>
          <a:p>
            <a:pPr lvl="1"/>
            <a:r>
              <a:rPr lang="en-US" sz="3600" dirty="0"/>
              <a:t>Branches represent </a:t>
            </a:r>
            <a:r>
              <a:rPr lang="en-US" sz="3600" b="1" dirty="0"/>
              <a:t>decision rules</a:t>
            </a:r>
            <a:endParaRPr lang="en-US" sz="3600" dirty="0"/>
          </a:p>
          <a:p>
            <a:pPr lvl="1"/>
            <a:r>
              <a:rPr lang="en-US" sz="3600" dirty="0"/>
              <a:t>Leaf nodes represent </a:t>
            </a:r>
            <a:r>
              <a:rPr lang="en-US" sz="3600" b="1" dirty="0"/>
              <a:t>final predictions</a:t>
            </a:r>
            <a:endParaRPr lang="en-US" sz="3600" dirty="0"/>
          </a:p>
          <a:p>
            <a:pPr lvl="1"/>
            <a:r>
              <a:rPr lang="en-US" sz="3600" dirty="0"/>
              <a:t>It can be used for </a:t>
            </a:r>
            <a:r>
              <a:rPr lang="en-US" sz="3600" b="1" dirty="0"/>
              <a:t>classification</a:t>
            </a:r>
            <a:r>
              <a:rPr lang="en-US" sz="3600" dirty="0"/>
              <a:t> and </a:t>
            </a:r>
            <a:r>
              <a:rPr lang="en-US" sz="3600" b="1" dirty="0"/>
              <a:t>regression</a:t>
            </a:r>
            <a:r>
              <a:rPr lang="en-US" sz="3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3978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2. Purpose</a:t>
            </a:r>
          </a:p>
          <a:p>
            <a:pPr lvl="1"/>
            <a:r>
              <a:rPr lang="en-US" sz="3600" b="1" dirty="0"/>
              <a:t>To make predictions by recursively splitting data into homogeneous subsets</a:t>
            </a:r>
            <a:r>
              <a:rPr lang="en-US" sz="3600" dirty="0"/>
              <a:t>, mimicking human decision-making.</a:t>
            </a:r>
          </a:p>
          <a:p>
            <a:pPr marL="457200" lvl="1" indent="0">
              <a:buNone/>
            </a:pPr>
            <a:r>
              <a:rPr lang="en-US" sz="3600" b="1" dirty="0"/>
              <a:t>Used when:</a:t>
            </a:r>
          </a:p>
          <a:p>
            <a:pPr lvl="1"/>
            <a:r>
              <a:rPr lang="en-US" sz="3600" dirty="0"/>
              <a:t>Relationships are </a:t>
            </a:r>
            <a:r>
              <a:rPr lang="en-US" sz="3600" b="1" dirty="0"/>
              <a:t>non-linear</a:t>
            </a:r>
            <a:endParaRPr lang="en-US" sz="3600" dirty="0"/>
          </a:p>
          <a:p>
            <a:pPr lvl="1"/>
            <a:r>
              <a:rPr lang="en-US" sz="3600" dirty="0"/>
              <a:t>Interpretability is important</a:t>
            </a:r>
          </a:p>
          <a:p>
            <a:pPr lvl="1"/>
            <a:r>
              <a:rPr lang="en-US" sz="3600" dirty="0"/>
              <a:t>Mixed data types exist (numerical + categorical)</a:t>
            </a:r>
          </a:p>
        </p:txBody>
      </p:sp>
    </p:spTree>
    <p:extLst>
      <p:ext uri="{BB962C8B-B14F-4D97-AF65-F5344CB8AC3E}">
        <p14:creationId xmlns:p14="http://schemas.microsoft.com/office/powerpoint/2010/main" val="75210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3. Why it is Used</a:t>
            </a:r>
          </a:p>
          <a:p>
            <a:pPr lvl="1"/>
            <a:r>
              <a:rPr lang="en-US" sz="3600" dirty="0"/>
              <a:t>Easy to understand and visualize</a:t>
            </a:r>
          </a:p>
          <a:p>
            <a:pPr lvl="1"/>
            <a:r>
              <a:rPr lang="en-US" sz="3600" dirty="0"/>
              <a:t>Handles non-linear patterns naturally</a:t>
            </a:r>
          </a:p>
          <a:p>
            <a:pPr lvl="1"/>
            <a:r>
              <a:rPr lang="en-US" sz="3600" dirty="0"/>
              <a:t>No need for feature scaling</a:t>
            </a:r>
          </a:p>
          <a:p>
            <a:pPr lvl="1"/>
            <a:r>
              <a:rPr lang="en-US" sz="3600" dirty="0"/>
              <a:t>Works with missing values (some implementations)</a:t>
            </a:r>
          </a:p>
        </p:txBody>
      </p:sp>
    </p:spTree>
    <p:extLst>
      <p:ext uri="{BB962C8B-B14F-4D97-AF65-F5344CB8AC3E}">
        <p14:creationId xmlns:p14="http://schemas.microsoft.com/office/powerpoint/2010/main" val="4265102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4. How a Decision Tree Works (Algorithm)</a:t>
            </a:r>
          </a:p>
          <a:p>
            <a:pPr marL="457200" lvl="1" indent="0">
              <a:buNone/>
            </a:pPr>
            <a:r>
              <a:rPr lang="en-US" sz="3600" b="1" dirty="0"/>
              <a:t>Step-by-Step:</a:t>
            </a:r>
          </a:p>
          <a:p>
            <a:pPr lvl="1"/>
            <a:r>
              <a:rPr lang="en-US" sz="3600" dirty="0"/>
              <a:t>Start with the entire dataset at the root node</a:t>
            </a:r>
          </a:p>
          <a:p>
            <a:pPr lvl="1"/>
            <a:r>
              <a:rPr lang="en-US" sz="3600" dirty="0"/>
              <a:t>Select the </a:t>
            </a:r>
            <a:r>
              <a:rPr lang="en-US" sz="3600" b="1" dirty="0"/>
              <a:t>best feature and split point</a:t>
            </a:r>
            <a:endParaRPr lang="en-US" sz="3600" dirty="0"/>
          </a:p>
          <a:p>
            <a:pPr lvl="1"/>
            <a:r>
              <a:rPr lang="en-US" sz="3600" dirty="0"/>
              <a:t>Split data into child nodes</a:t>
            </a:r>
          </a:p>
          <a:p>
            <a:pPr lvl="1"/>
            <a:r>
              <a:rPr lang="en-US" sz="3600" dirty="0"/>
              <a:t>Repeat recursively for each node</a:t>
            </a:r>
          </a:p>
          <a:p>
            <a:pPr lvl="1"/>
            <a:r>
              <a:rPr lang="en-US" sz="3600" dirty="0"/>
              <a:t>Stop when stopping criteria are met</a:t>
            </a:r>
          </a:p>
          <a:p>
            <a:pPr lvl="1"/>
            <a:r>
              <a:rPr lang="en-US" sz="3600" dirty="0"/>
              <a:t>Assign prediction at leaf nodes</a:t>
            </a:r>
          </a:p>
        </p:txBody>
      </p:sp>
    </p:spTree>
    <p:extLst>
      <p:ext uri="{BB962C8B-B14F-4D97-AF65-F5344CB8AC3E}">
        <p14:creationId xmlns:p14="http://schemas.microsoft.com/office/powerpoint/2010/main" val="389920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4000" b="1" dirty="0"/>
              <a:t>5. Splitting Criteria (Core of Algorithm)</a:t>
            </a:r>
          </a:p>
          <a:p>
            <a:pPr marL="457200" lvl="1" indent="0">
              <a:buNone/>
            </a:pPr>
            <a:r>
              <a:rPr lang="en-IN" sz="3600" b="1" dirty="0"/>
              <a:t>For Classification:</a:t>
            </a:r>
          </a:p>
          <a:p>
            <a:pPr lvl="1"/>
            <a:r>
              <a:rPr lang="en-IN" sz="3600" b="1" dirty="0"/>
              <a:t>Gini Impurity</a:t>
            </a:r>
            <a:endParaRPr lang="en-IN" sz="3600" dirty="0"/>
          </a:p>
          <a:p>
            <a:pPr marL="914400" lvl="2" indent="0">
              <a:buNone/>
            </a:pPr>
            <a:r>
              <a:rPr lang="en-IN" sz="3200" dirty="0"/>
              <a:t>Gini=1−∑</a:t>
            </a:r>
            <a:r>
              <a:rPr lang="en-IN" sz="3200" dirty="0" smtClean="0"/>
              <a:t>pi^2 </a:t>
            </a:r>
          </a:p>
          <a:p>
            <a:pPr lvl="1"/>
            <a:r>
              <a:rPr lang="en-IN" sz="4000" b="1" dirty="0" smtClean="0"/>
              <a:t>Entropy</a:t>
            </a:r>
            <a:endParaRPr lang="en-IN" sz="4000" dirty="0"/>
          </a:p>
          <a:p>
            <a:pPr marL="914400" lvl="2" indent="0">
              <a:buNone/>
            </a:pPr>
            <a:r>
              <a:rPr lang="en-IN" sz="3200" dirty="0"/>
              <a:t>Entropy=−∑pilog⁡2(pi</a:t>
            </a:r>
            <a:r>
              <a:rPr lang="en-IN" sz="3200" dirty="0" smtClean="0"/>
              <a:t>) </a:t>
            </a:r>
          </a:p>
          <a:p>
            <a:pPr lvl="1"/>
            <a:r>
              <a:rPr lang="en-IN" sz="4000" b="1" dirty="0" smtClean="0"/>
              <a:t>Information </a:t>
            </a:r>
            <a:r>
              <a:rPr lang="en-IN" sz="4000" b="1" dirty="0"/>
              <a:t>Gain</a:t>
            </a:r>
            <a:endParaRPr lang="en-IN" sz="4000" dirty="0"/>
          </a:p>
          <a:p>
            <a:pPr marL="914400" lvl="2" indent="0">
              <a:buNone/>
            </a:pPr>
            <a:r>
              <a:rPr lang="en-IN" sz="3200" dirty="0"/>
              <a:t>IG=Entropy(parent)−∑</a:t>
            </a:r>
            <a:r>
              <a:rPr lang="en-IN" sz="3200" dirty="0" err="1" smtClean="0"/>
              <a:t>nk</a:t>
            </a:r>
            <a:r>
              <a:rPr lang="en-IN" sz="3200" dirty="0" smtClean="0"/>
              <a:t>/</a:t>
            </a:r>
            <a:r>
              <a:rPr lang="en-IN" sz="3200" dirty="0" err="1" smtClean="0"/>
              <a:t>nEntropy</a:t>
            </a:r>
            <a:r>
              <a:rPr lang="en-IN" sz="3200" dirty="0" smtClean="0"/>
              <a:t>(</a:t>
            </a:r>
            <a:r>
              <a:rPr lang="en-IN" sz="3200" dirty="0" err="1" smtClean="0"/>
              <a:t>childk</a:t>
            </a:r>
            <a:r>
              <a:rPr lang="en-IN" sz="3200" dirty="0" smtClean="0"/>
              <a:t>) </a:t>
            </a:r>
          </a:p>
          <a:p>
            <a:pPr marL="457200" lvl="1" indent="0">
              <a:buNone/>
            </a:pPr>
            <a:r>
              <a:rPr lang="en-IN" sz="4000" b="1" dirty="0" smtClean="0"/>
              <a:t>For </a:t>
            </a:r>
            <a:r>
              <a:rPr lang="en-IN" sz="4000" b="1" dirty="0"/>
              <a:t>Regression:</a:t>
            </a:r>
          </a:p>
          <a:p>
            <a:pPr lvl="1"/>
            <a:r>
              <a:rPr lang="en-IN" sz="3600" b="1" dirty="0"/>
              <a:t>Mean Squared Error (MSE)</a:t>
            </a:r>
            <a:endParaRPr lang="en-IN" sz="3600" dirty="0"/>
          </a:p>
          <a:p>
            <a:pPr lvl="1"/>
            <a:r>
              <a:rPr lang="en-IN" sz="3600" b="1" dirty="0"/>
              <a:t>Mean Absolute Error (MAE)</a:t>
            </a:r>
            <a:endParaRPr lang="en-IN" sz="3600" dirty="0"/>
          </a:p>
          <a:p>
            <a:pPr lvl="1"/>
            <a:r>
              <a:rPr lang="en-IN" sz="3600" b="1" dirty="0"/>
              <a:t>Variance Reduction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027200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b="1" dirty="0"/>
              <a:t>6. Types of Decision Trees</a:t>
            </a:r>
          </a:p>
          <a:p>
            <a:pPr marL="457200" lvl="1" indent="0">
              <a:buNone/>
            </a:pPr>
            <a:r>
              <a:rPr lang="en-US" sz="3200" b="1" dirty="0"/>
              <a:t>Based on Task:</a:t>
            </a:r>
          </a:p>
          <a:p>
            <a:pPr lvl="1"/>
            <a:r>
              <a:rPr lang="en-US" sz="3200" dirty="0"/>
              <a:t>Classification Tree</a:t>
            </a:r>
          </a:p>
          <a:p>
            <a:pPr lvl="1"/>
            <a:r>
              <a:rPr lang="en-US" sz="3200" dirty="0"/>
              <a:t>Regression Tree</a:t>
            </a:r>
          </a:p>
          <a:p>
            <a:pPr marL="457200" lvl="1" indent="0">
              <a:buNone/>
            </a:pPr>
            <a:r>
              <a:rPr lang="en-US" sz="3200" b="1" dirty="0"/>
              <a:t>Based on Algorithm:</a:t>
            </a:r>
          </a:p>
          <a:p>
            <a:pPr lvl="1"/>
            <a:r>
              <a:rPr lang="en-US" sz="3200" dirty="0"/>
              <a:t>ID3 (Entropy)</a:t>
            </a:r>
          </a:p>
          <a:p>
            <a:pPr lvl="1"/>
            <a:r>
              <a:rPr lang="en-US" sz="3200" dirty="0"/>
              <a:t>C4.5 (Entropy + Pruning)</a:t>
            </a:r>
          </a:p>
          <a:p>
            <a:pPr lvl="1"/>
            <a:r>
              <a:rPr lang="en-US" sz="3200" dirty="0"/>
              <a:t>CART (Gini / MSE)</a:t>
            </a:r>
          </a:p>
        </p:txBody>
      </p:sp>
    </p:spTree>
    <p:extLst>
      <p:ext uri="{BB962C8B-B14F-4D97-AF65-F5344CB8AC3E}">
        <p14:creationId xmlns:p14="http://schemas.microsoft.com/office/powerpoint/2010/main" val="3402637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3600" b="1" dirty="0"/>
              <a:t>7. Formula / Mathematical Representation</a:t>
            </a:r>
          </a:p>
          <a:p>
            <a:pPr marL="457200" lvl="1" indent="0">
              <a:buNone/>
            </a:pPr>
            <a:r>
              <a:rPr lang="en-IN" sz="3200" b="1" dirty="0"/>
              <a:t>Prediction:</a:t>
            </a:r>
          </a:p>
          <a:p>
            <a:pPr lvl="1"/>
            <a:r>
              <a:rPr lang="en-IN" sz="3200" b="1" dirty="0"/>
              <a:t>Classification</a:t>
            </a:r>
            <a:r>
              <a:rPr lang="en-IN" sz="3200" dirty="0"/>
              <a:t> → majority class in leaf</a:t>
            </a:r>
          </a:p>
          <a:p>
            <a:pPr lvl="1"/>
            <a:r>
              <a:rPr lang="en-IN" sz="3200" b="1" dirty="0"/>
              <a:t>Regression</a:t>
            </a:r>
            <a:r>
              <a:rPr lang="en-IN" sz="3200" dirty="0"/>
              <a:t> → mean/median value in leaf</a:t>
            </a:r>
          </a:p>
          <a:p>
            <a:pPr marL="457200" lvl="1" indent="0">
              <a:buNone/>
            </a:pPr>
            <a:r>
              <a:rPr lang="en-IN" sz="3200" b="1" dirty="0"/>
              <a:t>Variance Reduction:</a:t>
            </a:r>
          </a:p>
          <a:p>
            <a:pPr lvl="1"/>
            <a:r>
              <a:rPr lang="en-IN" sz="3200" dirty="0"/>
              <a:t>VR=</a:t>
            </a:r>
            <a:r>
              <a:rPr lang="en-IN" sz="3200" dirty="0" err="1"/>
              <a:t>Var</a:t>
            </a:r>
            <a:r>
              <a:rPr lang="en-IN" sz="3200" dirty="0"/>
              <a:t>(parent)−∑</a:t>
            </a:r>
            <a:r>
              <a:rPr lang="en-IN" sz="3200" dirty="0" err="1" smtClean="0"/>
              <a:t>nk</a:t>
            </a:r>
            <a:r>
              <a:rPr lang="en-IN" sz="3200" dirty="0" smtClean="0"/>
              <a:t>/</a:t>
            </a:r>
            <a:r>
              <a:rPr lang="en-IN" sz="3200" dirty="0" err="1" smtClean="0"/>
              <a:t>nVar</a:t>
            </a:r>
            <a:r>
              <a:rPr lang="en-IN" sz="3200" dirty="0" smtClean="0"/>
              <a:t>(</a:t>
            </a:r>
            <a:r>
              <a:rPr lang="en-IN" sz="3200" dirty="0" err="1" smtClean="0"/>
              <a:t>childk</a:t>
            </a:r>
            <a:r>
              <a:rPr lang="en-IN" sz="3200" dirty="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36201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641445"/>
            <a:ext cx="9493155" cy="55355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b="1" dirty="0"/>
              <a:t>8. Technical Details</a:t>
            </a:r>
          </a:p>
          <a:p>
            <a:pPr marL="457200" lvl="1" indent="0">
              <a:buNone/>
            </a:pPr>
            <a:r>
              <a:rPr lang="en-US" b="1" dirty="0"/>
              <a:t>Assumptions:</a:t>
            </a:r>
          </a:p>
          <a:p>
            <a:pPr lvl="1"/>
            <a:r>
              <a:rPr lang="en-US" dirty="0"/>
              <a:t>No strict statistical assumptions</a:t>
            </a:r>
          </a:p>
          <a:p>
            <a:pPr lvl="1"/>
            <a:r>
              <a:rPr lang="en-US" dirty="0"/>
              <a:t>Works without linearity or normality</a:t>
            </a:r>
          </a:p>
          <a:p>
            <a:pPr marL="457200" lvl="1" indent="0">
              <a:buNone/>
            </a:pPr>
            <a:r>
              <a:rPr lang="en-US" b="1" dirty="0"/>
              <a:t>Stopping Criteria:</a:t>
            </a:r>
          </a:p>
          <a:p>
            <a:pPr lvl="1"/>
            <a:r>
              <a:rPr lang="en-US" dirty="0"/>
              <a:t>Max depth reached</a:t>
            </a:r>
          </a:p>
          <a:p>
            <a:pPr lvl="1"/>
            <a:r>
              <a:rPr lang="en-US" dirty="0"/>
              <a:t>Minimum samples per node</a:t>
            </a:r>
          </a:p>
          <a:p>
            <a:pPr lvl="1"/>
            <a:r>
              <a:rPr lang="en-US" dirty="0"/>
              <a:t>No further impurity reduction</a:t>
            </a:r>
          </a:p>
          <a:p>
            <a:pPr marL="457200" lvl="1" indent="0">
              <a:buNone/>
            </a:pPr>
            <a:r>
              <a:rPr lang="en-US" b="1" dirty="0"/>
              <a:t>Tree Growth:</a:t>
            </a:r>
          </a:p>
          <a:p>
            <a:pPr lvl="1"/>
            <a:r>
              <a:rPr lang="en-US" b="1" dirty="0"/>
              <a:t>Top-down, greedy algorithm</a:t>
            </a:r>
            <a:endParaRPr lang="en-US" dirty="0"/>
          </a:p>
          <a:p>
            <a:pPr lvl="1"/>
            <a:r>
              <a:rPr lang="en-US" dirty="0"/>
              <a:t>Locally optimal splits (not global)</a:t>
            </a:r>
          </a:p>
        </p:txBody>
      </p:sp>
    </p:spTree>
    <p:extLst>
      <p:ext uri="{BB962C8B-B14F-4D97-AF65-F5344CB8AC3E}">
        <p14:creationId xmlns:p14="http://schemas.microsoft.com/office/powerpoint/2010/main" val="4214483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641445"/>
            <a:ext cx="9493155" cy="55355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b="1" dirty="0"/>
              <a:t>9. </a:t>
            </a:r>
            <a:r>
              <a:rPr lang="en-US" sz="3200" b="1" dirty="0" smtClean="0"/>
              <a:t>Parameters</a:t>
            </a:r>
          </a:p>
          <a:p>
            <a:pPr marL="457200" lvl="1" indent="0">
              <a:buNone/>
            </a:pPr>
            <a:r>
              <a:rPr lang="en-US" b="1" dirty="0" smtClean="0"/>
              <a:t>Model </a:t>
            </a:r>
            <a:r>
              <a:rPr lang="en-US" b="1" dirty="0"/>
              <a:t>Parameters (Learned</a:t>
            </a:r>
            <a:r>
              <a:rPr lang="en-US" b="1" dirty="0" smtClean="0"/>
              <a:t>):</a:t>
            </a:r>
          </a:p>
          <a:p>
            <a:pPr lvl="1"/>
            <a:r>
              <a:rPr lang="en-US" dirty="0" smtClean="0"/>
              <a:t>Tree structure</a:t>
            </a:r>
          </a:p>
          <a:p>
            <a:pPr lvl="1"/>
            <a:r>
              <a:rPr lang="en-US" dirty="0" smtClean="0"/>
              <a:t>Split thresholds</a:t>
            </a:r>
          </a:p>
          <a:p>
            <a:pPr lvl="1"/>
            <a:r>
              <a:rPr lang="en-US" dirty="0" smtClean="0"/>
              <a:t>Leaf values</a:t>
            </a:r>
          </a:p>
          <a:p>
            <a:pPr marL="457200" lvl="1" indent="0">
              <a:buNone/>
            </a:pPr>
            <a:r>
              <a:rPr lang="en-US" b="1" dirty="0" err="1" smtClean="0"/>
              <a:t>Hyperparameters</a:t>
            </a:r>
            <a:r>
              <a:rPr lang="en-US" b="1" dirty="0" smtClean="0"/>
              <a:t> </a:t>
            </a:r>
            <a:r>
              <a:rPr lang="en-US" b="1" dirty="0"/>
              <a:t>(Tuning</a:t>
            </a:r>
            <a:r>
              <a:rPr lang="en-US" b="1" dirty="0" smtClean="0"/>
              <a:t>):</a:t>
            </a:r>
          </a:p>
          <a:p>
            <a:pPr lvl="1"/>
            <a:r>
              <a:rPr lang="en-US" dirty="0" err="1" smtClean="0"/>
              <a:t>max_depth</a:t>
            </a:r>
            <a:endParaRPr lang="en-US" dirty="0" smtClean="0"/>
          </a:p>
          <a:p>
            <a:pPr lvl="1"/>
            <a:r>
              <a:rPr lang="en-US" dirty="0" err="1" smtClean="0"/>
              <a:t>min_samples_split</a:t>
            </a:r>
            <a:endParaRPr lang="en-US" dirty="0" smtClean="0"/>
          </a:p>
          <a:p>
            <a:pPr lvl="1"/>
            <a:r>
              <a:rPr lang="en-US" dirty="0" err="1" smtClean="0"/>
              <a:t>min_samples_leaf</a:t>
            </a:r>
            <a:endParaRPr lang="en-US" dirty="0" smtClean="0"/>
          </a:p>
          <a:p>
            <a:pPr lvl="1"/>
            <a:r>
              <a:rPr lang="en-US" dirty="0" err="1" smtClean="0"/>
              <a:t>max_features</a:t>
            </a:r>
            <a:endParaRPr lang="en-US" dirty="0" smtClean="0"/>
          </a:p>
          <a:p>
            <a:pPr lvl="1"/>
            <a:r>
              <a:rPr lang="en-US" dirty="0" smtClean="0"/>
              <a:t>criterion </a:t>
            </a:r>
            <a:r>
              <a:rPr lang="en-US" dirty="0"/>
              <a:t>(</a:t>
            </a:r>
            <a:r>
              <a:rPr lang="en-US" dirty="0" err="1"/>
              <a:t>gini</a:t>
            </a:r>
            <a:r>
              <a:rPr lang="en-US" dirty="0"/>
              <a:t>, entropy, </a:t>
            </a:r>
            <a:r>
              <a:rPr lang="en-US" dirty="0" err="1"/>
              <a:t>mse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92130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almablog-media.s3.ap-south-1.amazonaws.com/image_17_ef951c96c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0682" y="608686"/>
            <a:ext cx="8630636" cy="5752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6192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1.10. Decision Trees — scikit-learn 1.8.0 documenta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589"/>
          <a:stretch/>
        </p:blipFill>
        <p:spPr>
          <a:xfrm>
            <a:off x="1988023" y="313899"/>
            <a:ext cx="8215953" cy="6379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930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10. Pros</a:t>
            </a:r>
          </a:p>
          <a:p>
            <a:pPr lvl="1"/>
            <a:r>
              <a:rPr lang="en-US" sz="3600" dirty="0"/>
              <a:t>Highly interpretable</a:t>
            </a:r>
          </a:p>
          <a:p>
            <a:pPr lvl="1"/>
            <a:r>
              <a:rPr lang="en-US" sz="3600" dirty="0"/>
              <a:t>Handles non-linear data</a:t>
            </a:r>
          </a:p>
          <a:p>
            <a:pPr lvl="1"/>
            <a:r>
              <a:rPr lang="en-US" sz="3600" dirty="0"/>
              <a:t>Works with mixed feature types</a:t>
            </a:r>
          </a:p>
          <a:p>
            <a:pPr lvl="1"/>
            <a:r>
              <a:rPr lang="en-US" sz="3600" dirty="0"/>
              <a:t>No feature scaling required</a:t>
            </a:r>
          </a:p>
          <a:p>
            <a:pPr lvl="1"/>
            <a:r>
              <a:rPr lang="en-US" sz="3600" dirty="0"/>
              <a:t>Fast inference</a:t>
            </a:r>
          </a:p>
        </p:txBody>
      </p:sp>
    </p:spTree>
    <p:extLst>
      <p:ext uri="{BB962C8B-B14F-4D97-AF65-F5344CB8AC3E}">
        <p14:creationId xmlns:p14="http://schemas.microsoft.com/office/powerpoint/2010/main" val="15639623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11. Cons</a:t>
            </a:r>
          </a:p>
          <a:p>
            <a:pPr lvl="1"/>
            <a:r>
              <a:rPr lang="en-US" sz="3600" dirty="0" smtClean="0"/>
              <a:t>Prone to overfitting</a:t>
            </a:r>
          </a:p>
          <a:p>
            <a:pPr lvl="1"/>
            <a:r>
              <a:rPr lang="en-US" sz="3600" dirty="0" smtClean="0"/>
              <a:t>Unstable </a:t>
            </a:r>
            <a:r>
              <a:rPr lang="en-US" sz="3600" dirty="0"/>
              <a:t>to small data changes</a:t>
            </a:r>
          </a:p>
          <a:p>
            <a:pPr lvl="1"/>
            <a:r>
              <a:rPr lang="en-US" sz="3600" dirty="0"/>
              <a:t>Greedy (locally optimal splits)</a:t>
            </a:r>
          </a:p>
          <a:p>
            <a:pPr lvl="1"/>
            <a:r>
              <a:rPr lang="en-US" sz="3600" dirty="0" smtClean="0"/>
              <a:t>Poor generalization alone</a:t>
            </a:r>
          </a:p>
          <a:p>
            <a:pPr lvl="1"/>
            <a:r>
              <a:rPr lang="en-US" sz="3600" dirty="0" smtClean="0"/>
              <a:t>Biased </a:t>
            </a:r>
            <a:r>
              <a:rPr lang="en-US" sz="3600" dirty="0"/>
              <a:t>toward dominant features</a:t>
            </a:r>
          </a:p>
        </p:txBody>
      </p:sp>
    </p:spTree>
    <p:extLst>
      <p:ext uri="{BB962C8B-B14F-4D97-AF65-F5344CB8AC3E}">
        <p14:creationId xmlns:p14="http://schemas.microsoft.com/office/powerpoint/2010/main" val="414998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/>
              <a:t>12. Real-World Applications</a:t>
            </a:r>
          </a:p>
          <a:p>
            <a:pPr marL="457200" lvl="1" indent="0">
              <a:buNone/>
            </a:pPr>
            <a:r>
              <a:rPr lang="en-IN" sz="2000" b="1" dirty="0"/>
              <a:t>Business:</a:t>
            </a:r>
          </a:p>
          <a:p>
            <a:pPr lvl="1"/>
            <a:r>
              <a:rPr lang="en-IN" sz="2000" dirty="0"/>
              <a:t>Customer segmentation</a:t>
            </a:r>
          </a:p>
          <a:p>
            <a:pPr lvl="1"/>
            <a:r>
              <a:rPr lang="en-IN" sz="2000" dirty="0"/>
              <a:t>Churn prediction</a:t>
            </a:r>
          </a:p>
          <a:p>
            <a:pPr marL="457200" lvl="1" indent="0">
              <a:buNone/>
            </a:pPr>
            <a:r>
              <a:rPr lang="en-IN" sz="2000" b="1" dirty="0"/>
              <a:t>Finance:</a:t>
            </a:r>
          </a:p>
          <a:p>
            <a:pPr lvl="1"/>
            <a:r>
              <a:rPr lang="en-IN" sz="2000" dirty="0"/>
              <a:t>Credit risk analysis</a:t>
            </a:r>
          </a:p>
          <a:p>
            <a:pPr lvl="1"/>
            <a:r>
              <a:rPr lang="en-IN" sz="2000" dirty="0"/>
              <a:t>Loan approval systems</a:t>
            </a:r>
          </a:p>
          <a:p>
            <a:pPr marL="457200" lvl="1" indent="0">
              <a:buNone/>
            </a:pPr>
            <a:r>
              <a:rPr lang="en-IN" sz="2000" b="1" dirty="0"/>
              <a:t>Healthcare:</a:t>
            </a:r>
          </a:p>
          <a:p>
            <a:pPr lvl="1"/>
            <a:r>
              <a:rPr lang="en-IN" sz="2000" dirty="0"/>
              <a:t>Disease diagnosis</a:t>
            </a:r>
          </a:p>
          <a:p>
            <a:pPr lvl="1"/>
            <a:r>
              <a:rPr lang="en-IN" sz="2000" dirty="0"/>
              <a:t>Treatment decision support</a:t>
            </a:r>
          </a:p>
          <a:p>
            <a:pPr marL="457200" lvl="1" indent="0">
              <a:buNone/>
            </a:pPr>
            <a:r>
              <a:rPr lang="en-IN" sz="2000" b="1" dirty="0"/>
              <a:t>Engineering:</a:t>
            </a:r>
          </a:p>
          <a:p>
            <a:pPr lvl="1"/>
            <a:r>
              <a:rPr lang="en-IN" sz="2000" dirty="0"/>
              <a:t>Fault detection systems</a:t>
            </a:r>
          </a:p>
          <a:p>
            <a:pPr marL="457200" lvl="1" indent="0">
              <a:buNone/>
            </a:pPr>
            <a:r>
              <a:rPr lang="en-IN" sz="2000" b="1" dirty="0"/>
              <a:t>ML Systems:</a:t>
            </a:r>
          </a:p>
          <a:p>
            <a:pPr lvl="1"/>
            <a:r>
              <a:rPr lang="en-IN" sz="2000" dirty="0"/>
              <a:t>Base learner in </a:t>
            </a:r>
            <a:r>
              <a:rPr lang="en-IN" sz="2000" b="1" dirty="0"/>
              <a:t>Random Forest</a:t>
            </a:r>
            <a:r>
              <a:rPr lang="en-IN" sz="2000" dirty="0"/>
              <a:t>, </a:t>
            </a:r>
            <a:r>
              <a:rPr lang="en-IN" sz="2000" b="1" dirty="0" err="1"/>
              <a:t>XGBoost</a:t>
            </a:r>
            <a:r>
              <a:rPr lang="en-IN" sz="2000" dirty="0"/>
              <a:t>, </a:t>
            </a:r>
            <a:r>
              <a:rPr lang="en-IN" sz="2000" b="1" dirty="0" err="1"/>
              <a:t>LightGBM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6326842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000" b="1" dirty="0"/>
              <a:t>13. Comparison with Linear &amp; Logistic Regression</a:t>
            </a:r>
            <a:endParaRPr lang="en-IN" sz="4000" b="1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1891732"/>
              </p:ext>
            </p:extLst>
          </p:nvPr>
        </p:nvGraphicFramePr>
        <p:xfrm>
          <a:off x="707977" y="1989610"/>
          <a:ext cx="10776045" cy="3578676"/>
        </p:xfrm>
        <a:graphic>
          <a:graphicData uri="http://schemas.openxmlformats.org/drawingml/2006/table">
            <a:tbl>
              <a:tblPr/>
              <a:tblGrid>
                <a:gridCol w="3481886"/>
                <a:gridCol w="3802895"/>
                <a:gridCol w="3491264"/>
              </a:tblGrid>
              <a:tr h="596446">
                <a:tc>
                  <a:txBody>
                    <a:bodyPr/>
                    <a:lstStyle/>
                    <a:p>
                      <a:r>
                        <a:rPr lang="en-IN" b="1" dirty="0"/>
                        <a:t>Aspect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Decision Tree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Linear / Logistic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6446">
                <a:tc>
                  <a:txBody>
                    <a:bodyPr/>
                    <a:lstStyle/>
                    <a:p>
                      <a:r>
                        <a:rPr lang="en-IN" b="1"/>
                        <a:t>Relationship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Non-linear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Linear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6446">
                <a:tc>
                  <a:txBody>
                    <a:bodyPr/>
                    <a:lstStyle/>
                    <a:p>
                      <a:r>
                        <a:rPr lang="en-IN" b="1"/>
                        <a:t>Interpretability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6446">
                <a:tc>
                  <a:txBody>
                    <a:bodyPr/>
                    <a:lstStyle/>
                    <a:p>
                      <a:r>
                        <a:rPr lang="en-IN" b="1"/>
                        <a:t>Feature Scaling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Not required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Required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6446">
                <a:tc>
                  <a:txBody>
                    <a:bodyPr/>
                    <a:lstStyle/>
                    <a:p>
                      <a:r>
                        <a:rPr lang="en-IN" b="1"/>
                        <a:t>Overfitting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Moderate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6446">
                <a:tc>
                  <a:txBody>
                    <a:bodyPr/>
                    <a:lstStyle/>
                    <a:p>
                      <a:r>
                        <a:rPr lang="en-IN" b="1" dirty="0"/>
                        <a:t>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Class /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Value / Probability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21522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Summary</a:t>
            </a:r>
          </a:p>
          <a:p>
            <a:pPr lvl="1"/>
            <a:r>
              <a:rPr lang="en-US" sz="3200" dirty="0"/>
              <a:t>A Decision Tree is a </a:t>
            </a:r>
            <a:r>
              <a:rPr lang="en-US" sz="3200" b="1" dirty="0"/>
              <a:t>rule-based, interpretable, non-parametric model</a:t>
            </a:r>
            <a:r>
              <a:rPr lang="en-US" sz="3200" dirty="0"/>
              <a:t> that recursively splits data to make predictions.</a:t>
            </a:r>
          </a:p>
        </p:txBody>
      </p:sp>
      <p:sp>
        <p:nvSpPr>
          <p:cNvPr id="2" name="AutoShape 2" descr="https://media.geeksforgeeks.org/wp-content/uploads/20250626155553400991/how_decision_trees_work_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3573" y="2690483"/>
            <a:ext cx="7544853" cy="371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761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4549</TotalTime>
  <Words>488</Words>
  <Application>Microsoft Office PowerPoint</Application>
  <PresentationFormat>Widescreen</PresentationFormat>
  <Paragraphs>121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DECISION TREE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STATISTICAL FOUNDATIONS</dc:title>
  <dc:creator>NIRVANA</dc:creator>
  <cp:lastModifiedBy>NIRVANA</cp:lastModifiedBy>
  <cp:revision>48</cp:revision>
  <dcterms:created xsi:type="dcterms:W3CDTF">2026-02-13T06:25:49Z</dcterms:created>
  <dcterms:modified xsi:type="dcterms:W3CDTF">2026-02-20T08:13:30Z</dcterms:modified>
</cp:coreProperties>
</file>