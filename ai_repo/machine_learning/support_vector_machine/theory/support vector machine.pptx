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367" r:id="rId3"/>
    <p:sldId id="369" r:id="rId4"/>
    <p:sldId id="368" r:id="rId5"/>
    <p:sldId id="370" r:id="rId6"/>
    <p:sldId id="379" r:id="rId7"/>
    <p:sldId id="371" r:id="rId8"/>
    <p:sldId id="380" r:id="rId9"/>
    <p:sldId id="372" r:id="rId10"/>
    <p:sldId id="382" r:id="rId11"/>
    <p:sldId id="377" r:id="rId12"/>
    <p:sldId id="373" r:id="rId13"/>
    <p:sldId id="374" r:id="rId14"/>
    <p:sldId id="383" r:id="rId15"/>
    <p:sldId id="375" r:id="rId16"/>
    <p:sldId id="384" r:id="rId17"/>
    <p:sldId id="376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71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64EDF-1914-410F-BBE5-73095901D832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DE75D-9B82-49EA-96FF-9C3108509A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01875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64EDF-1914-410F-BBE5-73095901D832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DE75D-9B82-49EA-96FF-9C3108509A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01924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64EDF-1914-410F-BBE5-73095901D832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DE75D-9B82-49EA-96FF-9C3108509A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11317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64EDF-1914-410F-BBE5-73095901D832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DE75D-9B82-49EA-96FF-9C3108509A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08723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64EDF-1914-410F-BBE5-73095901D832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DE75D-9B82-49EA-96FF-9C3108509A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81365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64EDF-1914-410F-BBE5-73095901D832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DE75D-9B82-49EA-96FF-9C3108509A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67544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64EDF-1914-410F-BBE5-73095901D832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DE75D-9B82-49EA-96FF-9C3108509A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32264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64EDF-1914-410F-BBE5-73095901D832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DE75D-9B82-49EA-96FF-9C3108509A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51247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64EDF-1914-410F-BBE5-73095901D832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DE75D-9B82-49EA-96FF-9C3108509A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40321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64EDF-1914-410F-BBE5-73095901D832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DE75D-9B82-49EA-96FF-9C3108509A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07090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64EDF-1914-410F-BBE5-73095901D832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DE75D-9B82-49EA-96FF-9C3108509A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10372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164EDF-1914-410F-BBE5-73095901D832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9DE75D-9B82-49EA-96FF-9C3108509A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19421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SUPPORT VECTOR MACHINE (SVM)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97784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4000" b="1" dirty="0"/>
              <a:t>1. What is Support Vector Machine</a:t>
            </a:r>
          </a:p>
          <a:p>
            <a:pPr lvl="1"/>
            <a:r>
              <a:rPr lang="en-US" sz="3600" dirty="0"/>
              <a:t>Support Vector Machine is a </a:t>
            </a:r>
            <a:r>
              <a:rPr lang="en-US" sz="3600" b="1" dirty="0"/>
              <a:t>supervised machine learning algorithm</a:t>
            </a:r>
            <a:r>
              <a:rPr lang="en-US" sz="3600" dirty="0"/>
              <a:t> used for </a:t>
            </a:r>
            <a:r>
              <a:rPr lang="en-US" sz="3600" b="1" dirty="0"/>
              <a:t>classification and regression</a:t>
            </a:r>
            <a:r>
              <a:rPr lang="en-US" sz="3600" dirty="0"/>
              <a:t>, which finds an </a:t>
            </a:r>
            <a:r>
              <a:rPr lang="en-US" sz="3600" b="1" dirty="0"/>
              <a:t>optimal decision boundary (hyperplane)</a:t>
            </a:r>
            <a:r>
              <a:rPr lang="en-US" sz="3600" dirty="0"/>
              <a:t> that </a:t>
            </a:r>
            <a:r>
              <a:rPr lang="en-US" sz="3600" b="1" dirty="0"/>
              <a:t>maximizes the margin</a:t>
            </a:r>
            <a:r>
              <a:rPr lang="en-US" sz="3600" dirty="0"/>
              <a:t> between different classes.</a:t>
            </a:r>
          </a:p>
          <a:p>
            <a:pPr lvl="1"/>
            <a:r>
              <a:rPr lang="en-US" sz="3600" dirty="0"/>
              <a:t>For regression, it is called </a:t>
            </a:r>
            <a:r>
              <a:rPr lang="en-US" sz="3600" b="1" dirty="0"/>
              <a:t>Support Vector Regression (SVR</a:t>
            </a:r>
            <a:r>
              <a:rPr lang="en-US" sz="3600" b="1" dirty="0" smtClean="0"/>
              <a:t>)</a:t>
            </a:r>
            <a:r>
              <a:rPr lang="en-US" sz="3600" dirty="0" smtClean="0"/>
              <a:t>.</a:t>
            </a:r>
          </a:p>
          <a:p>
            <a:pPr lvl="1"/>
            <a:r>
              <a:rPr lang="en-US" sz="3600" dirty="0"/>
              <a:t>For regression, it is called </a:t>
            </a:r>
            <a:r>
              <a:rPr lang="en-US" sz="3600" b="1" dirty="0"/>
              <a:t>Support Vector </a:t>
            </a:r>
            <a:r>
              <a:rPr lang="en-US" sz="3600" b="1" dirty="0" smtClean="0"/>
              <a:t>Classifier (SVC)</a:t>
            </a:r>
            <a:r>
              <a:rPr lang="en-US" sz="3600" dirty="0" smtClean="0"/>
              <a:t>.</a:t>
            </a:r>
            <a:endParaRPr lang="en-US" sz="3600" dirty="0"/>
          </a:p>
          <a:p>
            <a:pPr lvl="1"/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3839783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4000" b="1" dirty="0"/>
              <a:t>2. Purpose</a:t>
            </a:r>
          </a:p>
          <a:p>
            <a:pPr lvl="1"/>
            <a:r>
              <a:rPr lang="en-US" sz="3600" b="1" dirty="0"/>
              <a:t>To achieve maximum generalization</a:t>
            </a:r>
            <a:r>
              <a:rPr lang="en-US" sz="3600" dirty="0"/>
              <a:t> by finding the decision boundary with the </a:t>
            </a:r>
            <a:r>
              <a:rPr lang="en-US" sz="3600" b="1" dirty="0"/>
              <a:t>largest margin</a:t>
            </a:r>
            <a:r>
              <a:rPr lang="en-US" sz="3600" dirty="0"/>
              <a:t>, making the model robust to noise and overfitting.</a:t>
            </a:r>
          </a:p>
        </p:txBody>
      </p:sp>
    </p:spTree>
    <p:extLst>
      <p:ext uri="{BB962C8B-B14F-4D97-AF65-F5344CB8AC3E}">
        <p14:creationId xmlns:p14="http://schemas.microsoft.com/office/powerpoint/2010/main" val="752107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4000" b="1" dirty="0"/>
              <a:t>3. Why it is Used</a:t>
            </a:r>
          </a:p>
          <a:p>
            <a:pPr lvl="1"/>
            <a:r>
              <a:rPr lang="en-US" sz="3600" dirty="0"/>
              <a:t>Works well with </a:t>
            </a:r>
            <a:r>
              <a:rPr lang="en-US" sz="3600" b="1" dirty="0"/>
              <a:t>high-dimensional data</a:t>
            </a:r>
            <a:endParaRPr lang="en-US" sz="3600" dirty="0"/>
          </a:p>
          <a:p>
            <a:pPr lvl="1"/>
            <a:r>
              <a:rPr lang="en-US" sz="3600" dirty="0"/>
              <a:t>Effective when number of features &gt; number of samples</a:t>
            </a:r>
          </a:p>
          <a:p>
            <a:pPr lvl="1"/>
            <a:r>
              <a:rPr lang="en-US" sz="3600" dirty="0"/>
              <a:t>Strong theoretical guarantees</a:t>
            </a:r>
          </a:p>
          <a:p>
            <a:pPr lvl="1"/>
            <a:r>
              <a:rPr lang="en-US" sz="3600" dirty="0"/>
              <a:t>Can model </a:t>
            </a:r>
            <a:r>
              <a:rPr lang="en-US" sz="3600" b="1" dirty="0"/>
              <a:t>non-linear relationships</a:t>
            </a:r>
            <a:r>
              <a:rPr lang="en-US" sz="3600" dirty="0"/>
              <a:t> using kernels</a:t>
            </a:r>
          </a:p>
          <a:p>
            <a:pPr lvl="1"/>
            <a:r>
              <a:rPr lang="en-US" sz="3600" dirty="0"/>
              <a:t>Robust to overfitting with proper regularization</a:t>
            </a:r>
          </a:p>
        </p:txBody>
      </p:sp>
    </p:spTree>
    <p:extLst>
      <p:ext uri="{BB962C8B-B14F-4D97-AF65-F5344CB8AC3E}">
        <p14:creationId xmlns:p14="http://schemas.microsoft.com/office/powerpoint/2010/main" val="42651029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/>
              <a:t>4. How SVM Works (Algorithm)</a:t>
            </a:r>
          </a:p>
          <a:p>
            <a:pPr marL="457200" lvl="1" indent="0">
              <a:buNone/>
            </a:pPr>
            <a:r>
              <a:rPr lang="en-IN" b="1" dirty="0"/>
              <a:t>Core Ideas:</a:t>
            </a:r>
          </a:p>
          <a:p>
            <a:pPr lvl="1"/>
            <a:r>
              <a:rPr lang="en-IN" b="1" dirty="0"/>
              <a:t>Maximum Margin Classifier</a:t>
            </a:r>
            <a:endParaRPr lang="en-IN" dirty="0"/>
          </a:p>
          <a:p>
            <a:pPr lvl="1"/>
            <a:r>
              <a:rPr lang="en-IN" b="1" dirty="0"/>
              <a:t>Support Vectors</a:t>
            </a:r>
            <a:endParaRPr lang="en-IN" dirty="0"/>
          </a:p>
          <a:p>
            <a:pPr lvl="1"/>
            <a:r>
              <a:rPr lang="en-IN" b="1" dirty="0"/>
              <a:t>Kernel Trick</a:t>
            </a:r>
            <a:endParaRPr lang="en-IN" dirty="0"/>
          </a:p>
          <a:p>
            <a:pPr marL="457200" lvl="1" indent="0">
              <a:buNone/>
            </a:pPr>
            <a:r>
              <a:rPr lang="en-IN" b="1" dirty="0"/>
              <a:t>Step-by-Step Algorithm:</a:t>
            </a:r>
          </a:p>
          <a:p>
            <a:pPr lvl="1"/>
            <a:r>
              <a:rPr lang="en-IN" dirty="0"/>
              <a:t>Map input data into feature space</a:t>
            </a:r>
          </a:p>
          <a:p>
            <a:pPr lvl="1"/>
            <a:r>
              <a:rPr lang="en-IN" dirty="0"/>
              <a:t>Find the hyperplane that maximizes margin</a:t>
            </a:r>
          </a:p>
          <a:p>
            <a:pPr lvl="1"/>
            <a:r>
              <a:rPr lang="en-IN" dirty="0"/>
              <a:t>Identify support vectors (closest points)</a:t>
            </a:r>
          </a:p>
          <a:p>
            <a:pPr lvl="1"/>
            <a:r>
              <a:rPr lang="en-IN" dirty="0"/>
              <a:t>Allow soft margin using slack variables</a:t>
            </a:r>
          </a:p>
          <a:p>
            <a:pPr lvl="1"/>
            <a:r>
              <a:rPr lang="en-IN" dirty="0"/>
              <a:t>Optimize using quadratic programming</a:t>
            </a:r>
          </a:p>
        </p:txBody>
      </p:sp>
    </p:spTree>
    <p:extLst>
      <p:ext uri="{BB962C8B-B14F-4D97-AF65-F5344CB8AC3E}">
        <p14:creationId xmlns:p14="http://schemas.microsoft.com/office/powerpoint/2010/main" val="3899200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4000" b="1" dirty="0"/>
              <a:t>5. Mathematical Formulation</a:t>
            </a:r>
          </a:p>
          <a:p>
            <a:pPr lvl="1"/>
            <a:r>
              <a:rPr lang="en-IN" sz="3600" b="1" dirty="0"/>
              <a:t>Hyperplane Equation:</a:t>
            </a:r>
          </a:p>
          <a:p>
            <a:pPr marL="914400" lvl="2" indent="0">
              <a:buNone/>
            </a:pPr>
            <a:r>
              <a:rPr lang="en-IN" sz="3200" dirty="0" err="1"/>
              <a:t>w⋅</a:t>
            </a:r>
            <a:r>
              <a:rPr lang="en-IN" sz="3200" dirty="0" err="1" smtClean="0"/>
              <a:t>x+b</a:t>
            </a:r>
            <a:r>
              <a:rPr lang="en-IN" sz="3200" dirty="0" smtClean="0"/>
              <a:t>=0</a:t>
            </a:r>
          </a:p>
          <a:p>
            <a:pPr lvl="1"/>
            <a:r>
              <a:rPr lang="en-IN" sz="3600" b="1" dirty="0" smtClean="0"/>
              <a:t>Margin</a:t>
            </a:r>
            <a:r>
              <a:rPr lang="en-IN" sz="3600" b="1" dirty="0"/>
              <a:t>:</a:t>
            </a:r>
          </a:p>
          <a:p>
            <a:pPr marL="914400" lvl="2" indent="0">
              <a:buNone/>
            </a:pPr>
            <a:r>
              <a:rPr lang="en-IN" sz="3200" dirty="0" smtClean="0"/>
              <a:t>Margin=2/∥</a:t>
            </a:r>
            <a:r>
              <a:rPr lang="en-IN" sz="3200" dirty="0"/>
              <a:t>w</a:t>
            </a:r>
            <a:r>
              <a:rPr lang="en-IN" sz="3200" dirty="0" smtClean="0"/>
              <a:t>∥ ​ </a:t>
            </a:r>
          </a:p>
          <a:p>
            <a:pPr lvl="1"/>
            <a:r>
              <a:rPr lang="en-IN" sz="3600" b="1" dirty="0" smtClean="0"/>
              <a:t>Optimization </a:t>
            </a:r>
            <a:r>
              <a:rPr lang="en-IN" sz="3600" b="1" dirty="0"/>
              <a:t>Objective:</a:t>
            </a:r>
          </a:p>
          <a:p>
            <a:pPr marL="914400" lvl="2" indent="0">
              <a:buNone/>
            </a:pPr>
            <a:r>
              <a:rPr lang="en-IN" sz="3200" dirty="0"/>
              <a:t>min⁡</a:t>
            </a:r>
            <a:r>
              <a:rPr lang="en-IN" sz="3200" dirty="0" smtClean="0"/>
              <a:t>1/2</a:t>
            </a:r>
            <a:r>
              <a:rPr lang="en-IN" sz="3200" dirty="0"/>
              <a:t>∥w</a:t>
            </a:r>
            <a:r>
              <a:rPr lang="en-IN" sz="3200" dirty="0" smtClean="0"/>
              <a:t>∥^2+C</a:t>
            </a:r>
            <a:r>
              <a:rPr lang="en-IN" sz="3200" dirty="0"/>
              <a:t>∑</a:t>
            </a:r>
            <a:r>
              <a:rPr lang="el-GR" sz="3200" dirty="0"/>
              <a:t>ξ</a:t>
            </a:r>
            <a:r>
              <a:rPr lang="en-IN" sz="3200" dirty="0" err="1" smtClean="0"/>
              <a:t>i</a:t>
            </a:r>
            <a:endParaRPr lang="en-IN" sz="3200" dirty="0" smtClean="0"/>
          </a:p>
          <a:p>
            <a:pPr lvl="1"/>
            <a:r>
              <a:rPr lang="en-IN" sz="3600" dirty="0" smtClean="0"/>
              <a:t>Subject </a:t>
            </a:r>
            <a:r>
              <a:rPr lang="en-IN" sz="3600" dirty="0"/>
              <a:t>to:</a:t>
            </a:r>
          </a:p>
          <a:p>
            <a:pPr marL="914400" lvl="2" indent="0">
              <a:buNone/>
            </a:pPr>
            <a:r>
              <a:rPr lang="en-IN" sz="3200" dirty="0" err="1"/>
              <a:t>yi</a:t>
            </a:r>
            <a:r>
              <a:rPr lang="en-IN" sz="3200" dirty="0"/>
              <a:t>(</a:t>
            </a:r>
            <a:r>
              <a:rPr lang="en-IN" sz="3200" dirty="0" err="1"/>
              <a:t>w⋅xi+b</a:t>
            </a:r>
            <a:r>
              <a:rPr lang="en-IN" sz="3200" dirty="0"/>
              <a:t>)≥1−</a:t>
            </a:r>
            <a:r>
              <a:rPr lang="el-GR" sz="3200" dirty="0"/>
              <a:t>ξ</a:t>
            </a:r>
            <a:r>
              <a:rPr lang="en-IN" sz="3200" dirty="0" err="1" smtClean="0"/>
              <a:t>i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10272005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3600" b="1" dirty="0"/>
              <a:t>6. Kernel Trick (Non-Linearity)</a:t>
            </a:r>
            <a:endParaRPr lang="en-IN" sz="3200" b="1" dirty="0"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413431"/>
              </p:ext>
            </p:extLst>
          </p:nvPr>
        </p:nvGraphicFramePr>
        <p:xfrm>
          <a:off x="946247" y="1705970"/>
          <a:ext cx="10407553" cy="4285400"/>
        </p:xfrm>
        <a:graphic>
          <a:graphicData uri="http://schemas.openxmlformats.org/drawingml/2006/table">
            <a:tbl>
              <a:tblPr/>
              <a:tblGrid>
                <a:gridCol w="2852117"/>
                <a:gridCol w="4327755"/>
                <a:gridCol w="3227681"/>
              </a:tblGrid>
              <a:tr h="857080">
                <a:tc>
                  <a:txBody>
                    <a:bodyPr/>
                    <a:lstStyle/>
                    <a:p>
                      <a:r>
                        <a:rPr lang="en-IN" b="1" dirty="0"/>
                        <a:t>Kernel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b="1"/>
                        <a:t>Formula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b="1" dirty="0"/>
                        <a:t>Use Case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857080">
                <a:tc>
                  <a:txBody>
                    <a:bodyPr/>
                    <a:lstStyle/>
                    <a:p>
                      <a:r>
                        <a:rPr lang="en-IN" b="1"/>
                        <a:t>Linear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(x_i \cdot x_j)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Linearly separable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857080">
                <a:tc>
                  <a:txBody>
                    <a:bodyPr/>
                    <a:lstStyle/>
                    <a:p>
                      <a:r>
                        <a:rPr lang="en-IN" b="1"/>
                        <a:t>Polynomial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sv-SE"/>
                        <a:t>((\gamma x_i \cdot x_j + r)^d)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Curved boundaries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857080">
                <a:tc>
                  <a:txBody>
                    <a:bodyPr/>
                    <a:lstStyle/>
                    <a:p>
                      <a:r>
                        <a:rPr lang="en-IN" b="1"/>
                        <a:t>RBF (Gaussian)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(e^{-\gamma |x_i - x_j|^2})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Complex non-linear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857080">
                <a:tc>
                  <a:txBody>
                    <a:bodyPr/>
                    <a:lstStyle/>
                    <a:p>
                      <a:r>
                        <a:rPr lang="en-IN" b="1" dirty="0"/>
                        <a:t>Sigmoid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sv-SE"/>
                        <a:t>(\tanh(\gamma x_i \cdot x_j + r))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Neural-like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026377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3600" b="1" dirty="0"/>
              <a:t>7. Technical Details</a:t>
            </a:r>
          </a:p>
          <a:p>
            <a:pPr marL="457200" lvl="1" indent="0">
              <a:buNone/>
            </a:pPr>
            <a:r>
              <a:rPr lang="en-IN" sz="3200" b="1" dirty="0"/>
              <a:t>Types of SVM:</a:t>
            </a:r>
          </a:p>
          <a:p>
            <a:pPr lvl="1"/>
            <a:r>
              <a:rPr lang="en-IN" sz="3200" b="1" dirty="0"/>
              <a:t>Support Vector </a:t>
            </a:r>
            <a:r>
              <a:rPr lang="en-IN" sz="3200" b="1" dirty="0" smtClean="0"/>
              <a:t>Classifier (SVC)</a:t>
            </a:r>
            <a:endParaRPr lang="en-IN" sz="3200" dirty="0"/>
          </a:p>
          <a:p>
            <a:pPr lvl="1"/>
            <a:r>
              <a:rPr lang="en-IN" sz="3200" b="1" dirty="0" smtClean="0"/>
              <a:t>Support </a:t>
            </a:r>
            <a:r>
              <a:rPr lang="en-IN" sz="3200" b="1" dirty="0"/>
              <a:t>Vector Regression (SVR)</a:t>
            </a:r>
            <a:endParaRPr lang="en-IN" sz="3200" dirty="0"/>
          </a:p>
          <a:p>
            <a:pPr marL="457200" lvl="1" indent="0">
              <a:buNone/>
            </a:pPr>
            <a:r>
              <a:rPr lang="en-IN" sz="3200" b="1" dirty="0"/>
              <a:t>Loss Function:</a:t>
            </a:r>
          </a:p>
          <a:p>
            <a:pPr lvl="1"/>
            <a:r>
              <a:rPr lang="en-IN" sz="3200" b="1" dirty="0"/>
              <a:t>Hinge Loss</a:t>
            </a:r>
            <a:endParaRPr lang="en-IN" sz="3200" dirty="0"/>
          </a:p>
          <a:p>
            <a:pPr lvl="1"/>
            <a:r>
              <a:rPr lang="en-IN" sz="3200" dirty="0"/>
              <a:t>L=max⁡(0,1−y(</a:t>
            </a:r>
            <a:r>
              <a:rPr lang="en-IN" sz="3200" dirty="0" err="1"/>
              <a:t>w⋅x</a:t>
            </a:r>
            <a:r>
              <a:rPr lang="en-IN" sz="3200" dirty="0" smtClean="0"/>
              <a:t>))</a:t>
            </a:r>
          </a:p>
          <a:p>
            <a:pPr marL="457200" lvl="1" indent="0">
              <a:buNone/>
            </a:pPr>
            <a:r>
              <a:rPr lang="en-IN" sz="3200" b="1" dirty="0" smtClean="0"/>
              <a:t>Optimization</a:t>
            </a:r>
            <a:r>
              <a:rPr lang="en-IN" sz="3200" b="1" dirty="0"/>
              <a:t>:</a:t>
            </a:r>
          </a:p>
          <a:p>
            <a:pPr lvl="1"/>
            <a:r>
              <a:rPr lang="en-IN" sz="3200" dirty="0"/>
              <a:t>Quadratic Programming</a:t>
            </a:r>
          </a:p>
          <a:p>
            <a:pPr lvl="1"/>
            <a:r>
              <a:rPr lang="en-IN" sz="3200" dirty="0"/>
              <a:t>Sequential Minimal Optimization (SMO)</a:t>
            </a:r>
          </a:p>
        </p:txBody>
      </p:sp>
    </p:spTree>
    <p:extLst>
      <p:ext uri="{BB962C8B-B14F-4D97-AF65-F5344CB8AC3E}">
        <p14:creationId xmlns:p14="http://schemas.microsoft.com/office/powerpoint/2010/main" val="41362014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641445"/>
            <a:ext cx="9493155" cy="553551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3200" b="1" dirty="0"/>
              <a:t>8. Parameters</a:t>
            </a:r>
          </a:p>
          <a:p>
            <a:pPr marL="457200" lvl="1" indent="0">
              <a:buNone/>
            </a:pPr>
            <a:r>
              <a:rPr lang="en-IN" b="1" dirty="0"/>
              <a:t>Model Parameters (Learned):</a:t>
            </a:r>
          </a:p>
          <a:p>
            <a:pPr lvl="1"/>
            <a:r>
              <a:rPr lang="en-IN" dirty="0"/>
              <a:t>Weight vector www</a:t>
            </a:r>
          </a:p>
          <a:p>
            <a:pPr lvl="1"/>
            <a:r>
              <a:rPr lang="en-IN" dirty="0"/>
              <a:t>Bias </a:t>
            </a:r>
            <a:r>
              <a:rPr lang="en-IN" dirty="0" err="1"/>
              <a:t>bbb</a:t>
            </a:r>
            <a:endParaRPr lang="en-IN" dirty="0"/>
          </a:p>
          <a:p>
            <a:pPr lvl="1"/>
            <a:r>
              <a:rPr lang="en-IN" dirty="0"/>
              <a:t>Support vectors</a:t>
            </a:r>
          </a:p>
          <a:p>
            <a:pPr lvl="1"/>
            <a:r>
              <a:rPr lang="en-IN" dirty="0"/>
              <a:t>Dual coefficients</a:t>
            </a:r>
          </a:p>
          <a:p>
            <a:pPr marL="457200" lvl="1" indent="0">
              <a:buNone/>
            </a:pPr>
            <a:r>
              <a:rPr lang="en-IN" b="1" dirty="0" err="1" smtClean="0"/>
              <a:t>Hyperparameters</a:t>
            </a:r>
            <a:r>
              <a:rPr lang="en-IN" b="1" dirty="0" smtClean="0"/>
              <a:t>:</a:t>
            </a:r>
          </a:p>
          <a:p>
            <a:pPr marL="457200" lvl="1" indent="0">
              <a:buNone/>
            </a:pPr>
            <a:endParaRPr lang="en-IN" b="1" dirty="0"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8825393"/>
              </p:ext>
            </p:extLst>
          </p:nvPr>
        </p:nvGraphicFramePr>
        <p:xfrm>
          <a:off x="1452347" y="3750393"/>
          <a:ext cx="5794614" cy="2664054"/>
        </p:xfrm>
        <a:graphic>
          <a:graphicData uri="http://schemas.openxmlformats.org/drawingml/2006/table">
            <a:tbl>
              <a:tblPr/>
              <a:tblGrid>
                <a:gridCol w="2897307"/>
                <a:gridCol w="2897307"/>
              </a:tblGrid>
              <a:tr h="444009">
                <a:tc>
                  <a:txBody>
                    <a:bodyPr/>
                    <a:lstStyle/>
                    <a:p>
                      <a:r>
                        <a:rPr lang="en-IN" b="1"/>
                        <a:t>Parameter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b="1" dirty="0"/>
                        <a:t>Meaning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4009">
                <a:tc>
                  <a:txBody>
                    <a:bodyPr/>
                    <a:lstStyle/>
                    <a:p>
                      <a:r>
                        <a:rPr lang="en-IN" b="1"/>
                        <a:t>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Regularization strength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4009">
                <a:tc>
                  <a:txBody>
                    <a:bodyPr/>
                    <a:lstStyle/>
                    <a:p>
                      <a:r>
                        <a:rPr lang="en-IN" b="1"/>
                        <a:t>kernel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Kernel type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4009">
                <a:tc>
                  <a:txBody>
                    <a:bodyPr/>
                    <a:lstStyle/>
                    <a:p>
                      <a:r>
                        <a:rPr lang="en-IN" b="1"/>
                        <a:t>gamma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Influence of single point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4009">
                <a:tc>
                  <a:txBody>
                    <a:bodyPr/>
                    <a:lstStyle/>
                    <a:p>
                      <a:r>
                        <a:rPr lang="en-IN" b="1"/>
                        <a:t>degree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Polynomial degree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4009">
                <a:tc>
                  <a:txBody>
                    <a:bodyPr/>
                    <a:lstStyle/>
                    <a:p>
                      <a:r>
                        <a:rPr lang="en-IN" b="1" dirty="0"/>
                        <a:t>epsilon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Margin width (SVR)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144836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641445"/>
            <a:ext cx="9493155" cy="553551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3200" b="1" dirty="0"/>
              <a:t>9. Assumptions</a:t>
            </a:r>
          </a:p>
          <a:p>
            <a:pPr lvl="1"/>
            <a:r>
              <a:rPr lang="en-US" dirty="0"/>
              <a:t>Data is separable (or approximately separable)</a:t>
            </a:r>
          </a:p>
          <a:p>
            <a:pPr lvl="1"/>
            <a:r>
              <a:rPr lang="en-US" dirty="0"/>
              <a:t>Correct kernel choice captures structure</a:t>
            </a:r>
          </a:p>
          <a:p>
            <a:pPr lvl="1"/>
            <a:r>
              <a:rPr lang="en-US" dirty="0"/>
              <a:t>Features are scaled</a:t>
            </a:r>
          </a:p>
        </p:txBody>
      </p:sp>
    </p:spTree>
    <p:extLst>
      <p:ext uri="{BB962C8B-B14F-4D97-AF65-F5344CB8AC3E}">
        <p14:creationId xmlns:p14="http://schemas.microsoft.com/office/powerpoint/2010/main" val="15921300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 descr="https://media.geeksforgeeks.org/wp-content/uploads/20240701170624/Random-Forest-Algorithm.webp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" name="AutoShape 4" descr="https://media.geeksforgeeks.org/wp-content/uploads/20251216121929631349/random_forest_algorithm.webp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4098" name="Picture 2" descr="https://vitalflux.com/wp-content/uploads/2022/08/support-vector-machine-1-1280x72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1002" y="701153"/>
            <a:ext cx="9744502" cy="54812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761920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4000" b="1" dirty="0"/>
              <a:t>10. Pros</a:t>
            </a:r>
          </a:p>
          <a:p>
            <a:pPr lvl="1"/>
            <a:r>
              <a:rPr lang="en-US" sz="3600" dirty="0"/>
              <a:t>Strong generalization</a:t>
            </a:r>
          </a:p>
          <a:p>
            <a:pPr lvl="1"/>
            <a:r>
              <a:rPr lang="en-US" sz="3600" dirty="0"/>
              <a:t>Works in high-dimensional spaces</a:t>
            </a:r>
          </a:p>
          <a:p>
            <a:pPr lvl="1"/>
            <a:r>
              <a:rPr lang="en-US" sz="3600" dirty="0"/>
              <a:t>Effective with small datasets</a:t>
            </a:r>
          </a:p>
          <a:p>
            <a:pPr lvl="1"/>
            <a:r>
              <a:rPr lang="en-US" sz="3600" dirty="0"/>
              <a:t>Flexible using kernels</a:t>
            </a:r>
          </a:p>
          <a:p>
            <a:pPr lvl="1"/>
            <a:r>
              <a:rPr lang="en-US" sz="3600" dirty="0"/>
              <a:t>Robust to overfitting</a:t>
            </a:r>
          </a:p>
        </p:txBody>
      </p:sp>
    </p:spTree>
    <p:extLst>
      <p:ext uri="{BB962C8B-B14F-4D97-AF65-F5344CB8AC3E}">
        <p14:creationId xmlns:p14="http://schemas.microsoft.com/office/powerpoint/2010/main" val="15639623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4000" b="1" dirty="0"/>
              <a:t>11. Cons</a:t>
            </a:r>
          </a:p>
          <a:p>
            <a:pPr lvl="1"/>
            <a:r>
              <a:rPr lang="en-US" sz="3600" dirty="0"/>
              <a:t>Computationally expensive</a:t>
            </a:r>
          </a:p>
          <a:p>
            <a:pPr lvl="1"/>
            <a:r>
              <a:rPr lang="en-US" sz="3600" dirty="0"/>
              <a:t>Memory intensive</a:t>
            </a:r>
          </a:p>
          <a:p>
            <a:pPr lvl="1"/>
            <a:r>
              <a:rPr lang="en-US" sz="3600" dirty="0"/>
              <a:t>Hard to interpret</a:t>
            </a:r>
          </a:p>
          <a:p>
            <a:pPr lvl="1"/>
            <a:r>
              <a:rPr lang="en-US" sz="3600" dirty="0"/>
              <a:t>Sensitive to </a:t>
            </a:r>
            <a:r>
              <a:rPr lang="en-US" sz="3600" dirty="0" err="1"/>
              <a:t>hyperparameters</a:t>
            </a:r>
            <a:endParaRPr lang="en-US" sz="3600" dirty="0"/>
          </a:p>
          <a:p>
            <a:pPr lvl="1"/>
            <a:r>
              <a:rPr lang="en-US" sz="3600" dirty="0"/>
              <a:t>Not scalable to very large datasets</a:t>
            </a:r>
          </a:p>
        </p:txBody>
      </p:sp>
    </p:spTree>
    <p:extLst>
      <p:ext uri="{BB962C8B-B14F-4D97-AF65-F5344CB8AC3E}">
        <p14:creationId xmlns:p14="http://schemas.microsoft.com/office/powerpoint/2010/main" val="4149985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sz="3200" b="1" dirty="0" smtClean="0"/>
              <a:t>12. </a:t>
            </a:r>
            <a:r>
              <a:rPr lang="en-IN" sz="3200" b="1" dirty="0"/>
              <a:t>Real-World Applications</a:t>
            </a:r>
          </a:p>
          <a:p>
            <a:pPr marL="457200" lvl="1" indent="0">
              <a:buNone/>
            </a:pPr>
            <a:r>
              <a:rPr lang="en-IN" b="1" dirty="0"/>
              <a:t>Text &amp; NLP:</a:t>
            </a:r>
          </a:p>
          <a:p>
            <a:pPr lvl="1"/>
            <a:r>
              <a:rPr lang="en-IN" dirty="0"/>
              <a:t>Spam detection</a:t>
            </a:r>
          </a:p>
          <a:p>
            <a:pPr lvl="1"/>
            <a:r>
              <a:rPr lang="en-IN" dirty="0"/>
              <a:t>Sentiment analysis</a:t>
            </a:r>
          </a:p>
          <a:p>
            <a:pPr lvl="1"/>
            <a:r>
              <a:rPr lang="en-IN" dirty="0"/>
              <a:t>Document classification</a:t>
            </a:r>
          </a:p>
          <a:p>
            <a:pPr marL="457200" lvl="1" indent="0">
              <a:buNone/>
            </a:pPr>
            <a:r>
              <a:rPr lang="en-IN" b="1" dirty="0"/>
              <a:t>Image Processing:</a:t>
            </a:r>
          </a:p>
          <a:p>
            <a:pPr lvl="1"/>
            <a:r>
              <a:rPr lang="en-IN" dirty="0"/>
              <a:t>Face recognition</a:t>
            </a:r>
          </a:p>
          <a:p>
            <a:pPr lvl="1"/>
            <a:r>
              <a:rPr lang="en-IN" dirty="0"/>
              <a:t>Handwritten digit recognition</a:t>
            </a:r>
          </a:p>
          <a:p>
            <a:pPr marL="457200" lvl="1" indent="0">
              <a:buNone/>
            </a:pPr>
            <a:r>
              <a:rPr lang="en-IN" b="1" dirty="0"/>
              <a:t>Bioinformatics:</a:t>
            </a:r>
          </a:p>
          <a:p>
            <a:pPr lvl="1"/>
            <a:r>
              <a:rPr lang="en-IN" dirty="0"/>
              <a:t>Cancer classification</a:t>
            </a:r>
          </a:p>
          <a:p>
            <a:pPr lvl="1"/>
            <a:r>
              <a:rPr lang="en-IN" dirty="0"/>
              <a:t>Gene expression analysis</a:t>
            </a:r>
          </a:p>
          <a:p>
            <a:pPr marL="457200" lvl="1" indent="0">
              <a:buNone/>
            </a:pPr>
            <a:r>
              <a:rPr lang="en-IN" b="1" dirty="0"/>
              <a:t>Finance:</a:t>
            </a:r>
          </a:p>
          <a:p>
            <a:pPr lvl="1"/>
            <a:r>
              <a:rPr lang="en-IN" dirty="0"/>
              <a:t>Credit risk prediction</a:t>
            </a:r>
          </a:p>
          <a:p>
            <a:pPr lvl="1"/>
            <a:r>
              <a:rPr lang="en-IN" dirty="0"/>
              <a:t>Fraud detection</a:t>
            </a:r>
          </a:p>
        </p:txBody>
      </p:sp>
    </p:spTree>
    <p:extLst>
      <p:ext uri="{BB962C8B-B14F-4D97-AF65-F5344CB8AC3E}">
        <p14:creationId xmlns:p14="http://schemas.microsoft.com/office/powerpoint/2010/main" val="38446686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4000" b="1" dirty="0"/>
              <a:t>12. SVM vs Other Models</a:t>
            </a:r>
            <a:endParaRPr lang="en-IN" sz="4000" b="1" dirty="0" smtClean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3922430"/>
              </p:ext>
            </p:extLst>
          </p:nvPr>
        </p:nvGraphicFramePr>
        <p:xfrm>
          <a:off x="1083291" y="1610438"/>
          <a:ext cx="10025418" cy="4566525"/>
        </p:xfrm>
        <a:graphic>
          <a:graphicData uri="http://schemas.openxmlformats.org/drawingml/2006/table">
            <a:tbl>
              <a:tblPr/>
              <a:tblGrid>
                <a:gridCol w="5012709"/>
                <a:gridCol w="5012709"/>
              </a:tblGrid>
              <a:tr h="794178">
                <a:tc>
                  <a:txBody>
                    <a:bodyPr/>
                    <a:lstStyle/>
                    <a:p>
                      <a:r>
                        <a:rPr lang="en-IN" b="1"/>
                        <a:t>Model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b="1" dirty="0"/>
                        <a:t>Key Difference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94178">
                <a:tc>
                  <a:txBody>
                    <a:bodyPr/>
                    <a:lstStyle/>
                    <a:p>
                      <a:r>
                        <a:rPr lang="en-IN" b="1"/>
                        <a:t>Logistic Regression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SVM maximizes margin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94178">
                <a:tc>
                  <a:txBody>
                    <a:bodyPr/>
                    <a:lstStyle/>
                    <a:p>
                      <a:r>
                        <a:rPr lang="en-IN" b="1"/>
                        <a:t>Decision Tree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SVM uses geometry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94178">
                <a:tc>
                  <a:txBody>
                    <a:bodyPr/>
                    <a:lstStyle/>
                    <a:p>
                      <a:r>
                        <a:rPr lang="en-IN" b="1"/>
                        <a:t>Random Forest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SVM is deterministic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89813">
                <a:tc>
                  <a:txBody>
                    <a:bodyPr/>
                    <a:lstStyle/>
                    <a:p>
                      <a:r>
                        <a:rPr lang="en-IN" b="1" dirty="0"/>
                        <a:t>Neural Networks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SVM has convex optimization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326842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3200" b="1" dirty="0"/>
              <a:t>14. Support Vector Regression (SVR)</a:t>
            </a:r>
          </a:p>
          <a:p>
            <a:pPr marL="457200" lvl="1" indent="0">
              <a:buNone/>
            </a:pPr>
            <a:r>
              <a:rPr lang="en-IN" b="1" dirty="0"/>
              <a:t>Idea:</a:t>
            </a:r>
          </a:p>
          <a:p>
            <a:pPr lvl="1"/>
            <a:r>
              <a:rPr lang="en-IN" dirty="0"/>
              <a:t>Fits a function within an </a:t>
            </a:r>
            <a:r>
              <a:rPr lang="el-GR" b="1" dirty="0"/>
              <a:t>ε-</a:t>
            </a:r>
            <a:r>
              <a:rPr lang="en-IN" b="1" dirty="0"/>
              <a:t>tube</a:t>
            </a:r>
            <a:r>
              <a:rPr lang="en-IN" dirty="0"/>
              <a:t>, ignoring small errors.</a:t>
            </a:r>
          </a:p>
          <a:p>
            <a:pPr marL="457200" lvl="1" indent="0">
              <a:buNone/>
            </a:pPr>
            <a:r>
              <a:rPr lang="en-IN" b="1" dirty="0"/>
              <a:t>Objective:</a:t>
            </a:r>
          </a:p>
          <a:p>
            <a:pPr lvl="1"/>
            <a:r>
              <a:rPr lang="en-IN" dirty="0"/>
              <a:t>min⁡</a:t>
            </a:r>
            <a:r>
              <a:rPr lang="en-IN" dirty="0" smtClean="0"/>
              <a:t>1/2</a:t>
            </a:r>
            <a:r>
              <a:rPr lang="en-IN" dirty="0"/>
              <a:t>∥w</a:t>
            </a:r>
            <a:r>
              <a:rPr lang="en-IN" dirty="0" smtClean="0"/>
              <a:t>∥^2+C</a:t>
            </a:r>
            <a:r>
              <a:rPr lang="en-IN" dirty="0"/>
              <a:t>∑(</a:t>
            </a:r>
            <a:r>
              <a:rPr lang="el-GR" dirty="0"/>
              <a:t>ξ</a:t>
            </a:r>
            <a:r>
              <a:rPr lang="en-IN" dirty="0" err="1"/>
              <a:t>i</a:t>
            </a:r>
            <a:r>
              <a:rPr lang="en-IN" dirty="0"/>
              <a:t>+</a:t>
            </a:r>
            <a:r>
              <a:rPr lang="el-GR" dirty="0"/>
              <a:t>ξ</a:t>
            </a:r>
            <a:r>
              <a:rPr lang="en-IN" dirty="0" err="1"/>
              <a:t>i</a:t>
            </a:r>
            <a:r>
              <a:rPr lang="en-IN" dirty="0" smtClean="0"/>
              <a:t>∗</a:t>
            </a:r>
            <a:r>
              <a:rPr lang="en-US" dirty="0" smtClean="0"/>
              <a:t>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37955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b="1" dirty="0"/>
              <a:t>Summary</a:t>
            </a:r>
          </a:p>
          <a:p>
            <a:pPr lvl="1"/>
            <a:r>
              <a:rPr lang="en-US" sz="3200" dirty="0"/>
              <a:t>Support Vector Machine is a </a:t>
            </a:r>
            <a:r>
              <a:rPr lang="en-US" sz="3200" b="1" dirty="0"/>
              <a:t>margin-based, kernel-powered algorithm</a:t>
            </a:r>
            <a:r>
              <a:rPr lang="en-US" sz="3200" dirty="0"/>
              <a:t> that delivers </a:t>
            </a:r>
            <a:r>
              <a:rPr lang="en-US" sz="3200" b="1" dirty="0"/>
              <a:t>strong performance on high-dimensional and non-linear problems</a:t>
            </a:r>
            <a:r>
              <a:rPr lang="en-US" sz="3200" dirty="0"/>
              <a:t>.</a:t>
            </a:r>
          </a:p>
        </p:txBody>
      </p:sp>
      <p:sp>
        <p:nvSpPr>
          <p:cNvPr id="2" name="AutoShape 2" descr="https://media.geeksforgeeks.org/wp-content/uploads/20250626155553400991/how_decision_trees_work_.webp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27618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4571</TotalTime>
  <Words>556</Words>
  <Application>Microsoft Office PowerPoint</Application>
  <PresentationFormat>Widescreen</PresentationFormat>
  <Paragraphs>126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Calibri Light</vt:lpstr>
      <vt:lpstr>Office Theme</vt:lpstr>
      <vt:lpstr>SUPPORT VECTOR MACHINE (SVM)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STATISTICAL FOUNDATIONS</dc:title>
  <dc:creator>NIRVANA</dc:creator>
  <cp:lastModifiedBy>NIRVANA</cp:lastModifiedBy>
  <cp:revision>52</cp:revision>
  <dcterms:created xsi:type="dcterms:W3CDTF">2026-02-13T06:25:49Z</dcterms:created>
  <dcterms:modified xsi:type="dcterms:W3CDTF">2026-02-20T08:38:54Z</dcterms:modified>
</cp:coreProperties>
</file>